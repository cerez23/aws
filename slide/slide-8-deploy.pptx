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Abbiamo tutti i pezzi: rete, firewall, server, Tailscale, database, ECR e S3. Oggi li colleghiamo. Alla fine una modifica al codice arriva in produzione così: git push, GitHub costruisce l'immagine e la carica su ECR, voi lanciate terraform apply con la nuova versione, e il server viene sostituito da uno nuovo che parte già con la versione giusta. Senza nessuna chiave salvata da nessuna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il percorso. Uno: git push sul branch main. Due: GitHub Actions entra in AWS senza chiavi, con OIDC, e ottiene credenziali temporanee. Tre: costruisce l'immagine e la carica in ECR, con il tag uguale al codice del commit. Quattro: voi scrivete quel tag nel tfvars e lanciate terraform apply. Cinque: l'Auto Scaling group sostituisce il server con uno nuovo, che all'avvio scarica l'immagine, legge la password e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caricare l'immagine GitHub deve entrare in AWS. Il modo sbagliato, e ancora diffusissimo: una chiave d'accesso fissa salvata nei segreti di GitHub. Non scade, vale da qualunque posto, e chi la trova in un log o in un repository violato la usa per sempre. Il modo giusto è OIDC: GitHub e AWS si fidano l'uno dell'altro e nessuna chiave viene salvata. È come la reception: il fornitore arriva con un documento rilasciato da un ente di cui vi fidate, la reception controlla il documento e cosa c'è scritto, e gli dà un badge visitatore che vale un'ora e apre solo la sala macchine.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passi. Uno: quando il workflow parte, GitHub gli dà un token firmato, che dice sono il workflow del repository mario/corso-app sul branch main. Due: il workflow presenta il token ad AWS e chiede di assumere un role, come nella lezione 1. Tre: AWS controlla la firma, e le condizioni scritte nella trust policy: è proprio quel repository? quel branch? Quattro: se tutto torna, credenziali temporanee di un'ora, con i soli permessi del role: caricare immagini nel nostro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condizione sul sub, il soggetto del token, dice di chi parla il token. La nostra: repo mario/corso-app, ref refs heads main. Solo quel repository, solo il branch main. Se fosse repo mario asterisco, qualunque repository dell'utente potrebbe caricare immagini in produzione. Se mancasse, qualunque repository di GitHub al mondo potrebbe assumere il role. È l'errore più grave che si possa fare con OIDC.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workflow è un file YAML nel repository dell'applicazione. Scarica il codice; presenta il token e assume il role; fa il login a ECR; prepara la costruzione per ARM su un computer di GitHub che è x86, con QEMU; costruisce l'immagine linux arm64 e la carica, con il tag uguale al codice del commit. Così ogni immagine corrisponde a un punto preciso della storia del codice. Il role e l'indirizzo di ECR sono due variabili del repository, non segreti.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Nella lezione 4 il server era una aws_instance: se si rompe, qualcuno se ne deve accorgere e ricrearlo. Nel mondo dei server si dice: animali domestici contro bestiame. L'animale domestico ha un nome, lo curate quando sta male, se muore è un dramma. Il bestiame è numerato: se un capo si ammala lo sostituite con un altro identico. Perché un server sia sostituibile, sopra non deve esserci niente di unico: i dati in RDS, il programma in ECR, i file in S3, la password in Secrets Manager, la configurazione nello script di avvio.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risorse prendono il posto di aws_instance. Il launch template è lo stampo: AMI, tipo, Security Group, instance profile, disco, script di avvio. Descrive come fare un server, senza crearlo; ogni modifica è una nuova versione. L'Auto Scaling group è il pastore: con minimo, massimo e desiderato tutti a uno, deve esserci sempre esattamente un server. Se il server si ferma, ne crea un altro dallo stampo, in qualunque subnet privata: se un'AZ si ferma, il nuovo nasce nell'altra. Attenzione: con il controllo EC2 sa solo se la macchina è accesa, non se l'applicazione funziona: lo miglioriamo nella lezione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server nuovo ha un indirizzo nuovo: l'indirizzo 10.20.10 qualcosa della lezione 5 dopo una sostituzione non vale più. Ci serve un nome che segua il server, come l'endpoint del database. Route 53 è il DNS di AWS. Una zona privata è un elenco di nomi che esiste solo dentro il nostro VPC. Creiamo corso.internal, con un nome: app.corso.internal. Lo aggiorna il server stesso, all'avvio: legge il proprio indirizzo e scrive io sono app.corso.internal. Con il permesso di cambiare solo quel nome, in solo quella zona.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zona è privata, e il vostro computer a casa non è nel VPC. Come sa cosa vuol dire app.corso.internal? Con lo split DNS di Tailscale: diciamo al tailnet, per i nomi che finiscono in corso.internal chiedi al DNS del VPC. Il DNS del VPC sta sempre al secondo indirizzo della rete, 10.20.0.2. Il router lo annuncia come le subnet, e la policy permette ai due gruppi di interrogarlo sulla porta 53. Così dal browser di casa aprite http://app.corso.internal:8080.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server nuovo esegue lo stesso script di avvio, che lo porta da macchina vuota ad applicazione in funzione. È lungo, quindi sta in un file a parte, user_data.sh.tpl, che Terraform riempie con i valori giusti. Cinque passi: installa Docker e docker compose; scarica il docker-compose dal bucket e il certificato della CA di RDS; scrive il proprio nome in Route 53; crea lo script app-aggiorna, che legge la password e avvia l'app; lo lancia subito e poi ogni 5 minuti. L'app parte, crea le tabelle se mancano, e risponde sulla 8080.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avvia uno o più container descritti in un file. Il nostro ha un solo container, l'applicazione. image prende l'immagine dal file .env scritto dallo script. restart always lo riavvia se si ferma, e dopo ogni riavvio del server. ports pubblica la 8080, quella che il SG app apre al router. env_file passa le variabili scritte da app-aggiorna, tra cui la password. volumes rende visibile dentro il container, in sola lettura, il certificato per verify-full. Il file sta nel bucket, lo carica Terraform: se lo cambiate, cambia lo stampo e il server viene sostituito.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container non può leggere Secrets Manager da solo, lo vediamo tra poco. E la password cambia ogni 7 giorni. Quindi uno script sul server fa da intermediario. Legge la password dal segreto, con il role del server. Scrive il file app.env con indirizzo del database, utente e password, leggibile solo da root. Se il file è cambiato rispetto a prima, ricrea il container, che riparte con la password nuova. Gira all'avvio e poi ogni 5 minuti, grazie a un timer di systemd, la sveglia di Linux. Risultato: entro 5 minuti dalla rotazione l'app riparte con la password nuova, con qualche secondo di fermo una volta a settimana.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server legge le credenziali del role dal servizio dei metadati, IMDS. Ma ora sul server girano container. Se l'applicazione avesse una falla che le fa fare richieste a indirizzi scelti da un attaccante, un attacco comunissimo che si chiama SSRF, l'attaccante potrebbe farle leggere le credenziali del server. L'hop limit è il numero di salti di rete che la risposta di IMDS può fare. Il server è a un salto; un container è a due, perché c'è in mezzo la rete di Docker. Con limite 1, lo script sul server legge le credenziali, il container no. Amazon Linux parte con 2, per i container: noi lo riportiamo a 1, perché la nostra app non ha bisogno di credenziali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passare a una nuova versione: cambiate image_tag nel tfvars e lanciate apply. Il tag finisce nello script, quindi lo stampo cambia: nuova versione del launch template. L'ASG ha il blocco instance refresh: quando lo stampo cambia, sostituisce il server. Il server nuovo esegue lo script, scarica la nuova immagine, scrive il suo nome, parte. Con le nostre impostazioni prima toglie il vecchio e poi crea il nuovo: qualche minuto di fermo. Lo stesso meccanismo scatta per qualunque modifica dello stampo, anche una nuova AMI: con un server sostituibile, un aggiornamento di sicurezza è un vantaggio. Il rollback è la stessa cosa al contrario: il tag di prima, e l'immagine è ancora lì, identica.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nuova versione spesso ha bisogno di modificare il database: una tabella, una colonna. Si chiamano migrazioni. Nel nostro esempio, all'avvio l'app esegue create table if not exists. Le applicazioni vere usano strumenti dedicati, come Alembic per Python o Flyway per Java, ma il principio è lo stesso: le migrazioni partono all'avvio, prima che l'app risponda. E una regola, per via del rollback: una migrazione deve funzionare anche con la versione precedente. Se la versione 2 cancella una colonna che la versione 1 usa, tornare alla 1 è impossibile. Il modo sicuro è in due rilasci: prima si aggiunge il nuovo, poi, quando non si torna più indietro, si toglie il vecchio. Expand and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codice della trust policy. L'azione è AssumeRoleWithWebIdentity: assumere il role presentando un token esterno. Il principal è di tipo Federated: chi presenta un token dell'OIDC provider di GitHub. Due condizioni, in due blocchi, devono essere vere tutte e due. aud uguale sts.amazonaws.com: il token è per AWS. sub uguale repo, il nostro repository, ref refs heads main. StringEquals vuol dire uguale lettera per lettera, senza asterischi. La permission policy, a parte, permette solo il login a ECR e le cinque azioni per caricare un'immagine nel nostro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stampo. Gli stessi valori del server della lezione 4: AMI, tipo, Security Group, instance profile. In più l'hop limit 1. Lo script di avvio lo legge templatefile, che sostituisce le parti dollaro graffa con i valori della mappa: l'immagine completa con il tag, l'indirizzo del database, l'ARN del segreto, e gli altri. base64encode lo trasforma nel formato che il launch template pretende. Nella dispensa c'è anche il disco da 20 GB, per le immagini Docker, e le etichette.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L'Auto Scaling group. Minimo, massimo e desiderato a uno. Le subnet: tutte le private, con un'espressione for. Il controllo EC2, con cinque minuti di tolleranza all'avvio. Lo stampo, nella sua ultima versione: così ogni modifica dello stampo arriva all'ASG. E l'instance refresh, strategia Rolling: con minimo zero e massimo cento per cento, prima toglie il vecchio e poi crea il nuovo.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zona privata: il blocco vpc la collega al nostro VPC. force_destroy serve al destroy, perché il nome app lo scrive il server e Terraform non lo conosce. Poi il permesso del server: ChangeResourceRecordSets solo su questa zona, e con la condizione sui nomi normalizzati, solo app.corso.internal. ForAllValues StringEquals: tutti i nomi della modifica devono essere in questo elenco. Così anche un server compromesso non potrebbe dirottare altri nomi.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tutto insieme. Voi fate git push; GitHub, con OIDC, carica l'immagine in ECR. Nel VPC, l'Auto Scaling group tiene in vita il server, in una delle subnet private. Il server scarica l'immagine, i cui pezzi passano dal Gateway Endpoint, e il compose da S3; legge la password da Secrets Manager ogni 5 minuti; parla con il database Multi-AZ in TLS verificato; scrive il suo nome nella zona privata. Da casa, con Tailscale, aprite app.corso.internal: il router chiede al DNS del VPC e vi porta al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L'esercizio completo, con tutti i comandi, è nella dispensa 8. Prima parte. Uno: create su GitHub il repository corso-app con app.py, Dockerfile e il workflow, senza push. Due: aggiornate i file dell'infrastruttura, con image_tag uguale a nessuna. Tre: apply con replace della chiave del router. Quattro: il server parte ma senza app, perché l'immagine non c'è: lo vedete nei log. Cinque: le due variabili su GitHub. Sei: il primo push, il workflow carica l'immagine. Sette: image_tag uguale al commit, apply, instance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parte. Otto: da casa, curl su app.corso.internal: versione e visite. Nove: terminate il server a mano; l'ASG ne crea un altro, forse nell'altra AZ; il nome segue, le visite restano. Dieci: dal container IMDS non risponde. Undici: forzate una rotazione della password; entro 5 minuti app-aggiorna ricrea il container. Dodici: una seconda versione, e poi il rollback. Tredici: dal branch prova il workflow viene rifiutato. Quattordici, facoltativo: destroy, che si ferma sul database; apply, e tutto rinasce con i dati intatti. Quindici: pulizia.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ripasso delle parole della lezione, una riga ciascuna.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Riassumendo. Il materiale di studio è la dispensa 8: contiene tutti i file, dell'infrastruttura e dell'applicazione, spiegati blocco per blocco, e l'esercizio passo per passo. La prossima volta impariamo a sapere quando qualcosa si rompe, e a far sostituire il server anche quando la macchina è accesa ma l'applicazione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7589520" y="548640"/>
            <a:ext cx="4206240" cy="5669280"/>
          </a:xfrm>
          <a:prstGeom prst="rect">
            <a:avLst/>
          </a:prstGeom>
          <a:noFill/>
          <a:ln/>
        </p:spPr>
        <p:txBody>
          <a:bodyPr wrap="square" lIns="0" tIns="0" rIns="0" bIns="0" rtlCol="0" anchor="ctr"/>
          <a:lstStyle/>
          <a:p>
            <a:pPr algn="r" indent="0" marL="0">
              <a:buNone/>
            </a:pPr>
            <a:r>
              <a:rPr lang="en-US" sz="30000" b="1" dirty="0">
                <a:solidFill>
                  <a:srgbClr val="5B3FD0"/>
                </a:solidFill>
                <a:latin typeface="Calibri" pitchFamily="34" charset="0"/>
                <a:ea typeface="Calibri" pitchFamily="34" charset="-122"/>
                <a:cs typeface="Calibri" pitchFamily="34" charset="-120"/>
              </a:rPr>
              <a:t>8</a:t>
            </a:r>
            <a:endParaRPr lang="en-US" sz="30000" dirty="0"/>
          </a:p>
        </p:txBody>
      </p:sp>
      <p:sp>
        <p:nvSpPr>
          <p:cNvPr id="3" name="Text 1"/>
          <p:cNvSpPr txBox="1"/>
          <p:nvPr/>
        </p:nvSpPr>
        <p:spPr>
          <a:xfrm>
            <a:off x="548640" y="1280160"/>
            <a:ext cx="7315200" cy="365760"/>
          </a:xfrm>
          <a:prstGeom prst="rect">
            <a:avLst/>
          </a:prstGeom>
          <a:noFill/>
          <a:ln/>
        </p:spPr>
        <p:txBody>
          <a:bodyPr wrap="square" lIns="0" tIns="0" rIns="0" bIns="0" rtlCol="0" anchor="ctr"/>
          <a:lstStyle/>
          <a:p>
            <a:pPr indent="0" marL="0">
              <a:buNone/>
            </a:pPr>
            <a:r>
              <a:rPr lang="en-US" sz="1600" b="1" dirty="0">
                <a:solidFill>
                  <a:srgbClr val="F28C28"/>
                </a:solidFill>
                <a:latin typeface="Calibri" pitchFamily="34" charset="0"/>
                <a:ea typeface="Calibri" pitchFamily="34" charset="-122"/>
                <a:cs typeface="Calibri" pitchFamily="34" charset="-120"/>
              </a:rPr>
              <a:t>Dispensa 8 · Deploy end-to-end</a:t>
            </a:r>
            <a:endParaRPr lang="en-US" sz="1600" dirty="0"/>
          </a:p>
        </p:txBody>
      </p:sp>
      <p:sp>
        <p:nvSpPr>
          <p:cNvPr id="4" name="Text 2"/>
          <p:cNvSpPr txBox="1"/>
          <p:nvPr/>
        </p:nvSpPr>
        <p:spPr>
          <a:xfrm>
            <a:off x="548640" y="1828800"/>
            <a:ext cx="7772400" cy="201168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Deploy end-to-end</a:t>
            </a:r>
            <a:endParaRPr lang="en-US" sz="4800" dirty="0"/>
          </a:p>
        </p:txBody>
      </p:sp>
      <p:sp>
        <p:nvSpPr>
          <p:cNvPr id="5" name="Text 3"/>
          <p:cNvSpPr txBox="1"/>
          <p:nvPr/>
        </p:nvSpPr>
        <p:spPr>
          <a:xfrm>
            <a:off x="548640" y="4023360"/>
            <a:ext cx="7315200" cy="1097280"/>
          </a:xfrm>
          <a:prstGeom prst="rect">
            <a:avLst/>
          </a:prstGeom>
          <a:noFill/>
          <a:ln/>
        </p:spPr>
        <p:txBody>
          <a:bodyPr wrap="square" lIns="0" tIns="0" rIns="0" bIns="0" rtlCol="0" anchor="t"/>
          <a:lstStyle/>
          <a:p>
            <a:pPr indent="0" marL="0">
              <a:buNone/>
            </a:pPr>
            <a:r>
              <a:rPr lang="en-US" sz="2000" dirty="0">
                <a:solidFill>
                  <a:srgbClr val="C9CBE0"/>
                </a:solidFill>
                <a:latin typeface="Calibri" pitchFamily="34" charset="0"/>
                <a:ea typeface="Calibri" pitchFamily="34" charset="-122"/>
                <a:cs typeface="Calibri" pitchFamily="34" charset="-120"/>
              </a:rPr>
              <a:t>Da git push al server in produzione: GitHub senza chiavi, ECR, un server che si ricrea da solo</a:t>
            </a:r>
            <a:endParaRPr lang="en-US" sz="2000" dirty="0"/>
          </a:p>
        </p:txBody>
      </p:sp>
      <p:sp>
        <p:nvSpPr>
          <p:cNvPr id="6" name="Text 4"/>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200" dirty="0">
                <a:solidFill>
                  <a:srgbClr val="9A9DB8"/>
                </a:solidFill>
                <a:latin typeface="Calibri" pitchFamily="34" charset="0"/>
                <a:ea typeface="Calibri" pitchFamily="34" charset="-122"/>
                <a:cs typeface="Calibri" pitchFamily="34" charset="-120"/>
              </a:rPr>
              <a:t>Corso: Infrastruttura AWS con Terraform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percorso completo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1143000" y="1554480"/>
            <a:ext cx="868680" cy="868680"/>
          </a:xfrm>
          <a:prstGeom prst="ellipse">
            <a:avLst/>
          </a:prstGeom>
          <a:solidFill>
            <a:srgbClr val="5B3FD0"/>
          </a:solidFill>
          <a:ln w="12700">
            <a:solidFill>
              <a:srgbClr val="5B3FD0"/>
            </a:solidFill>
            <a:prstDash val="solid"/>
          </a:ln>
        </p:spPr>
      </p:sp>
      <p:pic>
        <p:nvPicPr>
          <p:cNvPr id="6" name="Image 0" descr="preencoded.png">    </p:cNvPr>
          <p:cNvPicPr>
            <a:picLocks noChangeAspect="1"/>
          </p:cNvPicPr>
          <p:nvPr/>
        </p:nvPicPr>
        <p:blipFill>
          <a:blip r:embed="rId1"/>
          <a:stretch>
            <a:fillRect/>
          </a:stretch>
        </p:blipFill>
        <p:spPr>
          <a:xfrm>
            <a:off x="1360170" y="1771650"/>
            <a:ext cx="434340" cy="434340"/>
          </a:xfrm>
          <a:prstGeom prst="rect">
            <a:avLst/>
          </a:prstGeom>
        </p:spPr>
      </p:pic>
      <p:sp>
        <p:nvSpPr>
          <p:cNvPr id="7" name="Text 3"/>
          <p:cNvSpPr txBox="1"/>
          <p:nvPr/>
        </p:nvSpPr>
        <p:spPr>
          <a:xfrm>
            <a:off x="548640" y="2560320"/>
            <a:ext cx="2057400" cy="457200"/>
          </a:xfrm>
          <a:prstGeom prst="rect">
            <a:avLst/>
          </a:prstGeom>
          <a:noFill/>
          <a:ln/>
        </p:spPr>
        <p:txBody>
          <a:bodyPr wrap="square" lIns="0" tIns="0" rIns="0" bIns="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git push</a:t>
            </a:r>
            <a:endParaRPr lang="en-US" sz="1700" dirty="0"/>
          </a:p>
        </p:txBody>
      </p:sp>
      <p:sp>
        <p:nvSpPr>
          <p:cNvPr id="8" name="Text 4"/>
          <p:cNvSpPr txBox="1"/>
          <p:nvPr/>
        </p:nvSpPr>
        <p:spPr>
          <a:xfrm>
            <a:off x="548640" y="3017520"/>
            <a:ext cx="2057400" cy="54864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sul branch main</a:t>
            </a:r>
            <a:endParaRPr lang="en-US" sz="1400" dirty="0"/>
          </a:p>
        </p:txBody>
      </p:sp>
      <p:sp>
        <p:nvSpPr>
          <p:cNvPr id="9" name="Shape 5"/>
          <p:cNvSpPr/>
          <p:nvPr/>
        </p:nvSpPr>
        <p:spPr>
          <a:xfrm>
            <a:off x="2103120" y="1993392"/>
            <a:ext cx="1143000" cy="0"/>
          </a:xfrm>
          <a:prstGeom prst="line">
            <a:avLst/>
          </a:prstGeom>
          <a:noFill/>
          <a:ln w="25400">
            <a:solidFill>
              <a:srgbClr val="D9D6EC"/>
            </a:solidFill>
            <a:prstDash val="solid"/>
            <a:tailEnd type="triangle"/>
          </a:ln>
        </p:spPr>
      </p:sp>
      <p:sp>
        <p:nvSpPr>
          <p:cNvPr id="10" name="Shape 6"/>
          <p:cNvSpPr/>
          <p:nvPr/>
        </p:nvSpPr>
        <p:spPr>
          <a:xfrm>
            <a:off x="3410712" y="1554480"/>
            <a:ext cx="868680" cy="868680"/>
          </a:xfrm>
          <a:prstGeom prst="ellipse">
            <a:avLst/>
          </a:prstGeom>
          <a:solidFill>
            <a:srgbClr val="5B3FD0"/>
          </a:solidFill>
          <a:ln w="12700">
            <a:solidFill>
              <a:srgbClr val="5B3FD0"/>
            </a:solidFill>
            <a:prstDash val="solid"/>
          </a:ln>
        </p:spPr>
      </p:sp>
      <p:pic>
        <p:nvPicPr>
          <p:cNvPr id="11" name="Image 1" descr="preencoded.png">    </p:cNvPr>
          <p:cNvPicPr>
            <a:picLocks noChangeAspect="1"/>
          </p:cNvPicPr>
          <p:nvPr/>
        </p:nvPicPr>
        <p:blipFill>
          <a:blip r:embed="rId2"/>
          <a:stretch>
            <a:fillRect/>
          </a:stretch>
        </p:blipFill>
        <p:spPr>
          <a:xfrm>
            <a:off x="3627882" y="1771650"/>
            <a:ext cx="434340" cy="434340"/>
          </a:xfrm>
          <a:prstGeom prst="rect">
            <a:avLst/>
          </a:prstGeom>
        </p:spPr>
      </p:pic>
      <p:sp>
        <p:nvSpPr>
          <p:cNvPr id="12" name="Text 7"/>
          <p:cNvSpPr txBox="1"/>
          <p:nvPr/>
        </p:nvSpPr>
        <p:spPr>
          <a:xfrm>
            <a:off x="2816352" y="2560320"/>
            <a:ext cx="2057400" cy="457200"/>
          </a:xfrm>
          <a:prstGeom prst="rect">
            <a:avLst/>
          </a:prstGeom>
          <a:noFill/>
          <a:ln/>
        </p:spPr>
        <p:txBody>
          <a:bodyPr wrap="square" lIns="0" tIns="0" rIns="0" bIns="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GitHub Actions</a:t>
            </a:r>
            <a:endParaRPr lang="en-US" sz="1700" dirty="0"/>
          </a:p>
        </p:txBody>
      </p:sp>
      <p:sp>
        <p:nvSpPr>
          <p:cNvPr id="13" name="Text 8"/>
          <p:cNvSpPr txBox="1"/>
          <p:nvPr/>
        </p:nvSpPr>
        <p:spPr>
          <a:xfrm>
            <a:off x="2816352" y="3017520"/>
            <a:ext cx="2057400" cy="54864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entra in AWS con OIDC</a:t>
            </a:r>
            <a:endParaRPr lang="en-US" sz="1400" dirty="0"/>
          </a:p>
        </p:txBody>
      </p:sp>
      <p:sp>
        <p:nvSpPr>
          <p:cNvPr id="14" name="Shape 9"/>
          <p:cNvSpPr/>
          <p:nvPr/>
        </p:nvSpPr>
        <p:spPr>
          <a:xfrm>
            <a:off x="4370832" y="1993392"/>
            <a:ext cx="1143000" cy="0"/>
          </a:xfrm>
          <a:prstGeom prst="line">
            <a:avLst/>
          </a:prstGeom>
          <a:noFill/>
          <a:ln w="25400">
            <a:solidFill>
              <a:srgbClr val="D9D6EC"/>
            </a:solidFill>
            <a:prstDash val="solid"/>
            <a:tailEnd type="triangle"/>
          </a:ln>
        </p:spPr>
      </p:sp>
      <p:sp>
        <p:nvSpPr>
          <p:cNvPr id="15" name="Shape 10"/>
          <p:cNvSpPr/>
          <p:nvPr/>
        </p:nvSpPr>
        <p:spPr>
          <a:xfrm>
            <a:off x="5678424" y="1554480"/>
            <a:ext cx="868680" cy="868680"/>
          </a:xfrm>
          <a:prstGeom prst="ellipse">
            <a:avLst/>
          </a:prstGeom>
          <a:solidFill>
            <a:srgbClr val="5B3FD0"/>
          </a:solidFill>
          <a:ln w="12700">
            <a:solidFill>
              <a:srgbClr val="5B3FD0"/>
            </a:solidFill>
            <a:prstDash val="solid"/>
          </a:ln>
        </p:spPr>
      </p:sp>
      <p:pic>
        <p:nvPicPr>
          <p:cNvPr id="16" name="Image 2" descr="preencoded.png">    </p:cNvPr>
          <p:cNvPicPr>
            <a:picLocks noChangeAspect="1"/>
          </p:cNvPicPr>
          <p:nvPr/>
        </p:nvPicPr>
        <p:blipFill>
          <a:blip r:embed="rId3"/>
          <a:stretch>
            <a:fillRect/>
          </a:stretch>
        </p:blipFill>
        <p:spPr>
          <a:xfrm>
            <a:off x="5895594" y="1771650"/>
            <a:ext cx="434340" cy="434340"/>
          </a:xfrm>
          <a:prstGeom prst="rect">
            <a:avLst/>
          </a:prstGeom>
        </p:spPr>
      </p:pic>
      <p:sp>
        <p:nvSpPr>
          <p:cNvPr id="17" name="Text 11"/>
          <p:cNvSpPr txBox="1"/>
          <p:nvPr/>
        </p:nvSpPr>
        <p:spPr>
          <a:xfrm>
            <a:off x="5084064" y="2560320"/>
            <a:ext cx="2057400" cy="457200"/>
          </a:xfrm>
          <a:prstGeom prst="rect">
            <a:avLst/>
          </a:prstGeom>
          <a:noFill/>
          <a:ln/>
        </p:spPr>
        <p:txBody>
          <a:bodyPr wrap="square" lIns="0" tIns="0" rIns="0" bIns="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Immagine in ECR</a:t>
            </a:r>
            <a:endParaRPr lang="en-US" sz="1700" dirty="0"/>
          </a:p>
        </p:txBody>
      </p:sp>
      <p:sp>
        <p:nvSpPr>
          <p:cNvPr id="18" name="Text 12"/>
          <p:cNvSpPr txBox="1"/>
          <p:nvPr/>
        </p:nvSpPr>
        <p:spPr>
          <a:xfrm>
            <a:off x="5084064" y="3017520"/>
            <a:ext cx="2057400" cy="54864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tag = il commit</a:t>
            </a:r>
            <a:endParaRPr lang="en-US" sz="1400" dirty="0"/>
          </a:p>
        </p:txBody>
      </p:sp>
      <p:sp>
        <p:nvSpPr>
          <p:cNvPr id="19" name="Shape 13"/>
          <p:cNvSpPr/>
          <p:nvPr/>
        </p:nvSpPr>
        <p:spPr>
          <a:xfrm>
            <a:off x="6638544" y="1993392"/>
            <a:ext cx="1143000" cy="0"/>
          </a:xfrm>
          <a:prstGeom prst="line">
            <a:avLst/>
          </a:prstGeom>
          <a:noFill/>
          <a:ln w="25400">
            <a:solidFill>
              <a:srgbClr val="D9D6EC"/>
            </a:solidFill>
            <a:prstDash val="solid"/>
            <a:tailEnd type="triangle"/>
          </a:ln>
        </p:spPr>
      </p:sp>
      <p:sp>
        <p:nvSpPr>
          <p:cNvPr id="20" name="Shape 14"/>
          <p:cNvSpPr/>
          <p:nvPr/>
        </p:nvSpPr>
        <p:spPr>
          <a:xfrm>
            <a:off x="7946136" y="1554480"/>
            <a:ext cx="868680" cy="868680"/>
          </a:xfrm>
          <a:prstGeom prst="ellipse">
            <a:avLst/>
          </a:prstGeom>
          <a:solidFill>
            <a:srgbClr val="F28C28"/>
          </a:solidFill>
          <a:ln w="12700">
            <a:solidFill>
              <a:srgbClr val="F28C28"/>
            </a:solidFill>
            <a:prstDash val="solid"/>
          </a:ln>
        </p:spPr>
      </p:sp>
      <p:pic>
        <p:nvPicPr>
          <p:cNvPr id="21" name="Image 3" descr="preencoded.png">    </p:cNvPr>
          <p:cNvPicPr>
            <a:picLocks noChangeAspect="1"/>
          </p:cNvPicPr>
          <p:nvPr/>
        </p:nvPicPr>
        <p:blipFill>
          <a:blip r:embed="rId4"/>
          <a:stretch>
            <a:fillRect/>
          </a:stretch>
        </p:blipFill>
        <p:spPr>
          <a:xfrm>
            <a:off x="8163306" y="1771650"/>
            <a:ext cx="434340" cy="434340"/>
          </a:xfrm>
          <a:prstGeom prst="rect">
            <a:avLst/>
          </a:prstGeom>
        </p:spPr>
      </p:pic>
      <p:sp>
        <p:nvSpPr>
          <p:cNvPr id="22" name="Text 15"/>
          <p:cNvSpPr txBox="1"/>
          <p:nvPr/>
        </p:nvSpPr>
        <p:spPr>
          <a:xfrm>
            <a:off x="7351776" y="2560320"/>
            <a:ext cx="2057400" cy="457200"/>
          </a:xfrm>
          <a:prstGeom prst="rect">
            <a:avLst/>
          </a:prstGeom>
          <a:noFill/>
          <a:ln/>
        </p:spPr>
        <p:txBody>
          <a:bodyPr wrap="square" lIns="0" tIns="0" rIns="0" bIns="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terraform apply</a:t>
            </a:r>
            <a:endParaRPr lang="en-US" sz="1700" dirty="0"/>
          </a:p>
        </p:txBody>
      </p:sp>
      <p:sp>
        <p:nvSpPr>
          <p:cNvPr id="23" name="Text 16"/>
          <p:cNvSpPr txBox="1"/>
          <p:nvPr/>
        </p:nvSpPr>
        <p:spPr>
          <a:xfrm>
            <a:off x="7351776" y="3017520"/>
            <a:ext cx="2057400" cy="54864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image_tag = il commit</a:t>
            </a:r>
            <a:endParaRPr lang="en-US" sz="1400" dirty="0"/>
          </a:p>
        </p:txBody>
      </p:sp>
      <p:sp>
        <p:nvSpPr>
          <p:cNvPr id="24" name="Shape 17"/>
          <p:cNvSpPr/>
          <p:nvPr/>
        </p:nvSpPr>
        <p:spPr>
          <a:xfrm>
            <a:off x="8906256" y="1993392"/>
            <a:ext cx="1143000" cy="0"/>
          </a:xfrm>
          <a:prstGeom prst="line">
            <a:avLst/>
          </a:prstGeom>
          <a:noFill/>
          <a:ln w="25400">
            <a:solidFill>
              <a:srgbClr val="D9D6EC"/>
            </a:solidFill>
            <a:prstDash val="solid"/>
            <a:tailEnd type="triangle"/>
          </a:ln>
        </p:spPr>
      </p:sp>
      <p:sp>
        <p:nvSpPr>
          <p:cNvPr id="25" name="Shape 18"/>
          <p:cNvSpPr/>
          <p:nvPr/>
        </p:nvSpPr>
        <p:spPr>
          <a:xfrm>
            <a:off x="10213848" y="1554480"/>
            <a:ext cx="868680" cy="868680"/>
          </a:xfrm>
          <a:prstGeom prst="ellipse">
            <a:avLst/>
          </a:prstGeom>
          <a:solidFill>
            <a:srgbClr val="F28C28"/>
          </a:solidFill>
          <a:ln w="12700">
            <a:solidFill>
              <a:srgbClr val="F28C28"/>
            </a:solidFill>
            <a:prstDash val="solid"/>
          </a:ln>
        </p:spPr>
      </p:sp>
      <p:pic>
        <p:nvPicPr>
          <p:cNvPr id="26" name="Image 4" descr="preencoded.png">    </p:cNvPr>
          <p:cNvPicPr>
            <a:picLocks noChangeAspect="1"/>
          </p:cNvPicPr>
          <p:nvPr/>
        </p:nvPicPr>
        <p:blipFill>
          <a:blip r:embed="rId5"/>
          <a:stretch>
            <a:fillRect/>
          </a:stretch>
        </p:blipFill>
        <p:spPr>
          <a:xfrm>
            <a:off x="10431018" y="1771650"/>
            <a:ext cx="434340" cy="434340"/>
          </a:xfrm>
          <a:prstGeom prst="rect">
            <a:avLst/>
          </a:prstGeom>
        </p:spPr>
      </p:pic>
      <p:sp>
        <p:nvSpPr>
          <p:cNvPr id="27" name="Text 19"/>
          <p:cNvSpPr txBox="1"/>
          <p:nvPr/>
        </p:nvSpPr>
        <p:spPr>
          <a:xfrm>
            <a:off x="9619488" y="2560320"/>
            <a:ext cx="2057400" cy="457200"/>
          </a:xfrm>
          <a:prstGeom prst="rect">
            <a:avLst/>
          </a:prstGeom>
          <a:noFill/>
          <a:ln/>
        </p:spPr>
        <p:txBody>
          <a:bodyPr wrap="square" lIns="0" tIns="0" rIns="0" bIns="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Server nuovo</a:t>
            </a:r>
            <a:endParaRPr lang="en-US" sz="1700" dirty="0"/>
          </a:p>
        </p:txBody>
      </p:sp>
      <p:sp>
        <p:nvSpPr>
          <p:cNvPr id="28" name="Text 20"/>
          <p:cNvSpPr txBox="1"/>
          <p:nvPr/>
        </p:nvSpPr>
        <p:spPr>
          <a:xfrm>
            <a:off x="9619488" y="3017520"/>
            <a:ext cx="2057400" cy="54864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scarica, legge, parte</a:t>
            </a:r>
            <a:endParaRPr lang="en-US" sz="1400" dirty="0"/>
          </a:p>
        </p:txBody>
      </p:sp>
      <p:sp>
        <p:nvSpPr>
          <p:cNvPr id="29" name="Shape 21"/>
          <p:cNvSpPr/>
          <p:nvPr/>
        </p:nvSpPr>
        <p:spPr>
          <a:xfrm>
            <a:off x="548640" y="3977640"/>
            <a:ext cx="5440680" cy="2103120"/>
          </a:xfrm>
          <a:prstGeom prst="roundRect">
            <a:avLst>
              <a:gd name="adj" fmla="val 5217"/>
            </a:avLst>
          </a:prstGeom>
          <a:solidFill>
            <a:srgbClr val="EEEAFB"/>
          </a:solidFill>
          <a:ln w="12700">
            <a:solidFill>
              <a:srgbClr val="EEEAFB"/>
            </a:solidFill>
            <a:prstDash val="solid"/>
          </a:ln>
        </p:spPr>
      </p:sp>
      <p:sp>
        <p:nvSpPr>
          <p:cNvPr id="30" name="Shape 22"/>
          <p:cNvSpPr/>
          <p:nvPr/>
        </p:nvSpPr>
        <p:spPr>
          <a:xfrm>
            <a:off x="777240" y="4206240"/>
            <a:ext cx="548640" cy="548640"/>
          </a:xfrm>
          <a:prstGeom prst="ellipse">
            <a:avLst/>
          </a:prstGeom>
          <a:solidFill>
            <a:srgbClr val="5B3FD0"/>
          </a:solidFill>
          <a:ln w="12700">
            <a:solidFill>
              <a:srgbClr val="5B3FD0"/>
            </a:solidFill>
            <a:prstDash val="solid"/>
          </a:ln>
        </p:spPr>
      </p:sp>
      <p:pic>
        <p:nvPicPr>
          <p:cNvPr id="31" name="Image 5" descr="preencoded.png">    </p:cNvPr>
          <p:cNvPicPr>
            <a:picLocks noChangeAspect="1"/>
          </p:cNvPicPr>
          <p:nvPr/>
        </p:nvPicPr>
        <p:blipFill>
          <a:blip r:embed="rId6"/>
          <a:stretch>
            <a:fillRect/>
          </a:stretch>
        </p:blipFill>
        <p:spPr>
          <a:xfrm>
            <a:off x="914400" y="4343400"/>
            <a:ext cx="274320" cy="274320"/>
          </a:xfrm>
          <a:prstGeom prst="rect">
            <a:avLst/>
          </a:prstGeom>
        </p:spPr>
      </p:pic>
      <p:sp>
        <p:nvSpPr>
          <p:cNvPr id="32" name="Text 23"/>
          <p:cNvSpPr txBox="1"/>
          <p:nvPr/>
        </p:nvSpPr>
        <p:spPr>
          <a:xfrm>
            <a:off x="1508760" y="420624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Metà 1: lo fa GitHub, a ogni push</a:t>
            </a:r>
            <a:endParaRPr lang="en-US" sz="1800" dirty="0"/>
          </a:p>
        </p:txBody>
      </p:sp>
      <p:sp>
        <p:nvSpPr>
          <p:cNvPr id="33" name="Text 24"/>
          <p:cNvSpPr txBox="1"/>
          <p:nvPr/>
        </p:nvSpPr>
        <p:spPr>
          <a:xfrm>
            <a:off x="777240" y="4892040"/>
            <a:ext cx="4983480" cy="10058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costruire e caricare l'immagine. GitHub può SOLO caricare: non tocca l'infrastruttura</a:t>
            </a:r>
            <a:endParaRPr lang="en-US" sz="1500" dirty="0"/>
          </a:p>
        </p:txBody>
      </p:sp>
      <p:sp>
        <p:nvSpPr>
          <p:cNvPr id="34" name="Shape 25"/>
          <p:cNvSpPr/>
          <p:nvPr/>
        </p:nvSpPr>
        <p:spPr>
          <a:xfrm>
            <a:off x="6172200" y="3977640"/>
            <a:ext cx="5468112" cy="2103120"/>
          </a:xfrm>
          <a:prstGeom prst="roundRect">
            <a:avLst>
              <a:gd name="adj" fmla="val 5217"/>
            </a:avLst>
          </a:prstGeom>
          <a:solidFill>
            <a:srgbClr val="FDF0E3"/>
          </a:solidFill>
          <a:ln w="12700">
            <a:solidFill>
              <a:srgbClr val="FDF0E3"/>
            </a:solidFill>
            <a:prstDash val="solid"/>
          </a:ln>
        </p:spPr>
      </p:sp>
      <p:sp>
        <p:nvSpPr>
          <p:cNvPr id="35" name="Shape 26"/>
          <p:cNvSpPr/>
          <p:nvPr/>
        </p:nvSpPr>
        <p:spPr>
          <a:xfrm>
            <a:off x="6400800" y="4206240"/>
            <a:ext cx="548640" cy="548640"/>
          </a:xfrm>
          <a:prstGeom prst="ellipse">
            <a:avLst/>
          </a:prstGeom>
          <a:solidFill>
            <a:srgbClr val="F28C28"/>
          </a:solidFill>
          <a:ln w="12700">
            <a:solidFill>
              <a:srgbClr val="F28C28"/>
            </a:solidFill>
            <a:prstDash val="solid"/>
          </a:ln>
        </p:spPr>
      </p:sp>
      <p:pic>
        <p:nvPicPr>
          <p:cNvPr id="36" name="Image 6" descr="preencoded.png">    </p:cNvPr>
          <p:cNvPicPr>
            <a:picLocks noChangeAspect="1"/>
          </p:cNvPicPr>
          <p:nvPr/>
        </p:nvPicPr>
        <p:blipFill>
          <a:blip r:embed="rId7"/>
          <a:stretch>
            <a:fillRect/>
          </a:stretch>
        </p:blipFill>
        <p:spPr>
          <a:xfrm>
            <a:off x="6537960" y="4343400"/>
            <a:ext cx="274320" cy="274320"/>
          </a:xfrm>
          <a:prstGeom prst="rect">
            <a:avLst/>
          </a:prstGeom>
        </p:spPr>
      </p:pic>
      <p:sp>
        <p:nvSpPr>
          <p:cNvPr id="37" name="Text 27"/>
          <p:cNvSpPr txBox="1"/>
          <p:nvPr/>
        </p:nvSpPr>
        <p:spPr>
          <a:xfrm>
            <a:off x="7132320" y="420624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Metà 2: lo decidi tu</a:t>
            </a:r>
            <a:endParaRPr lang="en-US" sz="1800" dirty="0"/>
          </a:p>
        </p:txBody>
      </p:sp>
      <p:sp>
        <p:nvSpPr>
          <p:cNvPr id="38" name="Text 28"/>
          <p:cNvSpPr txBox="1"/>
          <p:nvPr/>
        </p:nvSpPr>
        <p:spPr>
          <a:xfrm>
            <a:off x="6400800" y="4892040"/>
            <a:ext cx="5010912" cy="10058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quale versione va in produzione: image_tag nel tfvars, visibile nel plan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GitHub deve entrare in AWS: senza chiavi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371600"/>
            <a:ext cx="5440680" cy="2926080"/>
          </a:xfrm>
          <a:prstGeom prst="roundRect">
            <a:avLst>
              <a:gd name="adj" fmla="val 3750"/>
            </a:avLst>
          </a:prstGeom>
          <a:solidFill>
            <a:srgbClr val="FBE9E9"/>
          </a:solidFill>
          <a:ln w="12700">
            <a:solidFill>
              <a:srgbClr val="FBE9E9"/>
            </a:solidFill>
            <a:prstDash val="solid"/>
          </a:ln>
        </p:spPr>
      </p:sp>
      <p:sp>
        <p:nvSpPr>
          <p:cNvPr id="6" name="Shape 3"/>
          <p:cNvSpPr/>
          <p:nvPr/>
        </p:nvSpPr>
        <p:spPr>
          <a:xfrm>
            <a:off x="777240" y="1600200"/>
            <a:ext cx="548640" cy="548640"/>
          </a:xfrm>
          <a:prstGeom prst="ellipse">
            <a:avLst/>
          </a:prstGeom>
          <a:solidFill>
            <a:srgbClr val="D64545"/>
          </a:solidFill>
          <a:ln w="12700">
            <a:solidFill>
              <a:srgbClr val="D64545"/>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Chiave fissa nei segreti di GitHub</a:t>
            </a:r>
            <a:endParaRPr lang="en-US" sz="1800" dirty="0"/>
          </a:p>
        </p:txBody>
      </p:sp>
      <p:sp>
        <p:nvSpPr>
          <p:cNvPr id="9" name="Text 5"/>
          <p:cNvSpPr txBox="1"/>
          <p:nvPr/>
        </p:nvSpPr>
        <p:spPr>
          <a:xfrm>
            <a:off x="777240" y="2286000"/>
            <a:ext cx="4983480"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NON scade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Vale da qualunque posto</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Chi la trova (log, fork, repo violato) la usa per sempre</a:t>
            </a:r>
            <a:endParaRPr lang="en-US" sz="1600" dirty="0"/>
          </a:p>
        </p:txBody>
      </p:sp>
      <p:sp>
        <p:nvSpPr>
          <p:cNvPr id="10" name="Shape 6"/>
          <p:cNvSpPr/>
          <p:nvPr/>
        </p:nvSpPr>
        <p:spPr>
          <a:xfrm>
            <a:off x="6172200" y="1371600"/>
            <a:ext cx="5468112" cy="2926080"/>
          </a:xfrm>
          <a:prstGeom prst="roundRect">
            <a:avLst>
              <a:gd name="adj" fmla="val 3750"/>
            </a:avLst>
          </a:prstGeom>
          <a:solidFill>
            <a:srgbClr val="E5F4EC"/>
          </a:solidFill>
          <a:ln w="12700">
            <a:solidFill>
              <a:srgbClr val="E5F4EC"/>
            </a:solidFill>
            <a:prstDash val="solid"/>
          </a:ln>
        </p:spPr>
      </p:sp>
      <p:sp>
        <p:nvSpPr>
          <p:cNvPr id="11" name="Shape 7"/>
          <p:cNvSpPr/>
          <p:nvPr/>
        </p:nvSpPr>
        <p:spPr>
          <a:xfrm>
            <a:off x="6400800" y="1600200"/>
            <a:ext cx="548640" cy="548640"/>
          </a:xfrm>
          <a:prstGeom prst="ellipse">
            <a:avLst/>
          </a:prstGeom>
          <a:solidFill>
            <a:srgbClr val="2E9E6B"/>
          </a:solidFill>
          <a:ln w="12700">
            <a:solidFill>
              <a:srgbClr val="2E9E6B"/>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OIDC: nessuna chiave salvata</a:t>
            </a:r>
            <a:endParaRPr lang="en-US" sz="1800" dirty="0"/>
          </a:p>
        </p:txBody>
      </p:sp>
      <p:sp>
        <p:nvSpPr>
          <p:cNvPr id="14" name="Text 9"/>
          <p:cNvSpPr txBox="1"/>
          <p:nvPr/>
        </p:nvSpPr>
        <p:spPr>
          <a:xfrm>
            <a:off x="6400800" y="2286000"/>
            <a:ext cx="5010912"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GitHub firma un "documento" per ogni esecuzione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AWS lo controlla e dà un badge di 1 ora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Il badge apre solo ECR, solo il nostro repository</a:t>
            </a:r>
            <a:endParaRPr lang="en-US" sz="1600" dirty="0"/>
          </a:p>
        </p:txBody>
      </p:sp>
      <p:sp>
        <p:nvSpPr>
          <p:cNvPr id="15" name="Shape 10"/>
          <p:cNvSpPr/>
          <p:nvPr/>
        </p:nvSpPr>
        <p:spPr>
          <a:xfrm>
            <a:off x="548640" y="4572000"/>
            <a:ext cx="11094415" cy="1005840"/>
          </a:xfrm>
          <a:prstGeom prst="roundRect">
            <a:avLst>
              <a:gd name="adj" fmla="val 9091"/>
            </a:avLst>
          </a:prstGeom>
          <a:solidFill>
            <a:srgbClr val="FDF0E3"/>
          </a:solidFill>
          <a:ln w="12700">
            <a:solidFill>
              <a:srgbClr val="FDF0E3"/>
            </a:solidFill>
            <a:prstDash val="solid"/>
          </a:ln>
        </p:spPr>
      </p:sp>
      <p:sp>
        <p:nvSpPr>
          <p:cNvPr id="16" name="Text 11"/>
          <p:cNvSpPr txBox="1"/>
          <p:nvPr/>
        </p:nvSpPr>
        <p:spPr>
          <a:xfrm>
            <a:off x="822960" y="4572000"/>
            <a:ext cx="10545775" cy="100584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Come alla reception: documento rilasciato da un ente fidato → badge visitatore di un'ora, che apre solo la sala macchine.</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OIDC: come funziona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50876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5087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37160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GitHub dà al workflow un token firmato</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"sono il workflow di mario/corso-app, branch main"</a:t>
            </a:r>
            <a:endParaRPr lang="en-US" sz="1700" dirty="0"/>
          </a:p>
        </p:txBody>
      </p:sp>
      <p:sp>
        <p:nvSpPr>
          <p:cNvPr id="8" name="Shape 5"/>
          <p:cNvSpPr/>
          <p:nvPr/>
        </p:nvSpPr>
        <p:spPr>
          <a:xfrm>
            <a:off x="548640" y="2514600"/>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5146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37744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Il workflow lo presenta ad AWS</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e chiede di assumere il role github-release (lezione 1)</a:t>
            </a:r>
            <a:endParaRPr lang="en-US" sz="1700" dirty="0"/>
          </a:p>
        </p:txBody>
      </p:sp>
      <p:sp>
        <p:nvSpPr>
          <p:cNvPr id="11" name="Shape 8"/>
          <p:cNvSpPr/>
          <p:nvPr/>
        </p:nvSpPr>
        <p:spPr>
          <a:xfrm>
            <a:off x="548640" y="3520440"/>
            <a:ext cx="594360" cy="594360"/>
          </a:xfrm>
          <a:prstGeom prst="ellipse">
            <a:avLst/>
          </a:prstGeom>
          <a:solidFill>
            <a:srgbClr val="F28C28"/>
          </a:solidFill>
          <a:ln w="12700">
            <a:solidFill>
              <a:srgbClr val="F28C28"/>
            </a:solidFill>
            <a:prstDash val="solid"/>
          </a:ln>
        </p:spPr>
      </p:sp>
      <p:sp>
        <p:nvSpPr>
          <p:cNvPr id="12" name="Text 9"/>
          <p:cNvSpPr txBox="1"/>
          <p:nvPr/>
        </p:nvSpPr>
        <p:spPr>
          <a:xfrm>
            <a:off x="548640" y="35204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33832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AWS controlla firma e condizioni</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firmato da GitHub? per AWS (aud)? quel repository e quel branch (sub)?</a:t>
            </a:r>
            <a:endParaRPr lang="en-US" sz="1700" dirty="0"/>
          </a:p>
        </p:txBody>
      </p:sp>
      <p:sp>
        <p:nvSpPr>
          <p:cNvPr id="14" name="Shape 11"/>
          <p:cNvSpPr/>
          <p:nvPr/>
        </p:nvSpPr>
        <p:spPr>
          <a:xfrm>
            <a:off x="548640" y="452628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45262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325880" y="438912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Credenziali temporanee: 1 ora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solo per caricare immagini nel nostro repository ECR</a:t>
            </a:r>
            <a:endParaRPr lang="en-US" sz="1700" dirty="0"/>
          </a:p>
        </p:txBody>
      </p:sp>
      <p:sp>
        <p:nvSpPr>
          <p:cNvPr id="17" name="Shape 14"/>
          <p:cNvSpPr/>
          <p:nvPr/>
        </p:nvSpPr>
        <p:spPr>
          <a:xfrm>
            <a:off x="548640" y="5486400"/>
            <a:ext cx="11094415" cy="731520"/>
          </a:xfrm>
          <a:prstGeom prst="roundRect">
            <a:avLst>
              <a:gd name="adj" fmla="val 12500"/>
            </a:avLst>
          </a:prstGeom>
          <a:solidFill>
            <a:srgbClr val="FDF0E3"/>
          </a:solidFill>
          <a:ln w="12700">
            <a:solidFill>
              <a:srgbClr val="FDF0E3"/>
            </a:solidFill>
            <a:prstDash val="solid"/>
          </a:ln>
        </p:spPr>
      </p:sp>
      <p:sp>
        <p:nvSpPr>
          <p:cNvPr id="18" name="Text 15"/>
          <p:cNvSpPr txBox="1"/>
          <p:nvPr/>
        </p:nvSpPr>
        <p:spPr>
          <a:xfrm>
            <a:off x="822960" y="5486400"/>
            <a:ext cx="10545775" cy="73152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In AWS servono due cose: l'OIDC provider ("i token di GitHub sono validi") e il role, con trust policy ristretta.</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La condizione più importante: il sub</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669280"/>
                <a:gridCol w="5422392"/>
              </a:tblGrid>
              <a:tr h="7772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Condizione sul sub</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Chi può caricare immagini in produzione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777240">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repo:mario/corso-app:ref:refs/heads/main</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b="1" dirty="0">
                          <a:solidFill>
                            <a:srgbClr val="2E9E6B"/>
                          </a:solidFill>
                          <a:latin typeface="Calibri" pitchFamily="34" charset="0"/>
                          <a:ea typeface="Calibri" pitchFamily="34" charset="-122"/>
                          <a:cs typeface="Calibri" pitchFamily="34" charset="-120"/>
                        </a:rPr>
                        <a:t>solo quel repository, solo il branch main</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777240">
                <a:tc>
                  <a:txBody>
                    <a:bodyPr/>
                    <a:lstStyle/>
                    <a:p>
                      <a:pPr indent="0" marL="0">
                        <a:buNone/>
                      </a:pPr>
                      <a:r>
                        <a:rPr lang="en-US" sz="1700" dirty="0">
                          <a:solidFill>
                            <a:srgbClr val="22253A"/>
                          </a:solidFill>
                          <a:latin typeface="Courier New" pitchFamily="34" charset="0"/>
                          <a:ea typeface="Courier New" pitchFamily="34" charset="-122"/>
                          <a:cs typeface="Courier New" pitchFamily="34" charset="-120"/>
                        </a:rPr>
                        <a:t>repo:mario/corso-app:*</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F28C28"/>
                          </a:solidFill>
                          <a:latin typeface="Calibri" pitchFamily="34" charset="0"/>
                          <a:ea typeface="Calibri" pitchFamily="34" charset="-122"/>
                          <a:cs typeface="Calibri" pitchFamily="34" charset="-120"/>
                        </a:rPr>
                        <a:t>qualunque branch di quel repository, anche uno di prova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777240">
                <a:tc>
                  <a:txBody>
                    <a:bodyPr/>
                    <a:lstStyle/>
                    <a:p>
                      <a:pPr indent="0" marL="0">
                        <a:buNone/>
                      </a:pPr>
                      <a:r>
                        <a:rPr lang="en-US" sz="1700" dirty="0">
                          <a:solidFill>
                            <a:srgbClr val="22253A"/>
                          </a:solidFill>
                          <a:latin typeface="Courier New" pitchFamily="34" charset="0"/>
                          <a:ea typeface="Courier New" pitchFamily="34" charset="-122"/>
                          <a:cs typeface="Courier New" pitchFamily="34" charset="-120"/>
                        </a:rPr>
                        <a:t>repo:mario/*</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D64545"/>
                          </a:solidFill>
                          <a:latin typeface="Calibri" pitchFamily="34" charset="0"/>
                          <a:ea typeface="Calibri" pitchFamily="34" charset="-122"/>
                          <a:cs typeface="Calibri" pitchFamily="34" charset="-120"/>
                        </a:rPr>
                        <a:t>qualunque repository dell'utente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777240">
                <a:tc>
                  <a:txBody>
                    <a:bodyPr/>
                    <a:lstStyle/>
                    <a:p>
                      <a:pPr indent="0" marL="0">
                        <a:buNone/>
                      </a:pPr>
                      <a:r>
                        <a:rPr lang="en-US" sz="1700" dirty="0">
                          <a:solidFill>
                            <a:srgbClr val="22253A"/>
                          </a:solidFill>
                          <a:latin typeface="Courier New" pitchFamily="34" charset="0"/>
                          <a:ea typeface="Courier New" pitchFamily="34" charset="-122"/>
                          <a:cs typeface="Courier New" pitchFamily="34" charset="-120"/>
                        </a:rPr>
                        <a:t>(nessuna condizione)</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b="1" dirty="0">
                          <a:solidFill>
                            <a:srgbClr val="D64545"/>
                          </a:solidFill>
                          <a:latin typeface="Calibri" pitchFamily="34" charset="0"/>
                          <a:ea typeface="Calibri" pitchFamily="34" charset="-122"/>
                          <a:cs typeface="Calibri" pitchFamily="34" charset="-120"/>
                        </a:rPr>
                        <a:t>QUALUNQUE repository di GitHub al mondo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6" name="Shape 2"/>
          <p:cNvSpPr/>
          <p:nvPr/>
        </p:nvSpPr>
        <p:spPr>
          <a:xfrm>
            <a:off x="548640" y="5486400"/>
            <a:ext cx="11094415" cy="777240"/>
          </a:xfrm>
          <a:prstGeom prst="roundRect">
            <a:avLst>
              <a:gd name="adj" fmla="val 11765"/>
            </a:avLst>
          </a:prstGeom>
          <a:solidFill>
            <a:srgbClr val="FBE9E9"/>
          </a:solidFill>
          <a:ln w="12700">
            <a:solidFill>
              <a:srgbClr val="FBE9E9"/>
            </a:solidFill>
            <a:prstDash val="solid"/>
          </a:ln>
        </p:spPr>
      </p:sp>
      <p:sp>
        <p:nvSpPr>
          <p:cNvPr id="7" name="Text 3"/>
          <p:cNvSpPr txBox="1"/>
          <p:nvPr/>
        </p:nvSpPr>
        <p:spPr>
          <a:xfrm>
            <a:off x="822960" y="5486400"/>
            <a:ext cx="10545775" cy="77724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Va sempre ristretta al repository E al branch. Nell'esercizio lo verifichiamo: dal branch "prova" il role rifiuta.</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workflow: costruire e caricare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325880"/>
            <a:ext cx="11094415" cy="4617720"/>
          </a:xfrm>
          <a:prstGeom prst="roundRect">
            <a:avLst>
              <a:gd name="adj" fmla="val 1584"/>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corso-app/.github/workflows/release.yml (forma compatta)</a:t>
            </a:r>
            <a:endParaRPr lang="en-US" sz="1300" dirty="0"/>
          </a:p>
        </p:txBody>
      </p:sp>
      <p:sp>
        <p:nvSpPr>
          <p:cNvPr id="7" name="Text 4"/>
          <p:cNvSpPr txBox="1"/>
          <p:nvPr/>
        </p:nvSpPr>
        <p:spPr>
          <a:xfrm>
            <a:off x="731520" y="1737360"/>
            <a:ext cx="10728655" cy="406908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on: { push: { branches: [main] }, workflow_dispatch: {}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permissions: { id-token: write, contents: read }   </a:t>
            </a:r>
            <a:pPr indent="0" marL="0">
              <a:buNone/>
            </a:pPr>
            <a:r>
              <a:rPr lang="en-US" sz="1600" dirty="0">
                <a:solidFill>
                  <a:srgbClr val="8FD694"/>
                </a:solidFill>
                <a:latin typeface="Courier New" pitchFamily="34" charset="0"/>
                <a:ea typeface="Courier New" pitchFamily="34" charset="-122"/>
                <a:cs typeface="Courier New" pitchFamily="34" charset="-120"/>
              </a:rPr>
              <a:t># id-token: per il token OIDC</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jobs: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immagine: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runs-on: ubuntu-latest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steps: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uses: actions/checkout@v7</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uses: aws-actions/configure-aws-credentials@v6</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with:</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role-to-assume: ${{ vars.AWS_RELEASE_ROLE_ARN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aws-region: eu-south-1</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uses: aws-actions/amazon-ecr-login@v2</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uses: docker/setup-qemu-action@v4      </a:t>
            </a:r>
            <a:pPr indent="0" marL="0">
              <a:buNone/>
            </a:pPr>
            <a:r>
              <a:rPr lang="en-US" sz="1600" dirty="0">
                <a:solidFill>
                  <a:srgbClr val="8FD694"/>
                </a:solidFill>
                <a:latin typeface="Courier New" pitchFamily="34" charset="0"/>
                <a:ea typeface="Courier New" pitchFamily="34" charset="-122"/>
                <a:cs typeface="Courier New" pitchFamily="34" charset="-120"/>
              </a:rPr>
              <a:t># costruire ARM su x86</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uses: docker/setup-buildx-action@v4</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uses: docker/build-push-action@v7</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with: { platforms: linux/arm64, provenance: false, push: true,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tags: "${{ vars.ECR_REPOSITORY_URL }}:${{ github.sha }}" }</a:t>
            </a:r>
            <a:endParaRPr lang="en-US" sz="1600" dirty="0"/>
          </a:p>
        </p:txBody>
      </p:sp>
      <p:sp>
        <p:nvSpPr>
          <p:cNvPr id="8" name="Text 5"/>
          <p:cNvSpPr txBox="1"/>
          <p:nvPr/>
        </p:nvSpPr>
        <p:spPr>
          <a:xfrm>
            <a:off x="548640" y="6035040"/>
            <a:ext cx="11094415" cy="36576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Tag = github.sha, il codice del commit: "in produzione gira 3f9a2c1" vuol dire una cosa sola.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server diventa "bestiame"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371600"/>
            <a:ext cx="5440680" cy="1828800"/>
          </a:xfrm>
          <a:prstGeom prst="roundRect">
            <a:avLst>
              <a:gd name="adj" fmla="val 6000"/>
            </a:avLst>
          </a:prstGeom>
          <a:solidFill>
            <a:srgbClr val="FBE9E9"/>
          </a:solidFill>
          <a:ln w="12700">
            <a:solidFill>
              <a:srgbClr val="FBE9E9"/>
            </a:solidFill>
            <a:prstDash val="solid"/>
          </a:ln>
        </p:spPr>
      </p:sp>
      <p:sp>
        <p:nvSpPr>
          <p:cNvPr id="6" name="Shape 3"/>
          <p:cNvSpPr/>
          <p:nvPr/>
        </p:nvSpPr>
        <p:spPr>
          <a:xfrm>
            <a:off x="777240" y="1600200"/>
            <a:ext cx="548640" cy="548640"/>
          </a:xfrm>
          <a:prstGeom prst="ellipse">
            <a:avLst/>
          </a:prstGeom>
          <a:solidFill>
            <a:srgbClr val="D64545"/>
          </a:solidFill>
          <a:ln w="12700">
            <a:solidFill>
              <a:srgbClr val="D64545"/>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Animale domestico</a:t>
            </a:r>
            <a:endParaRPr lang="en-US" sz="1800" dirty="0"/>
          </a:p>
        </p:txBody>
      </p:sp>
      <p:sp>
        <p:nvSpPr>
          <p:cNvPr id="9" name="Text 5"/>
          <p:cNvSpPr txBox="1"/>
          <p:nvPr/>
        </p:nvSpPr>
        <p:spPr>
          <a:xfrm>
            <a:off x="777240" y="2286000"/>
            <a:ext cx="4983480" cy="73152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ha un nome, lo curi quando sta male, se muore è un dramma</a:t>
            </a:r>
            <a:endParaRPr lang="en-US" sz="1600" dirty="0"/>
          </a:p>
        </p:txBody>
      </p:sp>
      <p:sp>
        <p:nvSpPr>
          <p:cNvPr id="10" name="Shape 6"/>
          <p:cNvSpPr/>
          <p:nvPr/>
        </p:nvSpPr>
        <p:spPr>
          <a:xfrm>
            <a:off x="6172200" y="1371600"/>
            <a:ext cx="5468112" cy="1828800"/>
          </a:xfrm>
          <a:prstGeom prst="roundRect">
            <a:avLst>
              <a:gd name="adj" fmla="val 6000"/>
            </a:avLst>
          </a:prstGeom>
          <a:solidFill>
            <a:srgbClr val="E5F4EC"/>
          </a:solidFill>
          <a:ln w="12700">
            <a:solidFill>
              <a:srgbClr val="E5F4EC"/>
            </a:solidFill>
            <a:prstDash val="solid"/>
          </a:ln>
        </p:spPr>
      </p:sp>
      <p:sp>
        <p:nvSpPr>
          <p:cNvPr id="11" name="Shape 7"/>
          <p:cNvSpPr/>
          <p:nvPr/>
        </p:nvSpPr>
        <p:spPr>
          <a:xfrm>
            <a:off x="6400800" y="1600200"/>
            <a:ext cx="548640" cy="548640"/>
          </a:xfrm>
          <a:prstGeom prst="ellipse">
            <a:avLst/>
          </a:prstGeom>
          <a:solidFill>
            <a:srgbClr val="2E9E6B"/>
          </a:solidFill>
          <a:ln w="12700">
            <a:solidFill>
              <a:srgbClr val="2E9E6B"/>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Bestiame</a:t>
            </a:r>
            <a:endParaRPr lang="en-US" sz="1800" dirty="0"/>
          </a:p>
        </p:txBody>
      </p:sp>
      <p:sp>
        <p:nvSpPr>
          <p:cNvPr id="14" name="Text 9"/>
          <p:cNvSpPr txBox="1"/>
          <p:nvPr/>
        </p:nvSpPr>
        <p:spPr>
          <a:xfrm>
            <a:off x="6400800" y="2286000"/>
            <a:ext cx="5010912" cy="73152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numerato: se si ammala lo sostituisci con uno identico</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474720"/>
          <a:ext cx="11094415" cy="914400"/>
        </p:xfrm>
        <a:graphic>
          <a:graphicData uri="http://schemas.openxmlformats.org/drawingml/2006/table">
            <a:tbl>
              <a:tblPr/>
              <a:tblGrid>
                <a:gridCol w="3657600"/>
                <a:gridCol w="4206240"/>
                <a:gridCol w="3227832"/>
              </a:tblGrid>
              <a:tr h="53035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Cosa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Dove sta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Se il server sparisce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30352">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 dati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RDS (lezione 6)</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restano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30352">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programma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ECR (lezione 7)</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si riscarica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30352">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 file di deploy · la password</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S3 · Secrets Manager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si riscaricano · si rilegge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30352">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la configurazione del server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lo script di avvio (nel codice)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si riesegue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Lo stampo e il pastore: launch template e Auto Scaling group</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463040"/>
            <a:ext cx="3291840" cy="1463040"/>
          </a:xfrm>
          <a:prstGeom prst="roundRect">
            <a:avLst>
              <a:gd name="adj" fmla="val 6250"/>
            </a:avLst>
          </a:prstGeom>
          <a:solidFill>
            <a:srgbClr val="EEEAFB"/>
          </a:solidFill>
          <a:ln w="12700">
            <a:solidFill>
              <a:srgbClr val="EEEAFB"/>
            </a:solidFill>
            <a:prstDash val="solid"/>
          </a:ln>
        </p:spPr>
      </p:sp>
      <p:sp>
        <p:nvSpPr>
          <p:cNvPr id="6" name="Text 3"/>
          <p:cNvSpPr txBox="1"/>
          <p:nvPr/>
        </p:nvSpPr>
        <p:spPr>
          <a:xfrm>
            <a:off x="548640" y="1463040"/>
            <a:ext cx="3291840" cy="1463040"/>
          </a:xfrm>
          <a:prstGeom prst="rect">
            <a:avLst/>
          </a:prstGeom>
          <a:noFill/>
          <a:ln/>
        </p:spPr>
        <p:txBody>
          <a:bodyPr wrap="square" lIns="76200" tIns="76200" rIns="76200" bIns="7620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Launch template</a:t>
            </a:r>
            <a:endParaRPr lang="en-US" sz="1900" dirty="0"/>
          </a:p>
          <a:p>
            <a:pPr algn="ctr" indent="0" marL="0">
              <a:buNone/>
            </a:pPr>
            <a:r>
              <a:rPr lang="en-US" sz="1400" dirty="0">
                <a:solidFill>
                  <a:srgbClr val="5F6478"/>
                </a:solidFill>
                <a:latin typeface="Calibri" pitchFamily="34" charset="0"/>
                <a:ea typeface="Calibri" pitchFamily="34" charset="-122"/>
                <a:cs typeface="Calibri" pitchFamily="34" charset="-120"/>
              </a:rPr>
              <a:t>lo STAMPO: versione 1, 2, 3…</a:t>
            </a:r>
            <a:endParaRPr lang="en-US" sz="1900" dirty="0"/>
          </a:p>
        </p:txBody>
      </p:sp>
      <p:sp>
        <p:nvSpPr>
          <p:cNvPr id="7" name="Shape 4"/>
          <p:cNvSpPr/>
          <p:nvPr/>
        </p:nvSpPr>
        <p:spPr>
          <a:xfrm>
            <a:off x="3886200" y="2194560"/>
            <a:ext cx="731520" cy="0"/>
          </a:xfrm>
          <a:prstGeom prst="line">
            <a:avLst/>
          </a:prstGeom>
          <a:noFill/>
          <a:ln w="25400">
            <a:solidFill>
              <a:srgbClr val="5B3FD0"/>
            </a:solidFill>
            <a:prstDash val="solid"/>
            <a:tailEnd type="triangle"/>
          </a:ln>
        </p:spPr>
      </p:sp>
      <p:sp>
        <p:nvSpPr>
          <p:cNvPr id="8" name="Shape 5"/>
          <p:cNvSpPr/>
          <p:nvPr/>
        </p:nvSpPr>
        <p:spPr>
          <a:xfrm>
            <a:off x="4663440" y="1463040"/>
            <a:ext cx="3291840" cy="1463040"/>
          </a:xfrm>
          <a:prstGeom prst="roundRect">
            <a:avLst>
              <a:gd name="adj" fmla="val 6250"/>
            </a:avLst>
          </a:prstGeom>
          <a:solidFill>
            <a:srgbClr val="FDF0E3"/>
          </a:solidFill>
          <a:ln w="12700">
            <a:solidFill>
              <a:srgbClr val="FDF0E3"/>
            </a:solidFill>
            <a:prstDash val="solid"/>
          </a:ln>
        </p:spPr>
      </p:sp>
      <p:sp>
        <p:nvSpPr>
          <p:cNvPr id="9" name="Text 6"/>
          <p:cNvSpPr txBox="1"/>
          <p:nvPr/>
        </p:nvSpPr>
        <p:spPr>
          <a:xfrm>
            <a:off x="4663440" y="1463040"/>
            <a:ext cx="3291840" cy="1463040"/>
          </a:xfrm>
          <a:prstGeom prst="rect">
            <a:avLst/>
          </a:prstGeom>
          <a:noFill/>
          <a:ln/>
        </p:spPr>
        <p:txBody>
          <a:bodyPr wrap="square" lIns="76200" tIns="76200" rIns="76200" bIns="7620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Auto Scaling group</a:t>
            </a:r>
            <a:endParaRPr lang="en-US" sz="1900" dirty="0"/>
          </a:p>
          <a:p>
            <a:pPr algn="ctr" indent="0" marL="0">
              <a:buNone/>
            </a:pPr>
            <a:r>
              <a:rPr lang="en-US" sz="1400" dirty="0">
                <a:solidFill>
                  <a:srgbClr val="5F6478"/>
                </a:solidFill>
                <a:latin typeface="Calibri" pitchFamily="34" charset="0"/>
                <a:ea typeface="Calibri" pitchFamily="34" charset="-122"/>
                <a:cs typeface="Calibri" pitchFamily="34" charset="-120"/>
              </a:rPr>
              <a:t>il PASTORE: min = max = 1</a:t>
            </a:r>
            <a:endParaRPr lang="en-US" sz="1900" dirty="0"/>
          </a:p>
        </p:txBody>
      </p:sp>
      <p:sp>
        <p:nvSpPr>
          <p:cNvPr id="10" name="Shape 7"/>
          <p:cNvSpPr/>
          <p:nvPr/>
        </p:nvSpPr>
        <p:spPr>
          <a:xfrm>
            <a:off x="8001000" y="1828800"/>
            <a:ext cx="822960" cy="-182880"/>
          </a:xfrm>
          <a:prstGeom prst="line">
            <a:avLst/>
          </a:prstGeom>
          <a:noFill/>
          <a:ln w="25400">
            <a:solidFill>
              <a:srgbClr val="5B3FD0"/>
            </a:solidFill>
            <a:prstDash val="solid"/>
            <a:tailEnd type="triangle"/>
          </a:ln>
        </p:spPr>
      </p:sp>
      <p:sp>
        <p:nvSpPr>
          <p:cNvPr id="11" name="Shape 8"/>
          <p:cNvSpPr/>
          <p:nvPr/>
        </p:nvSpPr>
        <p:spPr>
          <a:xfrm>
            <a:off x="8001000" y="2560320"/>
            <a:ext cx="822960" cy="182880"/>
          </a:xfrm>
          <a:prstGeom prst="line">
            <a:avLst/>
          </a:prstGeom>
          <a:noFill/>
          <a:ln w="25400">
            <a:solidFill>
              <a:srgbClr val="2E9E6B"/>
            </a:solidFill>
            <a:prstDash val="solid"/>
            <a:tailEnd type="triangle"/>
          </a:ln>
        </p:spPr>
      </p:sp>
      <p:sp>
        <p:nvSpPr>
          <p:cNvPr id="12" name="Shape 9"/>
          <p:cNvSpPr/>
          <p:nvPr/>
        </p:nvSpPr>
        <p:spPr>
          <a:xfrm>
            <a:off x="8869680" y="1280160"/>
            <a:ext cx="2770632" cy="731520"/>
          </a:xfrm>
          <a:prstGeom prst="roundRect">
            <a:avLst>
              <a:gd name="adj" fmla="val 12500"/>
            </a:avLst>
          </a:prstGeom>
          <a:solidFill>
            <a:srgbClr val="FBE9E9"/>
          </a:solidFill>
          <a:ln w="12700">
            <a:solidFill>
              <a:srgbClr val="FBE9E9"/>
            </a:solidFill>
            <a:prstDash val="solid"/>
          </a:ln>
        </p:spPr>
      </p:sp>
      <p:sp>
        <p:nvSpPr>
          <p:cNvPr id="13" name="Text 10"/>
          <p:cNvSpPr txBox="1"/>
          <p:nvPr/>
        </p:nvSpPr>
        <p:spPr>
          <a:xfrm>
            <a:off x="8869680" y="1280160"/>
            <a:ext cx="2770632" cy="731520"/>
          </a:xfrm>
          <a:prstGeom prst="rect">
            <a:avLst/>
          </a:prstGeom>
          <a:noFill/>
          <a:ln/>
        </p:spPr>
        <p:txBody>
          <a:bodyPr wrap="square" lIns="76200" tIns="76200" rIns="76200" bIns="76200" rtlCol="0" anchor="ctr"/>
          <a:lstStyle/>
          <a:p>
            <a:pPr algn="ctr" indent="0" marL="0">
              <a:buNone/>
            </a:pPr>
            <a:r>
              <a:rPr lang="en-US" sz="1600" dirty="0">
                <a:solidFill>
                  <a:srgbClr val="22253A"/>
                </a:solidFill>
                <a:latin typeface="Calibri" pitchFamily="34" charset="0"/>
                <a:ea typeface="Calibri" pitchFamily="34" charset="-122"/>
                <a:cs typeface="Calibri" pitchFamily="34" charset="-120"/>
              </a:rPr>
              <a:t>Server · AZ-a  ✗</a:t>
            </a:r>
            <a:endParaRPr lang="en-US" sz="1600" dirty="0"/>
          </a:p>
        </p:txBody>
      </p:sp>
      <p:sp>
        <p:nvSpPr>
          <p:cNvPr id="14" name="Shape 11"/>
          <p:cNvSpPr/>
          <p:nvPr/>
        </p:nvSpPr>
        <p:spPr>
          <a:xfrm>
            <a:off x="8869680" y="2377440"/>
            <a:ext cx="2770632" cy="731520"/>
          </a:xfrm>
          <a:prstGeom prst="roundRect">
            <a:avLst>
              <a:gd name="adj" fmla="val 12500"/>
            </a:avLst>
          </a:prstGeom>
          <a:solidFill>
            <a:srgbClr val="E5F4EC"/>
          </a:solidFill>
          <a:ln w="12700">
            <a:solidFill>
              <a:srgbClr val="E5F4EC"/>
            </a:solidFill>
            <a:prstDash val="solid"/>
          </a:ln>
        </p:spPr>
      </p:sp>
      <p:sp>
        <p:nvSpPr>
          <p:cNvPr id="15" name="Text 12"/>
          <p:cNvSpPr txBox="1"/>
          <p:nvPr/>
        </p:nvSpPr>
        <p:spPr>
          <a:xfrm>
            <a:off x="8869680" y="2377440"/>
            <a:ext cx="2770632" cy="731520"/>
          </a:xfrm>
          <a:prstGeom prst="rect">
            <a:avLst/>
          </a:prstGeom>
          <a:noFill/>
          <a:ln/>
        </p:spPr>
        <p:txBody>
          <a:bodyPr wrap="square" lIns="76200" tIns="76200" rIns="76200" bIns="76200" rtlCol="0" anchor="ctr"/>
          <a:lstStyle/>
          <a:p>
            <a:pPr algn="ctr" indent="0" marL="0">
              <a:buNone/>
            </a:pPr>
            <a:r>
              <a:rPr lang="en-US" sz="1600" dirty="0">
                <a:solidFill>
                  <a:srgbClr val="22253A"/>
                </a:solidFill>
                <a:latin typeface="Calibri" pitchFamily="34" charset="0"/>
                <a:ea typeface="Calibri" pitchFamily="34" charset="-122"/>
                <a:cs typeface="Calibri" pitchFamily="34" charset="-120"/>
              </a:rPr>
              <a:t>Server nuovo · AZ-b</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11094415" cy="914400"/>
        </p:xfrm>
        <a:graphic>
          <a:graphicData uri="http://schemas.openxmlformats.org/drawingml/2006/table">
            <a:tbl>
              <a:tblPr/>
              <a:tblGrid>
                <a:gridCol w="6035040"/>
                <a:gridCol w="5056632"/>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Argomento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66928">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min_size = max_size = desired_capacity = 1</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sempre esattamente un server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vpc_zone_identifier = tutte le subnet private</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se un'AZ si ferma, nasce nell'altra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66928">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health_check_type = "EC2"</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controlla solo che la macchina sia ACCESA (meglio: lezione 9)</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Un nome che non cambia: app.corso.internal</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Il server, all'avvio, scrive in Route 53: "app.corso.internal sono io".</a:t>
            </a:r>
            <a:endParaRPr lang="en-US" sz="1900" dirty="0"/>
          </a:p>
        </p:txBody>
      </p:sp>
      <p:sp>
        <p:nvSpPr>
          <p:cNvPr id="7" name="Shape 4"/>
          <p:cNvSpPr/>
          <p:nvPr/>
        </p:nvSpPr>
        <p:spPr>
          <a:xfrm>
            <a:off x="548640" y="2240280"/>
            <a:ext cx="3566160" cy="2377440"/>
          </a:xfrm>
          <a:prstGeom prst="roundRect">
            <a:avLst>
              <a:gd name="adj" fmla="val 4615"/>
            </a:avLst>
          </a:prstGeom>
          <a:solidFill>
            <a:srgbClr val="EEEAFB"/>
          </a:solidFill>
          <a:ln w="12700">
            <a:solidFill>
              <a:srgbClr val="EEEAFB"/>
            </a:solidFill>
            <a:prstDash val="solid"/>
          </a:ln>
        </p:spPr>
      </p:sp>
      <p:sp>
        <p:nvSpPr>
          <p:cNvPr id="8" name="Shape 5"/>
          <p:cNvSpPr/>
          <p:nvPr/>
        </p:nvSpPr>
        <p:spPr>
          <a:xfrm>
            <a:off x="777240" y="2468880"/>
            <a:ext cx="548640" cy="548640"/>
          </a:xfrm>
          <a:prstGeom prst="ellipse">
            <a:avLst/>
          </a:prstGeom>
          <a:solidFill>
            <a:srgbClr val="5B3FD0"/>
          </a:solidFill>
          <a:ln w="12700">
            <a:solidFill>
              <a:srgbClr val="5B3FD0"/>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Zona privata corso.internal</a:t>
            </a:r>
            <a:endParaRPr lang="en-US" sz="1800" dirty="0"/>
          </a:p>
        </p:txBody>
      </p:sp>
      <p:sp>
        <p:nvSpPr>
          <p:cNvPr id="11" name="Text 7"/>
          <p:cNvSpPr txBox="1"/>
          <p:nvPr/>
        </p:nvSpPr>
        <p:spPr>
          <a:xfrm>
            <a:off x="777240" y="3154680"/>
            <a:ext cx="3108960" cy="128016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Route 53: esiste solo dentro il nostro VPC (.internal è riservato alle reti private)</a:t>
            </a:r>
            <a:endParaRPr lang="en-US" sz="1500" dirty="0"/>
          </a:p>
        </p:txBody>
      </p:sp>
      <p:sp>
        <p:nvSpPr>
          <p:cNvPr id="12" name="Shape 8"/>
          <p:cNvSpPr/>
          <p:nvPr/>
        </p:nvSpPr>
        <p:spPr>
          <a:xfrm>
            <a:off x="4297680" y="2240280"/>
            <a:ext cx="3566160" cy="2377440"/>
          </a:xfrm>
          <a:prstGeom prst="roundRect">
            <a:avLst>
              <a:gd name="adj" fmla="val 4615"/>
            </a:avLst>
          </a:prstGeom>
          <a:solidFill>
            <a:srgbClr val="EEEAFB"/>
          </a:solidFill>
          <a:ln w="12700">
            <a:solidFill>
              <a:srgbClr val="EEEAFB"/>
            </a:solidFill>
            <a:prstDash val="solid"/>
          </a:ln>
        </p:spPr>
      </p:sp>
      <p:sp>
        <p:nvSpPr>
          <p:cNvPr id="13" name="Shape 9"/>
          <p:cNvSpPr/>
          <p:nvPr/>
        </p:nvSpPr>
        <p:spPr>
          <a:xfrm>
            <a:off x="4526280" y="2468880"/>
            <a:ext cx="548640" cy="548640"/>
          </a:xfrm>
          <a:prstGeom prst="ellipse">
            <a:avLst/>
          </a:prstGeom>
          <a:solidFill>
            <a:srgbClr val="5B3FD0"/>
          </a:solidFill>
          <a:ln w="12700">
            <a:solidFill>
              <a:srgbClr val="5B3FD0"/>
            </a:solidFill>
            <a:prstDash val="solid"/>
          </a:ln>
        </p:spPr>
      </p:sp>
      <p:pic>
        <p:nvPicPr>
          <p:cNvPr id="14" name="Image 1" descr="preencoded.png">    </p:cNvPr>
          <p:cNvPicPr>
            <a:picLocks noChangeAspect="1"/>
          </p:cNvPicPr>
          <p:nvPr/>
        </p:nvPicPr>
        <p:blipFill>
          <a:blip r:embed="rId2"/>
          <a:stretch>
            <a:fillRect/>
          </a:stretch>
        </p:blipFill>
        <p:spPr>
          <a:xfrm>
            <a:off x="4663440" y="2606040"/>
            <a:ext cx="274320" cy="274320"/>
          </a:xfrm>
          <a:prstGeom prst="rect">
            <a:avLst/>
          </a:prstGeom>
        </p:spPr>
      </p:pic>
      <p:sp>
        <p:nvSpPr>
          <p:cNvPr id="15" name="Text 10"/>
          <p:cNvSpPr txBox="1"/>
          <p:nvPr/>
        </p:nvSpPr>
        <p:spPr>
          <a:xfrm>
            <a:off x="525780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UPSERT all'avvio</a:t>
            </a:r>
            <a:endParaRPr lang="en-US" sz="1800" dirty="0"/>
          </a:p>
        </p:txBody>
      </p:sp>
      <p:sp>
        <p:nvSpPr>
          <p:cNvPr id="16" name="Text 11"/>
          <p:cNvSpPr txBox="1"/>
          <p:nvPr/>
        </p:nvSpPr>
        <p:spPr>
          <a:xfrm>
            <a:off x="4526280" y="3154680"/>
            <a:ext cx="3108960" cy="128016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il server legge il suo indirizzo da IMDS e aggiorna il nome (TTL 30 secondi)</a:t>
            </a:r>
            <a:endParaRPr lang="en-US" sz="1500" dirty="0"/>
          </a:p>
        </p:txBody>
      </p:sp>
      <p:sp>
        <p:nvSpPr>
          <p:cNvPr id="17" name="Shape 12"/>
          <p:cNvSpPr/>
          <p:nvPr/>
        </p:nvSpPr>
        <p:spPr>
          <a:xfrm>
            <a:off x="8046720" y="2240280"/>
            <a:ext cx="3566160" cy="2377440"/>
          </a:xfrm>
          <a:prstGeom prst="roundRect">
            <a:avLst>
              <a:gd name="adj" fmla="val 4615"/>
            </a:avLst>
          </a:prstGeom>
          <a:solidFill>
            <a:srgbClr val="E5F4EC"/>
          </a:solidFill>
          <a:ln w="12700">
            <a:solidFill>
              <a:srgbClr val="E5F4EC"/>
            </a:solidFill>
            <a:prstDash val="solid"/>
          </a:ln>
        </p:spPr>
      </p:sp>
      <p:sp>
        <p:nvSpPr>
          <p:cNvPr id="18" name="Shape 13"/>
          <p:cNvSpPr/>
          <p:nvPr/>
        </p:nvSpPr>
        <p:spPr>
          <a:xfrm>
            <a:off x="8275320" y="2468880"/>
            <a:ext cx="548640" cy="548640"/>
          </a:xfrm>
          <a:prstGeom prst="ellipse">
            <a:avLst/>
          </a:prstGeom>
          <a:solidFill>
            <a:srgbClr val="2E9E6B"/>
          </a:solidFill>
          <a:ln w="12700">
            <a:solidFill>
              <a:srgbClr val="2E9E6B"/>
            </a:solidFill>
            <a:prstDash val="solid"/>
          </a:ln>
        </p:spPr>
      </p:sp>
      <p:pic>
        <p:nvPicPr>
          <p:cNvPr id="19" name="Image 2" descr="preencoded.png">    </p:cNvPr>
          <p:cNvPicPr>
            <a:picLocks noChangeAspect="1"/>
          </p:cNvPicPr>
          <p:nvPr/>
        </p:nvPicPr>
        <p:blipFill>
          <a:blip r:embed="rId3"/>
          <a:stretch>
            <a:fillRect/>
          </a:stretch>
        </p:blipFill>
        <p:spPr>
          <a:xfrm>
            <a:off x="8412480" y="2606040"/>
            <a:ext cx="274320" cy="274320"/>
          </a:xfrm>
          <a:prstGeom prst="rect">
            <a:avLst/>
          </a:prstGeom>
        </p:spPr>
      </p:pic>
      <p:sp>
        <p:nvSpPr>
          <p:cNvPr id="20" name="Text 14"/>
          <p:cNvSpPr txBox="1"/>
          <p:nvPr/>
        </p:nvSpPr>
        <p:spPr>
          <a:xfrm>
            <a:off x="900684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Un solo nome, una sola zona</a:t>
            </a:r>
            <a:endParaRPr lang="en-US" sz="1800" dirty="0"/>
          </a:p>
        </p:txBody>
      </p:sp>
      <p:sp>
        <p:nvSpPr>
          <p:cNvPr id="21" name="Text 15"/>
          <p:cNvSpPr txBox="1"/>
          <p:nvPr/>
        </p:nvSpPr>
        <p:spPr>
          <a:xfrm>
            <a:off x="8275320" y="3154680"/>
            <a:ext cx="3108960" cy="128016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condizione IAM: può cambiare SOLO app.corso.internal</a:t>
            </a:r>
            <a:endParaRPr lang="en-US" sz="1500" dirty="0"/>
          </a:p>
        </p:txBody>
      </p:sp>
      <p:sp>
        <p:nvSpPr>
          <p:cNvPr id="22" name="Shape 16"/>
          <p:cNvSpPr/>
          <p:nvPr/>
        </p:nvSpPr>
        <p:spPr>
          <a:xfrm>
            <a:off x="548640" y="4892040"/>
            <a:ext cx="11094415" cy="777240"/>
          </a:xfrm>
          <a:prstGeom prst="roundRect">
            <a:avLst>
              <a:gd name="adj" fmla="val 9412"/>
            </a:avLst>
          </a:prstGeom>
          <a:solidFill>
            <a:srgbClr val="1E1E2E"/>
          </a:solidFill>
          <a:ln w="12700">
            <a:solidFill>
              <a:srgbClr val="1E1E2E"/>
            </a:solidFill>
            <a:prstDash val="solid"/>
          </a:ln>
        </p:spPr>
      </p:sp>
      <p:sp>
        <p:nvSpPr>
          <p:cNvPr id="23" name="Text 17"/>
          <p:cNvSpPr txBox="1"/>
          <p:nvPr/>
        </p:nvSpPr>
        <p:spPr>
          <a:xfrm>
            <a:off x="731520" y="5029200"/>
            <a:ext cx="10728655" cy="502920"/>
          </a:xfrm>
          <a:prstGeom prst="rect">
            <a:avLst/>
          </a:prstGeom>
          <a:noFill/>
          <a:ln/>
        </p:spPr>
        <p:txBody>
          <a:bodyPr wrap="square" lIns="0" tIns="0" rIns="0" bIns="0" rtlCol="0" anchor="t"/>
          <a:lstStyle/>
          <a:p>
            <a:pPr indent="0" marL="0">
              <a:buNone/>
            </a:pPr>
            <a:r>
              <a:rPr lang="en-US" sz="1700" dirty="0">
                <a:solidFill>
                  <a:srgbClr val="E6E6F0"/>
                </a:solidFill>
                <a:latin typeface="Courier New" pitchFamily="34" charset="0"/>
                <a:ea typeface="Courier New" pitchFamily="34" charset="-122"/>
                <a:cs typeface="Courier New" pitchFamily="34" charset="-120"/>
              </a:rPr>
              <a:t>app.corso.internal  →  10.20.11.37   (l'indirizzo del server di adesso)</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Da casa: lo split DNS di Tailscale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463040"/>
            <a:ext cx="2560320" cy="1280160"/>
          </a:xfrm>
          <a:prstGeom prst="roundRect">
            <a:avLst>
              <a:gd name="adj" fmla="val 7143"/>
            </a:avLst>
          </a:prstGeom>
          <a:solidFill>
            <a:srgbClr val="EEEAFB"/>
          </a:solidFill>
          <a:ln w="12700">
            <a:solidFill>
              <a:srgbClr val="EEEAFB"/>
            </a:solidFill>
            <a:prstDash val="solid"/>
          </a:ln>
        </p:spPr>
      </p:sp>
      <p:sp>
        <p:nvSpPr>
          <p:cNvPr id="6" name="Text 3"/>
          <p:cNvSpPr txBox="1"/>
          <p:nvPr/>
        </p:nvSpPr>
        <p:spPr>
          <a:xfrm>
            <a:off x="548640" y="1463040"/>
            <a:ext cx="2560320" cy="128016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Il tuo PC</a:t>
            </a:r>
            <a:endParaRPr lang="en-US" sz="1700" dirty="0"/>
          </a:p>
          <a:p>
            <a:pPr algn="ctr" indent="0" marL="0">
              <a:buNone/>
            </a:pPr>
            <a:r>
              <a:rPr lang="en-US" sz="1400" dirty="0">
                <a:solidFill>
                  <a:srgbClr val="5F6478"/>
                </a:solidFill>
                <a:latin typeface="Calibri" pitchFamily="34" charset="0"/>
                <a:ea typeface="Calibri" pitchFamily="34" charset="-122"/>
                <a:cs typeface="Calibri" pitchFamily="34" charset="-120"/>
              </a:rPr>
              <a:t>app.corso.internal?</a:t>
            </a:r>
            <a:endParaRPr lang="en-US" sz="1700" dirty="0"/>
          </a:p>
        </p:txBody>
      </p:sp>
      <p:sp>
        <p:nvSpPr>
          <p:cNvPr id="7" name="Shape 4"/>
          <p:cNvSpPr/>
          <p:nvPr/>
        </p:nvSpPr>
        <p:spPr>
          <a:xfrm>
            <a:off x="3136392" y="2103120"/>
            <a:ext cx="228600" cy="0"/>
          </a:xfrm>
          <a:prstGeom prst="line">
            <a:avLst/>
          </a:prstGeom>
          <a:noFill/>
          <a:ln w="25400">
            <a:solidFill>
              <a:srgbClr val="5B3FD0"/>
            </a:solidFill>
            <a:prstDash val="solid"/>
            <a:tailEnd type="triangle"/>
          </a:ln>
        </p:spPr>
      </p:sp>
      <p:sp>
        <p:nvSpPr>
          <p:cNvPr id="8" name="Shape 5"/>
          <p:cNvSpPr/>
          <p:nvPr/>
        </p:nvSpPr>
        <p:spPr>
          <a:xfrm>
            <a:off x="3383280" y="1463040"/>
            <a:ext cx="2560320" cy="1280160"/>
          </a:xfrm>
          <a:prstGeom prst="roundRect">
            <a:avLst>
              <a:gd name="adj" fmla="val 7143"/>
            </a:avLst>
          </a:prstGeom>
          <a:solidFill>
            <a:srgbClr val="FDF0E3"/>
          </a:solidFill>
          <a:ln w="12700">
            <a:solidFill>
              <a:srgbClr val="FDF0E3"/>
            </a:solidFill>
            <a:prstDash val="solid"/>
          </a:ln>
        </p:spPr>
      </p:sp>
      <p:sp>
        <p:nvSpPr>
          <p:cNvPr id="9" name="Text 6"/>
          <p:cNvSpPr txBox="1"/>
          <p:nvPr/>
        </p:nvSpPr>
        <p:spPr>
          <a:xfrm>
            <a:off x="3383280" y="1463040"/>
            <a:ext cx="2560320" cy="128016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Router Tailscale</a:t>
            </a:r>
            <a:endParaRPr lang="en-US" sz="1700" dirty="0"/>
          </a:p>
          <a:p>
            <a:pPr algn="ctr" indent="0" marL="0">
              <a:buNone/>
            </a:pPr>
            <a:r>
              <a:rPr lang="en-US" sz="1400" dirty="0">
                <a:solidFill>
                  <a:srgbClr val="5F6478"/>
                </a:solidFill>
                <a:latin typeface="Calibri" pitchFamily="34" charset="0"/>
                <a:ea typeface="Calibri" pitchFamily="34" charset="-122"/>
                <a:cs typeface="Calibri" pitchFamily="34" charset="-120"/>
              </a:rPr>
              <a:t>split DNS: lo giro al VPC</a:t>
            </a:r>
            <a:endParaRPr lang="en-US" sz="1700" dirty="0"/>
          </a:p>
        </p:txBody>
      </p:sp>
      <p:sp>
        <p:nvSpPr>
          <p:cNvPr id="10" name="Shape 7"/>
          <p:cNvSpPr/>
          <p:nvPr/>
        </p:nvSpPr>
        <p:spPr>
          <a:xfrm>
            <a:off x="5971032" y="2103120"/>
            <a:ext cx="228600" cy="0"/>
          </a:xfrm>
          <a:prstGeom prst="line">
            <a:avLst/>
          </a:prstGeom>
          <a:noFill/>
          <a:ln w="25400">
            <a:solidFill>
              <a:srgbClr val="5B3FD0"/>
            </a:solidFill>
            <a:prstDash val="solid"/>
            <a:tailEnd type="triangle"/>
          </a:ln>
        </p:spPr>
      </p:sp>
      <p:sp>
        <p:nvSpPr>
          <p:cNvPr id="11" name="Shape 8"/>
          <p:cNvSpPr/>
          <p:nvPr/>
        </p:nvSpPr>
        <p:spPr>
          <a:xfrm>
            <a:off x="6217920" y="1463040"/>
            <a:ext cx="2560320" cy="1280160"/>
          </a:xfrm>
          <a:prstGeom prst="roundRect">
            <a:avLst>
              <a:gd name="adj" fmla="val 7143"/>
            </a:avLst>
          </a:prstGeom>
          <a:solidFill>
            <a:srgbClr val="E5F4EC"/>
          </a:solidFill>
          <a:ln w="12700">
            <a:solidFill>
              <a:srgbClr val="E5F4EC"/>
            </a:solidFill>
            <a:prstDash val="solid"/>
          </a:ln>
        </p:spPr>
      </p:sp>
      <p:sp>
        <p:nvSpPr>
          <p:cNvPr id="12" name="Text 9"/>
          <p:cNvSpPr txBox="1"/>
          <p:nvPr/>
        </p:nvSpPr>
        <p:spPr>
          <a:xfrm>
            <a:off x="6217920" y="1463040"/>
            <a:ext cx="2560320" cy="128016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DNS del VPC</a:t>
            </a:r>
            <a:endParaRPr lang="en-US" sz="1700" dirty="0"/>
          </a:p>
          <a:p>
            <a:pPr algn="ctr" indent="0" marL="0">
              <a:buNone/>
            </a:pPr>
            <a:r>
              <a:rPr lang="en-US" sz="1400" dirty="0">
                <a:solidFill>
                  <a:srgbClr val="5F6478"/>
                </a:solidFill>
                <a:latin typeface="Calibri" pitchFamily="34" charset="0"/>
                <a:ea typeface="Calibri" pitchFamily="34" charset="-122"/>
                <a:cs typeface="Calibri" pitchFamily="34" charset="-120"/>
              </a:rPr>
              <a:t>10.20.0.2: "10.20.11.37"</a:t>
            </a:r>
            <a:endParaRPr lang="en-US" sz="1700" dirty="0"/>
          </a:p>
        </p:txBody>
      </p:sp>
      <p:sp>
        <p:nvSpPr>
          <p:cNvPr id="13" name="Shape 10"/>
          <p:cNvSpPr/>
          <p:nvPr/>
        </p:nvSpPr>
        <p:spPr>
          <a:xfrm>
            <a:off x="8805672" y="2103120"/>
            <a:ext cx="228600" cy="0"/>
          </a:xfrm>
          <a:prstGeom prst="line">
            <a:avLst/>
          </a:prstGeom>
          <a:noFill/>
          <a:ln w="25400">
            <a:solidFill>
              <a:srgbClr val="5B3FD0"/>
            </a:solidFill>
            <a:prstDash val="solid"/>
            <a:tailEnd type="triangle"/>
          </a:ln>
        </p:spPr>
      </p:sp>
      <p:sp>
        <p:nvSpPr>
          <p:cNvPr id="14" name="Shape 11"/>
          <p:cNvSpPr/>
          <p:nvPr/>
        </p:nvSpPr>
        <p:spPr>
          <a:xfrm>
            <a:off x="9052560" y="1463040"/>
            <a:ext cx="2560320" cy="1280160"/>
          </a:xfrm>
          <a:prstGeom prst="roundRect">
            <a:avLst>
              <a:gd name="adj" fmla="val 7143"/>
            </a:avLst>
          </a:prstGeom>
          <a:solidFill>
            <a:srgbClr val="EEEAFB"/>
          </a:solidFill>
          <a:ln w="12700">
            <a:solidFill>
              <a:srgbClr val="EEEAFB"/>
            </a:solidFill>
            <a:prstDash val="solid"/>
          </a:ln>
        </p:spPr>
      </p:sp>
      <p:sp>
        <p:nvSpPr>
          <p:cNvPr id="15" name="Text 12"/>
          <p:cNvSpPr txBox="1"/>
          <p:nvPr/>
        </p:nvSpPr>
        <p:spPr>
          <a:xfrm>
            <a:off x="9052560" y="1463040"/>
            <a:ext cx="2560320" cy="128016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Server app</a:t>
            </a:r>
            <a:endParaRPr lang="en-US" sz="1700" dirty="0"/>
          </a:p>
          <a:p>
            <a:pPr algn="ctr" indent="0" marL="0">
              <a:buNone/>
            </a:pPr>
            <a:r>
              <a:rPr lang="en-US" sz="1400" dirty="0">
                <a:solidFill>
                  <a:srgbClr val="5F6478"/>
                </a:solidFill>
                <a:latin typeface="Calibri" pitchFamily="34" charset="0"/>
                <a:ea typeface="Calibri" pitchFamily="34" charset="-122"/>
                <a:cs typeface="Calibri" pitchFamily="34" charset="-120"/>
              </a:rPr>
              <a:t>risponde sulla 8080</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11094415" cy="914400"/>
        </p:xfrm>
        <a:graphic>
          <a:graphicData uri="http://schemas.openxmlformats.org/drawingml/2006/table">
            <a:tbl>
              <a:tblPr/>
              <a:tblGrid>
                <a:gridCol w="6035040"/>
                <a:gridCol w="5056632"/>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Modifica a tailscale.tf</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Perché</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66928">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locals { vpc_dns = cidrhost(var.vpc_cidr, 2) }</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2° indirizzo della rete: 10.20.0.2</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regola: group:admin, group:dev → 10.20.0.2:53</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tutti possono fare domande al DNS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66928">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il router annuncia anche 10.20.0.2/32</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per raggiungerlo passando dal router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tailscale_dns_split_nameservers</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corso.internal → 10.20.0.2 (serve MagicDNS attivo)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L'avvio del server: lo script</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46304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4630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3258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Installa Docker e docker compose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Docker dai pacchetti di Amazon Linux; compose dalla pagina dei rilasci</a:t>
            </a:r>
            <a:endParaRPr lang="en-US" sz="1700" dirty="0"/>
          </a:p>
        </p:txBody>
      </p:sp>
      <p:sp>
        <p:nvSpPr>
          <p:cNvPr id="8" name="Shape 5"/>
          <p:cNvSpPr/>
          <p:nvPr/>
        </p:nvSpPr>
        <p:spPr>
          <a:xfrm>
            <a:off x="548640" y="2377440"/>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3774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2402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Scarica i file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docker-compose.yml dal bucket (lezione 7) · certificato della CA di RDS (lezione 6)</a:t>
            </a:r>
            <a:endParaRPr lang="en-US" sz="1700" dirty="0"/>
          </a:p>
        </p:txBody>
      </p:sp>
      <p:sp>
        <p:nvSpPr>
          <p:cNvPr id="11" name="Shape 8"/>
          <p:cNvSpPr/>
          <p:nvPr/>
        </p:nvSpPr>
        <p:spPr>
          <a:xfrm>
            <a:off x="548640" y="3291840"/>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3291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31546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Scrive il suo nome in Route 53</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app.corso.internal = il mio indirizzo</a:t>
            </a:r>
            <a:endParaRPr lang="en-US" sz="1700" dirty="0"/>
          </a:p>
        </p:txBody>
      </p:sp>
      <p:sp>
        <p:nvSpPr>
          <p:cNvPr id="14" name="Shape 11"/>
          <p:cNvSpPr/>
          <p:nvPr/>
        </p:nvSpPr>
        <p:spPr>
          <a:xfrm>
            <a:off x="548640" y="420624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42062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325880" y="40690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Crea app-aggiorna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legge la password, scrive app.env, avvia l'app se qualcosa è cambiato</a:t>
            </a:r>
            <a:endParaRPr lang="en-US" sz="1700" dirty="0"/>
          </a:p>
        </p:txBody>
      </p:sp>
      <p:sp>
        <p:nvSpPr>
          <p:cNvPr id="17" name="Shape 14"/>
          <p:cNvSpPr/>
          <p:nvPr/>
        </p:nvSpPr>
        <p:spPr>
          <a:xfrm>
            <a:off x="548640" y="5120640"/>
            <a:ext cx="594360" cy="594360"/>
          </a:xfrm>
          <a:prstGeom prst="ellipse">
            <a:avLst/>
          </a:prstGeom>
          <a:solidFill>
            <a:srgbClr val="5B3FD0"/>
          </a:solidFill>
          <a:ln w="12700">
            <a:solidFill>
              <a:srgbClr val="5B3FD0"/>
            </a:solidFill>
            <a:prstDash val="solid"/>
          </a:ln>
        </p:spPr>
      </p:sp>
      <p:sp>
        <p:nvSpPr>
          <p:cNvPr id="18" name="Text 15"/>
          <p:cNvSpPr txBox="1"/>
          <p:nvPr/>
        </p:nvSpPr>
        <p:spPr>
          <a:xfrm>
            <a:off x="548640" y="51206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9" name="Text 16"/>
          <p:cNvSpPr txBox="1"/>
          <p:nvPr/>
        </p:nvSpPr>
        <p:spPr>
          <a:xfrm>
            <a:off x="1325880" y="49834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Lo lancia ora, e poi ogni 5 minuti</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un timer di systemd</a:t>
            </a:r>
            <a:endParaRPr lang="en-US" sz="1700" dirty="0"/>
          </a:p>
        </p:txBody>
      </p:sp>
      <p:sp>
        <p:nvSpPr>
          <p:cNvPr id="20" name="Text 17"/>
          <p:cNvSpPr txBox="1"/>
          <p:nvPr/>
        </p:nvSpPr>
        <p:spPr>
          <a:xfrm>
            <a:off x="548640" y="5943600"/>
            <a:ext cx="11094415" cy="365760"/>
          </a:xfrm>
          <a:prstGeom prst="rect">
            <a:avLst/>
          </a:prstGeom>
          <a:noFill/>
          <a:ln/>
        </p:spPr>
        <p:txBody>
          <a:bodyPr wrap="square" lIns="0" tIns="0" rIns="0" bIns="0" rtlCol="0" anchor="ctr"/>
          <a:lstStyle/>
          <a:p>
            <a:pPr algn="l" indent="0" marL="0">
              <a:buNone/>
            </a:pPr>
            <a:r>
              <a:rPr lang="en-US" sz="1400" i="1" dirty="0">
                <a:solidFill>
                  <a:srgbClr val="5F6478"/>
                </a:solidFill>
                <a:latin typeface="Calibri" pitchFamily="34" charset="0"/>
                <a:ea typeface="Calibri" pitchFamily="34" charset="-122"/>
                <a:cs typeface="Calibri" pitchFamily="34" charset="-120"/>
              </a:rPr>
              <a:t>File user_data.sh.tpl: le parti ${…} le riempie Terraform con templatefile. Il racconto: /var/log/cloud-init-output.log</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docker compose: cosa avviare, e come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325880"/>
            <a:ext cx="11094415" cy="3291840"/>
          </a:xfrm>
          <a:prstGeom prst="roundRect">
            <a:avLst>
              <a:gd name="adj" fmla="val 2222"/>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infra/deploy/docker-compose.yml</a:t>
            </a:r>
            <a:endParaRPr lang="en-US" sz="1300" dirty="0"/>
          </a:p>
        </p:txBody>
      </p:sp>
      <p:sp>
        <p:nvSpPr>
          <p:cNvPr id="7" name="Text 4"/>
          <p:cNvSpPr txBox="1"/>
          <p:nvPr/>
        </p:nvSpPr>
        <p:spPr>
          <a:xfrm>
            <a:off x="731520" y="1737360"/>
            <a:ext cx="10728655" cy="274320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services: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app:</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image: ${IMAGE}                    </a:t>
            </a:r>
            <a:pPr indent="0" marL="0">
              <a:buNone/>
            </a:pPr>
            <a:r>
              <a:rPr lang="en-US" sz="1600" dirty="0">
                <a:solidFill>
                  <a:srgbClr val="8FD694"/>
                </a:solidFill>
                <a:latin typeface="Courier New" pitchFamily="34" charset="0"/>
                <a:ea typeface="Courier New" pitchFamily="34" charset="-122"/>
                <a:cs typeface="Courier New" pitchFamily="34" charset="-120"/>
              </a:rPr>
              <a:t># dal file /etc/app/.env</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restart: always                    </a:t>
            </a:r>
            <a:pPr indent="0" marL="0">
              <a:buNone/>
            </a:pPr>
            <a:r>
              <a:rPr lang="en-US" sz="1600" dirty="0">
                <a:solidFill>
                  <a:srgbClr val="8FD694"/>
                </a:solidFill>
                <a:latin typeface="Courier New" pitchFamily="34" charset="0"/>
                <a:ea typeface="Courier New" pitchFamily="34" charset="-122"/>
                <a:cs typeface="Courier New" pitchFamily="34" charset="-120"/>
              </a:rPr>
              <a:t># si riavvia se si ferma</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ports: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"8080:8080"                    </a:t>
            </a:r>
            <a:pPr indent="0" marL="0">
              <a:buNone/>
            </a:pPr>
            <a:r>
              <a:rPr lang="en-US" sz="1600" dirty="0">
                <a:solidFill>
                  <a:srgbClr val="8FD694"/>
                </a:solidFill>
                <a:latin typeface="Courier New" pitchFamily="34" charset="0"/>
                <a:ea typeface="Courier New" pitchFamily="34" charset="-122"/>
                <a:cs typeface="Courier New" pitchFamily="34" charset="-120"/>
              </a:rPr>
              <a:t># la porta che il SG app apre al router</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env_file: /etc/app/app.env         </a:t>
            </a:r>
            <a:pPr indent="0" marL="0">
              <a:buNone/>
            </a:pPr>
            <a:r>
              <a:rPr lang="en-US" sz="1600" dirty="0">
                <a:solidFill>
                  <a:srgbClr val="8FD694"/>
                </a:solidFill>
                <a:latin typeface="Courier New" pitchFamily="34" charset="0"/>
                <a:ea typeface="Courier New" pitchFamily="34" charset="-122"/>
                <a:cs typeface="Courier New" pitchFamily="34" charset="-120"/>
              </a:rPr>
              <a:t># scritto da app-aggiorna (password)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environment: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APP_VERSION: ${IMAGE}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volumes: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/etc/app/rds-ca.pem:/certs/rds-ca.pem:ro   </a:t>
            </a:r>
            <a:pPr indent="0" marL="0">
              <a:buNone/>
            </a:pPr>
            <a:r>
              <a:rPr lang="en-US" sz="1600" dirty="0">
                <a:solidFill>
                  <a:srgbClr val="8FD694"/>
                </a:solidFill>
                <a:latin typeface="Courier New" pitchFamily="34" charset="0"/>
                <a:ea typeface="Courier New" pitchFamily="34" charset="-122"/>
                <a:cs typeface="Courier New" pitchFamily="34" charset="-120"/>
              </a:rPr>
              <a:t># per verify-full</a:t>
            </a:r>
            <a:endParaRPr lang="en-US" sz="1600" dirty="0"/>
          </a:p>
        </p:txBody>
      </p:sp>
      <p:sp>
        <p:nvSpPr>
          <p:cNvPr id="8" name="Shape 5"/>
          <p:cNvSpPr/>
          <p:nvPr/>
        </p:nvSpPr>
        <p:spPr>
          <a:xfrm>
            <a:off x="548640" y="4846320"/>
            <a:ext cx="11094415" cy="1280160"/>
          </a:xfrm>
          <a:prstGeom prst="roundRect">
            <a:avLst>
              <a:gd name="adj" fmla="val 8571"/>
            </a:avLst>
          </a:prstGeom>
          <a:solidFill>
            <a:srgbClr val="EEEAFB"/>
          </a:solidFill>
          <a:ln w="12700">
            <a:solidFill>
              <a:srgbClr val="EEEAFB"/>
            </a:solidFill>
            <a:prstDash val="solid"/>
          </a:ln>
        </p:spPr>
      </p:sp>
      <p:sp>
        <p:nvSpPr>
          <p:cNvPr id="9" name="Shape 6"/>
          <p:cNvSpPr/>
          <p:nvPr/>
        </p:nvSpPr>
        <p:spPr>
          <a:xfrm>
            <a:off x="777240" y="5074920"/>
            <a:ext cx="548640" cy="548640"/>
          </a:xfrm>
          <a:prstGeom prst="ellipse">
            <a:avLst/>
          </a:prstGeom>
          <a:solidFill>
            <a:srgbClr val="5B3FD0"/>
          </a:solidFill>
          <a:ln w="12700">
            <a:solidFill>
              <a:srgbClr val="5B3FD0"/>
            </a:solidFill>
            <a:prstDash val="solid"/>
          </a:ln>
        </p:spPr>
      </p:sp>
      <p:pic>
        <p:nvPicPr>
          <p:cNvPr id="10" name="Image 0" descr="preencoded.png">    </p:cNvPr>
          <p:cNvPicPr>
            <a:picLocks noChangeAspect="1"/>
          </p:cNvPicPr>
          <p:nvPr/>
        </p:nvPicPr>
        <p:blipFill>
          <a:blip r:embed="rId1"/>
          <a:stretch>
            <a:fillRect/>
          </a:stretch>
        </p:blipFill>
        <p:spPr>
          <a:xfrm>
            <a:off x="914400" y="5212080"/>
            <a:ext cx="274320" cy="274320"/>
          </a:xfrm>
          <a:prstGeom prst="rect">
            <a:avLst/>
          </a:prstGeom>
        </p:spPr>
      </p:pic>
      <p:sp>
        <p:nvSpPr>
          <p:cNvPr id="11" name="Text 7"/>
          <p:cNvSpPr txBox="1"/>
          <p:nvPr/>
        </p:nvSpPr>
        <p:spPr>
          <a:xfrm>
            <a:off x="1508760" y="5074920"/>
            <a:ext cx="9905695"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Lo carica Terraform nel bucket (aws_s3_object)</a:t>
            </a:r>
            <a:endParaRPr lang="en-US" sz="1800" dirty="0"/>
          </a:p>
        </p:txBody>
      </p:sp>
      <p:sp>
        <p:nvSpPr>
          <p:cNvPr id="12" name="Text 8"/>
          <p:cNvSpPr txBox="1"/>
          <p:nvPr/>
        </p:nvSpPr>
        <p:spPr>
          <a:xfrm>
            <a:off x="777240" y="5760720"/>
            <a:ext cx="10637215" cy="18288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se lo modifichi cambia lo stampo, e al prossimo apply il server viene sostituito con quello nuovo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La password che cambia: app-aggiorna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371600"/>
            <a:ext cx="3566160" cy="2103120"/>
          </a:xfrm>
          <a:prstGeom prst="roundRect">
            <a:avLst>
              <a:gd name="adj" fmla="val 5217"/>
            </a:avLst>
          </a:prstGeom>
          <a:solidFill>
            <a:srgbClr val="EEEAFB"/>
          </a:solidFill>
          <a:ln w="12700">
            <a:solidFill>
              <a:srgbClr val="EEEAFB"/>
            </a:solidFill>
            <a:prstDash val="solid"/>
          </a:ln>
        </p:spPr>
      </p:sp>
      <p:sp>
        <p:nvSpPr>
          <p:cNvPr id="6" name="Shape 3"/>
          <p:cNvSpPr/>
          <p:nvPr/>
        </p:nvSpPr>
        <p:spPr>
          <a:xfrm>
            <a:off x="777240" y="160020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1. Legge la password</a:t>
            </a:r>
            <a:endParaRPr lang="en-US" sz="1800" dirty="0"/>
          </a:p>
        </p:txBody>
      </p:sp>
      <p:sp>
        <p:nvSpPr>
          <p:cNvPr id="9" name="Text 5"/>
          <p:cNvSpPr txBox="1"/>
          <p:nvPr/>
        </p:nvSpPr>
        <p:spPr>
          <a:xfrm>
            <a:off x="777240" y="2286000"/>
            <a:ext cx="3108960" cy="10058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da Secrets Manager, con il role del server</a:t>
            </a:r>
            <a:endParaRPr lang="en-US" sz="1500" dirty="0"/>
          </a:p>
        </p:txBody>
      </p:sp>
      <p:sp>
        <p:nvSpPr>
          <p:cNvPr id="10" name="Shape 6"/>
          <p:cNvSpPr/>
          <p:nvPr/>
        </p:nvSpPr>
        <p:spPr>
          <a:xfrm>
            <a:off x="4133088" y="2423160"/>
            <a:ext cx="155448" cy="0"/>
          </a:xfrm>
          <a:prstGeom prst="line">
            <a:avLst/>
          </a:prstGeom>
          <a:noFill/>
          <a:ln w="25400">
            <a:solidFill>
              <a:srgbClr val="5B3FD0"/>
            </a:solidFill>
            <a:prstDash val="solid"/>
            <a:tailEnd type="triangle"/>
          </a:ln>
        </p:spPr>
      </p:sp>
      <p:sp>
        <p:nvSpPr>
          <p:cNvPr id="11" name="Shape 7"/>
          <p:cNvSpPr/>
          <p:nvPr/>
        </p:nvSpPr>
        <p:spPr>
          <a:xfrm>
            <a:off x="4297680" y="1371600"/>
            <a:ext cx="3566160" cy="2103120"/>
          </a:xfrm>
          <a:prstGeom prst="roundRect">
            <a:avLst>
              <a:gd name="adj" fmla="val 5217"/>
            </a:avLst>
          </a:prstGeom>
          <a:solidFill>
            <a:srgbClr val="EEEAFB"/>
          </a:solidFill>
          <a:ln w="12700">
            <a:solidFill>
              <a:srgbClr val="EEEAFB"/>
            </a:solidFill>
            <a:prstDash val="solid"/>
          </a:ln>
        </p:spPr>
      </p:sp>
      <p:sp>
        <p:nvSpPr>
          <p:cNvPr id="12" name="Shape 8"/>
          <p:cNvSpPr/>
          <p:nvPr/>
        </p:nvSpPr>
        <p:spPr>
          <a:xfrm>
            <a:off x="4526280" y="1600200"/>
            <a:ext cx="548640" cy="548640"/>
          </a:xfrm>
          <a:prstGeom prst="ellipse">
            <a:avLst/>
          </a:prstGeom>
          <a:solidFill>
            <a:srgbClr val="5B3FD0"/>
          </a:solidFill>
          <a:ln w="12700">
            <a:solidFill>
              <a:srgbClr val="5B3FD0"/>
            </a:solidFill>
            <a:prstDash val="solid"/>
          </a:ln>
        </p:spPr>
      </p:sp>
      <p:pic>
        <p:nvPicPr>
          <p:cNvPr id="13" name="Image 1" descr="preencoded.png">    </p:cNvPr>
          <p:cNvPicPr>
            <a:picLocks noChangeAspect="1"/>
          </p:cNvPicPr>
          <p:nvPr/>
        </p:nvPicPr>
        <p:blipFill>
          <a:blip r:embed="rId2"/>
          <a:stretch>
            <a:fillRect/>
          </a:stretch>
        </p:blipFill>
        <p:spPr>
          <a:xfrm>
            <a:off x="4663440" y="1737360"/>
            <a:ext cx="274320" cy="274320"/>
          </a:xfrm>
          <a:prstGeom prst="rect">
            <a:avLst/>
          </a:prstGeom>
        </p:spPr>
      </p:pic>
      <p:sp>
        <p:nvSpPr>
          <p:cNvPr id="14" name="Text 9"/>
          <p:cNvSpPr txBox="1"/>
          <p:nvPr/>
        </p:nvSpPr>
        <p:spPr>
          <a:xfrm>
            <a:off x="525780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2. Scrive app.env</a:t>
            </a:r>
            <a:endParaRPr lang="en-US" sz="1800" dirty="0"/>
          </a:p>
        </p:txBody>
      </p:sp>
      <p:sp>
        <p:nvSpPr>
          <p:cNvPr id="15" name="Text 10"/>
          <p:cNvSpPr txBox="1"/>
          <p:nvPr/>
        </p:nvSpPr>
        <p:spPr>
          <a:xfrm>
            <a:off x="4526280" y="2286000"/>
            <a:ext cx="3108960" cy="10058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indirizzo, utente, password · solo root</a:t>
            </a:r>
            <a:endParaRPr lang="en-US" sz="1500" dirty="0"/>
          </a:p>
        </p:txBody>
      </p:sp>
      <p:sp>
        <p:nvSpPr>
          <p:cNvPr id="16" name="Shape 11"/>
          <p:cNvSpPr/>
          <p:nvPr/>
        </p:nvSpPr>
        <p:spPr>
          <a:xfrm>
            <a:off x="7882128" y="2423160"/>
            <a:ext cx="155448" cy="0"/>
          </a:xfrm>
          <a:prstGeom prst="line">
            <a:avLst/>
          </a:prstGeom>
          <a:noFill/>
          <a:ln w="25400">
            <a:solidFill>
              <a:srgbClr val="5B3FD0"/>
            </a:solidFill>
            <a:prstDash val="solid"/>
            <a:tailEnd type="triangle"/>
          </a:ln>
        </p:spPr>
      </p:sp>
      <p:sp>
        <p:nvSpPr>
          <p:cNvPr id="17" name="Shape 12"/>
          <p:cNvSpPr/>
          <p:nvPr/>
        </p:nvSpPr>
        <p:spPr>
          <a:xfrm>
            <a:off x="8046720" y="1371600"/>
            <a:ext cx="3566160" cy="2103120"/>
          </a:xfrm>
          <a:prstGeom prst="roundRect">
            <a:avLst>
              <a:gd name="adj" fmla="val 5217"/>
            </a:avLst>
          </a:prstGeom>
          <a:solidFill>
            <a:srgbClr val="EEEAFB"/>
          </a:solidFill>
          <a:ln w="12700">
            <a:solidFill>
              <a:srgbClr val="EEEAFB"/>
            </a:solidFill>
            <a:prstDash val="solid"/>
          </a:ln>
        </p:spPr>
      </p:sp>
      <p:sp>
        <p:nvSpPr>
          <p:cNvPr id="18" name="Shape 13"/>
          <p:cNvSpPr/>
          <p:nvPr/>
        </p:nvSpPr>
        <p:spPr>
          <a:xfrm>
            <a:off x="8275320" y="1600200"/>
            <a:ext cx="548640" cy="548640"/>
          </a:xfrm>
          <a:prstGeom prst="ellipse">
            <a:avLst/>
          </a:prstGeom>
          <a:solidFill>
            <a:srgbClr val="5B3FD0"/>
          </a:solidFill>
          <a:ln w="12700">
            <a:solidFill>
              <a:srgbClr val="5B3FD0"/>
            </a:solidFill>
            <a:prstDash val="solid"/>
          </a:ln>
        </p:spPr>
      </p:sp>
      <p:pic>
        <p:nvPicPr>
          <p:cNvPr id="19" name="Image 2" descr="preencoded.png">    </p:cNvPr>
          <p:cNvPicPr>
            <a:picLocks noChangeAspect="1"/>
          </p:cNvPicPr>
          <p:nvPr/>
        </p:nvPicPr>
        <p:blipFill>
          <a:blip r:embed="rId3"/>
          <a:stretch>
            <a:fillRect/>
          </a:stretch>
        </p:blipFill>
        <p:spPr>
          <a:xfrm>
            <a:off x="8412480" y="1737360"/>
            <a:ext cx="274320" cy="274320"/>
          </a:xfrm>
          <a:prstGeom prst="rect">
            <a:avLst/>
          </a:prstGeom>
        </p:spPr>
      </p:pic>
      <p:sp>
        <p:nvSpPr>
          <p:cNvPr id="20" name="Text 14"/>
          <p:cNvSpPr txBox="1"/>
          <p:nvPr/>
        </p:nvSpPr>
        <p:spPr>
          <a:xfrm>
            <a:off x="900684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3. Se è cambiato…</a:t>
            </a:r>
            <a:endParaRPr lang="en-US" sz="1800" dirty="0"/>
          </a:p>
        </p:txBody>
      </p:sp>
      <p:sp>
        <p:nvSpPr>
          <p:cNvPr id="21" name="Text 15"/>
          <p:cNvSpPr txBox="1"/>
          <p:nvPr/>
        </p:nvSpPr>
        <p:spPr>
          <a:xfrm>
            <a:off x="8275320" y="2286000"/>
            <a:ext cx="3108960" cy="10058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ricrea il container con la password nuova</a:t>
            </a:r>
            <a:endParaRPr lang="en-US" sz="1500" dirty="0"/>
          </a:p>
        </p:txBody>
      </p:sp>
      <p:sp>
        <p:nvSpPr>
          <p:cNvPr id="22" name="Shape 16"/>
          <p:cNvSpPr/>
          <p:nvPr/>
        </p:nvSpPr>
        <p:spPr>
          <a:xfrm>
            <a:off x="548640" y="3749040"/>
            <a:ext cx="5440680" cy="2286000"/>
          </a:xfrm>
          <a:prstGeom prst="roundRect">
            <a:avLst>
              <a:gd name="adj" fmla="val 4800"/>
            </a:avLst>
          </a:prstGeom>
          <a:solidFill>
            <a:srgbClr val="FDF0E3"/>
          </a:solidFill>
          <a:ln w="12700">
            <a:solidFill>
              <a:srgbClr val="FDF0E3"/>
            </a:solidFill>
            <a:prstDash val="solid"/>
          </a:ln>
        </p:spPr>
      </p:sp>
      <p:sp>
        <p:nvSpPr>
          <p:cNvPr id="23" name="Shape 17"/>
          <p:cNvSpPr/>
          <p:nvPr/>
        </p:nvSpPr>
        <p:spPr>
          <a:xfrm>
            <a:off x="777240" y="3977640"/>
            <a:ext cx="548640" cy="548640"/>
          </a:xfrm>
          <a:prstGeom prst="ellipse">
            <a:avLst/>
          </a:prstGeom>
          <a:solidFill>
            <a:srgbClr val="F28C28"/>
          </a:solidFill>
          <a:ln w="12700">
            <a:solidFill>
              <a:srgbClr val="F28C28"/>
            </a:solidFill>
            <a:prstDash val="solid"/>
          </a:ln>
        </p:spPr>
      </p:sp>
      <p:pic>
        <p:nvPicPr>
          <p:cNvPr id="24" name="Image 3" descr="preencoded.png">    </p:cNvPr>
          <p:cNvPicPr>
            <a:picLocks noChangeAspect="1"/>
          </p:cNvPicPr>
          <p:nvPr/>
        </p:nvPicPr>
        <p:blipFill>
          <a:blip r:embed="rId4"/>
          <a:stretch>
            <a:fillRect/>
          </a:stretch>
        </p:blipFill>
        <p:spPr>
          <a:xfrm>
            <a:off x="914400" y="4114800"/>
            <a:ext cx="274320" cy="274320"/>
          </a:xfrm>
          <a:prstGeom prst="rect">
            <a:avLst/>
          </a:prstGeom>
        </p:spPr>
      </p:pic>
      <p:sp>
        <p:nvSpPr>
          <p:cNvPr id="25" name="Text 18"/>
          <p:cNvSpPr txBox="1"/>
          <p:nvPr/>
        </p:nvSpPr>
        <p:spPr>
          <a:xfrm>
            <a:off x="1508760" y="397764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Ogni 5 minuti: un timer di systemd</a:t>
            </a:r>
            <a:endParaRPr lang="en-US" sz="1800" dirty="0"/>
          </a:p>
        </p:txBody>
      </p:sp>
      <p:sp>
        <p:nvSpPr>
          <p:cNvPr id="26" name="Text 19"/>
          <p:cNvSpPr txBox="1"/>
          <p:nvPr/>
        </p:nvSpPr>
        <p:spPr>
          <a:xfrm>
            <a:off x="777240" y="4663440"/>
            <a:ext cx="4983480" cy="11887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la "sveglia" di Linux che rilancia app-aggiorna. Se un avvio fallisce, riprova al giro dopo</a:t>
            </a:r>
            <a:endParaRPr lang="en-US" sz="1500" dirty="0"/>
          </a:p>
        </p:txBody>
      </p:sp>
      <p:sp>
        <p:nvSpPr>
          <p:cNvPr id="27" name="Shape 20"/>
          <p:cNvSpPr/>
          <p:nvPr/>
        </p:nvSpPr>
        <p:spPr>
          <a:xfrm>
            <a:off x="6172200" y="3749040"/>
            <a:ext cx="5468112" cy="2286000"/>
          </a:xfrm>
          <a:prstGeom prst="roundRect">
            <a:avLst>
              <a:gd name="adj" fmla="val 4800"/>
            </a:avLst>
          </a:prstGeom>
          <a:solidFill>
            <a:srgbClr val="E5F4EC"/>
          </a:solidFill>
          <a:ln w="12700">
            <a:solidFill>
              <a:srgbClr val="E5F4EC"/>
            </a:solidFill>
            <a:prstDash val="solid"/>
          </a:ln>
        </p:spPr>
      </p:sp>
      <p:sp>
        <p:nvSpPr>
          <p:cNvPr id="28" name="Shape 21"/>
          <p:cNvSpPr/>
          <p:nvPr/>
        </p:nvSpPr>
        <p:spPr>
          <a:xfrm>
            <a:off x="6400800" y="3977640"/>
            <a:ext cx="548640" cy="548640"/>
          </a:xfrm>
          <a:prstGeom prst="ellipse">
            <a:avLst/>
          </a:prstGeom>
          <a:solidFill>
            <a:srgbClr val="2E9E6B"/>
          </a:solidFill>
          <a:ln w="12700">
            <a:solidFill>
              <a:srgbClr val="2E9E6B"/>
            </a:solidFill>
            <a:prstDash val="solid"/>
          </a:ln>
        </p:spPr>
      </p:sp>
      <p:pic>
        <p:nvPicPr>
          <p:cNvPr id="29" name="Image 4" descr="preencoded.png">    </p:cNvPr>
          <p:cNvPicPr>
            <a:picLocks noChangeAspect="1"/>
          </p:cNvPicPr>
          <p:nvPr/>
        </p:nvPicPr>
        <p:blipFill>
          <a:blip r:embed="rId5"/>
          <a:stretch>
            <a:fillRect/>
          </a:stretch>
        </p:blipFill>
        <p:spPr>
          <a:xfrm>
            <a:off x="6537960" y="4114800"/>
            <a:ext cx="274320" cy="274320"/>
          </a:xfrm>
          <a:prstGeom prst="rect">
            <a:avLst/>
          </a:prstGeom>
        </p:spPr>
      </p:pic>
      <p:sp>
        <p:nvSpPr>
          <p:cNvPr id="30" name="Text 22"/>
          <p:cNvSpPr txBox="1"/>
          <p:nvPr/>
        </p:nvSpPr>
        <p:spPr>
          <a:xfrm>
            <a:off x="7132320" y="397764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La rotazione (lezione 6)</a:t>
            </a:r>
            <a:endParaRPr lang="en-US" sz="1800" dirty="0"/>
          </a:p>
        </p:txBody>
      </p:sp>
      <p:sp>
        <p:nvSpPr>
          <p:cNvPr id="31" name="Text 23"/>
          <p:cNvSpPr txBox="1"/>
          <p:nvPr/>
        </p:nvSpPr>
        <p:spPr>
          <a:xfrm>
            <a:off x="6400800" y="4663440"/>
            <a:ext cx="5010912" cy="11887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entro 5 minuti l'app riparte con la password nuova: pochi secondi di fermo, una volta a settimana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IMDS con hop limit 1: i container restano fuori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hop limit = quanti "salti" di rete può fare la risposta di IMDS. Con 1, si ferma al server.</a:t>
            </a:r>
            <a:endParaRPr lang="en-US" sz="1800" dirty="0"/>
          </a:p>
        </p:txBody>
      </p:sp>
      <p:sp>
        <p:nvSpPr>
          <p:cNvPr id="7" name="Shape 4"/>
          <p:cNvSpPr/>
          <p:nvPr/>
        </p:nvSpPr>
        <p:spPr>
          <a:xfrm>
            <a:off x="548640" y="2331720"/>
            <a:ext cx="2926080" cy="1188720"/>
          </a:xfrm>
          <a:prstGeom prst="roundRect">
            <a:avLst>
              <a:gd name="adj" fmla="val 7692"/>
            </a:avLst>
          </a:prstGeom>
          <a:solidFill>
            <a:srgbClr val="EEEAFB"/>
          </a:solidFill>
          <a:ln w="12700">
            <a:solidFill>
              <a:srgbClr val="EEEAFB"/>
            </a:solidFill>
            <a:prstDash val="solid"/>
          </a:ln>
        </p:spPr>
      </p:sp>
      <p:sp>
        <p:nvSpPr>
          <p:cNvPr id="8" name="Text 5"/>
          <p:cNvSpPr txBox="1"/>
          <p:nvPr/>
        </p:nvSpPr>
        <p:spPr>
          <a:xfrm>
            <a:off x="548640" y="2331720"/>
            <a:ext cx="2926080" cy="1188720"/>
          </a:xfrm>
          <a:prstGeom prst="rect">
            <a:avLst/>
          </a:prstGeom>
          <a:noFill/>
          <a:ln/>
        </p:spPr>
        <p:txBody>
          <a:bodyPr wrap="square" lIns="76200" tIns="76200" rIns="76200" bIns="7620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IMDS</a:t>
            </a:r>
            <a:endParaRPr lang="en-US" sz="1900" dirty="0"/>
          </a:p>
          <a:p>
            <a:pPr algn="ctr" indent="0" marL="0">
              <a:buNone/>
            </a:pPr>
            <a:r>
              <a:rPr lang="en-US" sz="1400" dirty="0">
                <a:solidFill>
                  <a:srgbClr val="5F6478"/>
                </a:solidFill>
                <a:latin typeface="Calibri" pitchFamily="34" charset="0"/>
                <a:ea typeface="Calibri" pitchFamily="34" charset="-122"/>
                <a:cs typeface="Calibri" pitchFamily="34" charset="-120"/>
              </a:rPr>
              <a:t>credenziali del role</a:t>
            </a:r>
            <a:endParaRPr lang="en-US" sz="1900" dirty="0"/>
          </a:p>
        </p:txBody>
      </p:sp>
      <p:sp>
        <p:nvSpPr>
          <p:cNvPr id="9" name="Shape 6"/>
          <p:cNvSpPr/>
          <p:nvPr/>
        </p:nvSpPr>
        <p:spPr>
          <a:xfrm>
            <a:off x="3520440" y="2926080"/>
            <a:ext cx="1097280" cy="0"/>
          </a:xfrm>
          <a:prstGeom prst="line">
            <a:avLst/>
          </a:prstGeom>
          <a:noFill/>
          <a:ln w="25400">
            <a:solidFill>
              <a:srgbClr val="2E9E6B"/>
            </a:solidFill>
            <a:prstDash val="solid"/>
            <a:tailEnd type="triangle"/>
          </a:ln>
        </p:spPr>
      </p:sp>
      <p:sp>
        <p:nvSpPr>
          <p:cNvPr id="10" name="Text 7"/>
          <p:cNvSpPr txBox="1"/>
          <p:nvPr/>
        </p:nvSpPr>
        <p:spPr>
          <a:xfrm>
            <a:off x="3520440" y="2468880"/>
            <a:ext cx="1097280" cy="411480"/>
          </a:xfrm>
          <a:prstGeom prst="rect">
            <a:avLst/>
          </a:prstGeom>
          <a:noFill/>
          <a:ln/>
        </p:spPr>
        <p:txBody>
          <a:bodyPr wrap="square" lIns="0" tIns="0" rIns="0" bIns="0" rtlCol="0" anchor="ctr"/>
          <a:lstStyle/>
          <a:p>
            <a:pPr algn="ctr" indent="0" marL="0">
              <a:buNone/>
            </a:pPr>
            <a:r>
              <a:rPr lang="en-US" sz="1400" b="1" dirty="0">
                <a:solidFill>
                  <a:srgbClr val="2E9E6B"/>
                </a:solidFill>
                <a:latin typeface="Calibri" pitchFamily="34" charset="0"/>
                <a:ea typeface="Calibri" pitchFamily="34" charset="-122"/>
                <a:cs typeface="Calibri" pitchFamily="34" charset="-120"/>
              </a:rPr>
              <a:t>1 salto</a:t>
            </a:r>
            <a:endParaRPr lang="en-US" sz="1400" dirty="0"/>
          </a:p>
        </p:txBody>
      </p:sp>
      <p:sp>
        <p:nvSpPr>
          <p:cNvPr id="11" name="Shape 8"/>
          <p:cNvSpPr/>
          <p:nvPr/>
        </p:nvSpPr>
        <p:spPr>
          <a:xfrm>
            <a:off x="4663440" y="2331720"/>
            <a:ext cx="3108960" cy="1188720"/>
          </a:xfrm>
          <a:prstGeom prst="roundRect">
            <a:avLst>
              <a:gd name="adj" fmla="val 7692"/>
            </a:avLst>
          </a:prstGeom>
          <a:solidFill>
            <a:srgbClr val="E5F4EC"/>
          </a:solidFill>
          <a:ln w="12700">
            <a:solidFill>
              <a:srgbClr val="E5F4EC"/>
            </a:solidFill>
            <a:prstDash val="solid"/>
          </a:ln>
        </p:spPr>
      </p:sp>
      <p:sp>
        <p:nvSpPr>
          <p:cNvPr id="12" name="Text 9"/>
          <p:cNvSpPr txBox="1"/>
          <p:nvPr/>
        </p:nvSpPr>
        <p:spPr>
          <a:xfrm>
            <a:off x="4663440" y="2331720"/>
            <a:ext cx="3108960" cy="1188720"/>
          </a:xfrm>
          <a:prstGeom prst="rect">
            <a:avLst/>
          </a:prstGeom>
          <a:noFill/>
          <a:ln/>
        </p:spPr>
        <p:txBody>
          <a:bodyPr wrap="square" lIns="76200" tIns="76200" rIns="76200" bIns="7620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Server</a:t>
            </a:r>
            <a:endParaRPr lang="en-US" sz="1900" dirty="0"/>
          </a:p>
          <a:p>
            <a:pPr algn="ctr" indent="0" marL="0">
              <a:buNone/>
            </a:pPr>
            <a:r>
              <a:rPr lang="en-US" sz="1400" dirty="0">
                <a:solidFill>
                  <a:srgbClr val="2E9E6B"/>
                </a:solidFill>
                <a:latin typeface="Calibri" pitchFamily="34" charset="0"/>
                <a:ea typeface="Calibri" pitchFamily="34" charset="-122"/>
                <a:cs typeface="Calibri" pitchFamily="34" charset="-120"/>
              </a:rPr>
              <a:t>script di avvio, app-aggiorna: OK</a:t>
            </a:r>
            <a:endParaRPr lang="en-US" sz="1900" dirty="0"/>
          </a:p>
        </p:txBody>
      </p:sp>
      <p:sp>
        <p:nvSpPr>
          <p:cNvPr id="13" name="Shape 10"/>
          <p:cNvSpPr/>
          <p:nvPr/>
        </p:nvSpPr>
        <p:spPr>
          <a:xfrm>
            <a:off x="7818120" y="2926080"/>
            <a:ext cx="822960" cy="0"/>
          </a:xfrm>
          <a:prstGeom prst="line">
            <a:avLst/>
          </a:prstGeom>
          <a:noFill/>
          <a:ln w="25400">
            <a:solidFill>
              <a:srgbClr val="D64545"/>
            </a:solidFill>
            <a:prstDash val="solid"/>
            <a:tailEnd type="triangle"/>
          </a:ln>
        </p:spPr>
      </p:sp>
      <p:sp>
        <p:nvSpPr>
          <p:cNvPr id="14" name="Text 11"/>
          <p:cNvSpPr txBox="1"/>
          <p:nvPr/>
        </p:nvSpPr>
        <p:spPr>
          <a:xfrm>
            <a:off x="7726680" y="2468880"/>
            <a:ext cx="1005840" cy="411480"/>
          </a:xfrm>
          <a:prstGeom prst="rect">
            <a:avLst/>
          </a:prstGeom>
          <a:noFill/>
          <a:ln/>
        </p:spPr>
        <p:txBody>
          <a:bodyPr wrap="square" lIns="0" tIns="0" rIns="0" bIns="0" rtlCol="0" anchor="ctr"/>
          <a:lstStyle/>
          <a:p>
            <a:pPr algn="ctr" indent="0" marL="0">
              <a:buNone/>
            </a:pPr>
            <a:r>
              <a:rPr lang="en-US" sz="1400" b="1" dirty="0">
                <a:solidFill>
                  <a:srgbClr val="D64545"/>
                </a:solidFill>
                <a:latin typeface="Calibri" pitchFamily="34" charset="0"/>
                <a:ea typeface="Calibri" pitchFamily="34" charset="-122"/>
                <a:cs typeface="Calibri" pitchFamily="34" charset="-120"/>
              </a:rPr>
              <a:t>2° salto ✗</a:t>
            </a:r>
            <a:endParaRPr lang="en-US" sz="1400" dirty="0"/>
          </a:p>
        </p:txBody>
      </p:sp>
      <p:sp>
        <p:nvSpPr>
          <p:cNvPr id="15" name="Shape 12"/>
          <p:cNvSpPr/>
          <p:nvPr/>
        </p:nvSpPr>
        <p:spPr>
          <a:xfrm>
            <a:off x="8686800" y="2331720"/>
            <a:ext cx="2953512" cy="1188720"/>
          </a:xfrm>
          <a:prstGeom prst="roundRect">
            <a:avLst>
              <a:gd name="adj" fmla="val 7692"/>
            </a:avLst>
          </a:prstGeom>
          <a:solidFill>
            <a:srgbClr val="FBE9E9"/>
          </a:solidFill>
          <a:ln w="12700">
            <a:solidFill>
              <a:srgbClr val="FBE9E9"/>
            </a:solidFill>
            <a:prstDash val="solid"/>
          </a:ln>
        </p:spPr>
      </p:sp>
      <p:sp>
        <p:nvSpPr>
          <p:cNvPr id="16" name="Text 13"/>
          <p:cNvSpPr txBox="1"/>
          <p:nvPr/>
        </p:nvSpPr>
        <p:spPr>
          <a:xfrm>
            <a:off x="8686800" y="2331720"/>
            <a:ext cx="2953512" cy="1188720"/>
          </a:xfrm>
          <a:prstGeom prst="rect">
            <a:avLst/>
          </a:prstGeom>
          <a:noFill/>
          <a:ln/>
        </p:spPr>
        <p:txBody>
          <a:bodyPr wrap="square" lIns="76200" tIns="76200" rIns="76200" bIns="7620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Container</a:t>
            </a:r>
            <a:endParaRPr lang="en-US" sz="1900" dirty="0"/>
          </a:p>
          <a:p>
            <a:pPr algn="ctr" indent="0" marL="0">
              <a:buNone/>
            </a:pPr>
            <a:r>
              <a:rPr lang="en-US" sz="1400" dirty="0">
                <a:solidFill>
                  <a:srgbClr val="D64545"/>
                </a:solidFill>
                <a:latin typeface="Calibri" pitchFamily="34" charset="0"/>
                <a:ea typeface="Calibri" pitchFamily="34" charset="-122"/>
                <a:cs typeface="Calibri" pitchFamily="34" charset="-120"/>
              </a:rPr>
              <a:t>l'app: NON ci arriva</a:t>
            </a:r>
            <a:endParaRPr lang="en-US" sz="1900" dirty="0"/>
          </a:p>
        </p:txBody>
      </p:sp>
      <p:sp>
        <p:nvSpPr>
          <p:cNvPr id="17" name="Shape 14"/>
          <p:cNvSpPr/>
          <p:nvPr/>
        </p:nvSpPr>
        <p:spPr>
          <a:xfrm>
            <a:off x="548640" y="3840480"/>
            <a:ext cx="11094415" cy="1600200"/>
          </a:xfrm>
          <a:prstGeom prst="roundRect">
            <a:avLst>
              <a:gd name="adj" fmla="val 4571"/>
            </a:avLst>
          </a:prstGeom>
          <a:solidFill>
            <a:srgbClr val="1E1E2E"/>
          </a:solidFill>
          <a:ln w="12700">
            <a:solidFill>
              <a:srgbClr val="1E1E2E"/>
            </a:solidFill>
            <a:prstDash val="solid"/>
          </a:ln>
        </p:spPr>
      </p:sp>
      <p:sp>
        <p:nvSpPr>
          <p:cNvPr id="18" name="Text 15"/>
          <p:cNvSpPr txBox="1"/>
          <p:nvPr/>
        </p:nvSpPr>
        <p:spPr>
          <a:xfrm>
            <a:off x="731520" y="39136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deploy.tf</a:t>
            </a:r>
            <a:endParaRPr lang="en-US" sz="1300" dirty="0"/>
          </a:p>
        </p:txBody>
      </p:sp>
      <p:sp>
        <p:nvSpPr>
          <p:cNvPr id="19" name="Text 16"/>
          <p:cNvSpPr txBox="1"/>
          <p:nvPr/>
        </p:nvSpPr>
        <p:spPr>
          <a:xfrm>
            <a:off x="731520" y="4251960"/>
            <a:ext cx="10728655" cy="10515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metadata_options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http_tokens                 = "required"   </a:t>
            </a:r>
            <a:pPr indent="0" marL="0">
              <a:buNone/>
            </a:pPr>
            <a:r>
              <a:rPr lang="en-US" sz="1600" dirty="0">
                <a:solidFill>
                  <a:srgbClr val="8FD694"/>
                </a:solidFill>
                <a:latin typeface="Courier New" pitchFamily="34" charset="0"/>
                <a:ea typeface="Courier New" pitchFamily="34" charset="-122"/>
                <a:cs typeface="Courier New" pitchFamily="34" charset="-120"/>
              </a:rPr>
              <a:t># IMDSv2 (lezione 4)</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http_put_response_hop_limit = 1            </a:t>
            </a:r>
            <a:pPr indent="0" marL="0">
              <a:buNone/>
            </a:pPr>
            <a:r>
              <a:rPr lang="en-US" sz="1600" dirty="0">
                <a:solidFill>
                  <a:srgbClr val="8FD694"/>
                </a:solidFill>
                <a:latin typeface="Courier New" pitchFamily="34" charset="0"/>
                <a:ea typeface="Courier New" pitchFamily="34" charset="-122"/>
                <a:cs typeface="Courier New" pitchFamily="34" charset="-120"/>
              </a:rPr>
              <a:t># i container non arrivano a IMDS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20" name="Text 17"/>
          <p:cNvSpPr txBox="1"/>
          <p:nvPr/>
        </p:nvSpPr>
        <p:spPr>
          <a:xfrm>
            <a:off x="548640" y="5577840"/>
            <a:ext cx="11094415" cy="54864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SSRF = una falla che fa fare all'app richieste verso indirizzi scelti dall'attaccante. Amazon Linux parte con 2: noi lo riportiamo a 1.</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Una nuova versione: instance refresh</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46304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4630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325880"/>
            <a:ext cx="608076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image_tag = "&lt;commit nuovo&gt;"</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nel tfvars, poi terraform apply</a:t>
            </a:r>
            <a:endParaRPr lang="en-US" sz="1700" dirty="0"/>
          </a:p>
        </p:txBody>
      </p:sp>
      <p:sp>
        <p:nvSpPr>
          <p:cNvPr id="8" name="Shape 5"/>
          <p:cNvSpPr/>
          <p:nvPr/>
        </p:nvSpPr>
        <p:spPr>
          <a:xfrm>
            <a:off x="548640" y="2377440"/>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3774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240280"/>
            <a:ext cx="608076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Nuova versione dello stampo</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il tag finisce nello script di avvio</a:t>
            </a:r>
            <a:endParaRPr lang="en-US" sz="1700" dirty="0"/>
          </a:p>
        </p:txBody>
      </p:sp>
      <p:sp>
        <p:nvSpPr>
          <p:cNvPr id="11" name="Shape 8"/>
          <p:cNvSpPr/>
          <p:nvPr/>
        </p:nvSpPr>
        <p:spPr>
          <a:xfrm>
            <a:off x="548640" y="3291840"/>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3291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3154680"/>
            <a:ext cx="608076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Instance refresh</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prima toglie il vecchio, poi crea il nuovo: qualche minuto di fermo</a:t>
            </a:r>
            <a:endParaRPr lang="en-US" sz="1700" dirty="0"/>
          </a:p>
        </p:txBody>
      </p:sp>
      <p:sp>
        <p:nvSpPr>
          <p:cNvPr id="14" name="Shape 11"/>
          <p:cNvSpPr/>
          <p:nvPr/>
        </p:nvSpPr>
        <p:spPr>
          <a:xfrm>
            <a:off x="548640" y="420624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42062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325880" y="4069080"/>
            <a:ext cx="608076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Il server nuovo parte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scarica la nuova immagine, scrive il suo nome</a:t>
            </a:r>
            <a:endParaRPr lang="en-US" sz="1700" dirty="0"/>
          </a:p>
        </p:txBody>
      </p:sp>
      <p:sp>
        <p:nvSpPr>
          <p:cNvPr id="17" name="Shape 14"/>
          <p:cNvSpPr/>
          <p:nvPr/>
        </p:nvSpPr>
        <p:spPr>
          <a:xfrm>
            <a:off x="7863840" y="1371600"/>
            <a:ext cx="3776472" cy="2103120"/>
          </a:xfrm>
          <a:prstGeom prst="roundRect">
            <a:avLst>
              <a:gd name="adj" fmla="val 5217"/>
            </a:avLst>
          </a:prstGeom>
          <a:solidFill>
            <a:srgbClr val="E5F4EC"/>
          </a:solidFill>
          <a:ln w="12700">
            <a:solidFill>
              <a:srgbClr val="E5F4EC"/>
            </a:solidFill>
            <a:prstDash val="solid"/>
          </a:ln>
        </p:spPr>
      </p:sp>
      <p:sp>
        <p:nvSpPr>
          <p:cNvPr id="18" name="Shape 15"/>
          <p:cNvSpPr/>
          <p:nvPr/>
        </p:nvSpPr>
        <p:spPr>
          <a:xfrm>
            <a:off x="8092440" y="1600200"/>
            <a:ext cx="548640" cy="548640"/>
          </a:xfrm>
          <a:prstGeom prst="ellipse">
            <a:avLst/>
          </a:prstGeom>
          <a:solidFill>
            <a:srgbClr val="2E9E6B"/>
          </a:solidFill>
          <a:ln w="12700">
            <a:solidFill>
              <a:srgbClr val="2E9E6B"/>
            </a:solidFill>
            <a:prstDash val="solid"/>
          </a:ln>
        </p:spPr>
      </p:sp>
      <p:pic>
        <p:nvPicPr>
          <p:cNvPr id="19" name="Image 0" descr="preencoded.png">    </p:cNvPr>
          <p:cNvPicPr>
            <a:picLocks noChangeAspect="1"/>
          </p:cNvPicPr>
          <p:nvPr/>
        </p:nvPicPr>
        <p:blipFill>
          <a:blip r:embed="rId1"/>
          <a:stretch>
            <a:fillRect/>
          </a:stretch>
        </p:blipFill>
        <p:spPr>
          <a:xfrm>
            <a:off x="8229600" y="1737360"/>
            <a:ext cx="274320" cy="274320"/>
          </a:xfrm>
          <a:prstGeom prst="rect">
            <a:avLst/>
          </a:prstGeom>
        </p:spPr>
      </p:pic>
      <p:sp>
        <p:nvSpPr>
          <p:cNvPr id="20" name="Text 16"/>
          <p:cNvSpPr txBox="1"/>
          <p:nvPr/>
        </p:nvSpPr>
        <p:spPr>
          <a:xfrm>
            <a:off x="8823960" y="1600200"/>
            <a:ext cx="258775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Rollback</a:t>
            </a:r>
            <a:endParaRPr lang="en-US" sz="1800" dirty="0"/>
          </a:p>
        </p:txBody>
      </p:sp>
      <p:sp>
        <p:nvSpPr>
          <p:cNvPr id="21" name="Text 17"/>
          <p:cNvSpPr txBox="1"/>
          <p:nvPr/>
        </p:nvSpPr>
        <p:spPr>
          <a:xfrm>
            <a:off x="8092440" y="2286000"/>
            <a:ext cx="3319272" cy="10058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image_tag = il commit di prima. L'immagine è ancora in ECR, identica (tag immutabili)</a:t>
            </a:r>
            <a:endParaRPr lang="en-US" sz="1500" dirty="0"/>
          </a:p>
        </p:txBody>
      </p:sp>
      <p:sp>
        <p:nvSpPr>
          <p:cNvPr id="22" name="Shape 18"/>
          <p:cNvSpPr/>
          <p:nvPr/>
        </p:nvSpPr>
        <p:spPr>
          <a:xfrm>
            <a:off x="7863840" y="3657600"/>
            <a:ext cx="3776472" cy="2103120"/>
          </a:xfrm>
          <a:prstGeom prst="roundRect">
            <a:avLst>
              <a:gd name="adj" fmla="val 5217"/>
            </a:avLst>
          </a:prstGeom>
          <a:solidFill>
            <a:srgbClr val="FDF0E3"/>
          </a:solidFill>
          <a:ln w="12700">
            <a:solidFill>
              <a:srgbClr val="FDF0E3"/>
            </a:solidFill>
            <a:prstDash val="solid"/>
          </a:ln>
        </p:spPr>
      </p:sp>
      <p:sp>
        <p:nvSpPr>
          <p:cNvPr id="23" name="Shape 19"/>
          <p:cNvSpPr/>
          <p:nvPr/>
        </p:nvSpPr>
        <p:spPr>
          <a:xfrm>
            <a:off x="8092440" y="3886200"/>
            <a:ext cx="548640" cy="548640"/>
          </a:xfrm>
          <a:prstGeom prst="ellipse">
            <a:avLst/>
          </a:prstGeom>
          <a:solidFill>
            <a:srgbClr val="F28C28"/>
          </a:solidFill>
          <a:ln w="12700">
            <a:solidFill>
              <a:srgbClr val="F28C28"/>
            </a:solidFill>
            <a:prstDash val="solid"/>
          </a:ln>
        </p:spPr>
      </p:sp>
      <p:pic>
        <p:nvPicPr>
          <p:cNvPr id="24" name="Image 1" descr="preencoded.png">    </p:cNvPr>
          <p:cNvPicPr>
            <a:picLocks noChangeAspect="1"/>
          </p:cNvPicPr>
          <p:nvPr/>
        </p:nvPicPr>
        <p:blipFill>
          <a:blip r:embed="rId2"/>
          <a:stretch>
            <a:fillRect/>
          </a:stretch>
        </p:blipFill>
        <p:spPr>
          <a:xfrm>
            <a:off x="8229600" y="4023360"/>
            <a:ext cx="274320" cy="274320"/>
          </a:xfrm>
          <a:prstGeom prst="rect">
            <a:avLst/>
          </a:prstGeom>
        </p:spPr>
      </p:pic>
      <p:sp>
        <p:nvSpPr>
          <p:cNvPr id="25" name="Text 20"/>
          <p:cNvSpPr txBox="1"/>
          <p:nvPr/>
        </p:nvSpPr>
        <p:spPr>
          <a:xfrm>
            <a:off x="8823960" y="3886200"/>
            <a:ext cx="258775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Anche una nuova AMI</a:t>
            </a:r>
            <a:endParaRPr lang="en-US" sz="1800" dirty="0"/>
          </a:p>
        </p:txBody>
      </p:sp>
      <p:sp>
        <p:nvSpPr>
          <p:cNvPr id="26" name="Text 21"/>
          <p:cNvSpPr txBox="1"/>
          <p:nvPr/>
        </p:nvSpPr>
        <p:spPr>
          <a:xfrm>
            <a:off x="8092440" y="4572000"/>
            <a:ext cx="3319272" cy="10058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sostituisce il server con uno aggiornato: niente ignore_changes, è un vantaggio</a:t>
            </a:r>
            <a:endParaRPr lang="en-US" sz="1500" dirty="0"/>
          </a:p>
        </p:txBody>
      </p:sp>
      <p:sp>
        <p:nvSpPr>
          <p:cNvPr id="27" name="Text 22"/>
          <p:cNvSpPr txBox="1"/>
          <p:nvPr/>
        </p:nvSpPr>
        <p:spPr>
          <a:xfrm>
            <a:off x="548640" y="5120640"/>
            <a:ext cx="6949440" cy="822960"/>
          </a:xfrm>
          <a:prstGeom prst="rect">
            <a:avLst/>
          </a:prstGeom>
          <a:noFill/>
          <a:ln/>
        </p:spPr>
        <p:txBody>
          <a:bodyPr wrap="square" lIns="0" tIns="0" rIns="0" bIns="0" rtlCol="0" anchor="ctr"/>
          <a:lstStyle/>
          <a:p>
            <a:pPr algn="l" indent="0" marL="0">
              <a:buNone/>
            </a:pPr>
            <a:r>
              <a:rPr lang="en-US" sz="1600" i="1" dirty="0">
                <a:solidFill>
                  <a:srgbClr val="5F6478"/>
                </a:solidFill>
                <a:latin typeface="Calibri" pitchFamily="34" charset="0"/>
                <a:ea typeface="Calibri" pitchFamily="34" charset="-122"/>
                <a:cs typeface="Calibri" pitchFamily="34" charset="-120"/>
              </a:rPr>
              <a:t>Senza fermo serve sapere quando il nuovo è DAVVERO pronto: lezione 9.</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migrazioni del database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Migrazione = una modifica al database che una nuova versione richiede. Parte all'avvio, prima di rispondere.</a:t>
            </a:r>
            <a:endParaRPr lang="en-US" sz="1700" dirty="0"/>
          </a:p>
        </p:txBody>
      </p:sp>
      <p:sp>
        <p:nvSpPr>
          <p:cNvPr id="7" name="Shape 4"/>
          <p:cNvSpPr/>
          <p:nvPr/>
        </p:nvSpPr>
        <p:spPr>
          <a:xfrm>
            <a:off x="548640" y="2240280"/>
            <a:ext cx="5440680" cy="1828800"/>
          </a:xfrm>
          <a:prstGeom prst="roundRect">
            <a:avLst>
              <a:gd name="adj" fmla="val 6000"/>
            </a:avLst>
          </a:prstGeom>
          <a:solidFill>
            <a:srgbClr val="FBE9E9"/>
          </a:solidFill>
          <a:ln w="12700">
            <a:solidFill>
              <a:srgbClr val="FBE9E9"/>
            </a:solidFill>
            <a:prstDash val="solid"/>
          </a:ln>
        </p:spPr>
      </p:sp>
      <p:sp>
        <p:nvSpPr>
          <p:cNvPr id="8" name="Shape 5"/>
          <p:cNvSpPr/>
          <p:nvPr/>
        </p:nvSpPr>
        <p:spPr>
          <a:xfrm>
            <a:off x="777240" y="2468880"/>
            <a:ext cx="548640" cy="548640"/>
          </a:xfrm>
          <a:prstGeom prst="ellipse">
            <a:avLst/>
          </a:prstGeom>
          <a:solidFill>
            <a:srgbClr val="D64545"/>
          </a:solidFill>
          <a:ln w="12700">
            <a:solidFill>
              <a:srgbClr val="D64545"/>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Versione 2 cancella una colonna</a:t>
            </a:r>
            <a:endParaRPr lang="en-US" sz="1800" dirty="0"/>
          </a:p>
        </p:txBody>
      </p:sp>
      <p:sp>
        <p:nvSpPr>
          <p:cNvPr id="11" name="Text 7"/>
          <p:cNvSpPr txBox="1"/>
          <p:nvPr/>
        </p:nvSpPr>
        <p:spPr>
          <a:xfrm>
            <a:off x="777240" y="3154680"/>
            <a:ext cx="4983480" cy="7315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rollback alla versione 1: cerca una colonna che non c'è più. Impossibile tornare indietro</a:t>
            </a:r>
            <a:endParaRPr lang="en-US" sz="1500" dirty="0"/>
          </a:p>
        </p:txBody>
      </p:sp>
      <p:sp>
        <p:nvSpPr>
          <p:cNvPr id="12" name="Shape 8"/>
          <p:cNvSpPr/>
          <p:nvPr/>
        </p:nvSpPr>
        <p:spPr>
          <a:xfrm>
            <a:off x="6172200" y="2240280"/>
            <a:ext cx="5468112" cy="1828800"/>
          </a:xfrm>
          <a:prstGeom prst="roundRect">
            <a:avLst>
              <a:gd name="adj" fmla="val 6000"/>
            </a:avLst>
          </a:prstGeom>
          <a:solidFill>
            <a:srgbClr val="E5F4EC"/>
          </a:solidFill>
          <a:ln w="12700">
            <a:solidFill>
              <a:srgbClr val="E5F4EC"/>
            </a:solidFill>
            <a:prstDash val="solid"/>
          </a:ln>
        </p:spPr>
      </p:sp>
      <p:sp>
        <p:nvSpPr>
          <p:cNvPr id="13" name="Shape 9"/>
          <p:cNvSpPr/>
          <p:nvPr/>
        </p:nvSpPr>
        <p:spPr>
          <a:xfrm>
            <a:off x="6400800" y="2468880"/>
            <a:ext cx="548640" cy="548640"/>
          </a:xfrm>
          <a:prstGeom prst="ellipse">
            <a:avLst/>
          </a:prstGeom>
          <a:solidFill>
            <a:srgbClr val="2E9E6B"/>
          </a:solidFill>
          <a:ln w="12700">
            <a:solidFill>
              <a:srgbClr val="2E9E6B"/>
            </a:solidFill>
            <a:prstDash val="solid"/>
          </a:ln>
        </p:spPr>
      </p:sp>
      <p:pic>
        <p:nvPicPr>
          <p:cNvPr id="14" name="Image 1" descr="preencoded.png">    </p:cNvPr>
          <p:cNvPicPr>
            <a:picLocks noChangeAspect="1"/>
          </p:cNvPicPr>
          <p:nvPr/>
        </p:nvPicPr>
        <p:blipFill>
          <a:blip r:embed="rId2"/>
          <a:stretch>
            <a:fillRect/>
          </a:stretch>
        </p:blipFill>
        <p:spPr>
          <a:xfrm>
            <a:off x="6537960" y="2606040"/>
            <a:ext cx="274320" cy="274320"/>
          </a:xfrm>
          <a:prstGeom prst="rect">
            <a:avLst/>
          </a:prstGeom>
        </p:spPr>
      </p:pic>
      <p:sp>
        <p:nvSpPr>
          <p:cNvPr id="15" name="Text 10"/>
          <p:cNvSpPr txBox="1"/>
          <p:nvPr/>
        </p:nvSpPr>
        <p:spPr>
          <a:xfrm>
            <a:off x="7132320" y="246888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Expand and contract</a:t>
            </a:r>
            <a:endParaRPr lang="en-US" sz="1800" dirty="0"/>
          </a:p>
        </p:txBody>
      </p:sp>
      <p:sp>
        <p:nvSpPr>
          <p:cNvPr id="16" name="Text 11"/>
          <p:cNvSpPr txBox="1"/>
          <p:nvPr/>
        </p:nvSpPr>
        <p:spPr>
          <a:xfrm>
            <a:off x="6400800" y="3154680"/>
            <a:ext cx="5010912" cy="7315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v2 AGGIUNGE il nuovo (il vecchio resta) · v3, quando non si torna più indietro, TOGLIE il vecchio</a:t>
            </a:r>
            <a:endParaRPr lang="en-US" sz="1500" dirty="0"/>
          </a:p>
        </p:txBody>
      </p:sp>
      <p:sp>
        <p:nvSpPr>
          <p:cNvPr id="17" name="Shape 12"/>
          <p:cNvSpPr/>
          <p:nvPr/>
        </p:nvSpPr>
        <p:spPr>
          <a:xfrm>
            <a:off x="548640" y="4297680"/>
            <a:ext cx="11094415" cy="1051560"/>
          </a:xfrm>
          <a:prstGeom prst="roundRect">
            <a:avLst>
              <a:gd name="adj" fmla="val 6957"/>
            </a:avLst>
          </a:prstGeom>
          <a:solidFill>
            <a:srgbClr val="1E1E2E"/>
          </a:solidFill>
          <a:ln w="12700">
            <a:solidFill>
              <a:srgbClr val="1E1E2E"/>
            </a:solidFill>
            <a:prstDash val="solid"/>
          </a:ln>
        </p:spPr>
      </p:sp>
      <p:sp>
        <p:nvSpPr>
          <p:cNvPr id="18" name="Text 13"/>
          <p:cNvSpPr txBox="1"/>
          <p:nvPr/>
        </p:nvSpPr>
        <p:spPr>
          <a:xfrm>
            <a:off x="731520" y="43708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corso-app/app.py: la nostra "migrazione"</a:t>
            </a:r>
            <a:endParaRPr lang="en-US" sz="1300" dirty="0"/>
          </a:p>
        </p:txBody>
      </p:sp>
      <p:sp>
        <p:nvSpPr>
          <p:cNvPr id="19" name="Text 14"/>
          <p:cNvSpPr txBox="1"/>
          <p:nvPr/>
        </p:nvSpPr>
        <p:spPr>
          <a:xfrm>
            <a:off x="731520" y="4709160"/>
            <a:ext cx="10728655" cy="50292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CREATE TABLE IF NOT EXISTS visite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id serial PRIMARY KEY, quando timestamptz NOT NULL DEFAULT now())</a:t>
            </a:r>
            <a:endParaRPr lang="en-US" sz="1600" dirty="0"/>
          </a:p>
        </p:txBody>
      </p:sp>
      <p:sp>
        <p:nvSpPr>
          <p:cNvPr id="20" name="Text 15"/>
          <p:cNvSpPr txBox="1"/>
          <p:nvPr/>
        </p:nvSpPr>
        <p:spPr>
          <a:xfrm>
            <a:off x="548640" y="5486400"/>
            <a:ext cx="11094415" cy="54864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Strumenti veri: Alembic (Python), Flyway (Java). Tengono il conto delle migrazioni già fatte.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il role di GitHub</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325880"/>
            <a:ext cx="11094415" cy="4572000"/>
          </a:xfrm>
          <a:prstGeom prst="roundRect">
            <a:avLst>
              <a:gd name="adj" fmla="val 1600"/>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github-oidc.tf: la trust policy (data "aws_iam_policy_document" "github_trust")</a:t>
            </a:r>
            <a:endParaRPr lang="en-US" sz="1300" dirty="0"/>
          </a:p>
        </p:txBody>
      </p:sp>
      <p:sp>
        <p:nvSpPr>
          <p:cNvPr id="7" name="Text 4"/>
          <p:cNvSpPr txBox="1"/>
          <p:nvPr/>
        </p:nvSpPr>
        <p:spPr>
          <a:xfrm>
            <a:off x="731520" y="1737360"/>
            <a:ext cx="10728655" cy="40233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statement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actions = ["sts:AssumeRoleWithWebIdentity"]</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principals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type        = "Federated"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identifiers = [aws_iam_openid_connect_provider.github.arn]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condition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test     = "StringEquals"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variable = "token.actions.githubusercontent.com:aud"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values   = ["sts.amazonaws.com"]</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condition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test     = "StringEquals"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variable = "token.actions.githubusercontent.com:sub"</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values   = ["repo:${var.github_repo}:ref:refs/heads/main"]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lo stampo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325880"/>
            <a:ext cx="11094415" cy="4983480"/>
          </a:xfrm>
          <a:prstGeom prst="roundRect">
            <a:avLst>
              <a:gd name="adj" fmla="val 1468"/>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deploy.tf (in breve)</a:t>
            </a:r>
            <a:endParaRPr lang="en-US" sz="1300" dirty="0"/>
          </a:p>
        </p:txBody>
      </p:sp>
      <p:sp>
        <p:nvSpPr>
          <p:cNvPr id="7" name="Text 4"/>
          <p:cNvSpPr txBox="1"/>
          <p:nvPr/>
        </p:nvSpPr>
        <p:spPr>
          <a:xfrm>
            <a:off x="731520" y="1737360"/>
            <a:ext cx="10728655" cy="443484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"aws_launch_template" "app"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name_prefix            = "${var.project}-app-"</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image_id               = data.aws_ssm_parameter.al2023.insecure_value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instance_type          = var.instance_type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vpc_security_group_ids = [aws_security_group.app.id]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iam_instance_profile { name = aws_iam_instance_profile.app.name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metadata_options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http_tokens                 = "required"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http_put_response_hop_limit = 1</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user_data = base64encode(templatefile("${path.module}/user_data.sh.tpl",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image      = "${aws_ecr_repository.app.repository_url}:${var.image_tag}"</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db_host    = aws_db_instance.main.address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secret_arn = aws_db_instance.main.master_user_secret[0].secret_arn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pPr indent="0" marL="0">
              <a:buNone/>
            </a:pPr>
            <a:r>
              <a:rPr lang="en-US" sz="1600" dirty="0">
                <a:solidFill>
                  <a:srgbClr val="8FD694"/>
                </a:solidFill>
                <a:latin typeface="Courier New" pitchFamily="34" charset="0"/>
                <a:ea typeface="Courier New" pitchFamily="34" charset="-122"/>
                <a:cs typeface="Courier New" pitchFamily="34" charset="-120"/>
              </a:rPr>
              <a:t># … e gli altri valori: regione, bucket, zona DNS, registry</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il pastore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325880"/>
            <a:ext cx="11094415" cy="5074920"/>
          </a:xfrm>
          <a:prstGeom prst="roundRect">
            <a:avLst>
              <a:gd name="adj" fmla="val 1441"/>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deploy.tf</a:t>
            </a:r>
            <a:endParaRPr lang="en-US" sz="1300" dirty="0"/>
          </a:p>
        </p:txBody>
      </p:sp>
      <p:sp>
        <p:nvSpPr>
          <p:cNvPr id="7" name="Text 4"/>
          <p:cNvSpPr txBox="1"/>
          <p:nvPr/>
        </p:nvSpPr>
        <p:spPr>
          <a:xfrm>
            <a:off x="731520" y="1737360"/>
            <a:ext cx="10728655" cy="452628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"aws_autoscaling_group" "app"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min_size                  = 1</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max_size                  = 1</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desired_capacity          = 1</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vpc_zone_identifier       = [for s in aws_subnet.private : s.id]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health_check_type         = "EC2"   </a:t>
            </a:r>
            <a:pPr indent="0" marL="0">
              <a:buNone/>
            </a:pPr>
            <a:r>
              <a:rPr lang="en-US" sz="1600" dirty="0">
                <a:solidFill>
                  <a:srgbClr val="8FD694"/>
                </a:solidFill>
                <a:latin typeface="Courier New" pitchFamily="34" charset="0"/>
                <a:ea typeface="Courier New" pitchFamily="34" charset="-122"/>
                <a:cs typeface="Courier New" pitchFamily="34" charset="-120"/>
              </a:rPr>
              <a:t># + 5 minuti di tolleranza all'avvio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launch_template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id      = aws_launch_template.app.id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version = aws_launch_template.app.latest_version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instance_refresh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strategy = "Rolling"</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preferences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min_healthy_percentage = 0       </a:t>
            </a:r>
            <a:pPr indent="0" marL="0">
              <a:buNone/>
            </a:pPr>
            <a:r>
              <a:rPr lang="en-US" sz="1600" dirty="0">
                <a:solidFill>
                  <a:srgbClr val="8FD694"/>
                </a:solidFill>
                <a:latin typeface="Courier New" pitchFamily="34" charset="0"/>
                <a:ea typeface="Courier New" pitchFamily="34" charset="-122"/>
                <a:cs typeface="Courier New" pitchFamily="34" charset="-120"/>
              </a:rPr>
              <a:t># prima toglie il vecchio…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max_healthy_percentage = 100     </a:t>
            </a:r>
            <a:pPr indent="0" marL="0">
              <a:buNone/>
            </a:pPr>
            <a:r>
              <a:rPr lang="en-US" sz="1600" dirty="0">
                <a:solidFill>
                  <a:srgbClr val="8FD694"/>
                </a:solidFill>
                <a:latin typeface="Courier New" pitchFamily="34" charset="0"/>
                <a:ea typeface="Courier New" pitchFamily="34" charset="-122"/>
                <a:cs typeface="Courier New" pitchFamily="34" charset="-120"/>
              </a:rPr>
              <a:t># …poi crea il nuovo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il nome, e solo quello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325880"/>
            <a:ext cx="11094415" cy="4709160"/>
          </a:xfrm>
          <a:prstGeom prst="roundRect">
            <a:avLst>
              <a:gd name="adj" fmla="val 1553"/>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deploy.tf</a:t>
            </a:r>
            <a:endParaRPr lang="en-US" sz="1300" dirty="0"/>
          </a:p>
        </p:txBody>
      </p:sp>
      <p:sp>
        <p:nvSpPr>
          <p:cNvPr id="7" name="Text 4"/>
          <p:cNvSpPr txBox="1"/>
          <p:nvPr/>
        </p:nvSpPr>
        <p:spPr>
          <a:xfrm>
            <a:off x="731520" y="1737360"/>
            <a:ext cx="10728655" cy="416052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"aws_route53_zone" "internal"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name          = "corso.internal"</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force_destroy = true                 </a:t>
            </a:r>
            <a:pPr indent="0" marL="0">
              <a:buNone/>
            </a:pPr>
            <a:r>
              <a:rPr lang="en-US" sz="1600" dirty="0">
                <a:solidFill>
                  <a:srgbClr val="8FD694"/>
                </a:solidFill>
                <a:latin typeface="Courier New" pitchFamily="34" charset="0"/>
                <a:ea typeface="Courier New" pitchFamily="34" charset="-122"/>
                <a:cs typeface="Courier New" pitchFamily="34" charset="-120"/>
              </a:rPr>
              <a:t># il nome app.* lo scrive il server</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vpc { vpc_id = aws_vpc.main.id }     </a:t>
            </a:r>
            <a:pPr indent="0" marL="0">
              <a:buNone/>
            </a:pPr>
            <a:r>
              <a:rPr lang="en-US" sz="1600" dirty="0">
                <a:solidFill>
                  <a:srgbClr val="8FD694"/>
                </a:solidFill>
                <a:latin typeface="Courier New" pitchFamily="34" charset="0"/>
                <a:ea typeface="Courier New" pitchFamily="34" charset="-122"/>
                <a:cs typeface="Courier New" pitchFamily="34" charset="-120"/>
              </a:rPr>
              <a:t># zona PRIVATA, solo nel nostro VPC</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data "aws_iam_policy_document" "app_dns"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statement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actions   = ["route53:ChangeResourceRecordSets"]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resources = [aws_route53_zone.internal.arn]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condition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test     = "ForAllValues:StringEquals"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variable = "route53:ChangeResourceRecordSetsNormalizedRecordNames"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values   = ["app.corso.internal"]</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8" name="Text 5"/>
          <p:cNvSpPr txBox="1"/>
          <p:nvPr/>
        </p:nvSpPr>
        <p:spPr>
          <a:xfrm>
            <a:off x="548640" y="6080760"/>
            <a:ext cx="11094415" cy="41148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Il role del server ora ha quattro policy: SSM, password del database, artefatti, DNS.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quadro completo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325880"/>
            <a:ext cx="2468880" cy="822960"/>
          </a:xfrm>
          <a:prstGeom prst="roundRect">
            <a:avLst>
              <a:gd name="adj" fmla="val 11111"/>
            </a:avLst>
          </a:prstGeom>
          <a:solidFill>
            <a:srgbClr val="EEEAFB"/>
          </a:solidFill>
          <a:ln w="12700">
            <a:solidFill>
              <a:srgbClr val="EEEAFB"/>
            </a:solidFill>
            <a:prstDash val="solid"/>
          </a:ln>
        </p:spPr>
      </p:sp>
      <p:sp>
        <p:nvSpPr>
          <p:cNvPr id="6" name="Text 3"/>
          <p:cNvSpPr txBox="1"/>
          <p:nvPr/>
        </p:nvSpPr>
        <p:spPr>
          <a:xfrm>
            <a:off x="548640" y="1325880"/>
            <a:ext cx="2468880" cy="82296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Tu: git push</a:t>
            </a:r>
            <a:endParaRPr lang="en-US" sz="1600" dirty="0"/>
          </a:p>
        </p:txBody>
      </p:sp>
      <p:sp>
        <p:nvSpPr>
          <p:cNvPr id="7" name="Shape 4"/>
          <p:cNvSpPr/>
          <p:nvPr/>
        </p:nvSpPr>
        <p:spPr>
          <a:xfrm>
            <a:off x="3063240" y="1737360"/>
            <a:ext cx="457200" cy="0"/>
          </a:xfrm>
          <a:prstGeom prst="line">
            <a:avLst/>
          </a:prstGeom>
          <a:noFill/>
          <a:ln w="25400">
            <a:solidFill>
              <a:srgbClr val="5B3FD0"/>
            </a:solidFill>
            <a:prstDash val="solid"/>
            <a:tailEnd type="triangle"/>
          </a:ln>
        </p:spPr>
      </p:sp>
      <p:sp>
        <p:nvSpPr>
          <p:cNvPr id="8" name="Shape 5"/>
          <p:cNvSpPr/>
          <p:nvPr/>
        </p:nvSpPr>
        <p:spPr>
          <a:xfrm>
            <a:off x="3566160" y="1325880"/>
            <a:ext cx="2743200" cy="822960"/>
          </a:xfrm>
          <a:prstGeom prst="roundRect">
            <a:avLst>
              <a:gd name="adj" fmla="val 11111"/>
            </a:avLst>
          </a:prstGeom>
          <a:solidFill>
            <a:srgbClr val="EEEAFB"/>
          </a:solidFill>
          <a:ln w="12700">
            <a:solidFill>
              <a:srgbClr val="EEEAFB"/>
            </a:solidFill>
            <a:prstDash val="solid"/>
          </a:ln>
        </p:spPr>
      </p:sp>
      <p:sp>
        <p:nvSpPr>
          <p:cNvPr id="9" name="Text 6"/>
          <p:cNvSpPr txBox="1"/>
          <p:nvPr/>
        </p:nvSpPr>
        <p:spPr>
          <a:xfrm>
            <a:off x="3566160" y="1325880"/>
            <a:ext cx="2743200" cy="822960"/>
          </a:xfrm>
          <a:prstGeom prst="rect">
            <a:avLst/>
          </a:prstGeom>
          <a:noFill/>
          <a:ln/>
        </p:spPr>
        <p:txBody>
          <a:bodyPr wrap="square" lIns="76200" tIns="76200" rIns="76200" bIns="76200" rtlCol="0" anchor="ctr"/>
          <a:lstStyle/>
          <a:p>
            <a:pPr algn="ctr" indent="0" marL="0">
              <a:buNone/>
            </a:pPr>
            <a:r>
              <a:rPr lang="en-US" sz="1600" dirty="0">
                <a:solidFill>
                  <a:srgbClr val="22253A"/>
                </a:solidFill>
                <a:latin typeface="Calibri" pitchFamily="34" charset="0"/>
                <a:ea typeface="Calibri" pitchFamily="34" charset="-122"/>
                <a:cs typeface="Calibri" pitchFamily="34" charset="-120"/>
              </a:rPr>
              <a:t>GitHub Actions · OIDC</a:t>
            </a:r>
            <a:endParaRPr lang="en-US" sz="1600" dirty="0"/>
          </a:p>
        </p:txBody>
      </p:sp>
      <p:sp>
        <p:nvSpPr>
          <p:cNvPr id="10" name="Shape 7"/>
          <p:cNvSpPr/>
          <p:nvPr/>
        </p:nvSpPr>
        <p:spPr>
          <a:xfrm>
            <a:off x="6355080" y="1737360"/>
            <a:ext cx="457200" cy="0"/>
          </a:xfrm>
          <a:prstGeom prst="line">
            <a:avLst/>
          </a:prstGeom>
          <a:noFill/>
          <a:ln w="25400">
            <a:solidFill>
              <a:srgbClr val="5B3FD0"/>
            </a:solidFill>
            <a:prstDash val="solid"/>
            <a:tailEnd type="triangle"/>
          </a:ln>
        </p:spPr>
      </p:sp>
      <p:sp>
        <p:nvSpPr>
          <p:cNvPr id="11" name="Shape 8"/>
          <p:cNvSpPr/>
          <p:nvPr/>
        </p:nvSpPr>
        <p:spPr>
          <a:xfrm>
            <a:off x="6858000" y="1325880"/>
            <a:ext cx="2103120" cy="822960"/>
          </a:xfrm>
          <a:prstGeom prst="roundRect">
            <a:avLst>
              <a:gd name="adj" fmla="val 11111"/>
            </a:avLst>
          </a:prstGeom>
          <a:solidFill>
            <a:srgbClr val="FDF0E3"/>
          </a:solidFill>
          <a:ln w="12700">
            <a:solidFill>
              <a:srgbClr val="FDF0E3"/>
            </a:solidFill>
            <a:prstDash val="solid"/>
          </a:ln>
        </p:spPr>
      </p:sp>
      <p:sp>
        <p:nvSpPr>
          <p:cNvPr id="12" name="Text 9"/>
          <p:cNvSpPr txBox="1"/>
          <p:nvPr/>
        </p:nvSpPr>
        <p:spPr>
          <a:xfrm>
            <a:off x="6858000" y="1325880"/>
            <a:ext cx="2103120" cy="82296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ECR</a:t>
            </a:r>
            <a:endParaRPr lang="en-US" sz="1700" dirty="0"/>
          </a:p>
        </p:txBody>
      </p:sp>
      <p:sp>
        <p:nvSpPr>
          <p:cNvPr id="13" name="Shape 10"/>
          <p:cNvSpPr/>
          <p:nvPr/>
        </p:nvSpPr>
        <p:spPr>
          <a:xfrm>
            <a:off x="9144000" y="1325880"/>
            <a:ext cx="2496312" cy="822960"/>
          </a:xfrm>
          <a:prstGeom prst="roundRect">
            <a:avLst>
              <a:gd name="adj" fmla="val 11111"/>
            </a:avLst>
          </a:prstGeom>
          <a:solidFill>
            <a:srgbClr val="E5F4EC"/>
          </a:solidFill>
          <a:ln w="12700">
            <a:solidFill>
              <a:srgbClr val="E5F4EC"/>
            </a:solidFill>
            <a:prstDash val="solid"/>
          </a:ln>
        </p:spPr>
      </p:sp>
      <p:sp>
        <p:nvSpPr>
          <p:cNvPr id="14" name="Text 11"/>
          <p:cNvSpPr txBox="1"/>
          <p:nvPr/>
        </p:nvSpPr>
        <p:spPr>
          <a:xfrm>
            <a:off x="9144000" y="1325880"/>
            <a:ext cx="2496312" cy="822960"/>
          </a:xfrm>
          <a:prstGeom prst="rect">
            <a:avLst/>
          </a:prstGeom>
          <a:noFill/>
          <a:ln/>
        </p:spPr>
        <p:txBody>
          <a:bodyPr wrap="square" lIns="76200" tIns="76200" rIns="76200" bIns="76200" rtlCol="0" anchor="ctr"/>
          <a:lstStyle/>
          <a:p>
            <a:pPr algn="ctr" indent="0" marL="0">
              <a:buNone/>
            </a:pPr>
            <a:r>
              <a:rPr lang="en-US" sz="1500" dirty="0">
                <a:solidFill>
                  <a:srgbClr val="22253A"/>
                </a:solidFill>
                <a:latin typeface="Calibri" pitchFamily="34" charset="0"/>
                <a:ea typeface="Calibri" pitchFamily="34" charset="-122"/>
                <a:cs typeface="Calibri" pitchFamily="34" charset="-120"/>
              </a:rPr>
              <a:t>Il tuo PC · Tailscale</a:t>
            </a:r>
            <a:endParaRPr lang="en-US" sz="1500" dirty="0"/>
          </a:p>
        </p:txBody>
      </p:sp>
      <p:sp>
        <p:nvSpPr>
          <p:cNvPr id="15" name="Shape 12"/>
          <p:cNvSpPr/>
          <p:nvPr/>
        </p:nvSpPr>
        <p:spPr>
          <a:xfrm>
            <a:off x="548640" y="2423160"/>
            <a:ext cx="8412480" cy="3611880"/>
          </a:xfrm>
          <a:prstGeom prst="roundRect">
            <a:avLst>
              <a:gd name="adj" fmla="val 3038"/>
            </a:avLst>
          </a:prstGeom>
          <a:solidFill>
            <a:srgbClr val="F7F6FD"/>
          </a:solidFill>
          <a:ln w="12700">
            <a:solidFill>
              <a:srgbClr val="D9D6EC"/>
            </a:solidFill>
            <a:prstDash val="solid"/>
          </a:ln>
        </p:spPr>
      </p:sp>
      <p:sp>
        <p:nvSpPr>
          <p:cNvPr id="16" name="Text 13"/>
          <p:cNvSpPr txBox="1"/>
          <p:nvPr/>
        </p:nvSpPr>
        <p:spPr>
          <a:xfrm>
            <a:off x="731520" y="2450592"/>
            <a:ext cx="4572000" cy="365760"/>
          </a:xfrm>
          <a:prstGeom prst="rect">
            <a:avLst/>
          </a:prstGeom>
          <a:noFill/>
          <a:ln/>
        </p:spPr>
        <p:txBody>
          <a:bodyPr wrap="square" lIns="0" tIns="0" rIns="0" bIns="0" rtlCol="0" anchor="ctr"/>
          <a:lstStyle/>
          <a:p>
            <a:pPr algn="l" indent="0" marL="0">
              <a:buNone/>
            </a:pPr>
            <a:r>
              <a:rPr lang="en-US" sz="1400" b="1" dirty="0">
                <a:solidFill>
                  <a:srgbClr val="5B3FD0"/>
                </a:solidFill>
                <a:latin typeface="Calibri" pitchFamily="34" charset="0"/>
                <a:ea typeface="Calibri" pitchFamily="34" charset="-122"/>
                <a:cs typeface="Calibri" pitchFamily="34" charset="-120"/>
              </a:rPr>
              <a:t>VPC 10.20.0.0/16 · Milano</a:t>
            </a:r>
            <a:endParaRPr lang="en-US" sz="1400" dirty="0"/>
          </a:p>
        </p:txBody>
      </p:sp>
      <p:sp>
        <p:nvSpPr>
          <p:cNvPr id="17" name="Shape 14"/>
          <p:cNvSpPr/>
          <p:nvPr/>
        </p:nvSpPr>
        <p:spPr>
          <a:xfrm>
            <a:off x="822960" y="2926080"/>
            <a:ext cx="2377440" cy="1005840"/>
          </a:xfrm>
          <a:prstGeom prst="roundRect">
            <a:avLst>
              <a:gd name="adj" fmla="val 9091"/>
            </a:avLst>
          </a:prstGeom>
          <a:solidFill>
            <a:srgbClr val="FFFFFF"/>
          </a:solidFill>
          <a:ln w="12700">
            <a:solidFill>
              <a:srgbClr val="FFFFFF"/>
            </a:solidFill>
            <a:prstDash val="solid"/>
          </a:ln>
        </p:spPr>
      </p:sp>
      <p:sp>
        <p:nvSpPr>
          <p:cNvPr id="18" name="Text 15"/>
          <p:cNvSpPr txBox="1"/>
          <p:nvPr/>
        </p:nvSpPr>
        <p:spPr>
          <a:xfrm>
            <a:off x="822960" y="2926080"/>
            <a:ext cx="2377440" cy="1005840"/>
          </a:xfrm>
          <a:prstGeom prst="rect">
            <a:avLst/>
          </a:prstGeom>
          <a:noFill/>
          <a:ln/>
        </p:spPr>
        <p:txBody>
          <a:bodyPr wrap="square" lIns="76200" tIns="76200" rIns="76200" bIns="76200" rtlCol="0" anchor="ctr"/>
          <a:lstStyle/>
          <a:p>
            <a:pPr algn="ctr" indent="0" marL="0">
              <a:buNone/>
            </a:pPr>
            <a:r>
              <a:rPr lang="en-US" sz="1500" b="1" dirty="0">
                <a:solidFill>
                  <a:srgbClr val="22253A"/>
                </a:solidFill>
                <a:latin typeface="Calibri" pitchFamily="34" charset="0"/>
                <a:ea typeface="Calibri" pitchFamily="34" charset="-122"/>
                <a:cs typeface="Calibri" pitchFamily="34" charset="-120"/>
              </a:rPr>
              <a:t>Router Tailscale</a:t>
            </a:r>
            <a:endParaRPr lang="en-US" sz="1500" dirty="0"/>
          </a:p>
          <a:p>
            <a:pPr algn="ctr" indent="0" marL="0">
              <a:buNone/>
            </a:pPr>
            <a:r>
              <a:rPr lang="en-US" sz="1300" dirty="0">
                <a:solidFill>
                  <a:srgbClr val="5F6478"/>
                </a:solidFill>
                <a:latin typeface="Calibri" pitchFamily="34" charset="0"/>
                <a:ea typeface="Calibri" pitchFamily="34" charset="-122"/>
                <a:cs typeface="Calibri" pitchFamily="34" charset="-120"/>
              </a:rPr>
              <a:t>SG vpn</a:t>
            </a:r>
            <a:endParaRPr lang="en-US" sz="1500" dirty="0"/>
          </a:p>
        </p:txBody>
      </p:sp>
      <p:sp>
        <p:nvSpPr>
          <p:cNvPr id="19" name="Shape 16"/>
          <p:cNvSpPr/>
          <p:nvPr/>
        </p:nvSpPr>
        <p:spPr>
          <a:xfrm>
            <a:off x="822960" y="4251960"/>
            <a:ext cx="2377440" cy="1463040"/>
          </a:xfrm>
          <a:prstGeom prst="roundRect">
            <a:avLst>
              <a:gd name="adj" fmla="val 6250"/>
            </a:avLst>
          </a:prstGeom>
          <a:solidFill>
            <a:srgbClr val="FFFFFF"/>
          </a:solidFill>
          <a:ln w="12700">
            <a:solidFill>
              <a:srgbClr val="FFFFFF"/>
            </a:solidFill>
            <a:prstDash val="solid"/>
          </a:ln>
        </p:spPr>
      </p:sp>
      <p:sp>
        <p:nvSpPr>
          <p:cNvPr id="20" name="Text 17"/>
          <p:cNvSpPr txBox="1"/>
          <p:nvPr/>
        </p:nvSpPr>
        <p:spPr>
          <a:xfrm>
            <a:off x="822960" y="4251960"/>
            <a:ext cx="2377440" cy="1463040"/>
          </a:xfrm>
          <a:prstGeom prst="rect">
            <a:avLst/>
          </a:prstGeom>
          <a:noFill/>
          <a:ln/>
        </p:spPr>
        <p:txBody>
          <a:bodyPr wrap="square" lIns="76200" tIns="76200" rIns="76200" bIns="76200" rtlCol="0" anchor="ctr"/>
          <a:lstStyle/>
          <a:p>
            <a:pPr algn="ctr" indent="0" marL="0">
              <a:buNone/>
            </a:pPr>
            <a:r>
              <a:rPr lang="en-US" sz="1500" b="1" dirty="0">
                <a:solidFill>
                  <a:srgbClr val="22253A"/>
                </a:solidFill>
                <a:latin typeface="Calibri" pitchFamily="34" charset="0"/>
                <a:ea typeface="Calibri" pitchFamily="34" charset="-122"/>
                <a:cs typeface="Calibri" pitchFamily="34" charset="-120"/>
              </a:rPr>
              <a:t>DNS del VPC</a:t>
            </a:r>
            <a:endParaRPr lang="en-US" sz="1500" dirty="0"/>
          </a:p>
          <a:p>
            <a:pPr algn="ctr" indent="0" marL="0">
              <a:buNone/>
            </a:pPr>
            <a:r>
              <a:rPr lang="en-US" sz="1300" dirty="0">
                <a:solidFill>
                  <a:srgbClr val="5F6478"/>
                </a:solidFill>
                <a:latin typeface="Calibri" pitchFamily="34" charset="0"/>
                <a:ea typeface="Calibri" pitchFamily="34" charset="-122"/>
                <a:cs typeface="Calibri" pitchFamily="34" charset="-120"/>
              </a:rPr>
              <a:t>10.20.0.2 · corso.internal</a:t>
            </a:r>
            <a:endParaRPr lang="en-US" sz="1500" dirty="0"/>
          </a:p>
        </p:txBody>
      </p:sp>
      <p:sp>
        <p:nvSpPr>
          <p:cNvPr id="21" name="Shape 18"/>
          <p:cNvSpPr/>
          <p:nvPr/>
        </p:nvSpPr>
        <p:spPr>
          <a:xfrm>
            <a:off x="3520440" y="2926080"/>
            <a:ext cx="2743200" cy="2788920"/>
          </a:xfrm>
          <a:prstGeom prst="roundRect">
            <a:avLst>
              <a:gd name="adj" fmla="val 3333"/>
            </a:avLst>
          </a:prstGeom>
          <a:solidFill>
            <a:srgbClr val="FDF0E3"/>
          </a:solidFill>
          <a:ln w="19050">
            <a:solidFill>
              <a:srgbClr val="F28C28"/>
            </a:solidFill>
            <a:prstDash val="solid"/>
          </a:ln>
        </p:spPr>
      </p:sp>
      <p:sp>
        <p:nvSpPr>
          <p:cNvPr id="22" name="Text 19"/>
          <p:cNvSpPr txBox="1"/>
          <p:nvPr/>
        </p:nvSpPr>
        <p:spPr>
          <a:xfrm>
            <a:off x="3520440" y="2926080"/>
            <a:ext cx="2743200" cy="2788920"/>
          </a:xfrm>
          <a:prstGeom prst="rect">
            <a:avLst/>
          </a:prstGeom>
          <a:noFill/>
          <a:ln/>
        </p:spPr>
        <p:txBody>
          <a:bodyPr wrap="square" lIns="76200" tIns="76200" rIns="76200" bIns="76200" rtlCol="0" anchor="ctr"/>
          <a:lstStyle/>
          <a:p>
            <a:pPr algn="ctr" indent="0" marL="0">
              <a:buNone/>
            </a:pPr>
            <a:r>
              <a:rPr lang="en-US" sz="1500" b="1" dirty="0">
                <a:solidFill>
                  <a:srgbClr val="22253A"/>
                </a:solidFill>
                <a:latin typeface="Calibri" pitchFamily="34" charset="0"/>
                <a:ea typeface="Calibri" pitchFamily="34" charset="-122"/>
                <a:cs typeface="Calibri" pitchFamily="34" charset="-120"/>
              </a:rPr>
              <a:t>ASG min=max=1</a:t>
            </a:r>
            <a:endParaRPr lang="en-US" sz="1500" dirty="0"/>
          </a:p>
          <a:p>
            <a:pPr algn="ctr" indent="0" marL="0">
              <a:buNone/>
            </a:pPr>
            <a:r>
              <a:rPr lang="en-US" sz="1500" b="1" dirty="0">
                <a:solidFill>
                  <a:srgbClr val="22253A"/>
                </a:solidFill>
                <a:latin typeface="Calibri" pitchFamily="34" charset="0"/>
                <a:ea typeface="Calibri" pitchFamily="34" charset="-122"/>
                <a:cs typeface="Calibri" pitchFamily="34" charset="-120"/>
              </a:rPr>
              <a:t>Server app</a:t>
            </a:r>
            <a:endParaRPr lang="en-US" sz="1500" dirty="0"/>
          </a:p>
          <a:p>
            <a:pPr algn="ctr" indent="0" marL="0">
              <a:buNone/>
            </a:pPr>
            <a:r>
              <a:rPr lang="en-US" sz="1300" dirty="0">
                <a:solidFill>
                  <a:srgbClr val="5F6478"/>
                </a:solidFill>
                <a:latin typeface="Calibri" pitchFamily="34" charset="0"/>
                <a:ea typeface="Calibri" pitchFamily="34" charset="-122"/>
                <a:cs typeface="Calibri" pitchFamily="34" charset="-120"/>
              </a:rPr>
              <a:t>docker compose · SG app · IMDS hop 1 · app-aggiorna</a:t>
            </a:r>
            <a:endParaRPr lang="en-US" sz="1500" dirty="0"/>
          </a:p>
        </p:txBody>
      </p:sp>
      <p:sp>
        <p:nvSpPr>
          <p:cNvPr id="23" name="Shape 20"/>
          <p:cNvSpPr/>
          <p:nvPr/>
        </p:nvSpPr>
        <p:spPr>
          <a:xfrm>
            <a:off x="6675120" y="2926080"/>
            <a:ext cx="2103120" cy="2788920"/>
          </a:xfrm>
          <a:prstGeom prst="roundRect">
            <a:avLst>
              <a:gd name="adj" fmla="val 4348"/>
            </a:avLst>
          </a:prstGeom>
          <a:solidFill>
            <a:srgbClr val="FFFFFF"/>
          </a:solidFill>
          <a:ln w="12700">
            <a:solidFill>
              <a:srgbClr val="FFFFFF"/>
            </a:solidFill>
            <a:prstDash val="solid"/>
          </a:ln>
        </p:spPr>
      </p:sp>
      <p:sp>
        <p:nvSpPr>
          <p:cNvPr id="24" name="Text 21"/>
          <p:cNvSpPr txBox="1"/>
          <p:nvPr/>
        </p:nvSpPr>
        <p:spPr>
          <a:xfrm>
            <a:off x="6675120" y="2926080"/>
            <a:ext cx="2103120" cy="278892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RDS</a:t>
            </a:r>
            <a:endParaRPr lang="en-US" sz="1600" dirty="0"/>
          </a:p>
          <a:p>
            <a:pPr algn="ctr" indent="0" marL="0">
              <a:buNone/>
            </a:pPr>
            <a:r>
              <a:rPr lang="en-US" sz="1300" dirty="0">
                <a:solidFill>
                  <a:srgbClr val="5F6478"/>
                </a:solidFill>
                <a:latin typeface="Calibri" pitchFamily="34" charset="0"/>
                <a:ea typeface="Calibri" pitchFamily="34" charset="-122"/>
                <a:cs typeface="Calibri" pitchFamily="34" charset="-120"/>
              </a:rPr>
              <a:t>PostgreSQL 18 · Multi-AZ · TLS</a:t>
            </a:r>
            <a:endParaRPr lang="en-US" sz="1600" dirty="0"/>
          </a:p>
        </p:txBody>
      </p:sp>
      <p:sp>
        <p:nvSpPr>
          <p:cNvPr id="25" name="Shape 22"/>
          <p:cNvSpPr/>
          <p:nvPr/>
        </p:nvSpPr>
        <p:spPr>
          <a:xfrm>
            <a:off x="3154680" y="3429000"/>
            <a:ext cx="347472" cy="0"/>
          </a:xfrm>
          <a:prstGeom prst="line">
            <a:avLst/>
          </a:prstGeom>
          <a:noFill/>
          <a:ln w="25400">
            <a:solidFill>
              <a:srgbClr val="5B3FD0"/>
            </a:solidFill>
            <a:prstDash val="solid"/>
            <a:tailEnd type="triangle"/>
          </a:ln>
        </p:spPr>
      </p:sp>
      <p:sp>
        <p:nvSpPr>
          <p:cNvPr id="26" name="Shape 23"/>
          <p:cNvSpPr/>
          <p:nvPr/>
        </p:nvSpPr>
        <p:spPr>
          <a:xfrm>
            <a:off x="6309360" y="4297680"/>
            <a:ext cx="347472" cy="0"/>
          </a:xfrm>
          <a:prstGeom prst="line">
            <a:avLst/>
          </a:prstGeom>
          <a:noFill/>
          <a:ln w="25400">
            <a:solidFill>
              <a:srgbClr val="2E9E6B"/>
            </a:solidFill>
            <a:prstDash val="solid"/>
            <a:tailEnd type="triangle"/>
          </a:ln>
        </p:spPr>
      </p:sp>
      <p:sp>
        <p:nvSpPr>
          <p:cNvPr id="27" name="Text 24"/>
          <p:cNvSpPr txBox="1"/>
          <p:nvPr/>
        </p:nvSpPr>
        <p:spPr>
          <a:xfrm>
            <a:off x="6172200" y="3886200"/>
            <a:ext cx="640080" cy="365760"/>
          </a:xfrm>
          <a:prstGeom prst="rect">
            <a:avLst/>
          </a:prstGeom>
          <a:noFill/>
          <a:ln/>
        </p:spPr>
        <p:txBody>
          <a:bodyPr wrap="square" lIns="0" tIns="0" rIns="0" bIns="0" rtlCol="0" anchor="ctr"/>
          <a:lstStyle/>
          <a:p>
            <a:pPr algn="ctr" indent="0" marL="0">
              <a:buNone/>
            </a:pPr>
            <a:r>
              <a:rPr lang="en-US" sz="1200" b="1" dirty="0">
                <a:solidFill>
                  <a:srgbClr val="2E9E6B"/>
                </a:solidFill>
                <a:latin typeface="Calibri" pitchFamily="34" charset="0"/>
                <a:ea typeface="Calibri" pitchFamily="34" charset="-122"/>
                <a:cs typeface="Calibri" pitchFamily="34" charset="-120"/>
              </a:rPr>
              <a:t>5432</a:t>
            </a:r>
            <a:endParaRPr lang="en-US" sz="1200" dirty="0"/>
          </a:p>
        </p:txBody>
      </p:sp>
      <p:sp>
        <p:nvSpPr>
          <p:cNvPr id="28" name="Shape 25"/>
          <p:cNvSpPr/>
          <p:nvPr/>
        </p:nvSpPr>
        <p:spPr>
          <a:xfrm>
            <a:off x="9144000" y="2423160"/>
            <a:ext cx="2496312" cy="1051560"/>
          </a:xfrm>
          <a:prstGeom prst="roundRect">
            <a:avLst>
              <a:gd name="adj" fmla="val 8696"/>
            </a:avLst>
          </a:prstGeom>
          <a:solidFill>
            <a:srgbClr val="FDF0E3"/>
          </a:solidFill>
          <a:ln w="12700">
            <a:solidFill>
              <a:srgbClr val="FDF0E3"/>
            </a:solidFill>
            <a:prstDash val="solid"/>
          </a:ln>
        </p:spPr>
      </p:sp>
      <p:sp>
        <p:nvSpPr>
          <p:cNvPr id="29" name="Text 26"/>
          <p:cNvSpPr txBox="1"/>
          <p:nvPr/>
        </p:nvSpPr>
        <p:spPr>
          <a:xfrm>
            <a:off x="9144000" y="2423160"/>
            <a:ext cx="2496312" cy="1051560"/>
          </a:xfrm>
          <a:prstGeom prst="rect">
            <a:avLst/>
          </a:prstGeom>
          <a:noFill/>
          <a:ln/>
        </p:spPr>
        <p:txBody>
          <a:bodyPr wrap="square" lIns="76200" tIns="76200" rIns="76200" bIns="76200" rtlCol="0" anchor="ctr"/>
          <a:lstStyle/>
          <a:p>
            <a:pPr algn="ctr" indent="0" marL="0">
              <a:buNone/>
            </a:pPr>
            <a:r>
              <a:rPr lang="en-US" sz="1500" dirty="0">
                <a:solidFill>
                  <a:srgbClr val="22253A"/>
                </a:solidFill>
                <a:latin typeface="Calibri" pitchFamily="34" charset="0"/>
                <a:ea typeface="Calibri" pitchFamily="34" charset="-122"/>
                <a:cs typeface="Calibri" pitchFamily="34" charset="-120"/>
              </a:rPr>
              <a:t>S3 · docker-compose</a:t>
            </a:r>
            <a:endParaRPr lang="en-US" sz="1500" dirty="0"/>
          </a:p>
        </p:txBody>
      </p:sp>
      <p:sp>
        <p:nvSpPr>
          <p:cNvPr id="30" name="Shape 27"/>
          <p:cNvSpPr/>
          <p:nvPr/>
        </p:nvSpPr>
        <p:spPr>
          <a:xfrm>
            <a:off x="9144000" y="3703320"/>
            <a:ext cx="2496312" cy="1051560"/>
          </a:xfrm>
          <a:prstGeom prst="roundRect">
            <a:avLst>
              <a:gd name="adj" fmla="val 8696"/>
            </a:avLst>
          </a:prstGeom>
          <a:solidFill>
            <a:srgbClr val="FDF0E3"/>
          </a:solidFill>
          <a:ln w="12700">
            <a:solidFill>
              <a:srgbClr val="FDF0E3"/>
            </a:solidFill>
            <a:prstDash val="solid"/>
          </a:ln>
        </p:spPr>
      </p:sp>
      <p:sp>
        <p:nvSpPr>
          <p:cNvPr id="31" name="Text 28"/>
          <p:cNvSpPr txBox="1"/>
          <p:nvPr/>
        </p:nvSpPr>
        <p:spPr>
          <a:xfrm>
            <a:off x="9144000" y="3703320"/>
            <a:ext cx="2496312" cy="1051560"/>
          </a:xfrm>
          <a:prstGeom prst="rect">
            <a:avLst/>
          </a:prstGeom>
          <a:noFill/>
          <a:ln/>
        </p:spPr>
        <p:txBody>
          <a:bodyPr wrap="square" lIns="76200" tIns="76200" rIns="76200" bIns="76200" rtlCol="0" anchor="ctr"/>
          <a:lstStyle/>
          <a:p>
            <a:pPr algn="ctr" indent="0" marL="0">
              <a:buNone/>
            </a:pPr>
            <a:r>
              <a:rPr lang="en-US" sz="1500" dirty="0">
                <a:solidFill>
                  <a:srgbClr val="22253A"/>
                </a:solidFill>
                <a:latin typeface="Calibri" pitchFamily="34" charset="0"/>
                <a:ea typeface="Calibri" pitchFamily="34" charset="-122"/>
                <a:cs typeface="Calibri" pitchFamily="34" charset="-120"/>
              </a:rPr>
              <a:t>Secrets Manager</a:t>
            </a:r>
            <a:endParaRPr lang="en-US" sz="1500" dirty="0"/>
          </a:p>
        </p:txBody>
      </p:sp>
      <p:sp>
        <p:nvSpPr>
          <p:cNvPr id="32" name="Shape 29"/>
          <p:cNvSpPr/>
          <p:nvPr/>
        </p:nvSpPr>
        <p:spPr>
          <a:xfrm>
            <a:off x="9144000" y="4983480"/>
            <a:ext cx="2496312" cy="1051560"/>
          </a:xfrm>
          <a:prstGeom prst="roundRect">
            <a:avLst>
              <a:gd name="adj" fmla="val 8696"/>
            </a:avLst>
          </a:prstGeom>
          <a:solidFill>
            <a:srgbClr val="FDF0E3"/>
          </a:solidFill>
          <a:ln w="12700">
            <a:solidFill>
              <a:srgbClr val="FDF0E3"/>
            </a:solidFill>
            <a:prstDash val="solid"/>
          </a:ln>
        </p:spPr>
      </p:sp>
      <p:sp>
        <p:nvSpPr>
          <p:cNvPr id="33" name="Text 30"/>
          <p:cNvSpPr txBox="1"/>
          <p:nvPr/>
        </p:nvSpPr>
        <p:spPr>
          <a:xfrm>
            <a:off x="9144000" y="4983480"/>
            <a:ext cx="2496312" cy="1051560"/>
          </a:xfrm>
          <a:prstGeom prst="rect">
            <a:avLst/>
          </a:prstGeom>
          <a:noFill/>
          <a:ln/>
        </p:spPr>
        <p:txBody>
          <a:bodyPr wrap="square" lIns="76200" tIns="76200" rIns="76200" bIns="76200" rtlCol="0" anchor="ctr"/>
          <a:lstStyle/>
          <a:p>
            <a:pPr algn="ctr" indent="0" marL="0">
              <a:buNone/>
            </a:pPr>
            <a:r>
              <a:rPr lang="en-US" sz="1500" dirty="0">
                <a:solidFill>
                  <a:srgbClr val="22253A"/>
                </a:solidFill>
                <a:latin typeface="Calibri" pitchFamily="34" charset="0"/>
                <a:ea typeface="Calibri" pitchFamily="34" charset="-122"/>
                <a:cs typeface="Calibri" pitchFamily="34" charset="-120"/>
              </a:rPr>
              <a:t>ECR (pull)</a:t>
            </a:r>
            <a:endParaRPr lang="en-US" sz="1500" dirty="0"/>
          </a:p>
        </p:txBody>
      </p:sp>
      <p:sp>
        <p:nvSpPr>
          <p:cNvPr id="34" name="Shape 31"/>
          <p:cNvSpPr/>
          <p:nvPr/>
        </p:nvSpPr>
        <p:spPr>
          <a:xfrm>
            <a:off x="8979408" y="2944368"/>
            <a:ext cx="146304" cy="0"/>
          </a:xfrm>
          <a:prstGeom prst="line">
            <a:avLst/>
          </a:prstGeom>
          <a:noFill/>
          <a:ln w="25400">
            <a:solidFill>
              <a:srgbClr val="F28C28"/>
            </a:solidFill>
            <a:prstDash val="solid"/>
            <a:tailEnd type="triangle"/>
          </a:ln>
        </p:spPr>
      </p:sp>
      <p:sp>
        <p:nvSpPr>
          <p:cNvPr id="35" name="Shape 32"/>
          <p:cNvSpPr/>
          <p:nvPr/>
        </p:nvSpPr>
        <p:spPr>
          <a:xfrm>
            <a:off x="8979408" y="4224528"/>
            <a:ext cx="146304" cy="0"/>
          </a:xfrm>
          <a:prstGeom prst="line">
            <a:avLst/>
          </a:prstGeom>
          <a:noFill/>
          <a:ln w="25400">
            <a:solidFill>
              <a:srgbClr val="F28C28"/>
            </a:solidFill>
            <a:prstDash val="solid"/>
            <a:tailEnd type="triangle"/>
          </a:ln>
        </p:spPr>
      </p:sp>
      <p:sp>
        <p:nvSpPr>
          <p:cNvPr id="36" name="Shape 33"/>
          <p:cNvSpPr/>
          <p:nvPr/>
        </p:nvSpPr>
        <p:spPr>
          <a:xfrm>
            <a:off x="8979408" y="5504688"/>
            <a:ext cx="146304" cy="0"/>
          </a:xfrm>
          <a:prstGeom prst="line">
            <a:avLst/>
          </a:prstGeom>
          <a:noFill/>
          <a:ln w="25400">
            <a:solidFill>
              <a:srgbClr val="F28C28"/>
            </a:solidFill>
            <a:prstDash val="solid"/>
            <a:tailEnd type="triangle"/>
          </a:ln>
        </p:spPr>
      </p:sp>
      <p:sp>
        <p:nvSpPr>
          <p:cNvPr id="37" name="Text 34"/>
          <p:cNvSpPr txBox="1"/>
          <p:nvPr/>
        </p:nvSpPr>
        <p:spPr>
          <a:xfrm>
            <a:off x="9144000" y="2176272"/>
            <a:ext cx="2496312" cy="274320"/>
          </a:xfrm>
          <a:prstGeom prst="rect">
            <a:avLst/>
          </a:prstGeom>
          <a:noFill/>
          <a:ln/>
        </p:spPr>
        <p:txBody>
          <a:bodyPr wrap="square" lIns="0" tIns="0" rIns="0" bIns="0" rtlCol="0" anchor="ctr"/>
          <a:lstStyle/>
          <a:p>
            <a:pPr algn="ctr" indent="0" marL="0">
              <a:buNone/>
            </a:pPr>
            <a:r>
              <a:rPr lang="en-US" sz="1200" i="1" dirty="0">
                <a:solidFill>
                  <a:srgbClr val="2E9E6B"/>
                </a:solidFill>
                <a:latin typeface="Calibri" pitchFamily="34" charset="0"/>
                <a:ea typeface="Calibri" pitchFamily="34" charset="-122"/>
                <a:cs typeface="Calibri" pitchFamily="34" charset="-120"/>
              </a:rPr>
              <a:t>↓ il router, nel VPC</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(1/2): la catena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41732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4173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28016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Il repository corso-app su GitHub</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app.py, Dockerfile, .github/workflows/release.yml · niente push per ora</a:t>
            </a:r>
            <a:endParaRPr lang="en-US" sz="1700" dirty="0"/>
          </a:p>
        </p:txBody>
      </p:sp>
      <p:sp>
        <p:nvSpPr>
          <p:cNvPr id="8" name="Shape 5"/>
          <p:cNvSpPr/>
          <p:nvPr/>
        </p:nvSpPr>
        <p:spPr>
          <a:xfrm>
            <a:off x="548640" y="2130552"/>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13055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1993392"/>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 file in infra/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via aws_instance.app · github-oidc.tf, deploy.tf, user_data.sh.tpl, compose · image_tag = "nessuna"</a:t>
            </a:r>
            <a:endParaRPr lang="en-US" sz="1700" dirty="0"/>
          </a:p>
        </p:txBody>
      </p:sp>
      <p:sp>
        <p:nvSpPr>
          <p:cNvPr id="11" name="Shape 8"/>
          <p:cNvSpPr/>
          <p:nvPr/>
        </p:nvSpPr>
        <p:spPr>
          <a:xfrm>
            <a:off x="548640" y="2843784"/>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2843784"/>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2706624"/>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terraform apply -replace=tailscale_tailnet_key.router</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il router annuncia una rotta in più: va ricreato con una chiave nuova</a:t>
            </a:r>
            <a:endParaRPr lang="en-US" sz="1700" dirty="0"/>
          </a:p>
        </p:txBody>
      </p:sp>
      <p:sp>
        <p:nvSpPr>
          <p:cNvPr id="14" name="Shape 11"/>
          <p:cNvSpPr/>
          <p:nvPr/>
        </p:nvSpPr>
        <p:spPr>
          <a:xfrm>
            <a:off x="548640" y="3557016"/>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3557016"/>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325880" y="3419856"/>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Il server parte, senza app</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cloud-init-output.log e journalctl -u app-aggiorna: l'immagine non c'è ancora</a:t>
            </a:r>
            <a:endParaRPr lang="en-US" sz="1700" dirty="0"/>
          </a:p>
        </p:txBody>
      </p:sp>
      <p:sp>
        <p:nvSpPr>
          <p:cNvPr id="17" name="Shape 14"/>
          <p:cNvSpPr/>
          <p:nvPr/>
        </p:nvSpPr>
        <p:spPr>
          <a:xfrm>
            <a:off x="548640" y="4270248"/>
            <a:ext cx="594360" cy="594360"/>
          </a:xfrm>
          <a:prstGeom prst="ellipse">
            <a:avLst/>
          </a:prstGeom>
          <a:solidFill>
            <a:srgbClr val="5B3FD0"/>
          </a:solidFill>
          <a:ln w="12700">
            <a:solidFill>
              <a:srgbClr val="5B3FD0"/>
            </a:solidFill>
            <a:prstDash val="solid"/>
          </a:ln>
        </p:spPr>
      </p:sp>
      <p:sp>
        <p:nvSpPr>
          <p:cNvPr id="18" name="Text 15"/>
          <p:cNvSpPr txBox="1"/>
          <p:nvPr/>
        </p:nvSpPr>
        <p:spPr>
          <a:xfrm>
            <a:off x="548640" y="4270248"/>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9" name="Text 16"/>
          <p:cNvSpPr txBox="1"/>
          <p:nvPr/>
        </p:nvSpPr>
        <p:spPr>
          <a:xfrm>
            <a:off x="1325880" y="4133088"/>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Le variabili su GitHub</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AWS_RELEASE_ROLE_ARN e ECR_REPOSITORY_URL</a:t>
            </a:r>
            <a:endParaRPr lang="en-US" sz="1700" dirty="0"/>
          </a:p>
        </p:txBody>
      </p:sp>
      <p:sp>
        <p:nvSpPr>
          <p:cNvPr id="20" name="Shape 17"/>
          <p:cNvSpPr/>
          <p:nvPr/>
        </p:nvSpPr>
        <p:spPr>
          <a:xfrm>
            <a:off x="548640" y="4983480"/>
            <a:ext cx="594360" cy="594360"/>
          </a:xfrm>
          <a:prstGeom prst="ellipse">
            <a:avLst/>
          </a:prstGeom>
          <a:solidFill>
            <a:srgbClr val="5B3FD0"/>
          </a:solidFill>
          <a:ln w="12700">
            <a:solidFill>
              <a:srgbClr val="5B3FD0"/>
            </a:solidFill>
            <a:prstDash val="solid"/>
          </a:ln>
        </p:spPr>
      </p:sp>
      <p:sp>
        <p:nvSpPr>
          <p:cNvPr id="21" name="Text 18"/>
          <p:cNvSpPr txBox="1"/>
          <p:nvPr/>
        </p:nvSpPr>
        <p:spPr>
          <a:xfrm>
            <a:off x="548640" y="49834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Text 19"/>
          <p:cNvSpPr txBox="1"/>
          <p:nvPr/>
        </p:nvSpPr>
        <p:spPr>
          <a:xfrm>
            <a:off x="1325880" y="484632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git push</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scheda Actions: tutto verde · in ECR l'immagine con il tag del commit</a:t>
            </a:r>
            <a:endParaRPr lang="en-US" sz="1700" dirty="0"/>
          </a:p>
        </p:txBody>
      </p:sp>
      <p:sp>
        <p:nvSpPr>
          <p:cNvPr id="23" name="Shape 20"/>
          <p:cNvSpPr/>
          <p:nvPr/>
        </p:nvSpPr>
        <p:spPr>
          <a:xfrm>
            <a:off x="548640" y="5696712"/>
            <a:ext cx="594360" cy="594360"/>
          </a:xfrm>
          <a:prstGeom prst="ellipse">
            <a:avLst/>
          </a:prstGeom>
          <a:solidFill>
            <a:srgbClr val="5B3FD0"/>
          </a:solidFill>
          <a:ln w="12700">
            <a:solidFill>
              <a:srgbClr val="5B3FD0"/>
            </a:solidFill>
            <a:prstDash val="solid"/>
          </a:ln>
        </p:spPr>
      </p:sp>
      <p:sp>
        <p:nvSpPr>
          <p:cNvPr id="24" name="Text 21"/>
          <p:cNvSpPr txBox="1"/>
          <p:nvPr/>
        </p:nvSpPr>
        <p:spPr>
          <a:xfrm>
            <a:off x="548640" y="569671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25" name="Text 22"/>
          <p:cNvSpPr txBox="1"/>
          <p:nvPr/>
        </p:nvSpPr>
        <p:spPr>
          <a:xfrm>
            <a:off x="1325880" y="5559552"/>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image_tag = il commit, terraform apply</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instance refresh: il server vecchio si spegne, nasce il nuovo</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(2/2): mettilo alla prova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sp>
        <p:nvSpPr>
          <p:cNvPr id="5" name="Shape 2"/>
          <p:cNvSpPr/>
          <p:nvPr/>
        </p:nvSpPr>
        <p:spPr>
          <a:xfrm>
            <a:off x="548640" y="146304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4630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7" name="Text 4"/>
          <p:cNvSpPr txBox="1"/>
          <p:nvPr/>
        </p:nvSpPr>
        <p:spPr>
          <a:xfrm>
            <a:off x="1325880" y="1325880"/>
            <a:ext cx="457200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curl http://app.corso.internal:8080</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versione e visite, da casa</a:t>
            </a:r>
            <a:endParaRPr lang="en-US" sz="1700" dirty="0"/>
          </a:p>
        </p:txBody>
      </p:sp>
      <p:sp>
        <p:nvSpPr>
          <p:cNvPr id="8" name="Shape 5"/>
          <p:cNvSpPr/>
          <p:nvPr/>
        </p:nvSpPr>
        <p:spPr>
          <a:xfrm>
            <a:off x="6172200" y="1463040"/>
            <a:ext cx="594360" cy="594360"/>
          </a:xfrm>
          <a:prstGeom prst="ellipse">
            <a:avLst/>
          </a:prstGeom>
          <a:solidFill>
            <a:srgbClr val="5B3FD0"/>
          </a:solidFill>
          <a:ln w="12700">
            <a:solidFill>
              <a:srgbClr val="5B3FD0"/>
            </a:solidFill>
            <a:prstDash val="solid"/>
          </a:ln>
        </p:spPr>
      </p:sp>
      <p:sp>
        <p:nvSpPr>
          <p:cNvPr id="9" name="Text 6"/>
          <p:cNvSpPr txBox="1"/>
          <p:nvPr/>
        </p:nvSpPr>
        <p:spPr>
          <a:xfrm>
            <a:off x="6172200" y="14630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10" name="Text 7"/>
          <p:cNvSpPr txBox="1"/>
          <p:nvPr/>
        </p:nvSpPr>
        <p:spPr>
          <a:xfrm>
            <a:off x="6949440" y="1325880"/>
            <a:ext cx="457200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Termina il server a mano</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ne nasce un altro: nome nuovo, visite intatte</a:t>
            </a:r>
            <a:endParaRPr lang="en-US" sz="1700" dirty="0"/>
          </a:p>
        </p:txBody>
      </p:sp>
      <p:sp>
        <p:nvSpPr>
          <p:cNvPr id="11" name="Shape 8"/>
          <p:cNvSpPr/>
          <p:nvPr/>
        </p:nvSpPr>
        <p:spPr>
          <a:xfrm>
            <a:off x="548640" y="2651760"/>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26517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13" name="Text 10"/>
          <p:cNvSpPr txBox="1"/>
          <p:nvPr/>
        </p:nvSpPr>
        <p:spPr>
          <a:xfrm>
            <a:off x="1325880" y="2514600"/>
            <a:ext cx="457200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IMDS dal container</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scade: hop limit 1</a:t>
            </a:r>
            <a:endParaRPr lang="en-US" sz="1700" dirty="0"/>
          </a:p>
        </p:txBody>
      </p:sp>
      <p:sp>
        <p:nvSpPr>
          <p:cNvPr id="14" name="Shape 11"/>
          <p:cNvSpPr/>
          <p:nvPr/>
        </p:nvSpPr>
        <p:spPr>
          <a:xfrm>
            <a:off x="6172200" y="265176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6172200" y="26517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11</a:t>
            </a:r>
            <a:endParaRPr lang="en-US" sz="1800" dirty="0"/>
          </a:p>
        </p:txBody>
      </p:sp>
      <p:sp>
        <p:nvSpPr>
          <p:cNvPr id="16" name="Text 13"/>
          <p:cNvSpPr txBox="1"/>
          <p:nvPr/>
        </p:nvSpPr>
        <p:spPr>
          <a:xfrm>
            <a:off x="6949440" y="2514600"/>
            <a:ext cx="457200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rotate-secret</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entro 5 minuti app-aggiorna ricrea il container</a:t>
            </a:r>
            <a:endParaRPr lang="en-US" sz="1700" dirty="0"/>
          </a:p>
        </p:txBody>
      </p:sp>
      <p:sp>
        <p:nvSpPr>
          <p:cNvPr id="17" name="Shape 14"/>
          <p:cNvSpPr/>
          <p:nvPr/>
        </p:nvSpPr>
        <p:spPr>
          <a:xfrm>
            <a:off x="548640" y="3840480"/>
            <a:ext cx="594360" cy="594360"/>
          </a:xfrm>
          <a:prstGeom prst="ellipse">
            <a:avLst/>
          </a:prstGeom>
          <a:solidFill>
            <a:srgbClr val="5B3FD0"/>
          </a:solidFill>
          <a:ln w="12700">
            <a:solidFill>
              <a:srgbClr val="5B3FD0"/>
            </a:solidFill>
            <a:prstDash val="solid"/>
          </a:ln>
        </p:spPr>
      </p:sp>
      <p:sp>
        <p:nvSpPr>
          <p:cNvPr id="18" name="Text 15"/>
          <p:cNvSpPr txBox="1"/>
          <p:nvPr/>
        </p:nvSpPr>
        <p:spPr>
          <a:xfrm>
            <a:off x="548640" y="38404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12</a:t>
            </a:r>
            <a:endParaRPr lang="en-US" sz="1800" dirty="0"/>
          </a:p>
        </p:txBody>
      </p:sp>
      <p:sp>
        <p:nvSpPr>
          <p:cNvPr id="19" name="Text 16"/>
          <p:cNvSpPr txBox="1"/>
          <p:nvPr/>
        </p:nvSpPr>
        <p:spPr>
          <a:xfrm>
            <a:off x="1325880" y="3703320"/>
            <a:ext cx="457200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Seconda versione, poi rollback</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il tag di prima: l'immagine è ancora lì</a:t>
            </a:r>
            <a:endParaRPr lang="en-US" sz="1700" dirty="0"/>
          </a:p>
        </p:txBody>
      </p:sp>
      <p:sp>
        <p:nvSpPr>
          <p:cNvPr id="20" name="Shape 17"/>
          <p:cNvSpPr/>
          <p:nvPr/>
        </p:nvSpPr>
        <p:spPr>
          <a:xfrm>
            <a:off x="6172200" y="3840480"/>
            <a:ext cx="594360" cy="594360"/>
          </a:xfrm>
          <a:prstGeom prst="ellipse">
            <a:avLst/>
          </a:prstGeom>
          <a:solidFill>
            <a:srgbClr val="5B3FD0"/>
          </a:solidFill>
          <a:ln w="12700">
            <a:solidFill>
              <a:srgbClr val="5B3FD0"/>
            </a:solidFill>
            <a:prstDash val="solid"/>
          </a:ln>
        </p:spPr>
      </p:sp>
      <p:sp>
        <p:nvSpPr>
          <p:cNvPr id="21" name="Text 18"/>
          <p:cNvSpPr txBox="1"/>
          <p:nvPr/>
        </p:nvSpPr>
        <p:spPr>
          <a:xfrm>
            <a:off x="6172200" y="38404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13</a:t>
            </a:r>
            <a:endParaRPr lang="en-US" sz="1800" dirty="0"/>
          </a:p>
        </p:txBody>
      </p:sp>
      <p:sp>
        <p:nvSpPr>
          <p:cNvPr id="22" name="Text 19"/>
          <p:cNvSpPr txBox="1"/>
          <p:nvPr/>
        </p:nvSpPr>
        <p:spPr>
          <a:xfrm>
            <a:off x="6949440" y="3703320"/>
            <a:ext cx="457200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Workflow dal branch prova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rifiutato: condizione sul sub</a:t>
            </a:r>
            <a:endParaRPr lang="en-US" sz="1700" dirty="0"/>
          </a:p>
        </p:txBody>
      </p:sp>
      <p:sp>
        <p:nvSpPr>
          <p:cNvPr id="23" name="Shape 20"/>
          <p:cNvSpPr/>
          <p:nvPr/>
        </p:nvSpPr>
        <p:spPr>
          <a:xfrm>
            <a:off x="548640" y="5029200"/>
            <a:ext cx="594360" cy="594360"/>
          </a:xfrm>
          <a:prstGeom prst="ellipse">
            <a:avLst/>
          </a:prstGeom>
          <a:solidFill>
            <a:srgbClr val="5B3FD0"/>
          </a:solidFill>
          <a:ln w="12700">
            <a:solidFill>
              <a:srgbClr val="5B3FD0"/>
            </a:solidFill>
            <a:prstDash val="solid"/>
          </a:ln>
        </p:spPr>
      </p:sp>
      <p:sp>
        <p:nvSpPr>
          <p:cNvPr id="24" name="Text 21"/>
          <p:cNvSpPr txBox="1"/>
          <p:nvPr/>
        </p:nvSpPr>
        <p:spPr>
          <a:xfrm>
            <a:off x="548640" y="50292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14</a:t>
            </a:r>
            <a:endParaRPr lang="en-US" sz="1800" dirty="0"/>
          </a:p>
        </p:txBody>
      </p:sp>
      <p:sp>
        <p:nvSpPr>
          <p:cNvPr id="25" name="Text 22"/>
          <p:cNvSpPr txBox="1"/>
          <p:nvPr/>
        </p:nvSpPr>
        <p:spPr>
          <a:xfrm>
            <a:off x="1325880" y="4892040"/>
            <a:ext cx="457200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destroy, poi apply (facoltativo)</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si ferma sul database; tutto rinasce, i dati restano</a:t>
            </a:r>
            <a:endParaRPr lang="en-US" sz="1700" dirty="0"/>
          </a:p>
        </p:txBody>
      </p:sp>
      <p:sp>
        <p:nvSpPr>
          <p:cNvPr id="26" name="Shape 23"/>
          <p:cNvSpPr/>
          <p:nvPr/>
        </p:nvSpPr>
        <p:spPr>
          <a:xfrm>
            <a:off x="6172200" y="5029200"/>
            <a:ext cx="594360" cy="594360"/>
          </a:xfrm>
          <a:prstGeom prst="ellipse">
            <a:avLst/>
          </a:prstGeom>
          <a:solidFill>
            <a:srgbClr val="D64545"/>
          </a:solidFill>
          <a:ln w="12700">
            <a:solidFill>
              <a:srgbClr val="D64545"/>
            </a:solidFill>
            <a:prstDash val="solid"/>
          </a:ln>
        </p:spPr>
      </p:sp>
      <p:sp>
        <p:nvSpPr>
          <p:cNvPr id="27" name="Text 24"/>
          <p:cNvSpPr txBox="1"/>
          <p:nvPr/>
        </p:nvSpPr>
        <p:spPr>
          <a:xfrm>
            <a:off x="6172200" y="50292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15</a:t>
            </a:r>
            <a:endParaRPr lang="en-US" sz="1800" dirty="0"/>
          </a:p>
        </p:txBody>
      </p:sp>
      <p:sp>
        <p:nvSpPr>
          <p:cNvPr id="28" name="Text 25"/>
          <p:cNvSpPr txBox="1"/>
          <p:nvPr/>
        </p:nvSpPr>
        <p:spPr>
          <a:xfrm>
            <a:off x="6949440" y="4892040"/>
            <a:ext cx="4572000"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Pulizia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protezione false, apply, destroy, snapshot finale</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parole della lezione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Deploy end-to-end</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286000"/>
                <a:gridCol w="3429000"/>
                <a:gridCol w="2194560"/>
                <a:gridCol w="318211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GitHub Actions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comandi eseguiti da GitHub a ogni push</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zona privata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nomi DNS che esistono solo nel VPC</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OIDC</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entrare in AWS con un token firmato, senza chiavi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split DNS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corso.internal → il DNS del VPC</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sub</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di chi parla il token: repository e branch</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docker compose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avvia i container descritti in un file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launch template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lo stampo del server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timer systemd</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la sveglia che rilancia uno script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Auto Scaling group</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pastore: sempre N server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hop limit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quanti salti fa la risposta di IMDS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instance refresh</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sostituire il server quando cambia lo stampo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migrazione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modifica al database di una versione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Riepilogo</a:t>
            </a:r>
            <a:endParaRPr lang="en-US" sz="3600" dirty="0"/>
          </a:p>
        </p:txBody>
      </p:sp>
      <p:sp>
        <p:nvSpPr>
          <p:cNvPr id="3" name="Text 1"/>
          <p:cNvSpPr txBox="1"/>
          <p:nvPr/>
        </p:nvSpPr>
        <p:spPr>
          <a:xfrm>
            <a:off x="548640" y="1463040"/>
            <a:ext cx="694944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GitHub entra in AWS con OIDC: niente chiavi, sub ristretto</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L'immagine ha il tag del commit; in produzione la mandi tu</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Server = bestiame: launch template + ASG con min = max = 1</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app.corso.internal: lo scrive il server, da casa con split DNS</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app-aggiorna rilegge la password ogni 5 minuti</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Nuova versione = image_tag + apply; rollback = il tag di prima</a:t>
            </a:r>
            <a:endParaRPr lang="en-US" sz="1800" dirty="0"/>
          </a:p>
        </p:txBody>
      </p:sp>
      <p:sp>
        <p:nvSpPr>
          <p:cNvPr id="4" name="Shape 2"/>
          <p:cNvSpPr/>
          <p:nvPr/>
        </p:nvSpPr>
        <p:spPr>
          <a:xfrm>
            <a:off x="7955280" y="1463040"/>
            <a:ext cx="3685032" cy="2103120"/>
          </a:xfrm>
          <a:prstGeom prst="roundRect">
            <a:avLst>
              <a:gd name="adj" fmla="val 5217"/>
            </a:avLst>
          </a:prstGeom>
          <a:solidFill>
            <a:srgbClr val="2A2F55"/>
          </a:solidFill>
          <a:ln w="12700">
            <a:solidFill>
              <a:srgbClr val="2A2F55"/>
            </a:solidFill>
            <a:prstDash val="solid"/>
          </a:ln>
        </p:spPr>
      </p:sp>
      <p:sp>
        <p:nvSpPr>
          <p:cNvPr id="5" name="Text 3"/>
          <p:cNvSpPr txBox="1"/>
          <p:nvPr/>
        </p:nvSpPr>
        <p:spPr>
          <a:xfrm>
            <a:off x="8183880" y="1645920"/>
            <a:ext cx="3291840" cy="173736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Materiale di studio</a:t>
            </a:r>
            <a:endParaRPr lang="en-US" sz="1600" dirty="0"/>
          </a:p>
          <a:p>
            <a:pPr indent="0" marL="0">
              <a:buNone/>
            </a:pPr>
            <a:r>
              <a:rPr lang="en-US" sz="1400" dirty="0">
                <a:solidFill>
                  <a:srgbClr val="FFFFFF"/>
                </a:solidFill>
                <a:latin typeface="Courier New" pitchFamily="34" charset="0"/>
                <a:ea typeface="Courier New" pitchFamily="34" charset="-122"/>
                <a:cs typeface="Courier New" pitchFamily="34" charset="-120"/>
              </a:rPr>
              <a:t>dispense/dispensa-8-deploy.md</a:t>
            </a:r>
            <a:endParaRPr lang="en-US" sz="1600" dirty="0"/>
          </a:p>
        </p:txBody>
      </p:sp>
      <p:sp>
        <p:nvSpPr>
          <p:cNvPr id="6" name="Shape 4"/>
          <p:cNvSpPr/>
          <p:nvPr/>
        </p:nvSpPr>
        <p:spPr>
          <a:xfrm>
            <a:off x="7955280" y="3840480"/>
            <a:ext cx="3685032" cy="1463040"/>
          </a:xfrm>
          <a:prstGeom prst="roundRect">
            <a:avLst>
              <a:gd name="adj" fmla="val 7500"/>
            </a:avLst>
          </a:prstGeom>
          <a:solidFill>
            <a:srgbClr val="5B3FD0"/>
          </a:solidFill>
          <a:ln w="12700">
            <a:solidFill>
              <a:srgbClr val="5B3FD0"/>
            </a:solidFill>
            <a:prstDash val="solid"/>
          </a:ln>
        </p:spPr>
      </p:sp>
      <p:sp>
        <p:nvSpPr>
          <p:cNvPr id="7" name="Text 5"/>
          <p:cNvSpPr txBox="1"/>
          <p:nvPr/>
        </p:nvSpPr>
        <p:spPr>
          <a:xfrm>
            <a:off x="8183880" y="4023360"/>
            <a:ext cx="3291840" cy="1097280"/>
          </a:xfrm>
          <a:prstGeom prst="rect">
            <a:avLst/>
          </a:prstGeom>
          <a:noFill/>
          <a:ln/>
        </p:spPr>
        <p:txBody>
          <a:bodyPr wrap="square" lIns="0" tIns="0" rIns="0" bIns="0" rtlCol="0" anchor="t"/>
          <a:lstStyle/>
          <a:p>
            <a:pPr indent="0" marL="0">
              <a:buNone/>
            </a:pPr>
            <a:r>
              <a:rPr lang="en-US" sz="1400" b="1" dirty="0">
                <a:solidFill>
                  <a:srgbClr val="D9D2FF"/>
                </a:solidFill>
                <a:latin typeface="Calibri" pitchFamily="34" charset="0"/>
                <a:ea typeface="Calibri" pitchFamily="34" charset="-122"/>
                <a:cs typeface="Calibri" pitchFamily="34" charset="-120"/>
              </a:rPr>
              <a:t>Prossima lezione</a:t>
            </a:r>
            <a:endParaRPr lang="en-US" sz="1400" dirty="0"/>
          </a:p>
          <a:p>
            <a:pPr indent="0" marL="0">
              <a:buNone/>
            </a:pPr>
            <a:r>
              <a:rPr lang="en-US" sz="1800" b="1" dirty="0">
                <a:solidFill>
                  <a:srgbClr val="FFFFFF"/>
                </a:solidFill>
                <a:latin typeface="Calibri" pitchFamily="34" charset="0"/>
                <a:ea typeface="Calibri" pitchFamily="34" charset="-122"/>
                <a:cs typeface="Calibri" pitchFamily="34" charset="-120"/>
              </a:rPr>
              <a:t>Allarmi e auto-riparazione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cereZ23</dc:creator>
  <cp:lastModifiedBy>cereZ23</cp:lastModifiedBy>
  <cp:revision>1</cp:revision>
  <dcterms:created xsi:type="dcterms:W3CDTF">2026-10-08T11:25:04Z</dcterms:created>
  <dcterms:modified xsi:type="dcterms:W3CDTF">2026-10-08T11:25:04Z</dcterms:modified>
</cp:coreProperties>
</file>