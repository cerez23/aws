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nostra rete è privata: server e database non si raggiungono da internet, e va bene così. Ma amministratori e sviluppatori, da casa, devono poterci lavorare. Oggi costruiamo un tunnel sicuro verso la rete, con il login aziendale e il codice MFA, e permessi diversi per gruppo.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la tabella della lezione 3. Un amministratore da casa deve raggiungere il database; uno sviluppatore l'applicazione, ma non il database; nessun altro da internet deve raggiungere niente. Il problema: chi lavora da casa è su internet, e la nostra rete da internet non si raggiunge. Aprire il database a internet sarebbe la cosa peggiore da fare. Serve un modo per far entrare nella rete privata solo le persone giuste, dopo averle riconosciute con certezza.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VPN, rete privata virtuale, è un collegamento cifrato tra il vostro computer e una rete lontana. Una volta collegati, il computer si comporta come se fosse dentro quella rete. L'analogia: la nostra rete è un edificio senza porte verso la strada. La VPN è un tunnel sotterraneo privato che parte da casa vostra e sbuca dentro l'edificio. All'imbocco c'è un controllo documenti, e dentro il vostro badge apre solo certi piani. AWS Client VPN è il servizio che fa da imbocco del tunnel: si chiama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costruire la VPN servono cinque pezzi, e li vediamo uno per uno. Un blocco di indirizzi per chi si collega. Un certificato, la carta d'identità del server VPN. Un modo per riconoscere chi si collega: il login aziendale con MFA. Le regole per gruppo: chi può raggiungere cosa. E il collegamento alle subnet della nostra rete, con il Security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computer collegato riceve un indirizzo da un blocco dedicato, il client CIDR: nel corso 10.100.0.0 barra 22, mille e ventiquattro indirizzi; AWS chiede almeno una barra 22. Perché fuori dalla nostra rete 10.20? Perché non deve sovrapporsi né alla rete AWS né alla rete di casa di chi si collega, altrimenti il computer non sa più dove mandare i pacchetti: è la regola della lezione 2. Un dettaglio utile: quando il traffico entra nella rete, AWS gli cambia il mittente con l'indirizzo dell'endpoint nella subnet privata. Per il database, la VPN sembra arrivare da una subnet privata: per questo la NACL della lezione 3 la lascia passare.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vi collegate, il computer deve essere sicuro di parlare con la nostra VPN e non con un impostore. Il server presenta un certificato: un documento digitale che dice io sono vpn.corso-aws.internal, firmato da un'autorità che lo garantisce, la CA. L'analogia: il certificato è la carta d'identità, la CA è il comune che l'ha rilasciata; il computer si fida della carta perché si fida del comune. Per una VPN interna creiamo una CA nostra. Terraform genera tutto con il provider tls e carica il certificato in ACM, il servizio AWS che custodisce i certificati. Le chiavi finiscono nello state, che è già protetto dalla lezione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certificato dimostra chi è il server; ora bisogna dimostrare chi è la persona. Tre possibilità. Un certificato per persona, installato sul computer: niente MFA, niente gruppi. Active Directory, utente e password del dominio Windows: MFA solo con un server aggiuntivo. Il login aziendale con SAML: si apre il browser e si fa il login sul sistema aziendale, che gestisce già MFA e gruppi. Scegliamo questo: quando una persona lascia l'azienda, si disattiva il suo utente e perde subito anche la VPN.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cosa succede. Uno: il client VPN chiede di collegarsi. Due: l'endpoint risponde: prima fai il login, e apre il browser. Tre: nel browser fate il login su IAM Identity Center, con il codice MFA. Quattro: IAM Identity Center vi dà un attestato firmato, che dice chi siete e a quali gruppi appartenete. Cinque: il client lo consegna all'endpoint, che verifica la firma, legge i gruppi e applica le regole. Siete collegati, con un indirizzo 10.100.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Riconosciuta la persona, la VPN decide cosa può raggiungere con le regole di autorizzazione: ognuna dice questo gruppo può raggiungere questo blocco di indirizzi. Il nostro piano: il DNS, la rubrica della rete all'indirizzo 10.20.0.2, per tutti; le subnet private, dove sta l'applicazione, per amministratori e sviluppatori; le subnet database solo per gli amministratori. Ogni blocco ha le sue regole esplicite, per ogni gruppo: se due regole riguardano lo stesso indirizzo, Client VPN applica la più specifica, e una regola larga per gli amministratori verrebbe scavalcata.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regole della VPN e i Security Group lavorano insieme, in fila. Prima la VPN: il mio gruppo può raggiungere questo blocco? Se no, si ferma lì. Poi il Security Group della risorsa, lezione 3: accetta il Security Group vpn su questa porta? Il database accetta la 5432 dal SG vpn, quindi l'amministratore passa. Lo sviluppatore invece viene fermato già dalla VPN, perché il suo gruppo non può raggiungere le subnet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L'endpoint da solo non è dentro la rete: va collegato a delle subnet. In ognuna AWS crea una presa di rete dell'endpoint, da cui il traffico entra. Lo colleghiamo alle subnet private, una per AZ: se un data center ha un problema, la VPN funziona dall'altro. Ogni collegamento si paga a ore, anche se nessuno è connesso: è la voce di costo principale. L'endpoint indossa il Security Group vpn della lezione 3: raggiunge tutta la nostra rete, ma niente fuori.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siete collegati, il traffico può seguire due strade. Con lo split tunnel, la nostra scelta, dalla VPN passa solo il traffico verso la nostra rete; il resto di internet, la posta, i siti, esce direttamente da casa. Con il full tunnel passa tutto da AWS. Per un uso tecnico lo split tunnel è la scelta giusta: è più veloce e costa meno traffico. Il nostro SG vpn, che raggiunge solo la rete 10.20, con un full tunnel non funzionerebbe nemmeno.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lezione 5 vedremo SSM Session Manager: apre un terminale su un server senza VPN e senza SSH, passando dal login AWS. Allora a cosa serve la VPN? Regola semplice: SSM per i comandi sul server; VPN per tutto ciò che è un collegamento di rete, come un programma che si collega al database o l'applicazione aperta nel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al codice. Tre file cambiano. In providers.tf aggiungiamo il provider tls, che sa generare chiavi e certificati: dopo va rilanciato terraform init. In variables.tf tre variabili: il blocco degli indirizzi per i client, e gli ID dei due gruppi di IAM Identity Center, senza default: vanno scritti nel tfvars. E il file nuovo vpn.tf, con sei parti: certificato, login, registro, endpoint, collegamento alle subnet, regole per gruppo.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certificato si costruisce in catena. La chiave segreta della CA, il timbro del comune. Il certificato della CA, firmato da sé stessa. La chiave segreta del server. La richiesta, il modulo: sono vpn.corso-aws.internal. La CA firma la richiesta e nasce il certificato del server. Nessuna di queste crea niente in AWS: generano testo. L'ultima risorsa, aws_acm_certificate, carica in ACM il certificato del server, la sua chiave e il certificato della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login: aws_iam_saml_provider registra in AWS il nostro sistema di login. Il suo biglietto da visita è un file XML che scaricherete dalla console di IAM Identity Center. La funzione file legge il contenuto di un file; path.module è la cartella del progetto. Il registro: un log group in CloudWatch Logs, il servizio che raccoglie i registri, che conserva i messaggi per 30 giorni, e uno stream, il quaderno su cui la VPN scrive. Ogni connessione lascia una riga: chi, quando, da dove.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L'endpoint è il cuore. server_certificate_arn: la carta d'identità in ACM. client_cidr_block: gli indirizzi per chi si collega. vpc_id e security_group_ids: la nostra rete e il SG vpn. split_tunnel true. dns_servers: la rubrica della rete, calcolata con cidrhost, che dà il secondo indirizzo, 10.20.0.2. session_timeout_hours: dopo 8 ore si rifà il login. Il blocco authentication_options sceglie il login aziendale; connection_log_options accende il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collegamento alle subnet usa for_each sulle subnet private, come le associazioni delle route table nella lezione 2: una per AZ. Quando colleghi una subnet, AWS aggiunge da solo la rotta verso tutta la rete. Le regole: authorize_all_groups true vuol dire tutti, ed è la regola del DNS; access_group_id vuol dire solo quel gruppo, con l'ID del gruppo di IAM Identity Center. Il for_each usa le liste di CIDR calcolate nella lezione 3, trasformate in set con toset.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Una parte si fa in console, perché IAM Identity Center deve sapere che esiste un'applicazione VPN. Uno: create i gruppi vpn-admin e vpn-dev, mettete il vostro utente in vpn-admin e copiate i Group ID. Due: create l'applicazione SAML, scaricate il file XML nella cartella del progetto e impostate gli attributi: memberOf porta i gruppi alla VPN. Tre: scrivete gli ID nel tfvars. Quattro: init, plan e apply; il collegamento alle subnet richiede diversi minuti. Tutti i valori esatti da inserire sono nella dispensa.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Cinque: scaricate il file di configurazione con il comando della dispensa; dentro trovate il certificato della nostra CA. Sei: in AWS VPN Client aggiungete il profilo e premete Connect; si apre il browser, login e codice MFA. Sette: verificate di avere un indirizzo 10.100, la connessione attiva dalla CLI e la riga nel registro di CloudWatch. Otto: passate dal gruppo admin al gruppo dev e riconnettetevi: quali blocchi potete raggiungere? La prova vera sul database la faremo nella lezione 6. Nove: destroy, perché la VPN si paga a 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4: contiene il codice completo di vpn.tf spiegato blocco per blocco e la configurazione passo passo in IAM Identity Center. La prossima volta creiamo il server dell'applicazione, a cui entreremo con SSM, senza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4</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4 · Accesso remoto: Client VPN con MFA</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Accesso remoto: Client VPN con MFA</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Come far entrare nella rete privata solo le persone giuste, da casa</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problema di oggi: lavorare da casa su una rete privata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023360"/>
                <a:gridCol w="4937760"/>
                <a:gridCol w="2130552"/>
              </a:tblGrid>
              <a:tr h="59436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Chi, da casa</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Verso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Ammesso?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un amministratore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il database, porta 5432</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2E9E6B"/>
                          </a:solidFill>
                          <a:latin typeface="Calibri" pitchFamily="34" charset="0"/>
                          <a:ea typeface="Calibri" pitchFamily="34" charset="-122"/>
                          <a:cs typeface="Calibri" pitchFamily="34" charset="-120"/>
                        </a:rPr>
                        <a:t>SÌ</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uno sviluppatore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l'applicazione, porta 8080</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b="1" dirty="0">
                          <a:solidFill>
                            <a:srgbClr val="2E9E6B"/>
                          </a:solidFill>
                          <a:latin typeface="Calibri" pitchFamily="34" charset="0"/>
                          <a:ea typeface="Calibri" pitchFamily="34" charset="-122"/>
                          <a:cs typeface="Calibri" pitchFamily="34" charset="-120"/>
                        </a:rPr>
                        <a:t>SÌ</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uno sviluppatore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il database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D64545"/>
                          </a:solidFill>
                          <a:latin typeface="Calibri" pitchFamily="34" charset="0"/>
                          <a:ea typeface="Calibri" pitchFamily="34" charset="-122"/>
                          <a:cs typeface="Calibri" pitchFamily="34" charset="-120"/>
                        </a:rPr>
                        <a:t>NO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chiunque altro, da internet</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qualunque cosa</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b="1" dirty="0">
                          <a:solidFill>
                            <a:srgbClr val="D64545"/>
                          </a:solidFill>
                          <a:latin typeface="Calibri" pitchFamily="34" charset="0"/>
                          <a:ea typeface="Calibri" pitchFamily="34" charset="-122"/>
                          <a:cs typeface="Calibri" pitchFamily="34" charset="-120"/>
                        </a:rPr>
                        <a:t>NO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4572000"/>
            <a:ext cx="11094415" cy="1280160"/>
          </a:xfrm>
          <a:prstGeom prst="roundRect">
            <a:avLst>
              <a:gd name="adj" fmla="val 7143"/>
            </a:avLst>
          </a:prstGeom>
          <a:solidFill>
            <a:srgbClr val="FBE9E9"/>
          </a:solidFill>
          <a:ln w="12700">
            <a:solidFill>
              <a:srgbClr val="FBE9E9"/>
            </a:solidFill>
            <a:prstDash val="solid"/>
          </a:ln>
        </p:spPr>
      </p:sp>
      <p:sp>
        <p:nvSpPr>
          <p:cNvPr id="7" name="Text 3"/>
          <p:cNvSpPr txBox="1"/>
          <p:nvPr/>
        </p:nvSpPr>
        <p:spPr>
          <a:xfrm>
            <a:off x="822960" y="4572000"/>
            <a:ext cx="10545775" cy="128016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Chi lavora da casa è su internet, e la nostra rete da internet non si raggiunge. Aprire il database a internet? Mai.</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Cos'è una VPN: un tunnel sotterraneo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VPN = un collegamento cifrato: il tuo computer si comporta come se fosse DENTRO la rete.</a:t>
            </a:r>
            <a:endParaRPr lang="en-US" sz="1900" dirty="0"/>
          </a:p>
        </p:txBody>
      </p:sp>
      <p:sp>
        <p:nvSpPr>
          <p:cNvPr id="7" name="Shape 4"/>
          <p:cNvSpPr/>
          <p:nvPr/>
        </p:nvSpPr>
        <p:spPr>
          <a:xfrm>
            <a:off x="548640" y="2468880"/>
            <a:ext cx="2651760" cy="1371600"/>
          </a:xfrm>
          <a:prstGeom prst="roundRect">
            <a:avLst>
              <a:gd name="adj" fmla="val 6667"/>
            </a:avLst>
          </a:prstGeom>
          <a:solidFill>
            <a:srgbClr val="EEEAFB"/>
          </a:solidFill>
          <a:ln w="12700">
            <a:solidFill>
              <a:srgbClr val="EEEAFB"/>
            </a:solidFill>
            <a:prstDash val="solid"/>
          </a:ln>
        </p:spPr>
      </p:sp>
      <p:sp>
        <p:nvSpPr>
          <p:cNvPr id="8" name="Text 5"/>
          <p:cNvSpPr txBox="1"/>
          <p:nvPr/>
        </p:nvSpPr>
        <p:spPr>
          <a:xfrm>
            <a:off x="548640" y="2468880"/>
            <a:ext cx="2651760" cy="137160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Il tuo PC, da casa</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AWS VPN Client</a:t>
            </a:r>
            <a:endParaRPr lang="en-US" sz="1700" dirty="0"/>
          </a:p>
        </p:txBody>
      </p:sp>
      <p:sp>
        <p:nvSpPr>
          <p:cNvPr id="9" name="Shape 6"/>
          <p:cNvSpPr/>
          <p:nvPr/>
        </p:nvSpPr>
        <p:spPr>
          <a:xfrm>
            <a:off x="3246120" y="3154680"/>
            <a:ext cx="1280160" cy="0"/>
          </a:xfrm>
          <a:prstGeom prst="line">
            <a:avLst/>
          </a:prstGeom>
          <a:noFill/>
          <a:ln w="25400">
            <a:solidFill>
              <a:srgbClr val="5B3FD0"/>
            </a:solidFill>
            <a:prstDash val="solid"/>
            <a:tailEnd type="triangle"/>
          </a:ln>
        </p:spPr>
      </p:sp>
      <p:sp>
        <p:nvSpPr>
          <p:cNvPr id="10" name="Text 7"/>
          <p:cNvSpPr txBox="1"/>
          <p:nvPr/>
        </p:nvSpPr>
        <p:spPr>
          <a:xfrm>
            <a:off x="3246120" y="2606040"/>
            <a:ext cx="1280160" cy="502920"/>
          </a:xfrm>
          <a:prstGeom prst="rect">
            <a:avLst/>
          </a:prstGeom>
          <a:noFill/>
          <a:ln/>
        </p:spPr>
        <p:txBody>
          <a:bodyPr wrap="square" lIns="0" tIns="0" rIns="0" bIns="0" rtlCol="0" anchor="ctr"/>
          <a:lstStyle/>
          <a:p>
            <a:pPr algn="ctr" indent="0" marL="0">
              <a:buNone/>
            </a:pPr>
            <a:r>
              <a:rPr lang="en-US" sz="1300" b="1" dirty="0">
                <a:solidFill>
                  <a:srgbClr val="5B3FD0"/>
                </a:solidFill>
                <a:latin typeface="Calibri" pitchFamily="34" charset="0"/>
                <a:ea typeface="Calibri" pitchFamily="34" charset="-122"/>
                <a:cs typeface="Calibri" pitchFamily="34" charset="-120"/>
              </a:rPr>
              <a:t>tunnel cifrato su internet</a:t>
            </a:r>
            <a:endParaRPr lang="en-US" sz="1300" dirty="0"/>
          </a:p>
        </p:txBody>
      </p:sp>
      <p:sp>
        <p:nvSpPr>
          <p:cNvPr id="11" name="Shape 8"/>
          <p:cNvSpPr/>
          <p:nvPr/>
        </p:nvSpPr>
        <p:spPr>
          <a:xfrm>
            <a:off x="4572000" y="2240280"/>
            <a:ext cx="7068312" cy="1965960"/>
          </a:xfrm>
          <a:prstGeom prst="roundRect">
            <a:avLst>
              <a:gd name="adj" fmla="val 5581"/>
            </a:avLst>
          </a:prstGeom>
          <a:solidFill>
            <a:srgbClr val="F7F6FD"/>
          </a:solidFill>
          <a:ln w="19050">
            <a:solidFill>
              <a:srgbClr val="5B3FD0"/>
            </a:solidFill>
            <a:prstDash val="solid"/>
          </a:ln>
        </p:spPr>
      </p:sp>
      <p:sp>
        <p:nvSpPr>
          <p:cNvPr id="12" name="Text 9"/>
          <p:cNvSpPr txBox="1"/>
          <p:nvPr/>
        </p:nvSpPr>
        <p:spPr>
          <a:xfrm>
            <a:off x="4754880" y="2286000"/>
            <a:ext cx="4572000" cy="320040"/>
          </a:xfrm>
          <a:prstGeom prst="rect">
            <a:avLst/>
          </a:prstGeom>
          <a:noFill/>
          <a:ln/>
        </p:spPr>
        <p:txBody>
          <a:bodyPr wrap="square" lIns="0" tIns="0" rIns="0" bIns="0" rtlCol="0" anchor="ctr"/>
          <a:lstStyle/>
          <a:p>
            <a:pPr algn="l" indent="0" marL="0">
              <a:buNone/>
            </a:pPr>
            <a:r>
              <a:rPr lang="en-US" sz="1300" b="1" dirty="0">
                <a:solidFill>
                  <a:srgbClr val="5B3FD0"/>
                </a:solidFill>
                <a:latin typeface="Calibri" pitchFamily="34" charset="0"/>
                <a:ea typeface="Calibri" pitchFamily="34" charset="-122"/>
                <a:cs typeface="Calibri" pitchFamily="34" charset="-120"/>
              </a:rPr>
              <a:t>La nostra rete (VPC)</a:t>
            </a:r>
            <a:endParaRPr lang="en-US" sz="1300" dirty="0"/>
          </a:p>
        </p:txBody>
      </p:sp>
      <p:sp>
        <p:nvSpPr>
          <p:cNvPr id="13" name="Shape 10"/>
          <p:cNvSpPr/>
          <p:nvPr/>
        </p:nvSpPr>
        <p:spPr>
          <a:xfrm>
            <a:off x="4754880" y="2697480"/>
            <a:ext cx="2103120" cy="1325880"/>
          </a:xfrm>
          <a:prstGeom prst="roundRect">
            <a:avLst>
              <a:gd name="adj" fmla="val 6897"/>
            </a:avLst>
          </a:prstGeom>
          <a:solidFill>
            <a:srgbClr val="1B1F3B"/>
          </a:solidFill>
          <a:ln w="12700">
            <a:solidFill>
              <a:srgbClr val="1B1F3B"/>
            </a:solidFill>
            <a:prstDash val="solid"/>
          </a:ln>
        </p:spPr>
      </p:sp>
      <p:sp>
        <p:nvSpPr>
          <p:cNvPr id="14" name="Text 11"/>
          <p:cNvSpPr txBox="1"/>
          <p:nvPr/>
        </p:nvSpPr>
        <p:spPr>
          <a:xfrm>
            <a:off x="4754880" y="2697480"/>
            <a:ext cx="2103120" cy="132588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Endpoint</a:t>
            </a:r>
            <a:endParaRPr lang="en-US" sz="1600" dirty="0"/>
          </a:p>
          <a:p>
            <a:pPr algn="ctr" indent="0" marL="0">
              <a:buNone/>
            </a:pPr>
            <a:r>
              <a:rPr lang="en-US" sz="1300" dirty="0">
                <a:solidFill>
                  <a:srgbClr val="5F6478"/>
                </a:solidFill>
                <a:latin typeface="Calibri" pitchFamily="34" charset="0"/>
                <a:ea typeface="Calibri" pitchFamily="34" charset="-122"/>
                <a:cs typeface="Calibri" pitchFamily="34" charset="-120"/>
              </a:rPr>
              <a:t>l'imbocco del tunnel</a:t>
            </a:r>
            <a:endParaRPr lang="en-US" sz="1600" dirty="0"/>
          </a:p>
        </p:txBody>
      </p:sp>
      <p:sp>
        <p:nvSpPr>
          <p:cNvPr id="15" name="Shape 12"/>
          <p:cNvSpPr/>
          <p:nvPr/>
        </p:nvSpPr>
        <p:spPr>
          <a:xfrm>
            <a:off x="7315200" y="2697480"/>
            <a:ext cx="2011680" cy="594360"/>
          </a:xfrm>
          <a:prstGeom prst="roundRect">
            <a:avLst>
              <a:gd name="adj" fmla="val 15385"/>
            </a:avLst>
          </a:prstGeom>
          <a:solidFill>
            <a:srgbClr val="EEEAFB"/>
          </a:solidFill>
          <a:ln w="12700">
            <a:solidFill>
              <a:srgbClr val="EEEAFB"/>
            </a:solidFill>
            <a:prstDash val="solid"/>
          </a:ln>
        </p:spPr>
      </p:sp>
      <p:sp>
        <p:nvSpPr>
          <p:cNvPr id="16" name="Text 13"/>
          <p:cNvSpPr txBox="1"/>
          <p:nvPr/>
        </p:nvSpPr>
        <p:spPr>
          <a:xfrm>
            <a:off x="7315200" y="2697480"/>
            <a:ext cx="2011680" cy="594360"/>
          </a:xfrm>
          <a:prstGeom prst="rect">
            <a:avLst/>
          </a:prstGeom>
          <a:noFill/>
          <a:ln/>
        </p:spPr>
        <p:txBody>
          <a:bodyPr wrap="square" lIns="76200" tIns="76200" rIns="76200" bIns="76200" rtlCol="0" anchor="ctr"/>
          <a:lstStyle/>
          <a:p>
            <a:pPr algn="ctr" indent="0" marL="0">
              <a:buNone/>
            </a:pPr>
            <a:r>
              <a:rPr lang="en-US" sz="1400" dirty="0">
                <a:solidFill>
                  <a:srgbClr val="22253A"/>
                </a:solidFill>
                <a:latin typeface="Calibri" pitchFamily="34" charset="0"/>
                <a:ea typeface="Calibri" pitchFamily="34" charset="-122"/>
                <a:cs typeface="Calibri" pitchFamily="34" charset="-120"/>
              </a:rPr>
              <a:t>Applicazione 8080</a:t>
            </a:r>
            <a:endParaRPr lang="en-US" sz="1400" dirty="0"/>
          </a:p>
        </p:txBody>
      </p:sp>
      <p:sp>
        <p:nvSpPr>
          <p:cNvPr id="17" name="Shape 14"/>
          <p:cNvSpPr/>
          <p:nvPr/>
        </p:nvSpPr>
        <p:spPr>
          <a:xfrm>
            <a:off x="7315200" y="3429000"/>
            <a:ext cx="2011680" cy="594360"/>
          </a:xfrm>
          <a:prstGeom prst="roundRect">
            <a:avLst>
              <a:gd name="adj" fmla="val 15385"/>
            </a:avLst>
          </a:prstGeom>
          <a:solidFill>
            <a:srgbClr val="E5F4EC"/>
          </a:solidFill>
          <a:ln w="12700">
            <a:solidFill>
              <a:srgbClr val="E5F4EC"/>
            </a:solidFill>
            <a:prstDash val="solid"/>
          </a:ln>
        </p:spPr>
      </p:sp>
      <p:sp>
        <p:nvSpPr>
          <p:cNvPr id="18" name="Text 15"/>
          <p:cNvSpPr txBox="1"/>
          <p:nvPr/>
        </p:nvSpPr>
        <p:spPr>
          <a:xfrm>
            <a:off x="7315200" y="3429000"/>
            <a:ext cx="2011680" cy="594360"/>
          </a:xfrm>
          <a:prstGeom prst="rect">
            <a:avLst/>
          </a:prstGeom>
          <a:noFill/>
          <a:ln/>
        </p:spPr>
        <p:txBody>
          <a:bodyPr wrap="square" lIns="76200" tIns="76200" rIns="76200" bIns="76200" rtlCol="0" anchor="ctr"/>
          <a:lstStyle/>
          <a:p>
            <a:pPr algn="ctr" indent="0" marL="0">
              <a:buNone/>
            </a:pPr>
            <a:r>
              <a:rPr lang="en-US" sz="1400" dirty="0">
                <a:solidFill>
                  <a:srgbClr val="22253A"/>
                </a:solidFill>
                <a:latin typeface="Calibri" pitchFamily="34" charset="0"/>
                <a:ea typeface="Calibri" pitchFamily="34" charset="-122"/>
                <a:cs typeface="Calibri" pitchFamily="34" charset="-120"/>
              </a:rPr>
              <a:t>Database 5432</a:t>
            </a:r>
            <a:endParaRPr lang="en-US" sz="1400" dirty="0"/>
          </a:p>
        </p:txBody>
      </p:sp>
      <p:sp>
        <p:nvSpPr>
          <p:cNvPr id="19" name="Shape 16"/>
          <p:cNvSpPr/>
          <p:nvPr/>
        </p:nvSpPr>
        <p:spPr>
          <a:xfrm>
            <a:off x="6876288" y="2990088"/>
            <a:ext cx="411480" cy="0"/>
          </a:xfrm>
          <a:prstGeom prst="line">
            <a:avLst/>
          </a:prstGeom>
          <a:noFill/>
          <a:ln w="25400">
            <a:solidFill>
              <a:srgbClr val="5B3FD0"/>
            </a:solidFill>
            <a:prstDash val="solid"/>
            <a:tailEnd type="triangle"/>
          </a:ln>
        </p:spPr>
      </p:sp>
      <p:sp>
        <p:nvSpPr>
          <p:cNvPr id="20" name="Shape 17"/>
          <p:cNvSpPr/>
          <p:nvPr/>
        </p:nvSpPr>
        <p:spPr>
          <a:xfrm>
            <a:off x="6876288" y="3721608"/>
            <a:ext cx="411480" cy="0"/>
          </a:xfrm>
          <a:prstGeom prst="line">
            <a:avLst/>
          </a:prstGeom>
          <a:noFill/>
          <a:ln w="25400">
            <a:solidFill>
              <a:srgbClr val="2E9E6B"/>
            </a:solidFill>
            <a:prstDash val="solid"/>
            <a:tailEnd type="triangle"/>
          </a:ln>
        </p:spPr>
      </p:sp>
      <p:sp>
        <p:nvSpPr>
          <p:cNvPr id="21" name="Text 18"/>
          <p:cNvSpPr txBox="1"/>
          <p:nvPr/>
        </p:nvSpPr>
        <p:spPr>
          <a:xfrm>
            <a:off x="9418320" y="3429000"/>
            <a:ext cx="2103120" cy="594360"/>
          </a:xfrm>
          <a:prstGeom prst="rect">
            <a:avLst/>
          </a:prstGeom>
          <a:noFill/>
          <a:ln/>
        </p:spPr>
        <p:txBody>
          <a:bodyPr wrap="square" lIns="0" tIns="0" rIns="0" bIns="0" rtlCol="0" anchor="ctr"/>
          <a:lstStyle/>
          <a:p>
            <a:pPr algn="l" indent="0" marL="0">
              <a:buNone/>
            </a:pPr>
            <a:r>
              <a:rPr lang="en-US" sz="1300" b="1" dirty="0">
                <a:solidFill>
                  <a:srgbClr val="2E9E6B"/>
                </a:solidFill>
                <a:latin typeface="Calibri" pitchFamily="34" charset="0"/>
                <a:ea typeface="Calibri" pitchFamily="34" charset="-122"/>
                <a:cs typeface="Calibri" pitchFamily="34" charset="-120"/>
              </a:rPr>
              <a:t>solo amministratori</a:t>
            </a:r>
            <a:endParaRPr lang="en-US" sz="1300" dirty="0"/>
          </a:p>
        </p:txBody>
      </p:sp>
      <p:sp>
        <p:nvSpPr>
          <p:cNvPr id="22" name="Shape 19"/>
          <p:cNvSpPr/>
          <p:nvPr/>
        </p:nvSpPr>
        <p:spPr>
          <a:xfrm>
            <a:off x="548640" y="4480560"/>
            <a:ext cx="11094415" cy="1463040"/>
          </a:xfrm>
          <a:prstGeom prst="roundRect">
            <a:avLst>
              <a:gd name="adj" fmla="val 7500"/>
            </a:avLst>
          </a:prstGeom>
          <a:solidFill>
            <a:srgbClr val="FDF0E3"/>
          </a:solidFill>
          <a:ln w="12700">
            <a:solidFill>
              <a:srgbClr val="FDF0E3"/>
            </a:solidFill>
            <a:prstDash val="solid"/>
          </a:ln>
        </p:spPr>
      </p:sp>
      <p:sp>
        <p:nvSpPr>
          <p:cNvPr id="23" name="Shape 20"/>
          <p:cNvSpPr/>
          <p:nvPr/>
        </p:nvSpPr>
        <p:spPr>
          <a:xfrm>
            <a:off x="777240" y="4709160"/>
            <a:ext cx="548640" cy="548640"/>
          </a:xfrm>
          <a:prstGeom prst="ellipse">
            <a:avLst/>
          </a:prstGeom>
          <a:solidFill>
            <a:srgbClr val="F28C28"/>
          </a:solidFill>
          <a:ln w="12700">
            <a:solidFill>
              <a:srgbClr val="F28C28"/>
            </a:solidFill>
            <a:prstDash val="solid"/>
          </a:ln>
        </p:spPr>
      </p:sp>
      <p:pic>
        <p:nvPicPr>
          <p:cNvPr id="24" name="Image 0" descr="preencoded.png">    </p:cNvPr>
          <p:cNvPicPr>
            <a:picLocks noChangeAspect="1"/>
          </p:cNvPicPr>
          <p:nvPr/>
        </p:nvPicPr>
        <p:blipFill>
          <a:blip r:embed="rId1"/>
          <a:stretch>
            <a:fillRect/>
          </a:stretch>
        </p:blipFill>
        <p:spPr>
          <a:xfrm>
            <a:off x="914400" y="4846320"/>
            <a:ext cx="274320" cy="274320"/>
          </a:xfrm>
          <a:prstGeom prst="rect">
            <a:avLst/>
          </a:prstGeom>
        </p:spPr>
      </p:pic>
      <p:sp>
        <p:nvSpPr>
          <p:cNvPr id="25" name="Text 21"/>
          <p:cNvSpPr txBox="1"/>
          <p:nvPr/>
        </p:nvSpPr>
        <p:spPr>
          <a:xfrm>
            <a:off x="1508760" y="470916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Il tunnel sotterraneo</a:t>
            </a:r>
            <a:endParaRPr lang="en-US" sz="1800" dirty="0"/>
          </a:p>
        </p:txBody>
      </p:sp>
      <p:sp>
        <p:nvSpPr>
          <p:cNvPr id="26" name="Text 22"/>
          <p:cNvSpPr txBox="1"/>
          <p:nvPr/>
        </p:nvSpPr>
        <p:spPr>
          <a:xfrm>
            <a:off x="777240" y="5394960"/>
            <a:ext cx="10637215" cy="3657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Parte da casa tua e sbuca dentro l'edificio. All'imbocco: controllo documenti (il login). Dentro: il badge apre solo certi piani (le regole per gruppo).</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Cosa serve per costruirla: cinque pezzi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25880"/>
            <a:ext cx="731520" cy="731520"/>
          </a:xfrm>
          <a:prstGeom prst="ellipse">
            <a:avLst/>
          </a:prstGeom>
          <a:solidFill>
            <a:srgbClr val="5B3FD0"/>
          </a:solidFill>
          <a:ln w="12700">
            <a:solidFill>
              <a:srgbClr val="5B3FD0"/>
            </a:solidFill>
            <a:prstDash val="solid"/>
          </a:ln>
        </p:spPr>
      </p:sp>
      <p:pic>
        <p:nvPicPr>
          <p:cNvPr id="6" name="Image 0"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7" name="Shape 3"/>
          <p:cNvSpPr/>
          <p:nvPr/>
        </p:nvSpPr>
        <p:spPr>
          <a:xfrm>
            <a:off x="1051560" y="1280160"/>
            <a:ext cx="320040" cy="320040"/>
          </a:xfrm>
          <a:prstGeom prst="ellipse">
            <a:avLst/>
          </a:prstGeom>
          <a:solidFill>
            <a:srgbClr val="1B1F3B"/>
          </a:solidFill>
          <a:ln w="12700">
            <a:solidFill>
              <a:srgbClr val="FFFFFF"/>
            </a:solidFill>
            <a:prstDash val="solid"/>
          </a:ln>
        </p:spPr>
      </p:sp>
      <p:sp>
        <p:nvSpPr>
          <p:cNvPr id="8" name="Text 4"/>
          <p:cNvSpPr txBox="1"/>
          <p:nvPr/>
        </p:nvSpPr>
        <p:spPr>
          <a:xfrm>
            <a:off x="1051560" y="12801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5"/>
          <p:cNvSpPr txBox="1"/>
          <p:nvPr/>
        </p:nvSpPr>
        <p:spPr>
          <a:xfrm>
            <a:off x="1554480" y="1325880"/>
            <a:ext cx="3657600" cy="73152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Gli indirizzi</a:t>
            </a:r>
            <a:endParaRPr lang="en-US" sz="2000" dirty="0"/>
          </a:p>
        </p:txBody>
      </p:sp>
      <p:sp>
        <p:nvSpPr>
          <p:cNvPr id="10" name="Text 6"/>
          <p:cNvSpPr txBox="1"/>
          <p:nvPr/>
        </p:nvSpPr>
        <p:spPr>
          <a:xfrm>
            <a:off x="5212080" y="1325880"/>
            <a:ext cx="6400800" cy="731520"/>
          </a:xfrm>
          <a:prstGeom prst="rect">
            <a:avLst/>
          </a:prstGeom>
          <a:noFill/>
          <a:ln/>
        </p:spPr>
        <p:txBody>
          <a:bodyPr wrap="square" lIns="0" tIns="0" rIns="0" bIns="0" rtlCol="0" anchor="ctr"/>
          <a:lstStyle/>
          <a:p>
            <a:pPr algn="l" indent="0" marL="0">
              <a:buNone/>
            </a:pPr>
            <a:r>
              <a:rPr lang="en-US" sz="1800" dirty="0">
                <a:solidFill>
                  <a:srgbClr val="5F6478"/>
                </a:solidFill>
                <a:latin typeface="Calibri" pitchFamily="34" charset="0"/>
                <a:ea typeface="Calibri" pitchFamily="34" charset="-122"/>
                <a:cs typeface="Calibri" pitchFamily="34" charset="-120"/>
              </a:rPr>
              <a:t>per chi si collega: 10.100.0.0/22</a:t>
            </a:r>
            <a:endParaRPr lang="en-US" sz="1800" dirty="0"/>
          </a:p>
        </p:txBody>
      </p:sp>
      <p:sp>
        <p:nvSpPr>
          <p:cNvPr id="11" name="Shape 7"/>
          <p:cNvSpPr/>
          <p:nvPr/>
        </p:nvSpPr>
        <p:spPr>
          <a:xfrm>
            <a:off x="548640" y="2304288"/>
            <a:ext cx="731520" cy="73152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731520" y="2487168"/>
            <a:ext cx="365760" cy="365760"/>
          </a:xfrm>
          <a:prstGeom prst="rect">
            <a:avLst/>
          </a:prstGeom>
        </p:spPr>
      </p:pic>
      <p:sp>
        <p:nvSpPr>
          <p:cNvPr id="13" name="Shape 8"/>
          <p:cNvSpPr/>
          <p:nvPr/>
        </p:nvSpPr>
        <p:spPr>
          <a:xfrm>
            <a:off x="1051560" y="2258568"/>
            <a:ext cx="320040" cy="320040"/>
          </a:xfrm>
          <a:prstGeom prst="ellipse">
            <a:avLst/>
          </a:prstGeom>
          <a:solidFill>
            <a:srgbClr val="1B1F3B"/>
          </a:solidFill>
          <a:ln w="12700">
            <a:solidFill>
              <a:srgbClr val="FFFFFF"/>
            </a:solidFill>
            <a:prstDash val="solid"/>
          </a:ln>
        </p:spPr>
      </p:sp>
      <p:sp>
        <p:nvSpPr>
          <p:cNvPr id="14" name="Text 9"/>
          <p:cNvSpPr txBox="1"/>
          <p:nvPr/>
        </p:nvSpPr>
        <p:spPr>
          <a:xfrm>
            <a:off x="1051560" y="225856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0"/>
          <p:cNvSpPr txBox="1"/>
          <p:nvPr/>
        </p:nvSpPr>
        <p:spPr>
          <a:xfrm>
            <a:off x="1554480" y="2304288"/>
            <a:ext cx="3657600" cy="73152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Il certificato</a:t>
            </a:r>
            <a:endParaRPr lang="en-US" sz="2000" dirty="0"/>
          </a:p>
        </p:txBody>
      </p:sp>
      <p:sp>
        <p:nvSpPr>
          <p:cNvPr id="16" name="Text 11"/>
          <p:cNvSpPr txBox="1"/>
          <p:nvPr/>
        </p:nvSpPr>
        <p:spPr>
          <a:xfrm>
            <a:off x="5212080" y="2304288"/>
            <a:ext cx="6400800" cy="731520"/>
          </a:xfrm>
          <a:prstGeom prst="rect">
            <a:avLst/>
          </a:prstGeom>
          <a:noFill/>
          <a:ln/>
        </p:spPr>
        <p:txBody>
          <a:bodyPr wrap="square" lIns="0" tIns="0" rIns="0" bIns="0" rtlCol="0" anchor="ctr"/>
          <a:lstStyle/>
          <a:p>
            <a:pPr algn="l" indent="0" marL="0">
              <a:buNone/>
            </a:pPr>
            <a:r>
              <a:rPr lang="en-US" sz="1800" dirty="0">
                <a:solidFill>
                  <a:srgbClr val="5F6478"/>
                </a:solidFill>
                <a:latin typeface="Calibri" pitchFamily="34" charset="0"/>
                <a:ea typeface="Calibri" pitchFamily="34" charset="-122"/>
                <a:cs typeface="Calibri" pitchFamily="34" charset="-120"/>
              </a:rPr>
              <a:t>la carta d'identità del server VPN</a:t>
            </a:r>
            <a:endParaRPr lang="en-US" sz="1800" dirty="0"/>
          </a:p>
        </p:txBody>
      </p:sp>
      <p:sp>
        <p:nvSpPr>
          <p:cNvPr id="17" name="Shape 12"/>
          <p:cNvSpPr/>
          <p:nvPr/>
        </p:nvSpPr>
        <p:spPr>
          <a:xfrm>
            <a:off x="548640" y="3282696"/>
            <a:ext cx="731520" cy="731520"/>
          </a:xfrm>
          <a:prstGeom prst="ellipse">
            <a:avLst/>
          </a:prstGeom>
          <a:solidFill>
            <a:srgbClr val="5B3FD0"/>
          </a:solidFill>
          <a:ln w="12700">
            <a:solidFill>
              <a:srgbClr val="5B3FD0"/>
            </a:solidFill>
            <a:prstDash val="solid"/>
          </a:ln>
        </p:spPr>
      </p:sp>
      <p:pic>
        <p:nvPicPr>
          <p:cNvPr id="18" name="Image 2" descr="preencoded.png">    </p:cNvPr>
          <p:cNvPicPr>
            <a:picLocks noChangeAspect="1"/>
          </p:cNvPicPr>
          <p:nvPr/>
        </p:nvPicPr>
        <p:blipFill>
          <a:blip r:embed="rId3"/>
          <a:stretch>
            <a:fillRect/>
          </a:stretch>
        </p:blipFill>
        <p:spPr>
          <a:xfrm>
            <a:off x="731520" y="3465576"/>
            <a:ext cx="365760" cy="365760"/>
          </a:xfrm>
          <a:prstGeom prst="rect">
            <a:avLst/>
          </a:prstGeom>
        </p:spPr>
      </p:pic>
      <p:sp>
        <p:nvSpPr>
          <p:cNvPr id="19" name="Shape 13"/>
          <p:cNvSpPr/>
          <p:nvPr/>
        </p:nvSpPr>
        <p:spPr>
          <a:xfrm>
            <a:off x="1051560" y="3236976"/>
            <a:ext cx="320040" cy="320040"/>
          </a:xfrm>
          <a:prstGeom prst="ellipse">
            <a:avLst/>
          </a:prstGeom>
          <a:solidFill>
            <a:srgbClr val="1B1F3B"/>
          </a:solidFill>
          <a:ln w="12700">
            <a:solidFill>
              <a:srgbClr val="FFFFFF"/>
            </a:solidFill>
            <a:prstDash val="solid"/>
          </a:ln>
        </p:spPr>
      </p:sp>
      <p:sp>
        <p:nvSpPr>
          <p:cNvPr id="20" name="Text 14"/>
          <p:cNvSpPr txBox="1"/>
          <p:nvPr/>
        </p:nvSpPr>
        <p:spPr>
          <a:xfrm>
            <a:off x="1051560" y="323697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5"/>
          <p:cNvSpPr txBox="1"/>
          <p:nvPr/>
        </p:nvSpPr>
        <p:spPr>
          <a:xfrm>
            <a:off x="1554480" y="3282696"/>
            <a:ext cx="3657600" cy="73152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Il login</a:t>
            </a:r>
            <a:endParaRPr lang="en-US" sz="2000" dirty="0"/>
          </a:p>
        </p:txBody>
      </p:sp>
      <p:sp>
        <p:nvSpPr>
          <p:cNvPr id="22" name="Text 16"/>
          <p:cNvSpPr txBox="1"/>
          <p:nvPr/>
        </p:nvSpPr>
        <p:spPr>
          <a:xfrm>
            <a:off x="5212080" y="3282696"/>
            <a:ext cx="6400800" cy="731520"/>
          </a:xfrm>
          <a:prstGeom prst="rect">
            <a:avLst/>
          </a:prstGeom>
          <a:noFill/>
          <a:ln/>
        </p:spPr>
        <p:txBody>
          <a:bodyPr wrap="square" lIns="0" tIns="0" rIns="0" bIns="0" rtlCol="0" anchor="ctr"/>
          <a:lstStyle/>
          <a:p>
            <a:pPr algn="l" indent="0" marL="0">
              <a:buNone/>
            </a:pPr>
            <a:r>
              <a:rPr lang="en-US" sz="1800" dirty="0">
                <a:solidFill>
                  <a:srgbClr val="5F6478"/>
                </a:solidFill>
                <a:latin typeface="Calibri" pitchFamily="34" charset="0"/>
                <a:ea typeface="Calibri" pitchFamily="34" charset="-122"/>
                <a:cs typeface="Calibri" pitchFamily="34" charset="-120"/>
              </a:rPr>
              <a:t>aziendale, con MFA (SAML)</a:t>
            </a:r>
            <a:endParaRPr lang="en-US" sz="1800" dirty="0"/>
          </a:p>
        </p:txBody>
      </p:sp>
      <p:sp>
        <p:nvSpPr>
          <p:cNvPr id="23" name="Shape 17"/>
          <p:cNvSpPr/>
          <p:nvPr/>
        </p:nvSpPr>
        <p:spPr>
          <a:xfrm>
            <a:off x="548640" y="4261104"/>
            <a:ext cx="731520" cy="731520"/>
          </a:xfrm>
          <a:prstGeom prst="ellipse">
            <a:avLst/>
          </a:prstGeom>
          <a:solidFill>
            <a:srgbClr val="F28C28"/>
          </a:solidFill>
          <a:ln w="12700">
            <a:solidFill>
              <a:srgbClr val="F28C28"/>
            </a:solidFill>
            <a:prstDash val="solid"/>
          </a:ln>
        </p:spPr>
      </p:sp>
      <p:pic>
        <p:nvPicPr>
          <p:cNvPr id="24" name="Image 3" descr="preencoded.png">    </p:cNvPr>
          <p:cNvPicPr>
            <a:picLocks noChangeAspect="1"/>
          </p:cNvPicPr>
          <p:nvPr/>
        </p:nvPicPr>
        <p:blipFill>
          <a:blip r:embed="rId4"/>
          <a:stretch>
            <a:fillRect/>
          </a:stretch>
        </p:blipFill>
        <p:spPr>
          <a:xfrm>
            <a:off x="731520" y="4443984"/>
            <a:ext cx="365760" cy="365760"/>
          </a:xfrm>
          <a:prstGeom prst="rect">
            <a:avLst/>
          </a:prstGeom>
        </p:spPr>
      </p:pic>
      <p:sp>
        <p:nvSpPr>
          <p:cNvPr id="25" name="Shape 18"/>
          <p:cNvSpPr/>
          <p:nvPr/>
        </p:nvSpPr>
        <p:spPr>
          <a:xfrm>
            <a:off x="1051560" y="4215384"/>
            <a:ext cx="320040" cy="320040"/>
          </a:xfrm>
          <a:prstGeom prst="ellipse">
            <a:avLst/>
          </a:prstGeom>
          <a:solidFill>
            <a:srgbClr val="1B1F3B"/>
          </a:solidFill>
          <a:ln w="12700">
            <a:solidFill>
              <a:srgbClr val="FFFFFF"/>
            </a:solidFill>
            <a:prstDash val="solid"/>
          </a:ln>
        </p:spPr>
      </p:sp>
      <p:sp>
        <p:nvSpPr>
          <p:cNvPr id="26" name="Text 19"/>
          <p:cNvSpPr txBox="1"/>
          <p:nvPr/>
        </p:nvSpPr>
        <p:spPr>
          <a:xfrm>
            <a:off x="1051560" y="421538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0"/>
          <p:cNvSpPr txBox="1"/>
          <p:nvPr/>
        </p:nvSpPr>
        <p:spPr>
          <a:xfrm>
            <a:off x="1554480" y="4261104"/>
            <a:ext cx="3657600" cy="73152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Le regole per gruppo</a:t>
            </a:r>
            <a:endParaRPr lang="en-US" sz="2000" dirty="0"/>
          </a:p>
        </p:txBody>
      </p:sp>
      <p:sp>
        <p:nvSpPr>
          <p:cNvPr id="28" name="Text 21"/>
          <p:cNvSpPr txBox="1"/>
          <p:nvPr/>
        </p:nvSpPr>
        <p:spPr>
          <a:xfrm>
            <a:off x="5212080" y="4261104"/>
            <a:ext cx="6400800" cy="731520"/>
          </a:xfrm>
          <a:prstGeom prst="rect">
            <a:avLst/>
          </a:prstGeom>
          <a:noFill/>
          <a:ln/>
        </p:spPr>
        <p:txBody>
          <a:bodyPr wrap="square" lIns="0" tIns="0" rIns="0" bIns="0" rtlCol="0" anchor="ctr"/>
          <a:lstStyle/>
          <a:p>
            <a:pPr algn="l" indent="0" marL="0">
              <a:buNone/>
            </a:pPr>
            <a:r>
              <a:rPr lang="en-US" sz="1800" dirty="0">
                <a:solidFill>
                  <a:srgbClr val="5F6478"/>
                </a:solidFill>
                <a:latin typeface="Calibri" pitchFamily="34" charset="0"/>
                <a:ea typeface="Calibri" pitchFamily="34" charset="-122"/>
                <a:cs typeface="Calibri" pitchFamily="34" charset="-120"/>
              </a:rPr>
              <a:t>chi può raggiungere cosa</a:t>
            </a:r>
            <a:endParaRPr lang="en-US" sz="1800" dirty="0"/>
          </a:p>
        </p:txBody>
      </p:sp>
      <p:sp>
        <p:nvSpPr>
          <p:cNvPr id="29" name="Shape 22"/>
          <p:cNvSpPr/>
          <p:nvPr/>
        </p:nvSpPr>
        <p:spPr>
          <a:xfrm>
            <a:off x="548640" y="5239512"/>
            <a:ext cx="731520" cy="731520"/>
          </a:xfrm>
          <a:prstGeom prst="ellipse">
            <a:avLst/>
          </a:prstGeom>
          <a:solidFill>
            <a:srgbClr val="5B3FD0"/>
          </a:solidFill>
          <a:ln w="12700">
            <a:solidFill>
              <a:srgbClr val="5B3FD0"/>
            </a:solidFill>
            <a:prstDash val="solid"/>
          </a:ln>
        </p:spPr>
      </p:sp>
      <p:pic>
        <p:nvPicPr>
          <p:cNvPr id="30" name="Image 4" descr="preencoded.png">    </p:cNvPr>
          <p:cNvPicPr>
            <a:picLocks noChangeAspect="1"/>
          </p:cNvPicPr>
          <p:nvPr/>
        </p:nvPicPr>
        <p:blipFill>
          <a:blip r:embed="rId5"/>
          <a:stretch>
            <a:fillRect/>
          </a:stretch>
        </p:blipFill>
        <p:spPr>
          <a:xfrm>
            <a:off x="731520" y="5422392"/>
            <a:ext cx="365760" cy="365760"/>
          </a:xfrm>
          <a:prstGeom prst="rect">
            <a:avLst/>
          </a:prstGeom>
        </p:spPr>
      </p:pic>
      <p:sp>
        <p:nvSpPr>
          <p:cNvPr id="31" name="Shape 23"/>
          <p:cNvSpPr/>
          <p:nvPr/>
        </p:nvSpPr>
        <p:spPr>
          <a:xfrm>
            <a:off x="1051560" y="5193792"/>
            <a:ext cx="320040" cy="320040"/>
          </a:xfrm>
          <a:prstGeom prst="ellipse">
            <a:avLst/>
          </a:prstGeom>
          <a:solidFill>
            <a:srgbClr val="1B1F3B"/>
          </a:solidFill>
          <a:ln w="12700">
            <a:solidFill>
              <a:srgbClr val="FFFFFF"/>
            </a:solidFill>
            <a:prstDash val="solid"/>
          </a:ln>
        </p:spPr>
      </p:sp>
      <p:sp>
        <p:nvSpPr>
          <p:cNvPr id="32" name="Text 24"/>
          <p:cNvSpPr txBox="1"/>
          <p:nvPr/>
        </p:nvSpPr>
        <p:spPr>
          <a:xfrm>
            <a:off x="1051560" y="519379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ext 25"/>
          <p:cNvSpPr txBox="1"/>
          <p:nvPr/>
        </p:nvSpPr>
        <p:spPr>
          <a:xfrm>
            <a:off x="1554480" y="5239512"/>
            <a:ext cx="3657600" cy="73152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Il collegamento</a:t>
            </a:r>
            <a:endParaRPr lang="en-US" sz="2000" dirty="0"/>
          </a:p>
        </p:txBody>
      </p:sp>
      <p:sp>
        <p:nvSpPr>
          <p:cNvPr id="34" name="Text 26"/>
          <p:cNvSpPr txBox="1"/>
          <p:nvPr/>
        </p:nvSpPr>
        <p:spPr>
          <a:xfrm>
            <a:off x="5212080" y="5239512"/>
            <a:ext cx="6400800" cy="731520"/>
          </a:xfrm>
          <a:prstGeom prst="rect">
            <a:avLst/>
          </a:prstGeom>
          <a:noFill/>
          <a:ln/>
        </p:spPr>
        <p:txBody>
          <a:bodyPr wrap="square" lIns="0" tIns="0" rIns="0" bIns="0" rtlCol="0" anchor="ctr"/>
          <a:lstStyle/>
          <a:p>
            <a:pPr algn="l" indent="0" marL="0">
              <a:buNone/>
            </a:pPr>
            <a:r>
              <a:rPr lang="en-US" sz="1800" dirty="0">
                <a:solidFill>
                  <a:srgbClr val="5F6478"/>
                </a:solidFill>
                <a:latin typeface="Calibri" pitchFamily="34" charset="0"/>
                <a:ea typeface="Calibri" pitchFamily="34" charset="-122"/>
                <a:cs typeface="Calibri" pitchFamily="34" charset="-120"/>
              </a:rPr>
              <a:t>alle subnet private, con il SG vpn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1. Gli indirizzi di chi si collega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71600"/>
            <a:ext cx="3566160" cy="1371600"/>
          </a:xfrm>
          <a:prstGeom prst="roundRect">
            <a:avLst>
              <a:gd name="adj" fmla="val 6667"/>
            </a:avLst>
          </a:prstGeom>
          <a:solidFill>
            <a:srgbClr val="EEEAFB"/>
          </a:solidFill>
          <a:ln w="12700">
            <a:solidFill>
              <a:srgbClr val="EEEAFB"/>
            </a:solidFill>
            <a:prstDash val="solid"/>
          </a:ln>
        </p:spPr>
      </p:sp>
      <p:sp>
        <p:nvSpPr>
          <p:cNvPr id="6" name="Text 3"/>
          <p:cNvSpPr txBox="1"/>
          <p:nvPr/>
        </p:nvSpPr>
        <p:spPr>
          <a:xfrm>
            <a:off x="548640" y="1371600"/>
            <a:ext cx="3566160" cy="1371600"/>
          </a:xfrm>
          <a:prstGeom prst="rect">
            <a:avLst/>
          </a:prstGeom>
          <a:noFill/>
          <a:ln/>
        </p:spPr>
        <p:txBody>
          <a:bodyPr wrap="square" lIns="76200" tIns="76200" rIns="76200" bIns="76200" rtlCol="0" anchor="ctr"/>
          <a:lstStyle/>
          <a:p>
            <a:pPr algn="ctr" indent="0" marL="0">
              <a:buNone/>
            </a:pPr>
            <a:r>
              <a:rPr lang="en-US" sz="2200" b="1" dirty="0">
                <a:solidFill>
                  <a:srgbClr val="22253A"/>
                </a:solidFill>
                <a:latin typeface="Courier New" pitchFamily="34" charset="0"/>
                <a:ea typeface="Courier New" pitchFamily="34" charset="-122"/>
                <a:cs typeface="Courier New" pitchFamily="34" charset="-120"/>
              </a:rPr>
              <a:t>10.20.0.0/16</a:t>
            </a:r>
            <a:endParaRPr lang="en-US" sz="1600" dirty="0"/>
          </a:p>
          <a:p>
            <a:pPr algn="ctr" indent="0" marL="0">
              <a:buNone/>
            </a:pPr>
            <a:r>
              <a:rPr lang="en-US" sz="1600" dirty="0">
                <a:solidFill>
                  <a:srgbClr val="5F6478"/>
                </a:solidFill>
                <a:latin typeface="Calibri" pitchFamily="34" charset="0"/>
                <a:ea typeface="Calibri" pitchFamily="34" charset="-122"/>
                <a:cs typeface="Calibri" pitchFamily="34" charset="-120"/>
              </a:rPr>
              <a:t>la nostra rete (VPC)</a:t>
            </a:r>
            <a:endParaRPr lang="en-US" sz="1600" dirty="0"/>
          </a:p>
        </p:txBody>
      </p:sp>
      <p:sp>
        <p:nvSpPr>
          <p:cNvPr id="7" name="Shape 4"/>
          <p:cNvSpPr/>
          <p:nvPr/>
        </p:nvSpPr>
        <p:spPr>
          <a:xfrm>
            <a:off x="4297680" y="1371600"/>
            <a:ext cx="3566160" cy="1371600"/>
          </a:xfrm>
          <a:prstGeom prst="roundRect">
            <a:avLst>
              <a:gd name="adj" fmla="val 6667"/>
            </a:avLst>
          </a:prstGeom>
          <a:solidFill>
            <a:srgbClr val="FDF0E3"/>
          </a:solidFill>
          <a:ln w="12700">
            <a:solidFill>
              <a:srgbClr val="FDF0E3"/>
            </a:solidFill>
            <a:prstDash val="solid"/>
          </a:ln>
        </p:spPr>
      </p:sp>
      <p:sp>
        <p:nvSpPr>
          <p:cNvPr id="8" name="Text 5"/>
          <p:cNvSpPr txBox="1"/>
          <p:nvPr/>
        </p:nvSpPr>
        <p:spPr>
          <a:xfrm>
            <a:off x="4297680" y="1371600"/>
            <a:ext cx="3566160" cy="1371600"/>
          </a:xfrm>
          <a:prstGeom prst="rect">
            <a:avLst/>
          </a:prstGeom>
          <a:noFill/>
          <a:ln/>
        </p:spPr>
        <p:txBody>
          <a:bodyPr wrap="square" lIns="76200" tIns="76200" rIns="76200" bIns="76200" rtlCol="0" anchor="ctr"/>
          <a:lstStyle/>
          <a:p>
            <a:pPr algn="ctr" indent="0" marL="0">
              <a:buNone/>
            </a:pPr>
            <a:r>
              <a:rPr lang="en-US" sz="2200" b="1" dirty="0">
                <a:solidFill>
                  <a:srgbClr val="22253A"/>
                </a:solidFill>
                <a:latin typeface="Courier New" pitchFamily="34" charset="0"/>
                <a:ea typeface="Courier New" pitchFamily="34" charset="-122"/>
                <a:cs typeface="Courier New" pitchFamily="34" charset="-120"/>
              </a:rPr>
              <a:t>10.100.0.0/22</a:t>
            </a:r>
            <a:endParaRPr lang="en-US" sz="1600" dirty="0"/>
          </a:p>
          <a:p>
            <a:pPr algn="ctr" indent="0" marL="0">
              <a:buNone/>
            </a:pPr>
            <a:r>
              <a:rPr lang="en-US" sz="1600" dirty="0">
                <a:solidFill>
                  <a:srgbClr val="5F6478"/>
                </a:solidFill>
                <a:latin typeface="Calibri" pitchFamily="34" charset="0"/>
                <a:ea typeface="Calibri" pitchFamily="34" charset="-122"/>
                <a:cs typeface="Calibri" pitchFamily="34" charset="-120"/>
              </a:rPr>
              <a:t>chi si collega in VPN</a:t>
            </a:r>
            <a:endParaRPr lang="en-US" sz="1600" dirty="0"/>
          </a:p>
        </p:txBody>
      </p:sp>
      <p:sp>
        <p:nvSpPr>
          <p:cNvPr id="9" name="Shape 6"/>
          <p:cNvSpPr/>
          <p:nvPr/>
        </p:nvSpPr>
        <p:spPr>
          <a:xfrm>
            <a:off x="8046720" y="1371600"/>
            <a:ext cx="3566160" cy="1371600"/>
          </a:xfrm>
          <a:prstGeom prst="roundRect">
            <a:avLst>
              <a:gd name="adj" fmla="val 6667"/>
            </a:avLst>
          </a:prstGeom>
          <a:solidFill>
            <a:srgbClr val="F7F6FD"/>
          </a:solidFill>
          <a:ln w="12700">
            <a:solidFill>
              <a:srgbClr val="F7F6FD"/>
            </a:solidFill>
            <a:prstDash val="solid"/>
          </a:ln>
        </p:spPr>
      </p:sp>
      <p:sp>
        <p:nvSpPr>
          <p:cNvPr id="10" name="Text 7"/>
          <p:cNvSpPr txBox="1"/>
          <p:nvPr/>
        </p:nvSpPr>
        <p:spPr>
          <a:xfrm>
            <a:off x="8046720" y="1371600"/>
            <a:ext cx="3566160" cy="1371600"/>
          </a:xfrm>
          <a:prstGeom prst="rect">
            <a:avLst/>
          </a:prstGeom>
          <a:noFill/>
          <a:ln/>
        </p:spPr>
        <p:txBody>
          <a:bodyPr wrap="square" lIns="76200" tIns="76200" rIns="76200" bIns="76200" rtlCol="0" anchor="ctr"/>
          <a:lstStyle/>
          <a:p>
            <a:pPr algn="ctr" indent="0" marL="0">
              <a:buNone/>
            </a:pPr>
            <a:r>
              <a:rPr lang="en-US" sz="2200" b="1" dirty="0">
                <a:solidFill>
                  <a:srgbClr val="22253A"/>
                </a:solidFill>
                <a:latin typeface="Courier New" pitchFamily="34" charset="0"/>
                <a:ea typeface="Courier New" pitchFamily="34" charset="-122"/>
                <a:cs typeface="Courier New" pitchFamily="34" charset="-120"/>
              </a:rPr>
              <a:t>192.168.1.0/24</a:t>
            </a:r>
            <a:endParaRPr lang="en-US" sz="1600" dirty="0"/>
          </a:p>
          <a:p>
            <a:pPr algn="ctr" indent="0" marL="0">
              <a:buNone/>
            </a:pPr>
            <a:r>
              <a:rPr lang="en-US" sz="1600" dirty="0">
                <a:solidFill>
                  <a:srgbClr val="5F6478"/>
                </a:solidFill>
                <a:latin typeface="Calibri" pitchFamily="34" charset="0"/>
                <a:ea typeface="Calibri" pitchFamily="34" charset="-122"/>
                <a:cs typeface="Calibri" pitchFamily="34" charset="-120"/>
              </a:rPr>
              <a:t>la rete di casa (tipica)</a:t>
            </a:r>
            <a:endParaRPr lang="en-US" sz="1600" dirty="0"/>
          </a:p>
        </p:txBody>
      </p:sp>
      <p:sp>
        <p:nvSpPr>
          <p:cNvPr id="11" name="Shape 8"/>
          <p:cNvSpPr/>
          <p:nvPr/>
        </p:nvSpPr>
        <p:spPr>
          <a:xfrm>
            <a:off x="548640" y="3017520"/>
            <a:ext cx="11094415" cy="914400"/>
          </a:xfrm>
          <a:prstGeom prst="roundRect">
            <a:avLst>
              <a:gd name="adj" fmla="val 10000"/>
            </a:avLst>
          </a:prstGeom>
          <a:solidFill>
            <a:srgbClr val="FDF0E3"/>
          </a:solidFill>
          <a:ln w="12700">
            <a:solidFill>
              <a:srgbClr val="FDF0E3"/>
            </a:solidFill>
            <a:prstDash val="solid"/>
          </a:ln>
        </p:spPr>
      </p:sp>
      <p:sp>
        <p:nvSpPr>
          <p:cNvPr id="12" name="Text 9"/>
          <p:cNvSpPr txBox="1"/>
          <p:nvPr/>
        </p:nvSpPr>
        <p:spPr>
          <a:xfrm>
            <a:off x="822960" y="301752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Tre blocchi che NON si sovrappongono: così il computer sa sempre dove mandare ogni pacchetto (lezione 2).</a:t>
            </a:r>
            <a:endParaRPr lang="en-US" sz="1800" dirty="0"/>
          </a:p>
        </p:txBody>
      </p:sp>
      <p:sp>
        <p:nvSpPr>
          <p:cNvPr id="13" name="Shape 10"/>
          <p:cNvSpPr/>
          <p:nvPr/>
        </p:nvSpPr>
        <p:spPr>
          <a:xfrm>
            <a:off x="548640" y="4206240"/>
            <a:ext cx="11094415" cy="1737360"/>
          </a:xfrm>
          <a:prstGeom prst="roundRect">
            <a:avLst>
              <a:gd name="adj" fmla="val 6316"/>
            </a:avLst>
          </a:prstGeom>
          <a:solidFill>
            <a:srgbClr val="EEEAFB"/>
          </a:solidFill>
          <a:ln w="12700">
            <a:solidFill>
              <a:srgbClr val="EEEAFB"/>
            </a:solidFill>
            <a:prstDash val="solid"/>
          </a:ln>
        </p:spPr>
      </p:sp>
      <p:sp>
        <p:nvSpPr>
          <p:cNvPr id="14" name="Shape 11"/>
          <p:cNvSpPr/>
          <p:nvPr/>
        </p:nvSpPr>
        <p:spPr>
          <a:xfrm>
            <a:off x="777240" y="4434840"/>
            <a:ext cx="548640" cy="548640"/>
          </a:xfrm>
          <a:prstGeom prst="ellipse">
            <a:avLst/>
          </a:prstGeom>
          <a:solidFill>
            <a:srgbClr val="5B3FD0"/>
          </a:solidFill>
          <a:ln w="12700">
            <a:solidFill>
              <a:srgbClr val="5B3FD0"/>
            </a:solidFill>
            <a:prstDash val="solid"/>
          </a:ln>
        </p:spPr>
      </p:sp>
      <p:pic>
        <p:nvPicPr>
          <p:cNvPr id="15" name="Image 0" descr="preencoded.png">    </p:cNvPr>
          <p:cNvPicPr>
            <a:picLocks noChangeAspect="1"/>
          </p:cNvPicPr>
          <p:nvPr/>
        </p:nvPicPr>
        <p:blipFill>
          <a:blip r:embed="rId1"/>
          <a:stretch>
            <a:fillRect/>
          </a:stretch>
        </p:blipFill>
        <p:spPr>
          <a:xfrm>
            <a:off x="914400" y="4572000"/>
            <a:ext cx="274320" cy="274320"/>
          </a:xfrm>
          <a:prstGeom prst="rect">
            <a:avLst/>
          </a:prstGeom>
        </p:spPr>
      </p:pic>
      <p:sp>
        <p:nvSpPr>
          <p:cNvPr id="16" name="Text 12"/>
          <p:cNvSpPr txBox="1"/>
          <p:nvPr/>
        </p:nvSpPr>
        <p:spPr>
          <a:xfrm>
            <a:off x="1508760" y="443484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Quando il traffico entra nella rete…</a:t>
            </a:r>
            <a:endParaRPr lang="en-US" sz="1800" dirty="0"/>
          </a:p>
        </p:txBody>
      </p:sp>
      <p:sp>
        <p:nvSpPr>
          <p:cNvPr id="17" name="Text 13"/>
          <p:cNvSpPr txBox="1"/>
          <p:nvPr/>
        </p:nvSpPr>
        <p:spPr>
          <a:xfrm>
            <a:off x="777240" y="5120640"/>
            <a:ext cx="10637215" cy="64008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AWS gli cambia il mittente con l'indirizzo dell'endpoint nella subnet privata. Per il database, la VPN sembra arrivare da una subnet privata: per questo la NACL della lezione 3 la lascia passare.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2. Il certificato: la carta d'identità del server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Il certificato dimostra al tuo computer che sta parlando con la NOSTRA VPN, non con un impostore.</a:t>
            </a:r>
            <a:endParaRPr lang="en-US" sz="1800" dirty="0"/>
          </a:p>
        </p:txBody>
      </p:sp>
      <p:sp>
        <p:nvSpPr>
          <p:cNvPr id="7" name="Shape 4"/>
          <p:cNvSpPr/>
          <p:nvPr/>
        </p:nvSpPr>
        <p:spPr>
          <a:xfrm>
            <a:off x="548640" y="2240280"/>
            <a:ext cx="3566160" cy="2103120"/>
          </a:xfrm>
          <a:prstGeom prst="roundRect">
            <a:avLst>
              <a:gd name="adj" fmla="val 5217"/>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La CA (nostra)</a:t>
            </a:r>
            <a:endParaRPr lang="en-US" sz="1800" dirty="0"/>
          </a:p>
        </p:txBody>
      </p:sp>
      <p:sp>
        <p:nvSpPr>
          <p:cNvPr id="11" name="Text 7"/>
          <p:cNvSpPr txBox="1"/>
          <p:nvPr/>
        </p:nvSpPr>
        <p:spPr>
          <a:xfrm>
            <a:off x="777240" y="3154680"/>
            <a:ext cx="3108960" cy="10058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"comune": firma i certificati</a:t>
            </a:r>
            <a:endParaRPr lang="en-US" sz="1600" dirty="0"/>
          </a:p>
        </p:txBody>
      </p:sp>
      <p:sp>
        <p:nvSpPr>
          <p:cNvPr id="12" name="Shape 8"/>
          <p:cNvSpPr/>
          <p:nvPr/>
        </p:nvSpPr>
        <p:spPr>
          <a:xfrm>
            <a:off x="4133088" y="3291840"/>
            <a:ext cx="155448" cy="0"/>
          </a:xfrm>
          <a:prstGeom prst="line">
            <a:avLst/>
          </a:prstGeom>
          <a:noFill/>
          <a:ln w="25400">
            <a:solidFill>
              <a:srgbClr val="5B3FD0"/>
            </a:solidFill>
            <a:prstDash val="solid"/>
            <a:tailEnd type="triangle"/>
          </a:ln>
        </p:spPr>
      </p:sp>
      <p:sp>
        <p:nvSpPr>
          <p:cNvPr id="13" name="Shape 9"/>
          <p:cNvSpPr/>
          <p:nvPr/>
        </p:nvSpPr>
        <p:spPr>
          <a:xfrm>
            <a:off x="4297680" y="2240280"/>
            <a:ext cx="3566160" cy="2103120"/>
          </a:xfrm>
          <a:prstGeom prst="roundRect">
            <a:avLst>
              <a:gd name="adj" fmla="val 5217"/>
            </a:avLst>
          </a:prstGeom>
          <a:solidFill>
            <a:srgbClr val="FDF0E3"/>
          </a:solidFill>
          <a:ln w="12700">
            <a:solidFill>
              <a:srgbClr val="FDF0E3"/>
            </a:solidFill>
            <a:prstDash val="solid"/>
          </a:ln>
        </p:spPr>
      </p:sp>
      <p:sp>
        <p:nvSpPr>
          <p:cNvPr id="14" name="Shape 10"/>
          <p:cNvSpPr/>
          <p:nvPr/>
        </p:nvSpPr>
        <p:spPr>
          <a:xfrm>
            <a:off x="4526280" y="2468880"/>
            <a:ext cx="548640" cy="548640"/>
          </a:xfrm>
          <a:prstGeom prst="ellipse">
            <a:avLst/>
          </a:prstGeom>
          <a:solidFill>
            <a:srgbClr val="F28C28"/>
          </a:solidFill>
          <a:ln w="12700">
            <a:solidFill>
              <a:srgbClr val="F28C28"/>
            </a:solidFill>
            <a:prstDash val="solid"/>
          </a:ln>
        </p:spPr>
      </p:sp>
      <p:pic>
        <p:nvPicPr>
          <p:cNvPr id="15" name="Image 1" descr="preencoded.png">    </p:cNvPr>
          <p:cNvPicPr>
            <a:picLocks noChangeAspect="1"/>
          </p:cNvPicPr>
          <p:nvPr/>
        </p:nvPicPr>
        <p:blipFill>
          <a:blip r:embed="rId2"/>
          <a:stretch>
            <a:fillRect/>
          </a:stretch>
        </p:blipFill>
        <p:spPr>
          <a:xfrm>
            <a:off x="4663440" y="2606040"/>
            <a:ext cx="274320" cy="274320"/>
          </a:xfrm>
          <a:prstGeom prst="rect">
            <a:avLst/>
          </a:prstGeom>
        </p:spPr>
      </p:pic>
      <p:sp>
        <p:nvSpPr>
          <p:cNvPr id="16" name="Text 11"/>
          <p:cNvSpPr txBox="1"/>
          <p:nvPr/>
        </p:nvSpPr>
        <p:spPr>
          <a:xfrm>
            <a:off x="525780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Il certificato del server</a:t>
            </a:r>
            <a:endParaRPr lang="en-US" sz="1800" dirty="0"/>
          </a:p>
        </p:txBody>
      </p:sp>
      <p:sp>
        <p:nvSpPr>
          <p:cNvPr id="17" name="Text 12"/>
          <p:cNvSpPr txBox="1"/>
          <p:nvPr/>
        </p:nvSpPr>
        <p:spPr>
          <a:xfrm>
            <a:off x="4526280" y="3154680"/>
            <a:ext cx="3108960" cy="10058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"sono vpn.corso-aws.internal", firmato dalla CA</a:t>
            </a:r>
            <a:endParaRPr lang="en-US" sz="1600" dirty="0"/>
          </a:p>
        </p:txBody>
      </p:sp>
      <p:sp>
        <p:nvSpPr>
          <p:cNvPr id="18" name="Shape 13"/>
          <p:cNvSpPr/>
          <p:nvPr/>
        </p:nvSpPr>
        <p:spPr>
          <a:xfrm>
            <a:off x="7882128" y="3291840"/>
            <a:ext cx="155448" cy="0"/>
          </a:xfrm>
          <a:prstGeom prst="line">
            <a:avLst/>
          </a:prstGeom>
          <a:noFill/>
          <a:ln w="25400">
            <a:solidFill>
              <a:srgbClr val="5B3FD0"/>
            </a:solidFill>
            <a:prstDash val="solid"/>
            <a:tailEnd type="triangle"/>
          </a:ln>
        </p:spPr>
      </p:sp>
      <p:sp>
        <p:nvSpPr>
          <p:cNvPr id="19" name="Shape 14"/>
          <p:cNvSpPr/>
          <p:nvPr/>
        </p:nvSpPr>
        <p:spPr>
          <a:xfrm>
            <a:off x="8046720" y="2240280"/>
            <a:ext cx="3566160" cy="2103120"/>
          </a:xfrm>
          <a:prstGeom prst="roundRect">
            <a:avLst>
              <a:gd name="adj" fmla="val 5217"/>
            </a:avLst>
          </a:prstGeom>
          <a:solidFill>
            <a:srgbClr val="EEEAFB"/>
          </a:solidFill>
          <a:ln w="12700">
            <a:solidFill>
              <a:srgbClr val="EEEAFB"/>
            </a:solidFill>
            <a:prstDash val="solid"/>
          </a:ln>
        </p:spPr>
      </p:sp>
      <p:sp>
        <p:nvSpPr>
          <p:cNvPr id="20" name="Shape 15"/>
          <p:cNvSpPr/>
          <p:nvPr/>
        </p:nvSpPr>
        <p:spPr>
          <a:xfrm>
            <a:off x="8275320" y="2468880"/>
            <a:ext cx="548640" cy="548640"/>
          </a:xfrm>
          <a:prstGeom prst="ellipse">
            <a:avLst/>
          </a:prstGeom>
          <a:solidFill>
            <a:srgbClr val="5B3FD0"/>
          </a:solidFill>
          <a:ln w="12700">
            <a:solidFill>
              <a:srgbClr val="5B3FD0"/>
            </a:solidFill>
            <a:prstDash val="solid"/>
          </a:ln>
        </p:spPr>
      </p:sp>
      <p:pic>
        <p:nvPicPr>
          <p:cNvPr id="21" name="Image 2" descr="preencoded.png">    </p:cNvPr>
          <p:cNvPicPr>
            <a:picLocks noChangeAspect="1"/>
          </p:cNvPicPr>
          <p:nvPr/>
        </p:nvPicPr>
        <p:blipFill>
          <a:blip r:embed="rId3"/>
          <a:stretch>
            <a:fillRect/>
          </a:stretch>
        </p:blipFill>
        <p:spPr>
          <a:xfrm>
            <a:off x="8412480" y="2606040"/>
            <a:ext cx="274320" cy="274320"/>
          </a:xfrm>
          <a:prstGeom prst="rect">
            <a:avLst/>
          </a:prstGeom>
        </p:spPr>
      </p:pic>
      <p:sp>
        <p:nvSpPr>
          <p:cNvPr id="22" name="Text 16"/>
          <p:cNvSpPr txBox="1"/>
          <p:nvPr/>
        </p:nvSpPr>
        <p:spPr>
          <a:xfrm>
            <a:off x="900684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ACM</a:t>
            </a:r>
            <a:endParaRPr lang="en-US" sz="1800" dirty="0"/>
          </a:p>
        </p:txBody>
      </p:sp>
      <p:sp>
        <p:nvSpPr>
          <p:cNvPr id="23" name="Text 17"/>
          <p:cNvSpPr txBox="1"/>
          <p:nvPr/>
        </p:nvSpPr>
        <p:spPr>
          <a:xfrm>
            <a:off x="8275320" y="3154680"/>
            <a:ext cx="3108960" cy="10058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servizio AWS che custodisce i certificati: la VPN lo prende da lì</a:t>
            </a:r>
            <a:endParaRPr lang="en-US" sz="1600" dirty="0"/>
          </a:p>
        </p:txBody>
      </p:sp>
      <p:sp>
        <p:nvSpPr>
          <p:cNvPr id="24" name="Shape 18"/>
          <p:cNvSpPr/>
          <p:nvPr/>
        </p:nvSpPr>
        <p:spPr>
          <a:xfrm>
            <a:off x="548640" y="4663440"/>
            <a:ext cx="11094415" cy="1097280"/>
          </a:xfrm>
          <a:prstGeom prst="roundRect">
            <a:avLst>
              <a:gd name="adj" fmla="val 8333"/>
            </a:avLst>
          </a:prstGeom>
          <a:solidFill>
            <a:srgbClr val="FDF0E3"/>
          </a:solidFill>
          <a:ln w="12700">
            <a:solidFill>
              <a:srgbClr val="FDF0E3"/>
            </a:solidFill>
            <a:prstDash val="solid"/>
          </a:ln>
        </p:spPr>
      </p:sp>
      <p:sp>
        <p:nvSpPr>
          <p:cNvPr id="25" name="Text 19"/>
          <p:cNvSpPr txBox="1"/>
          <p:nvPr/>
        </p:nvSpPr>
        <p:spPr>
          <a:xfrm>
            <a:off x="822960" y="4663440"/>
            <a:ext cx="10545775" cy="10972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Lo genera Terraform (provider tls). Le chiavi finiscono nello state: per questo lo state è cifrato e protetto (lezione 0).</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3. Riconoscere chi si collega: tre possibilità</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gridCol w="4206240"/>
                <a:gridCol w="2011680"/>
                <a:gridCol w="1581912"/>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Come funziona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MFA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Gruppi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Certificato per persona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certificato installato sul computer di ognuno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D64545"/>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D64545"/>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Active Directory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utente e password del dominio Windows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F28C28"/>
                          </a:solidFill>
                          <a:latin typeface="Calibri" pitchFamily="34" charset="0"/>
                          <a:ea typeface="Calibri" pitchFamily="34" charset="-122"/>
                          <a:cs typeface="Calibri" pitchFamily="34" charset="-120"/>
                        </a:rPr>
                        <a:t>con un server in più</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E9E6B"/>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Login aziendale (SAML) ✓</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E5F4EC"/>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login nel browser sul sistema aziendale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E5F4EC"/>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sì, già pronta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E5F4EC"/>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E5F4EC"/>
                    </a:solidFill>
                  </a:tcPr>
                </a:tc>
              </a:tr>
            </a:tbl>
          </a:graphicData>
        </a:graphic>
      </p:graphicFrame>
      <p:sp>
        <p:nvSpPr>
          <p:cNvPr id="6" name="Shape 2"/>
          <p:cNvSpPr/>
          <p:nvPr/>
        </p:nvSpPr>
        <p:spPr>
          <a:xfrm>
            <a:off x="548640" y="4251960"/>
            <a:ext cx="11094415" cy="1005840"/>
          </a:xfrm>
          <a:prstGeom prst="roundRect">
            <a:avLst>
              <a:gd name="adj" fmla="val 9091"/>
            </a:avLst>
          </a:prstGeom>
          <a:solidFill>
            <a:srgbClr val="5B3FD0"/>
          </a:solidFill>
          <a:ln w="12700">
            <a:solidFill>
              <a:srgbClr val="5B3FD0"/>
            </a:solidFill>
            <a:prstDash val="solid"/>
          </a:ln>
        </p:spPr>
      </p:sp>
      <p:sp>
        <p:nvSpPr>
          <p:cNvPr id="7" name="Text 3"/>
          <p:cNvSpPr txBox="1"/>
          <p:nvPr/>
        </p:nvSpPr>
        <p:spPr>
          <a:xfrm>
            <a:off x="822960" y="4251960"/>
            <a:ext cx="10545775" cy="10058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Scegliamo il login aziendale: MFA e gruppi sono già lì, e chi lascia l'azienda perde subito anche la VPN.</a:t>
            </a:r>
            <a:endParaRPr lang="en-US" sz="1800" dirty="0"/>
          </a:p>
        </p:txBody>
      </p:sp>
      <p:sp>
        <p:nvSpPr>
          <p:cNvPr id="8" name="Text 4"/>
          <p:cNvSpPr txBox="1"/>
          <p:nvPr/>
        </p:nvSpPr>
        <p:spPr>
          <a:xfrm>
            <a:off x="548640" y="5440680"/>
            <a:ext cx="11094415" cy="45720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Il nostro sistema di login è IAM Identity Center (lezione 0). SAML è il "linguaggio" con cui dice alla VPN chi sei.</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Cosa succede quando ti colleghi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1188720" y="1463040"/>
            <a:ext cx="822960" cy="822960"/>
          </a:xfrm>
          <a:prstGeom prst="ellipse">
            <a:avLst/>
          </a:prstGeom>
          <a:solidFill>
            <a:srgbClr val="5B3FD0"/>
          </a:solidFill>
          <a:ln w="12700">
            <a:solidFill>
              <a:srgbClr val="5B3FD0"/>
            </a:solidFill>
            <a:prstDash val="solid"/>
          </a:ln>
        </p:spPr>
      </p:sp>
      <p:pic>
        <p:nvPicPr>
          <p:cNvPr id="6" name="Image 0" descr="preencoded.png">    </p:cNvPr>
          <p:cNvPicPr>
            <a:picLocks noChangeAspect="1"/>
          </p:cNvPicPr>
          <p:nvPr/>
        </p:nvPicPr>
        <p:blipFill>
          <a:blip r:embed="rId1"/>
          <a:stretch>
            <a:fillRect/>
          </a:stretch>
        </p:blipFill>
        <p:spPr>
          <a:xfrm>
            <a:off x="1394460" y="1668780"/>
            <a:ext cx="411480" cy="411480"/>
          </a:xfrm>
          <a:prstGeom prst="rect">
            <a:avLst/>
          </a:prstGeom>
        </p:spPr>
      </p:pic>
      <p:sp>
        <p:nvSpPr>
          <p:cNvPr id="7" name="Text 3"/>
          <p:cNvSpPr txBox="1"/>
          <p:nvPr/>
        </p:nvSpPr>
        <p:spPr>
          <a:xfrm>
            <a:off x="548640" y="2377440"/>
            <a:ext cx="2103120" cy="685800"/>
          </a:xfrm>
          <a:prstGeom prst="rect">
            <a:avLst/>
          </a:prstGeom>
          <a:noFill/>
          <a:ln/>
        </p:spPr>
        <p:txBody>
          <a:bodyPr wrap="square" lIns="0" tIns="0" rIns="0" bIns="0" rtlCol="0" anchor="t"/>
          <a:lstStyle/>
          <a:p>
            <a:pPr algn="ctr" indent="0" marL="0">
              <a:buNone/>
            </a:pPr>
            <a:r>
              <a:rPr lang="en-US" sz="1500" b="1" dirty="0">
                <a:solidFill>
                  <a:srgbClr val="22253A"/>
                </a:solidFill>
                <a:latin typeface="Calibri" pitchFamily="34" charset="0"/>
                <a:ea typeface="Calibri" pitchFamily="34" charset="-122"/>
                <a:cs typeface="Calibri" pitchFamily="34" charset="-120"/>
              </a:rPr>
              <a:t>Il client chiede di collegarsi</a:t>
            </a:r>
            <a:endParaRPr lang="en-US" sz="1500" dirty="0"/>
          </a:p>
        </p:txBody>
      </p:sp>
      <p:sp>
        <p:nvSpPr>
          <p:cNvPr id="8" name="Text 4"/>
          <p:cNvSpPr txBox="1"/>
          <p:nvPr/>
        </p:nvSpPr>
        <p:spPr>
          <a:xfrm>
            <a:off x="548640" y="3063240"/>
            <a:ext cx="2103120" cy="548640"/>
          </a:xfrm>
          <a:prstGeom prst="rect">
            <a:avLst/>
          </a:prstGeom>
          <a:noFill/>
          <a:ln/>
        </p:spPr>
        <p:txBody>
          <a:bodyPr wrap="square" lIns="0" tIns="0" rIns="0" bIns="0" rtlCol="0" anchor="t"/>
          <a:lstStyle/>
          <a:p>
            <a:pPr algn="ctr" indent="0" marL="0">
              <a:buNone/>
            </a:pPr>
            <a:endParaRPr lang="en-US" sz="1300" dirty="0"/>
          </a:p>
        </p:txBody>
      </p:sp>
      <p:sp>
        <p:nvSpPr>
          <p:cNvPr id="9" name="Shape 5"/>
          <p:cNvSpPr/>
          <p:nvPr/>
        </p:nvSpPr>
        <p:spPr>
          <a:xfrm>
            <a:off x="2057400" y="1874520"/>
            <a:ext cx="1371600" cy="0"/>
          </a:xfrm>
          <a:prstGeom prst="line">
            <a:avLst/>
          </a:prstGeom>
          <a:noFill/>
          <a:ln w="25400">
            <a:solidFill>
              <a:srgbClr val="D9D6EC"/>
            </a:solidFill>
            <a:prstDash val="solid"/>
            <a:tailEnd type="triangle"/>
          </a:ln>
        </p:spPr>
      </p:sp>
      <p:sp>
        <p:nvSpPr>
          <p:cNvPr id="10" name="Shape 6"/>
          <p:cNvSpPr/>
          <p:nvPr/>
        </p:nvSpPr>
        <p:spPr>
          <a:xfrm>
            <a:off x="3456432" y="1463040"/>
            <a:ext cx="822960" cy="822960"/>
          </a:xfrm>
          <a:prstGeom prst="ellipse">
            <a:avLst/>
          </a:prstGeom>
          <a:solidFill>
            <a:srgbClr val="5B3FD0"/>
          </a:solidFill>
          <a:ln w="12700">
            <a:solidFill>
              <a:srgbClr val="5B3FD0"/>
            </a:solidFill>
            <a:prstDash val="solid"/>
          </a:ln>
        </p:spPr>
      </p:sp>
      <p:pic>
        <p:nvPicPr>
          <p:cNvPr id="11" name="Image 1" descr="preencoded.png">    </p:cNvPr>
          <p:cNvPicPr>
            <a:picLocks noChangeAspect="1"/>
          </p:cNvPicPr>
          <p:nvPr/>
        </p:nvPicPr>
        <p:blipFill>
          <a:blip r:embed="rId2"/>
          <a:stretch>
            <a:fillRect/>
          </a:stretch>
        </p:blipFill>
        <p:spPr>
          <a:xfrm>
            <a:off x="3662172" y="1668780"/>
            <a:ext cx="411480" cy="411480"/>
          </a:xfrm>
          <a:prstGeom prst="rect">
            <a:avLst/>
          </a:prstGeom>
        </p:spPr>
      </p:pic>
      <p:sp>
        <p:nvSpPr>
          <p:cNvPr id="12" name="Text 7"/>
          <p:cNvSpPr txBox="1"/>
          <p:nvPr/>
        </p:nvSpPr>
        <p:spPr>
          <a:xfrm>
            <a:off x="2816352" y="2377440"/>
            <a:ext cx="2103120" cy="685800"/>
          </a:xfrm>
          <a:prstGeom prst="rect">
            <a:avLst/>
          </a:prstGeom>
          <a:noFill/>
          <a:ln/>
        </p:spPr>
        <p:txBody>
          <a:bodyPr wrap="square" lIns="0" tIns="0" rIns="0" bIns="0" rtlCol="0" anchor="t"/>
          <a:lstStyle/>
          <a:p>
            <a:pPr algn="ctr" indent="0" marL="0">
              <a:buNone/>
            </a:pPr>
            <a:r>
              <a:rPr lang="en-US" sz="1500" b="1" dirty="0">
                <a:solidFill>
                  <a:srgbClr val="22253A"/>
                </a:solidFill>
                <a:latin typeface="Calibri" pitchFamily="34" charset="0"/>
                <a:ea typeface="Calibri" pitchFamily="34" charset="-122"/>
                <a:cs typeface="Calibri" pitchFamily="34" charset="-120"/>
              </a:rPr>
              <a:t>Si apre il browser</a:t>
            </a:r>
            <a:endParaRPr lang="en-US" sz="1500" dirty="0"/>
          </a:p>
        </p:txBody>
      </p:sp>
      <p:sp>
        <p:nvSpPr>
          <p:cNvPr id="13" name="Text 8"/>
          <p:cNvSpPr txBox="1"/>
          <p:nvPr/>
        </p:nvSpPr>
        <p:spPr>
          <a:xfrm>
            <a:off x="2816352" y="3063240"/>
            <a:ext cx="2103120" cy="548640"/>
          </a:xfrm>
          <a:prstGeom prst="rect">
            <a:avLst/>
          </a:prstGeom>
          <a:noFill/>
          <a:ln/>
        </p:spPr>
        <p:txBody>
          <a:bodyPr wrap="square" lIns="0" tIns="0" rIns="0" bIns="0" rtlCol="0" anchor="t"/>
          <a:lstStyle/>
          <a:p>
            <a:pPr algn="ctr" indent="0" marL="0">
              <a:buNone/>
            </a:pPr>
            <a:r>
              <a:rPr lang="en-US" sz="1300" dirty="0">
                <a:solidFill>
                  <a:srgbClr val="5F6478"/>
                </a:solidFill>
                <a:latin typeface="Calibri" pitchFamily="34" charset="0"/>
                <a:ea typeface="Calibri" pitchFamily="34" charset="-122"/>
                <a:cs typeface="Calibri" pitchFamily="34" charset="-120"/>
              </a:rPr>
              <a:t>"prima fai il login"</a:t>
            </a:r>
            <a:endParaRPr lang="en-US" sz="1300" dirty="0"/>
          </a:p>
        </p:txBody>
      </p:sp>
      <p:sp>
        <p:nvSpPr>
          <p:cNvPr id="14" name="Shape 9"/>
          <p:cNvSpPr/>
          <p:nvPr/>
        </p:nvSpPr>
        <p:spPr>
          <a:xfrm>
            <a:off x="4325112" y="1874520"/>
            <a:ext cx="1371600" cy="0"/>
          </a:xfrm>
          <a:prstGeom prst="line">
            <a:avLst/>
          </a:prstGeom>
          <a:noFill/>
          <a:ln w="25400">
            <a:solidFill>
              <a:srgbClr val="D9D6EC"/>
            </a:solidFill>
            <a:prstDash val="solid"/>
            <a:tailEnd type="triangle"/>
          </a:ln>
        </p:spPr>
      </p:sp>
      <p:sp>
        <p:nvSpPr>
          <p:cNvPr id="15" name="Shape 10"/>
          <p:cNvSpPr/>
          <p:nvPr/>
        </p:nvSpPr>
        <p:spPr>
          <a:xfrm>
            <a:off x="5724144" y="1463040"/>
            <a:ext cx="822960" cy="822960"/>
          </a:xfrm>
          <a:prstGeom prst="ellipse">
            <a:avLst/>
          </a:prstGeom>
          <a:solidFill>
            <a:srgbClr val="F28C28"/>
          </a:solidFill>
          <a:ln w="12700">
            <a:solidFill>
              <a:srgbClr val="F28C28"/>
            </a:solidFill>
            <a:prstDash val="solid"/>
          </a:ln>
        </p:spPr>
      </p:sp>
      <p:pic>
        <p:nvPicPr>
          <p:cNvPr id="16" name="Image 2" descr="preencoded.png">    </p:cNvPr>
          <p:cNvPicPr>
            <a:picLocks noChangeAspect="1"/>
          </p:cNvPicPr>
          <p:nvPr/>
        </p:nvPicPr>
        <p:blipFill>
          <a:blip r:embed="rId3"/>
          <a:stretch>
            <a:fillRect/>
          </a:stretch>
        </p:blipFill>
        <p:spPr>
          <a:xfrm>
            <a:off x="5929884" y="1668780"/>
            <a:ext cx="411480" cy="411480"/>
          </a:xfrm>
          <a:prstGeom prst="rect">
            <a:avLst/>
          </a:prstGeom>
        </p:spPr>
      </p:pic>
      <p:sp>
        <p:nvSpPr>
          <p:cNvPr id="17" name="Text 11"/>
          <p:cNvSpPr txBox="1"/>
          <p:nvPr/>
        </p:nvSpPr>
        <p:spPr>
          <a:xfrm>
            <a:off x="5084064" y="2377440"/>
            <a:ext cx="2103120" cy="685800"/>
          </a:xfrm>
          <a:prstGeom prst="rect">
            <a:avLst/>
          </a:prstGeom>
          <a:noFill/>
          <a:ln/>
        </p:spPr>
        <p:txBody>
          <a:bodyPr wrap="square" lIns="0" tIns="0" rIns="0" bIns="0" rtlCol="0" anchor="t"/>
          <a:lstStyle/>
          <a:p>
            <a:pPr algn="ctr" indent="0" marL="0">
              <a:buNone/>
            </a:pPr>
            <a:r>
              <a:rPr lang="en-US" sz="1500" b="1" dirty="0">
                <a:solidFill>
                  <a:srgbClr val="22253A"/>
                </a:solidFill>
                <a:latin typeface="Calibri" pitchFamily="34" charset="0"/>
                <a:ea typeface="Calibri" pitchFamily="34" charset="-122"/>
                <a:cs typeface="Calibri" pitchFamily="34" charset="-120"/>
              </a:rPr>
              <a:t>Login + codice MFA</a:t>
            </a:r>
            <a:endParaRPr lang="en-US" sz="1500" dirty="0"/>
          </a:p>
        </p:txBody>
      </p:sp>
      <p:sp>
        <p:nvSpPr>
          <p:cNvPr id="18" name="Text 12"/>
          <p:cNvSpPr txBox="1"/>
          <p:nvPr/>
        </p:nvSpPr>
        <p:spPr>
          <a:xfrm>
            <a:off x="5084064" y="3063240"/>
            <a:ext cx="2103120" cy="548640"/>
          </a:xfrm>
          <a:prstGeom prst="rect">
            <a:avLst/>
          </a:prstGeom>
          <a:noFill/>
          <a:ln/>
        </p:spPr>
        <p:txBody>
          <a:bodyPr wrap="square" lIns="0" tIns="0" rIns="0" bIns="0" rtlCol="0" anchor="t"/>
          <a:lstStyle/>
          <a:p>
            <a:pPr algn="ctr" indent="0" marL="0">
              <a:buNone/>
            </a:pPr>
            <a:r>
              <a:rPr lang="en-US" sz="1300" dirty="0">
                <a:solidFill>
                  <a:srgbClr val="5F6478"/>
                </a:solidFill>
                <a:latin typeface="Calibri" pitchFamily="34" charset="0"/>
                <a:ea typeface="Calibri" pitchFamily="34" charset="-122"/>
                <a:cs typeface="Calibri" pitchFamily="34" charset="-120"/>
              </a:rPr>
              <a:t>su IAM Identity Center</a:t>
            </a:r>
            <a:endParaRPr lang="en-US" sz="1300" dirty="0"/>
          </a:p>
        </p:txBody>
      </p:sp>
      <p:sp>
        <p:nvSpPr>
          <p:cNvPr id="19" name="Shape 13"/>
          <p:cNvSpPr/>
          <p:nvPr/>
        </p:nvSpPr>
        <p:spPr>
          <a:xfrm>
            <a:off x="6592824" y="1874520"/>
            <a:ext cx="1371600" cy="0"/>
          </a:xfrm>
          <a:prstGeom prst="line">
            <a:avLst/>
          </a:prstGeom>
          <a:noFill/>
          <a:ln w="25400">
            <a:solidFill>
              <a:srgbClr val="D9D6EC"/>
            </a:solidFill>
            <a:prstDash val="solid"/>
            <a:tailEnd type="triangle"/>
          </a:ln>
        </p:spPr>
      </p:sp>
      <p:sp>
        <p:nvSpPr>
          <p:cNvPr id="20" name="Shape 14"/>
          <p:cNvSpPr/>
          <p:nvPr/>
        </p:nvSpPr>
        <p:spPr>
          <a:xfrm>
            <a:off x="7991856" y="1463040"/>
            <a:ext cx="822960" cy="822960"/>
          </a:xfrm>
          <a:prstGeom prst="ellipse">
            <a:avLst/>
          </a:prstGeom>
          <a:solidFill>
            <a:srgbClr val="5B3FD0"/>
          </a:solidFill>
          <a:ln w="12700">
            <a:solidFill>
              <a:srgbClr val="5B3FD0"/>
            </a:solidFill>
            <a:prstDash val="solid"/>
          </a:ln>
        </p:spPr>
      </p:sp>
      <p:pic>
        <p:nvPicPr>
          <p:cNvPr id="21" name="Image 3" descr="preencoded.png">    </p:cNvPr>
          <p:cNvPicPr>
            <a:picLocks noChangeAspect="1"/>
          </p:cNvPicPr>
          <p:nvPr/>
        </p:nvPicPr>
        <p:blipFill>
          <a:blip r:embed="rId4"/>
          <a:stretch>
            <a:fillRect/>
          </a:stretch>
        </p:blipFill>
        <p:spPr>
          <a:xfrm>
            <a:off x="8197596" y="1668780"/>
            <a:ext cx="411480" cy="411480"/>
          </a:xfrm>
          <a:prstGeom prst="rect">
            <a:avLst/>
          </a:prstGeom>
        </p:spPr>
      </p:pic>
      <p:sp>
        <p:nvSpPr>
          <p:cNvPr id="22" name="Text 15"/>
          <p:cNvSpPr txBox="1"/>
          <p:nvPr/>
        </p:nvSpPr>
        <p:spPr>
          <a:xfrm>
            <a:off x="7351776" y="2377440"/>
            <a:ext cx="2103120" cy="685800"/>
          </a:xfrm>
          <a:prstGeom prst="rect">
            <a:avLst/>
          </a:prstGeom>
          <a:noFill/>
          <a:ln/>
        </p:spPr>
        <p:txBody>
          <a:bodyPr wrap="square" lIns="0" tIns="0" rIns="0" bIns="0" rtlCol="0" anchor="t"/>
          <a:lstStyle/>
          <a:p>
            <a:pPr algn="ctr" indent="0" marL="0">
              <a:buNone/>
            </a:pPr>
            <a:r>
              <a:rPr lang="en-US" sz="1500" b="1" dirty="0">
                <a:solidFill>
                  <a:srgbClr val="22253A"/>
                </a:solidFill>
                <a:latin typeface="Calibri" pitchFamily="34" charset="0"/>
                <a:ea typeface="Calibri" pitchFamily="34" charset="-122"/>
                <a:cs typeface="Calibri" pitchFamily="34" charset="-120"/>
              </a:rPr>
              <a:t>Attestato firmato (SAML)</a:t>
            </a:r>
            <a:endParaRPr lang="en-US" sz="1500" dirty="0"/>
          </a:p>
        </p:txBody>
      </p:sp>
      <p:sp>
        <p:nvSpPr>
          <p:cNvPr id="23" name="Text 16"/>
          <p:cNvSpPr txBox="1"/>
          <p:nvPr/>
        </p:nvSpPr>
        <p:spPr>
          <a:xfrm>
            <a:off x="7351776" y="3063240"/>
            <a:ext cx="2103120" cy="548640"/>
          </a:xfrm>
          <a:prstGeom prst="rect">
            <a:avLst/>
          </a:prstGeom>
          <a:noFill/>
          <a:ln/>
        </p:spPr>
        <p:txBody>
          <a:bodyPr wrap="square" lIns="0" tIns="0" rIns="0" bIns="0" rtlCol="0" anchor="t"/>
          <a:lstStyle/>
          <a:p>
            <a:pPr algn="ctr" indent="0" marL="0">
              <a:buNone/>
            </a:pPr>
            <a:r>
              <a:rPr lang="en-US" sz="1300" dirty="0">
                <a:solidFill>
                  <a:srgbClr val="5F6478"/>
                </a:solidFill>
                <a:latin typeface="Calibri" pitchFamily="34" charset="0"/>
                <a:ea typeface="Calibri" pitchFamily="34" charset="-122"/>
                <a:cs typeface="Calibri" pitchFamily="34" charset="-120"/>
              </a:rPr>
              <a:t>chi sei + i tuoi gruppi</a:t>
            </a:r>
            <a:endParaRPr lang="en-US" sz="1300" dirty="0"/>
          </a:p>
        </p:txBody>
      </p:sp>
      <p:sp>
        <p:nvSpPr>
          <p:cNvPr id="24" name="Shape 17"/>
          <p:cNvSpPr/>
          <p:nvPr/>
        </p:nvSpPr>
        <p:spPr>
          <a:xfrm>
            <a:off x="8860536" y="1874520"/>
            <a:ext cx="1371600" cy="0"/>
          </a:xfrm>
          <a:prstGeom prst="line">
            <a:avLst/>
          </a:prstGeom>
          <a:noFill/>
          <a:ln w="25400">
            <a:solidFill>
              <a:srgbClr val="D9D6EC"/>
            </a:solidFill>
            <a:prstDash val="solid"/>
            <a:tailEnd type="triangle"/>
          </a:ln>
        </p:spPr>
      </p:sp>
      <p:sp>
        <p:nvSpPr>
          <p:cNvPr id="25" name="Shape 18"/>
          <p:cNvSpPr/>
          <p:nvPr/>
        </p:nvSpPr>
        <p:spPr>
          <a:xfrm>
            <a:off x="10259568" y="1463040"/>
            <a:ext cx="822960" cy="822960"/>
          </a:xfrm>
          <a:prstGeom prst="ellipse">
            <a:avLst/>
          </a:prstGeom>
          <a:solidFill>
            <a:srgbClr val="2E9E6B"/>
          </a:solidFill>
          <a:ln w="12700">
            <a:solidFill>
              <a:srgbClr val="2E9E6B"/>
            </a:solidFill>
            <a:prstDash val="solid"/>
          </a:ln>
        </p:spPr>
      </p:sp>
      <p:pic>
        <p:nvPicPr>
          <p:cNvPr id="26" name="Image 4" descr="preencoded.png">    </p:cNvPr>
          <p:cNvPicPr>
            <a:picLocks noChangeAspect="1"/>
          </p:cNvPicPr>
          <p:nvPr/>
        </p:nvPicPr>
        <p:blipFill>
          <a:blip r:embed="rId5"/>
          <a:stretch>
            <a:fillRect/>
          </a:stretch>
        </p:blipFill>
        <p:spPr>
          <a:xfrm>
            <a:off x="10465308" y="1668780"/>
            <a:ext cx="411480" cy="411480"/>
          </a:xfrm>
          <a:prstGeom prst="rect">
            <a:avLst/>
          </a:prstGeom>
        </p:spPr>
      </p:pic>
      <p:sp>
        <p:nvSpPr>
          <p:cNvPr id="27" name="Text 19"/>
          <p:cNvSpPr txBox="1"/>
          <p:nvPr/>
        </p:nvSpPr>
        <p:spPr>
          <a:xfrm>
            <a:off x="9619488" y="2377440"/>
            <a:ext cx="2103120" cy="685800"/>
          </a:xfrm>
          <a:prstGeom prst="rect">
            <a:avLst/>
          </a:prstGeom>
          <a:noFill/>
          <a:ln/>
        </p:spPr>
        <p:txBody>
          <a:bodyPr wrap="square" lIns="0" tIns="0" rIns="0" bIns="0" rtlCol="0" anchor="t"/>
          <a:lstStyle/>
          <a:p>
            <a:pPr algn="ctr" indent="0" marL="0">
              <a:buNone/>
            </a:pPr>
            <a:r>
              <a:rPr lang="en-US" sz="1500" b="1" dirty="0">
                <a:solidFill>
                  <a:srgbClr val="22253A"/>
                </a:solidFill>
                <a:latin typeface="Calibri" pitchFamily="34" charset="0"/>
                <a:ea typeface="Calibri" pitchFamily="34" charset="-122"/>
                <a:cs typeface="Calibri" pitchFamily="34" charset="-120"/>
              </a:rPr>
              <a:t>Collegato</a:t>
            </a:r>
            <a:endParaRPr lang="en-US" sz="1500" dirty="0"/>
          </a:p>
        </p:txBody>
      </p:sp>
      <p:sp>
        <p:nvSpPr>
          <p:cNvPr id="28" name="Text 20"/>
          <p:cNvSpPr txBox="1"/>
          <p:nvPr/>
        </p:nvSpPr>
        <p:spPr>
          <a:xfrm>
            <a:off x="9619488" y="3063240"/>
            <a:ext cx="2103120" cy="548640"/>
          </a:xfrm>
          <a:prstGeom prst="rect">
            <a:avLst/>
          </a:prstGeom>
          <a:noFill/>
          <a:ln/>
        </p:spPr>
        <p:txBody>
          <a:bodyPr wrap="square" lIns="0" tIns="0" rIns="0" bIns="0" rtlCol="0" anchor="t"/>
          <a:lstStyle/>
          <a:p>
            <a:pPr algn="ctr" indent="0" marL="0">
              <a:buNone/>
            </a:pPr>
            <a:r>
              <a:rPr lang="en-US" sz="1300" dirty="0">
                <a:solidFill>
                  <a:srgbClr val="5F6478"/>
                </a:solidFill>
                <a:latin typeface="Calibri" pitchFamily="34" charset="0"/>
                <a:ea typeface="Calibri" pitchFamily="34" charset="-122"/>
                <a:cs typeface="Calibri" pitchFamily="34" charset="-120"/>
              </a:rPr>
              <a:t>indirizzo 10.100.0.x</a:t>
            </a:r>
            <a:endParaRPr lang="en-US" sz="1300" dirty="0"/>
          </a:p>
        </p:txBody>
      </p:sp>
      <p:sp>
        <p:nvSpPr>
          <p:cNvPr id="29" name="Shape 21"/>
          <p:cNvSpPr/>
          <p:nvPr/>
        </p:nvSpPr>
        <p:spPr>
          <a:xfrm>
            <a:off x="548640" y="3931920"/>
            <a:ext cx="11094415" cy="2011680"/>
          </a:xfrm>
          <a:prstGeom prst="roundRect">
            <a:avLst>
              <a:gd name="adj" fmla="val 5455"/>
            </a:avLst>
          </a:prstGeom>
          <a:solidFill>
            <a:srgbClr val="FDF0E3"/>
          </a:solidFill>
          <a:ln w="12700">
            <a:solidFill>
              <a:srgbClr val="FDF0E3"/>
            </a:solidFill>
            <a:prstDash val="solid"/>
          </a:ln>
        </p:spPr>
      </p:sp>
      <p:sp>
        <p:nvSpPr>
          <p:cNvPr id="30" name="Shape 22"/>
          <p:cNvSpPr/>
          <p:nvPr/>
        </p:nvSpPr>
        <p:spPr>
          <a:xfrm>
            <a:off x="777240" y="4160520"/>
            <a:ext cx="548640" cy="548640"/>
          </a:xfrm>
          <a:prstGeom prst="ellipse">
            <a:avLst/>
          </a:prstGeom>
          <a:solidFill>
            <a:srgbClr val="F28C28"/>
          </a:solidFill>
          <a:ln w="12700">
            <a:solidFill>
              <a:srgbClr val="F28C28"/>
            </a:solidFill>
            <a:prstDash val="solid"/>
          </a:ln>
        </p:spPr>
      </p:sp>
      <p:pic>
        <p:nvPicPr>
          <p:cNvPr id="31" name="Image 5" descr="preencoded.png">    </p:cNvPr>
          <p:cNvPicPr>
            <a:picLocks noChangeAspect="1"/>
          </p:cNvPicPr>
          <p:nvPr/>
        </p:nvPicPr>
        <p:blipFill>
          <a:blip r:embed="rId6"/>
          <a:stretch>
            <a:fillRect/>
          </a:stretch>
        </p:blipFill>
        <p:spPr>
          <a:xfrm>
            <a:off x="914400" y="4297680"/>
            <a:ext cx="274320" cy="274320"/>
          </a:xfrm>
          <a:prstGeom prst="rect">
            <a:avLst/>
          </a:prstGeom>
        </p:spPr>
      </p:pic>
      <p:sp>
        <p:nvSpPr>
          <p:cNvPr id="32" name="Text 23"/>
          <p:cNvSpPr txBox="1"/>
          <p:nvPr/>
        </p:nvSpPr>
        <p:spPr>
          <a:xfrm>
            <a:off x="1508760" y="416052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L'attestato (SAML) è la chiave di tutto</a:t>
            </a:r>
            <a:endParaRPr lang="en-US" sz="1800" dirty="0"/>
          </a:p>
        </p:txBody>
      </p:sp>
      <p:sp>
        <p:nvSpPr>
          <p:cNvPr id="33" name="Text 24"/>
          <p:cNvSpPr txBox="1"/>
          <p:nvPr/>
        </p:nvSpPr>
        <p:spPr>
          <a:xfrm>
            <a:off x="777240" y="4846320"/>
            <a:ext cx="10637215" cy="914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L'ha firmato IAM Identity Center: la VPN si fida perché riconosce la firma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Dice chi sei e i tuoi gruppi: vpn-admin o vpn-dev</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L'MFA l'hai già fatta lì: la VPN non deve fare niente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4. Le regole per gruppo: chi raggiunge cosa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Regola di autorizzazione = "questo GRUPPO può raggiungere questo BLOCCO di indirizzi".</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4023360"/>
                <a:gridCol w="3657600"/>
                <a:gridCol w="1691640"/>
                <a:gridCol w="1719072"/>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Blocco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Cosa c'è</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vpn-admin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vpn-dev</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21792">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10.20.0.2/32</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DNS (la rubrica della rete)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21792">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10.20.10.0/24 · 10.20.11.0/24</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subnet private: l'applicazione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21792">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10.20.20.0/24 · 10.20.21.0/24</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subnet database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SÌ</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D64545"/>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983480"/>
            <a:ext cx="11094415" cy="914400"/>
          </a:xfrm>
          <a:prstGeom prst="roundRect">
            <a:avLst>
              <a:gd name="adj" fmla="val 10000"/>
            </a:avLst>
          </a:prstGeom>
          <a:solidFill>
            <a:srgbClr val="FDF0E3"/>
          </a:solidFill>
          <a:ln w="12700">
            <a:solidFill>
              <a:srgbClr val="FDF0E3"/>
            </a:solidFill>
            <a:prstDash val="solid"/>
          </a:ln>
        </p:spPr>
      </p:sp>
      <p:sp>
        <p:nvSpPr>
          <p:cNvPr id="9" name="Text 5"/>
          <p:cNvSpPr txBox="1"/>
          <p:nvPr/>
        </p:nvSpPr>
        <p:spPr>
          <a:xfrm>
            <a:off x="822960" y="4983480"/>
            <a:ext cx="10545775" cy="91440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Una regola per ogni blocco e per ogni gruppo: se due regole riguardano lo stesso indirizzo, vince la più specifica.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Due controlli in fila: la VPN, poi il Security Group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463040"/>
            <a:ext cx="2514600" cy="1463040"/>
          </a:xfrm>
          <a:prstGeom prst="roundRect">
            <a:avLst>
              <a:gd name="adj" fmla="val 6250"/>
            </a:avLst>
          </a:prstGeom>
          <a:solidFill>
            <a:srgbClr val="1B1F3B"/>
          </a:solidFill>
          <a:ln w="12700">
            <a:solidFill>
              <a:srgbClr val="1B1F3B"/>
            </a:solidFill>
            <a:prstDash val="solid"/>
          </a:ln>
        </p:spPr>
      </p:sp>
      <p:sp>
        <p:nvSpPr>
          <p:cNvPr id="6" name="Text 3"/>
          <p:cNvSpPr txBox="1"/>
          <p:nvPr/>
        </p:nvSpPr>
        <p:spPr>
          <a:xfrm>
            <a:off x="548640"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Persona in VPN</a:t>
            </a:r>
            <a:endParaRPr lang="en-US" sz="1600" dirty="0"/>
          </a:p>
        </p:txBody>
      </p:sp>
      <p:sp>
        <p:nvSpPr>
          <p:cNvPr id="7" name="Shape 4"/>
          <p:cNvSpPr/>
          <p:nvPr/>
        </p:nvSpPr>
        <p:spPr>
          <a:xfrm>
            <a:off x="3081528" y="2194560"/>
            <a:ext cx="301752" cy="0"/>
          </a:xfrm>
          <a:prstGeom prst="line">
            <a:avLst/>
          </a:prstGeom>
          <a:noFill/>
          <a:ln w="25400">
            <a:solidFill>
              <a:srgbClr val="5B3FD0"/>
            </a:solidFill>
            <a:prstDash val="solid"/>
            <a:tailEnd type="triangle"/>
          </a:ln>
        </p:spPr>
      </p:sp>
      <p:sp>
        <p:nvSpPr>
          <p:cNvPr id="8" name="Shape 5"/>
          <p:cNvSpPr/>
          <p:nvPr/>
        </p:nvSpPr>
        <p:spPr>
          <a:xfrm>
            <a:off x="3401568" y="1463040"/>
            <a:ext cx="2514600" cy="1463040"/>
          </a:xfrm>
          <a:prstGeom prst="roundRect">
            <a:avLst>
              <a:gd name="adj" fmla="val 6250"/>
            </a:avLst>
          </a:prstGeom>
          <a:solidFill>
            <a:srgbClr val="FDF0E3"/>
          </a:solidFill>
          <a:ln w="12700">
            <a:solidFill>
              <a:srgbClr val="FDF0E3"/>
            </a:solidFill>
            <a:prstDash val="solid"/>
          </a:ln>
        </p:spPr>
      </p:sp>
      <p:sp>
        <p:nvSpPr>
          <p:cNvPr id="9" name="Text 6"/>
          <p:cNvSpPr txBox="1"/>
          <p:nvPr/>
        </p:nvSpPr>
        <p:spPr>
          <a:xfrm>
            <a:off x="3401568"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1. VPN: il mio gruppo può raggiungere il blocco?</a:t>
            </a:r>
            <a:endParaRPr lang="en-US" sz="1600" dirty="0"/>
          </a:p>
        </p:txBody>
      </p:sp>
      <p:sp>
        <p:nvSpPr>
          <p:cNvPr id="10" name="Shape 7"/>
          <p:cNvSpPr/>
          <p:nvPr/>
        </p:nvSpPr>
        <p:spPr>
          <a:xfrm>
            <a:off x="5934456" y="2194560"/>
            <a:ext cx="301752" cy="0"/>
          </a:xfrm>
          <a:prstGeom prst="line">
            <a:avLst/>
          </a:prstGeom>
          <a:noFill/>
          <a:ln w="25400">
            <a:solidFill>
              <a:srgbClr val="5B3FD0"/>
            </a:solidFill>
            <a:prstDash val="solid"/>
            <a:tailEnd type="triangle"/>
          </a:ln>
        </p:spPr>
      </p:sp>
      <p:sp>
        <p:nvSpPr>
          <p:cNvPr id="11" name="Shape 8"/>
          <p:cNvSpPr/>
          <p:nvPr/>
        </p:nvSpPr>
        <p:spPr>
          <a:xfrm>
            <a:off x="6254496" y="1463040"/>
            <a:ext cx="2514600" cy="1463040"/>
          </a:xfrm>
          <a:prstGeom prst="roundRect">
            <a:avLst>
              <a:gd name="adj" fmla="val 6250"/>
            </a:avLst>
          </a:prstGeom>
          <a:solidFill>
            <a:srgbClr val="EEEAFB"/>
          </a:solidFill>
          <a:ln w="12700">
            <a:solidFill>
              <a:srgbClr val="EEEAFB"/>
            </a:solidFill>
            <a:prstDash val="solid"/>
          </a:ln>
        </p:spPr>
      </p:sp>
      <p:sp>
        <p:nvSpPr>
          <p:cNvPr id="12" name="Text 9"/>
          <p:cNvSpPr txBox="1"/>
          <p:nvPr/>
        </p:nvSpPr>
        <p:spPr>
          <a:xfrm>
            <a:off x="6254496"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2. Security Group: accetta il SG vpn su questa porta?</a:t>
            </a:r>
            <a:endParaRPr lang="en-US" sz="1600" dirty="0"/>
          </a:p>
        </p:txBody>
      </p:sp>
      <p:sp>
        <p:nvSpPr>
          <p:cNvPr id="13" name="Shape 10"/>
          <p:cNvSpPr/>
          <p:nvPr/>
        </p:nvSpPr>
        <p:spPr>
          <a:xfrm>
            <a:off x="8787384" y="2194560"/>
            <a:ext cx="301752" cy="0"/>
          </a:xfrm>
          <a:prstGeom prst="line">
            <a:avLst/>
          </a:prstGeom>
          <a:noFill/>
          <a:ln w="25400">
            <a:solidFill>
              <a:srgbClr val="5B3FD0"/>
            </a:solidFill>
            <a:prstDash val="solid"/>
            <a:tailEnd type="triangle"/>
          </a:ln>
        </p:spPr>
      </p:sp>
      <p:sp>
        <p:nvSpPr>
          <p:cNvPr id="14" name="Shape 11"/>
          <p:cNvSpPr/>
          <p:nvPr/>
        </p:nvSpPr>
        <p:spPr>
          <a:xfrm>
            <a:off x="9107424" y="1463040"/>
            <a:ext cx="2514600" cy="1463040"/>
          </a:xfrm>
          <a:prstGeom prst="roundRect">
            <a:avLst>
              <a:gd name="adj" fmla="val 6250"/>
            </a:avLst>
          </a:prstGeom>
          <a:solidFill>
            <a:srgbClr val="2E9E6B"/>
          </a:solidFill>
          <a:ln w="12700">
            <a:solidFill>
              <a:srgbClr val="2E9E6B"/>
            </a:solidFill>
            <a:prstDash val="solid"/>
          </a:ln>
        </p:spPr>
      </p:sp>
      <p:sp>
        <p:nvSpPr>
          <p:cNvPr id="15" name="Text 12"/>
          <p:cNvSpPr txBox="1"/>
          <p:nvPr/>
        </p:nvSpPr>
        <p:spPr>
          <a:xfrm>
            <a:off x="9107424" y="1463040"/>
            <a:ext cx="2514600" cy="146304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Connessione riuscita</a:t>
            </a:r>
            <a:endParaRPr lang="en-US" sz="1600" dirty="0"/>
          </a:p>
        </p:txBody>
      </p:sp>
      <p:sp>
        <p:nvSpPr>
          <p:cNvPr id="16" name="Shape 13"/>
          <p:cNvSpPr/>
          <p:nvPr/>
        </p:nvSpPr>
        <p:spPr>
          <a:xfrm>
            <a:off x="548640" y="3291840"/>
            <a:ext cx="5440680" cy="2560320"/>
          </a:xfrm>
          <a:prstGeom prst="roundRect">
            <a:avLst>
              <a:gd name="adj" fmla="val 4286"/>
            </a:avLst>
          </a:prstGeom>
          <a:solidFill>
            <a:srgbClr val="E5F4EC"/>
          </a:solidFill>
          <a:ln w="12700">
            <a:solidFill>
              <a:srgbClr val="E5F4EC"/>
            </a:solidFill>
            <a:prstDash val="solid"/>
          </a:ln>
        </p:spPr>
      </p:sp>
      <p:sp>
        <p:nvSpPr>
          <p:cNvPr id="17" name="Shape 14"/>
          <p:cNvSpPr/>
          <p:nvPr/>
        </p:nvSpPr>
        <p:spPr>
          <a:xfrm>
            <a:off x="777240" y="3520440"/>
            <a:ext cx="548640" cy="548640"/>
          </a:xfrm>
          <a:prstGeom prst="ellipse">
            <a:avLst/>
          </a:prstGeom>
          <a:solidFill>
            <a:srgbClr val="2E9E6B"/>
          </a:solidFill>
          <a:ln w="12700">
            <a:solidFill>
              <a:srgbClr val="2E9E6B"/>
            </a:solidFill>
            <a:prstDash val="solid"/>
          </a:ln>
        </p:spPr>
      </p:sp>
      <p:pic>
        <p:nvPicPr>
          <p:cNvPr id="18" name="Image 0" descr="preencoded.png">    </p:cNvPr>
          <p:cNvPicPr>
            <a:picLocks noChangeAspect="1"/>
          </p:cNvPicPr>
          <p:nvPr/>
        </p:nvPicPr>
        <p:blipFill>
          <a:blip r:embed="rId1"/>
          <a:stretch>
            <a:fillRect/>
          </a:stretch>
        </p:blipFill>
        <p:spPr>
          <a:xfrm>
            <a:off x="914400" y="3657600"/>
            <a:ext cx="274320" cy="274320"/>
          </a:xfrm>
          <a:prstGeom prst="rect">
            <a:avLst/>
          </a:prstGeom>
        </p:spPr>
      </p:pic>
      <p:sp>
        <p:nvSpPr>
          <p:cNvPr id="19" name="Text 15"/>
          <p:cNvSpPr txBox="1"/>
          <p:nvPr/>
        </p:nvSpPr>
        <p:spPr>
          <a:xfrm>
            <a:off x="1508760" y="35204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Amministratore → database</a:t>
            </a:r>
            <a:endParaRPr lang="en-US" sz="1800" dirty="0"/>
          </a:p>
        </p:txBody>
      </p:sp>
      <p:sp>
        <p:nvSpPr>
          <p:cNvPr id="20" name="Text 16"/>
          <p:cNvSpPr txBox="1"/>
          <p:nvPr/>
        </p:nvSpPr>
        <p:spPr>
          <a:xfrm>
            <a:off x="777240" y="420624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VPN: vpn-admin può raggiungere le subnet database ✓</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SG db: accetta la 5432 dal SG vpn ✓</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 passa</a:t>
            </a:r>
            <a:endParaRPr lang="en-US" sz="1600" dirty="0"/>
          </a:p>
        </p:txBody>
      </p:sp>
      <p:sp>
        <p:nvSpPr>
          <p:cNvPr id="21" name="Shape 17"/>
          <p:cNvSpPr/>
          <p:nvPr/>
        </p:nvSpPr>
        <p:spPr>
          <a:xfrm>
            <a:off x="6172200" y="3291840"/>
            <a:ext cx="5468112" cy="2560320"/>
          </a:xfrm>
          <a:prstGeom prst="roundRect">
            <a:avLst>
              <a:gd name="adj" fmla="val 4286"/>
            </a:avLst>
          </a:prstGeom>
          <a:solidFill>
            <a:srgbClr val="FBE9E9"/>
          </a:solidFill>
          <a:ln w="12700">
            <a:solidFill>
              <a:srgbClr val="FBE9E9"/>
            </a:solidFill>
            <a:prstDash val="solid"/>
          </a:ln>
        </p:spPr>
      </p:sp>
      <p:sp>
        <p:nvSpPr>
          <p:cNvPr id="22" name="Shape 18"/>
          <p:cNvSpPr/>
          <p:nvPr/>
        </p:nvSpPr>
        <p:spPr>
          <a:xfrm>
            <a:off x="6400800" y="3520440"/>
            <a:ext cx="548640" cy="548640"/>
          </a:xfrm>
          <a:prstGeom prst="ellipse">
            <a:avLst/>
          </a:prstGeom>
          <a:solidFill>
            <a:srgbClr val="D64545"/>
          </a:solidFill>
          <a:ln w="12700">
            <a:solidFill>
              <a:srgbClr val="D64545"/>
            </a:solidFill>
            <a:prstDash val="solid"/>
          </a:ln>
        </p:spPr>
      </p:sp>
      <p:pic>
        <p:nvPicPr>
          <p:cNvPr id="23" name="Image 1" descr="preencoded.png">    </p:cNvPr>
          <p:cNvPicPr>
            <a:picLocks noChangeAspect="1"/>
          </p:cNvPicPr>
          <p:nvPr/>
        </p:nvPicPr>
        <p:blipFill>
          <a:blip r:embed="rId2"/>
          <a:stretch>
            <a:fillRect/>
          </a:stretch>
        </p:blipFill>
        <p:spPr>
          <a:xfrm>
            <a:off x="6537960" y="3657600"/>
            <a:ext cx="274320" cy="274320"/>
          </a:xfrm>
          <a:prstGeom prst="rect">
            <a:avLst/>
          </a:prstGeom>
        </p:spPr>
      </p:pic>
      <p:sp>
        <p:nvSpPr>
          <p:cNvPr id="24" name="Text 19"/>
          <p:cNvSpPr txBox="1"/>
          <p:nvPr/>
        </p:nvSpPr>
        <p:spPr>
          <a:xfrm>
            <a:off x="7132320" y="352044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Sviluppatore → database</a:t>
            </a:r>
            <a:endParaRPr lang="en-US" sz="1800" dirty="0"/>
          </a:p>
        </p:txBody>
      </p:sp>
      <p:sp>
        <p:nvSpPr>
          <p:cNvPr id="25" name="Text 20"/>
          <p:cNvSpPr txBox="1"/>
          <p:nvPr/>
        </p:nvSpPr>
        <p:spPr>
          <a:xfrm>
            <a:off x="6400800" y="4206240"/>
            <a:ext cx="5010912"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VPN: vpn-dev NON può raggiungere le subnet database ✗</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 fermato già dalla VPN</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SG non viene nemmeno consultato)</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5. Dove si aggancia il tunnel</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71600"/>
            <a:ext cx="5440680" cy="2743200"/>
          </a:xfrm>
          <a:prstGeom prst="roundRect">
            <a:avLst>
              <a:gd name="adj" fmla="val 4000"/>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Collegato alle subnet private</a:t>
            </a:r>
            <a:endParaRPr lang="en-US" sz="1800" dirty="0"/>
          </a:p>
        </p:txBody>
      </p:sp>
      <p:sp>
        <p:nvSpPr>
          <p:cNvPr id="9" name="Text 5"/>
          <p:cNvSpPr txBox="1"/>
          <p:nvPr/>
        </p:nvSpPr>
        <p:spPr>
          <a:xfrm>
            <a:off x="777240" y="228600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Una per AZ: se un data center si ferma, la VPN funziona dall'altro</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In ognuna, una "presa di rete" dell'endpoint</a:t>
            </a:r>
            <a:endParaRPr lang="en-US" sz="1700" dirty="0"/>
          </a:p>
        </p:txBody>
      </p:sp>
      <p:sp>
        <p:nvSpPr>
          <p:cNvPr id="10" name="Shape 6"/>
          <p:cNvSpPr/>
          <p:nvPr/>
        </p:nvSpPr>
        <p:spPr>
          <a:xfrm>
            <a:off x="6172200" y="1371600"/>
            <a:ext cx="5468112" cy="2743200"/>
          </a:xfrm>
          <a:prstGeom prst="roundRect">
            <a:avLst>
              <a:gd name="adj" fmla="val 4000"/>
            </a:avLst>
          </a:prstGeom>
          <a:solidFill>
            <a:srgbClr val="FDF0E3"/>
          </a:solidFill>
          <a:ln w="12700">
            <a:solidFill>
              <a:srgbClr val="FDF0E3"/>
            </a:solidFill>
            <a:prstDash val="solid"/>
          </a:ln>
        </p:spPr>
      </p:sp>
      <p:sp>
        <p:nvSpPr>
          <p:cNvPr id="11" name="Shape 7"/>
          <p:cNvSpPr/>
          <p:nvPr/>
        </p:nvSpPr>
        <p:spPr>
          <a:xfrm>
            <a:off x="640080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Indossa il SG vpn (lezione 3)</a:t>
            </a:r>
            <a:endParaRPr lang="en-US" sz="1800" dirty="0"/>
          </a:p>
        </p:txBody>
      </p:sp>
      <p:sp>
        <p:nvSpPr>
          <p:cNvPr id="14" name="Text 9"/>
          <p:cNvSpPr txBox="1"/>
          <p:nvPr/>
        </p:nvSpPr>
        <p:spPr>
          <a:xfrm>
            <a:off x="6400800" y="2286000"/>
            <a:ext cx="5010912" cy="16459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Raggiunge tutta la nostra rete (10.20.0.0/16)</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Niente fuori: dalla VPN non si esce su internet</a:t>
            </a:r>
            <a:endParaRPr lang="en-US" sz="1700" dirty="0"/>
          </a:p>
        </p:txBody>
      </p:sp>
      <p:sp>
        <p:nvSpPr>
          <p:cNvPr id="15" name="Shape 10"/>
          <p:cNvSpPr/>
          <p:nvPr/>
        </p:nvSpPr>
        <p:spPr>
          <a:xfrm>
            <a:off x="548640" y="4434840"/>
            <a:ext cx="11094415" cy="1097280"/>
          </a:xfrm>
          <a:prstGeom prst="roundRect">
            <a:avLst>
              <a:gd name="adj" fmla="val 8333"/>
            </a:avLst>
          </a:prstGeom>
          <a:solidFill>
            <a:srgbClr val="FBE9E9"/>
          </a:solidFill>
          <a:ln w="12700">
            <a:solidFill>
              <a:srgbClr val="FBE9E9"/>
            </a:solidFill>
            <a:prstDash val="solid"/>
          </a:ln>
        </p:spPr>
      </p:sp>
      <p:sp>
        <p:nvSpPr>
          <p:cNvPr id="16" name="Text 11"/>
          <p:cNvSpPr txBox="1"/>
          <p:nvPr/>
        </p:nvSpPr>
        <p:spPr>
          <a:xfrm>
            <a:off x="822960" y="4434840"/>
            <a:ext cx="10545775" cy="109728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Ogni collegamento a una subnet si paga a ore, anche se nessuno è connesso. In laboratorio: destroy a fine esercizio.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Split tunnel: cosa passa dalla VPN</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71600"/>
            <a:ext cx="5440680" cy="3108960"/>
          </a:xfrm>
          <a:prstGeom prst="roundRect">
            <a:avLst>
              <a:gd name="adj" fmla="val 3529"/>
            </a:avLst>
          </a:prstGeom>
          <a:solidFill>
            <a:srgbClr val="E5F4EC"/>
          </a:solidFill>
          <a:ln w="12700">
            <a:solidFill>
              <a:srgbClr val="E5F4EC"/>
            </a:solidFill>
            <a:prstDash val="solid"/>
          </a:ln>
        </p:spPr>
      </p:sp>
      <p:sp>
        <p:nvSpPr>
          <p:cNvPr id="6" name="Shape 3"/>
          <p:cNvSpPr/>
          <p:nvPr/>
        </p:nvSpPr>
        <p:spPr>
          <a:xfrm>
            <a:off x="777240" y="1600200"/>
            <a:ext cx="548640" cy="548640"/>
          </a:xfrm>
          <a:prstGeom prst="ellipse">
            <a:avLst/>
          </a:prstGeom>
          <a:solidFill>
            <a:srgbClr val="2E9E6B"/>
          </a:solidFill>
          <a:ln w="12700">
            <a:solidFill>
              <a:srgbClr val="2E9E6B"/>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Split tunnel ✓ (la nostra scelta)</a:t>
            </a:r>
            <a:endParaRPr lang="en-US" sz="1800" dirty="0"/>
          </a:p>
        </p:txBody>
      </p:sp>
      <p:sp>
        <p:nvSpPr>
          <p:cNvPr id="9" name="Text 5"/>
          <p:cNvSpPr txBox="1"/>
          <p:nvPr/>
        </p:nvSpPr>
        <p:spPr>
          <a:xfrm>
            <a:off x="777240" y="2286000"/>
            <a:ext cx="4983480" cy="20116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Dalla VPN: SOLO il traffico verso 10.20.x.x</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Il resto (posta, siti) esce da casa tua</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Veloce, meno traffico da pagare</a:t>
            </a:r>
            <a:endParaRPr lang="en-US" sz="1700" dirty="0"/>
          </a:p>
        </p:txBody>
      </p:sp>
      <p:sp>
        <p:nvSpPr>
          <p:cNvPr id="10" name="Shape 6"/>
          <p:cNvSpPr/>
          <p:nvPr/>
        </p:nvSpPr>
        <p:spPr>
          <a:xfrm>
            <a:off x="6172200" y="1371600"/>
            <a:ext cx="5468112" cy="3108960"/>
          </a:xfrm>
          <a:prstGeom prst="roundRect">
            <a:avLst>
              <a:gd name="adj" fmla="val 3529"/>
            </a:avLst>
          </a:prstGeom>
          <a:solidFill>
            <a:srgbClr val="F7F6FD"/>
          </a:solidFill>
          <a:ln w="12700">
            <a:solidFill>
              <a:srgbClr val="F7F6FD"/>
            </a:solidFill>
            <a:prstDash val="solid"/>
          </a:ln>
        </p:spPr>
      </p:sp>
      <p:sp>
        <p:nvSpPr>
          <p:cNvPr id="11" name="Shape 7"/>
          <p:cNvSpPr/>
          <p:nvPr/>
        </p:nvSpPr>
        <p:spPr>
          <a:xfrm>
            <a:off x="6400800" y="1600200"/>
            <a:ext cx="548640" cy="548640"/>
          </a:xfrm>
          <a:prstGeom prst="ellipse">
            <a:avLst/>
          </a:prstGeom>
          <a:solidFill>
            <a:srgbClr val="5B3FD0"/>
          </a:solidFill>
          <a:ln w="12700">
            <a:solidFill>
              <a:srgbClr val="5B3FD0"/>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Full tunnel</a:t>
            </a:r>
            <a:endParaRPr lang="en-US" sz="1800" dirty="0"/>
          </a:p>
        </p:txBody>
      </p:sp>
      <p:sp>
        <p:nvSpPr>
          <p:cNvPr id="14" name="Text 9"/>
          <p:cNvSpPr txBox="1"/>
          <p:nvPr/>
        </p:nvSpPr>
        <p:spPr>
          <a:xfrm>
            <a:off x="6400800" y="2286000"/>
            <a:ext cx="5010912" cy="20116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Dalla VPN passa TUTTO, anche YouTube</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Esce su internet da AWS, tramite il NAT</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Servono rotte e regole in più</a:t>
            </a:r>
            <a:endParaRPr lang="en-US" sz="1700" dirty="0"/>
          </a:p>
        </p:txBody>
      </p:sp>
      <p:sp>
        <p:nvSpPr>
          <p:cNvPr id="15" name="Shape 10"/>
          <p:cNvSpPr/>
          <p:nvPr/>
        </p:nvSpPr>
        <p:spPr>
          <a:xfrm>
            <a:off x="548640" y="4800600"/>
            <a:ext cx="11094415" cy="914400"/>
          </a:xfrm>
          <a:prstGeom prst="roundRect">
            <a:avLst>
              <a:gd name="adj" fmla="val 10000"/>
            </a:avLst>
          </a:prstGeom>
          <a:solidFill>
            <a:srgbClr val="FDF0E3"/>
          </a:solidFill>
          <a:ln w="12700">
            <a:solidFill>
              <a:srgbClr val="FDF0E3"/>
            </a:solidFill>
            <a:prstDash val="solid"/>
          </a:ln>
        </p:spPr>
      </p:sp>
      <p:sp>
        <p:nvSpPr>
          <p:cNvPr id="16" name="Text 11"/>
          <p:cNvSpPr txBox="1"/>
          <p:nvPr/>
        </p:nvSpPr>
        <p:spPr>
          <a:xfrm>
            <a:off x="822960" y="4800600"/>
            <a:ext cx="10545775" cy="91440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Alla VPN interessa solo il traffico verso la nostra rete: split tunnel.</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VPN o SSM: quando usare cosa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7315200"/>
                <a:gridCol w="3776472"/>
              </a:tblGrid>
              <a:tr h="6858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Devo…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Strumento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aprire un terminale sul server, lanciare comandi</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5B3FD0"/>
                          </a:solidFill>
                          <a:latin typeface="Calibri" pitchFamily="34" charset="0"/>
                          <a:ea typeface="Calibri" pitchFamily="34" charset="-122"/>
                          <a:cs typeface="Calibri" pitchFamily="34" charset="-120"/>
                        </a:rPr>
                        <a:t>SSM Session Manager (lezione 5)</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collegarmi al database con un programma (psql, DBeaver…)</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b="1" dirty="0">
                          <a:solidFill>
                            <a:srgbClr val="F28C28"/>
                          </a:solidFill>
                          <a:latin typeface="Calibri" pitchFamily="34" charset="0"/>
                          <a:ea typeface="Calibri" pitchFamily="34" charset="-122"/>
                          <a:cs typeface="Calibri" pitchFamily="34" charset="-120"/>
                        </a:rPr>
                        <a:t>VPN</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aprire l'applicazione nel browser (porta 8080)</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F28C28"/>
                          </a:solidFill>
                          <a:latin typeface="Calibri" pitchFamily="34" charset="0"/>
                          <a:ea typeface="Calibri" pitchFamily="34" charset="-122"/>
                          <a:cs typeface="Calibri" pitchFamily="34" charset="-120"/>
                        </a:rPr>
                        <a:t>VPN</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800" dirty="0">
                          <a:solidFill>
                            <a:srgbClr val="22253A"/>
                          </a:solidFill>
                          <a:latin typeface="Calibri" pitchFamily="34" charset="0"/>
                          <a:ea typeface="Calibri" pitchFamily="34" charset="-122"/>
                          <a:cs typeface="Calibri" pitchFamily="34" charset="-120"/>
                        </a:rPr>
                        <a:t>usare strumenti che parlano in rete con più risorse</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b="1" dirty="0">
                          <a:solidFill>
                            <a:srgbClr val="F28C28"/>
                          </a:solidFill>
                          <a:latin typeface="Calibri" pitchFamily="34" charset="0"/>
                          <a:ea typeface="Calibri" pitchFamily="34" charset="-122"/>
                          <a:cs typeface="Calibri" pitchFamily="34" charset="-120"/>
                        </a:rPr>
                        <a:t>VPN</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4937760"/>
            <a:ext cx="11094415" cy="914400"/>
          </a:xfrm>
          <a:prstGeom prst="roundRect">
            <a:avLst>
              <a:gd name="adj" fmla="val 10000"/>
            </a:avLst>
          </a:prstGeom>
          <a:solidFill>
            <a:srgbClr val="5B3FD0"/>
          </a:solidFill>
          <a:ln w="12700">
            <a:solidFill>
              <a:srgbClr val="5B3FD0"/>
            </a:solidFill>
            <a:prstDash val="solid"/>
          </a:ln>
        </p:spPr>
      </p:sp>
      <p:sp>
        <p:nvSpPr>
          <p:cNvPr id="7" name="Text 3"/>
          <p:cNvSpPr txBox="1"/>
          <p:nvPr/>
        </p:nvSpPr>
        <p:spPr>
          <a:xfrm>
            <a:off x="822960" y="4937760"/>
            <a:ext cx="10545775"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SSM per i comandi sul server. VPN per i collegamenti di rete.</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cosa aggiungiamo, e dove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25880"/>
            <a:ext cx="5440680" cy="1600200"/>
          </a:xfrm>
          <a:prstGeom prst="roundRect">
            <a:avLst>
              <a:gd name="adj" fmla="val 4571"/>
            </a:avLst>
          </a:prstGeom>
          <a:solidFill>
            <a:srgbClr val="1E1E2E"/>
          </a:solidFill>
          <a:ln w="12700">
            <a:solidFill>
              <a:srgbClr val="1E1E2E"/>
            </a:solidFill>
            <a:prstDash val="solid"/>
          </a:ln>
        </p:spPr>
      </p:sp>
      <p:sp>
        <p:nvSpPr>
          <p:cNvPr id="6" name="Text 3"/>
          <p:cNvSpPr txBox="1"/>
          <p:nvPr/>
        </p:nvSpPr>
        <p:spPr>
          <a:xfrm>
            <a:off x="731520" y="1399032"/>
            <a:ext cx="507492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providers.tf · dentro required_providers</a:t>
            </a:r>
            <a:endParaRPr lang="en-US" sz="1300" dirty="0"/>
          </a:p>
        </p:txBody>
      </p:sp>
      <p:sp>
        <p:nvSpPr>
          <p:cNvPr id="7" name="Text 4"/>
          <p:cNvSpPr txBox="1"/>
          <p:nvPr/>
        </p:nvSpPr>
        <p:spPr>
          <a:xfrm>
            <a:off x="731520" y="1737360"/>
            <a:ext cx="5074920" cy="10515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tls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source  = "hashicorp/tls"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version = "~&gt; 4.0"</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Shape 5"/>
          <p:cNvSpPr/>
          <p:nvPr/>
        </p:nvSpPr>
        <p:spPr>
          <a:xfrm>
            <a:off x="6172200" y="1325880"/>
            <a:ext cx="5468112" cy="1600200"/>
          </a:xfrm>
          <a:prstGeom prst="roundRect">
            <a:avLst>
              <a:gd name="adj" fmla="val 4571"/>
            </a:avLst>
          </a:prstGeom>
          <a:solidFill>
            <a:srgbClr val="1E1E2E"/>
          </a:solidFill>
          <a:ln w="12700">
            <a:solidFill>
              <a:srgbClr val="1E1E2E"/>
            </a:solidFill>
            <a:prstDash val="solid"/>
          </a:ln>
        </p:spPr>
      </p:sp>
      <p:sp>
        <p:nvSpPr>
          <p:cNvPr id="9" name="Text 6"/>
          <p:cNvSpPr txBox="1"/>
          <p:nvPr/>
        </p:nvSpPr>
        <p:spPr>
          <a:xfrm>
            <a:off x="6355080" y="1399032"/>
            <a:ext cx="5102352"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variables.tf (in breve)</a:t>
            </a:r>
            <a:endParaRPr lang="en-US" sz="1300" dirty="0"/>
          </a:p>
        </p:txBody>
      </p:sp>
      <p:sp>
        <p:nvSpPr>
          <p:cNvPr id="10" name="Text 7"/>
          <p:cNvSpPr txBox="1"/>
          <p:nvPr/>
        </p:nvSpPr>
        <p:spPr>
          <a:xfrm>
            <a:off x="6355080" y="1737360"/>
            <a:ext cx="5102352" cy="105156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variable "vpn_client_cidr" {}     </a:t>
            </a:r>
            <a:pPr indent="0" marL="0">
              <a:buNone/>
            </a:pPr>
            <a:r>
              <a:rPr lang="en-US" sz="1500" dirty="0">
                <a:solidFill>
                  <a:srgbClr val="8FD694"/>
                </a:solidFill>
                <a:latin typeface="Courier New" pitchFamily="34" charset="0"/>
                <a:ea typeface="Courier New" pitchFamily="34" charset="-122"/>
                <a:cs typeface="Courier New" pitchFamily="34" charset="-120"/>
              </a:rPr>
              <a:t># 10.100.0.0/22</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variable "vpn_admin_group_id" {}  </a:t>
            </a:r>
            <a:pPr indent="0" marL="0">
              <a:buNone/>
            </a:pPr>
            <a:r>
              <a:rPr lang="en-US" sz="1500" dirty="0">
                <a:solidFill>
                  <a:srgbClr val="8FD694"/>
                </a:solidFill>
                <a:latin typeface="Courier New" pitchFamily="34" charset="0"/>
                <a:ea typeface="Courier New" pitchFamily="34" charset="-122"/>
                <a:cs typeface="Courier New" pitchFamily="34" charset="-120"/>
              </a:rPr>
              <a:t># dal tfvars</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variable "vpn_dev_group_id" {}    </a:t>
            </a:r>
            <a:pPr indent="0" marL="0">
              <a:buNone/>
            </a:pPr>
            <a:r>
              <a:rPr lang="en-US" sz="1500" dirty="0">
                <a:solidFill>
                  <a:srgbClr val="8FD694"/>
                </a:solidFill>
                <a:latin typeface="Courier New" pitchFamily="34" charset="0"/>
                <a:ea typeface="Courier New" pitchFamily="34" charset="-122"/>
                <a:cs typeface="Courier New" pitchFamily="34" charset="-120"/>
              </a:rPr>
              <a:t># dal tfvars</a:t>
            </a:r>
            <a:endParaRPr lang="en-US" sz="1500" dirty="0"/>
          </a:p>
        </p:txBody>
      </p:sp>
      <p:sp>
        <p:nvSpPr>
          <p:cNvPr id="11" name="Text 8"/>
          <p:cNvSpPr txBox="1"/>
          <p:nvPr/>
        </p:nvSpPr>
        <p:spPr>
          <a:xfrm>
            <a:off x="548640" y="3154680"/>
            <a:ext cx="11094415" cy="36576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vpn.tf: sei parti</a:t>
            </a:r>
            <a:endParaRPr lang="en-US" sz="1800" dirty="0"/>
          </a:p>
        </p:txBody>
      </p:sp>
      <p:sp>
        <p:nvSpPr>
          <p:cNvPr id="12" name="Shape 9"/>
          <p:cNvSpPr/>
          <p:nvPr/>
        </p:nvSpPr>
        <p:spPr>
          <a:xfrm>
            <a:off x="548640" y="3611880"/>
            <a:ext cx="3566160" cy="1051560"/>
          </a:xfrm>
          <a:prstGeom prst="roundRect">
            <a:avLst>
              <a:gd name="adj" fmla="val 8696"/>
            </a:avLst>
          </a:prstGeom>
          <a:solidFill>
            <a:srgbClr val="F7F6FD"/>
          </a:solidFill>
          <a:ln w="12700">
            <a:solidFill>
              <a:srgbClr val="D9D6EC"/>
            </a:solidFill>
            <a:prstDash val="solid"/>
          </a:ln>
        </p:spPr>
      </p:sp>
      <p:sp>
        <p:nvSpPr>
          <p:cNvPr id="13" name="Shape 10"/>
          <p:cNvSpPr/>
          <p:nvPr/>
        </p:nvSpPr>
        <p:spPr>
          <a:xfrm>
            <a:off x="685800" y="3840480"/>
            <a:ext cx="594360" cy="594360"/>
          </a:xfrm>
          <a:prstGeom prst="ellipse">
            <a:avLst/>
          </a:prstGeom>
          <a:solidFill>
            <a:srgbClr val="5B3FD0"/>
          </a:solidFill>
          <a:ln w="12700">
            <a:solidFill>
              <a:srgbClr val="5B3FD0"/>
            </a:solidFill>
            <a:prstDash val="solid"/>
          </a:ln>
        </p:spPr>
      </p:sp>
      <p:sp>
        <p:nvSpPr>
          <p:cNvPr id="14" name="Text 11"/>
          <p:cNvSpPr txBox="1"/>
          <p:nvPr/>
        </p:nvSpPr>
        <p:spPr>
          <a:xfrm>
            <a:off x="685800" y="3840480"/>
            <a:ext cx="594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5" name="Text 12"/>
          <p:cNvSpPr txBox="1"/>
          <p:nvPr/>
        </p:nvSpPr>
        <p:spPr>
          <a:xfrm>
            <a:off x="1417320" y="3611880"/>
            <a:ext cx="2606040" cy="105156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certificato</a:t>
            </a:r>
            <a:endParaRPr lang="en-US" sz="1700" dirty="0"/>
          </a:p>
          <a:p>
            <a:pPr indent="0" marL="0">
              <a:buNone/>
            </a:pPr>
            <a:r>
              <a:rPr lang="en-US" sz="1200" dirty="0">
                <a:solidFill>
                  <a:srgbClr val="5F6478"/>
                </a:solidFill>
                <a:latin typeface="Courier New" pitchFamily="34" charset="0"/>
                <a:ea typeface="Courier New" pitchFamily="34" charset="-122"/>
                <a:cs typeface="Courier New" pitchFamily="34" charset="-120"/>
              </a:rPr>
              <a:t>tls_* + aws_acm_certificate</a:t>
            </a:r>
            <a:endParaRPr lang="en-US" sz="1700" dirty="0"/>
          </a:p>
        </p:txBody>
      </p:sp>
      <p:sp>
        <p:nvSpPr>
          <p:cNvPr id="16" name="Shape 13"/>
          <p:cNvSpPr/>
          <p:nvPr/>
        </p:nvSpPr>
        <p:spPr>
          <a:xfrm>
            <a:off x="4297680" y="3611880"/>
            <a:ext cx="3566160" cy="1051560"/>
          </a:xfrm>
          <a:prstGeom prst="roundRect">
            <a:avLst>
              <a:gd name="adj" fmla="val 8696"/>
            </a:avLst>
          </a:prstGeom>
          <a:solidFill>
            <a:srgbClr val="F7F6FD"/>
          </a:solidFill>
          <a:ln w="12700">
            <a:solidFill>
              <a:srgbClr val="D9D6EC"/>
            </a:solidFill>
            <a:prstDash val="solid"/>
          </a:ln>
        </p:spPr>
      </p:sp>
      <p:sp>
        <p:nvSpPr>
          <p:cNvPr id="17" name="Shape 14"/>
          <p:cNvSpPr/>
          <p:nvPr/>
        </p:nvSpPr>
        <p:spPr>
          <a:xfrm>
            <a:off x="4434840" y="3840480"/>
            <a:ext cx="594360" cy="594360"/>
          </a:xfrm>
          <a:prstGeom prst="ellipse">
            <a:avLst/>
          </a:prstGeom>
          <a:solidFill>
            <a:srgbClr val="5B3FD0"/>
          </a:solidFill>
          <a:ln w="12700">
            <a:solidFill>
              <a:srgbClr val="5B3FD0"/>
            </a:solidFill>
            <a:prstDash val="solid"/>
          </a:ln>
        </p:spPr>
      </p:sp>
      <p:sp>
        <p:nvSpPr>
          <p:cNvPr id="18" name="Text 15"/>
          <p:cNvSpPr txBox="1"/>
          <p:nvPr/>
        </p:nvSpPr>
        <p:spPr>
          <a:xfrm>
            <a:off x="4434840" y="3840480"/>
            <a:ext cx="594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9" name="Text 16"/>
          <p:cNvSpPr txBox="1"/>
          <p:nvPr/>
        </p:nvSpPr>
        <p:spPr>
          <a:xfrm>
            <a:off x="5166360" y="3611880"/>
            <a:ext cx="2606040" cy="105156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login</a:t>
            </a:r>
            <a:endParaRPr lang="en-US" sz="1700" dirty="0"/>
          </a:p>
          <a:p>
            <a:pPr indent="0" marL="0">
              <a:buNone/>
            </a:pPr>
            <a:r>
              <a:rPr lang="en-US" sz="1200" dirty="0">
                <a:solidFill>
                  <a:srgbClr val="5F6478"/>
                </a:solidFill>
                <a:latin typeface="Courier New" pitchFamily="34" charset="0"/>
                <a:ea typeface="Courier New" pitchFamily="34" charset="-122"/>
                <a:cs typeface="Courier New" pitchFamily="34" charset="-120"/>
              </a:rPr>
              <a:t>aws_iam_saml_provider</a:t>
            </a:r>
            <a:endParaRPr lang="en-US" sz="1700" dirty="0"/>
          </a:p>
        </p:txBody>
      </p:sp>
      <p:sp>
        <p:nvSpPr>
          <p:cNvPr id="20" name="Shape 17"/>
          <p:cNvSpPr/>
          <p:nvPr/>
        </p:nvSpPr>
        <p:spPr>
          <a:xfrm>
            <a:off x="8046720" y="3611880"/>
            <a:ext cx="3566160" cy="1051560"/>
          </a:xfrm>
          <a:prstGeom prst="roundRect">
            <a:avLst>
              <a:gd name="adj" fmla="val 8696"/>
            </a:avLst>
          </a:prstGeom>
          <a:solidFill>
            <a:srgbClr val="F7F6FD"/>
          </a:solidFill>
          <a:ln w="12700">
            <a:solidFill>
              <a:srgbClr val="D9D6EC"/>
            </a:solidFill>
            <a:prstDash val="solid"/>
          </a:ln>
        </p:spPr>
      </p:sp>
      <p:sp>
        <p:nvSpPr>
          <p:cNvPr id="21" name="Shape 18"/>
          <p:cNvSpPr/>
          <p:nvPr/>
        </p:nvSpPr>
        <p:spPr>
          <a:xfrm>
            <a:off x="8183880" y="3840480"/>
            <a:ext cx="594360" cy="594360"/>
          </a:xfrm>
          <a:prstGeom prst="ellipse">
            <a:avLst/>
          </a:prstGeom>
          <a:solidFill>
            <a:srgbClr val="5B3FD0"/>
          </a:solidFill>
          <a:ln w="12700">
            <a:solidFill>
              <a:srgbClr val="5B3FD0"/>
            </a:solidFill>
            <a:prstDash val="solid"/>
          </a:ln>
        </p:spPr>
      </p:sp>
      <p:sp>
        <p:nvSpPr>
          <p:cNvPr id="22" name="Text 19"/>
          <p:cNvSpPr txBox="1"/>
          <p:nvPr/>
        </p:nvSpPr>
        <p:spPr>
          <a:xfrm>
            <a:off x="8183880" y="3840480"/>
            <a:ext cx="594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3" name="Text 20"/>
          <p:cNvSpPr txBox="1"/>
          <p:nvPr/>
        </p:nvSpPr>
        <p:spPr>
          <a:xfrm>
            <a:off x="8915400" y="3611880"/>
            <a:ext cx="2606040" cy="105156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registro</a:t>
            </a:r>
            <a:endParaRPr lang="en-US" sz="1700" dirty="0"/>
          </a:p>
          <a:p>
            <a:pPr indent="0" marL="0">
              <a:buNone/>
            </a:pPr>
            <a:r>
              <a:rPr lang="en-US" sz="1200" dirty="0">
                <a:solidFill>
                  <a:srgbClr val="5F6478"/>
                </a:solidFill>
                <a:latin typeface="Courier New" pitchFamily="34" charset="0"/>
                <a:ea typeface="Courier New" pitchFamily="34" charset="-122"/>
                <a:cs typeface="Courier New" pitchFamily="34" charset="-120"/>
              </a:rPr>
              <a:t>aws_cloudwatch_log_*</a:t>
            </a:r>
            <a:endParaRPr lang="en-US" sz="1700" dirty="0"/>
          </a:p>
        </p:txBody>
      </p:sp>
      <p:sp>
        <p:nvSpPr>
          <p:cNvPr id="24" name="Shape 21"/>
          <p:cNvSpPr/>
          <p:nvPr/>
        </p:nvSpPr>
        <p:spPr>
          <a:xfrm>
            <a:off x="548640" y="4800600"/>
            <a:ext cx="3566160" cy="1051560"/>
          </a:xfrm>
          <a:prstGeom prst="roundRect">
            <a:avLst>
              <a:gd name="adj" fmla="val 8696"/>
            </a:avLst>
          </a:prstGeom>
          <a:solidFill>
            <a:srgbClr val="F7F6FD"/>
          </a:solidFill>
          <a:ln w="12700">
            <a:solidFill>
              <a:srgbClr val="D9D6EC"/>
            </a:solidFill>
            <a:prstDash val="solid"/>
          </a:ln>
        </p:spPr>
      </p:sp>
      <p:sp>
        <p:nvSpPr>
          <p:cNvPr id="25" name="Shape 22"/>
          <p:cNvSpPr/>
          <p:nvPr/>
        </p:nvSpPr>
        <p:spPr>
          <a:xfrm>
            <a:off x="685800" y="5029200"/>
            <a:ext cx="594360" cy="594360"/>
          </a:xfrm>
          <a:prstGeom prst="ellipse">
            <a:avLst/>
          </a:prstGeom>
          <a:solidFill>
            <a:srgbClr val="5B3FD0"/>
          </a:solidFill>
          <a:ln w="12700">
            <a:solidFill>
              <a:srgbClr val="5B3FD0"/>
            </a:solidFill>
            <a:prstDash val="solid"/>
          </a:ln>
        </p:spPr>
      </p:sp>
      <p:sp>
        <p:nvSpPr>
          <p:cNvPr id="26" name="Text 23"/>
          <p:cNvSpPr txBox="1"/>
          <p:nvPr/>
        </p:nvSpPr>
        <p:spPr>
          <a:xfrm>
            <a:off x="685800" y="5029200"/>
            <a:ext cx="594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7" name="Text 24"/>
          <p:cNvSpPr txBox="1"/>
          <p:nvPr/>
        </p:nvSpPr>
        <p:spPr>
          <a:xfrm>
            <a:off x="1417320" y="4800600"/>
            <a:ext cx="2606040" cy="105156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l'endpoint</a:t>
            </a:r>
            <a:endParaRPr lang="en-US" sz="1700" dirty="0"/>
          </a:p>
          <a:p>
            <a:pPr indent="0" marL="0">
              <a:buNone/>
            </a:pPr>
            <a:r>
              <a:rPr lang="en-US" sz="1200" dirty="0">
                <a:solidFill>
                  <a:srgbClr val="5F6478"/>
                </a:solidFill>
                <a:latin typeface="Courier New" pitchFamily="34" charset="0"/>
                <a:ea typeface="Courier New" pitchFamily="34" charset="-122"/>
                <a:cs typeface="Courier New" pitchFamily="34" charset="-120"/>
              </a:rPr>
              <a:t>aws_ec2_client_vpn_endpoint</a:t>
            </a:r>
            <a:endParaRPr lang="en-US" sz="1700" dirty="0"/>
          </a:p>
        </p:txBody>
      </p:sp>
      <p:sp>
        <p:nvSpPr>
          <p:cNvPr id="28" name="Shape 25"/>
          <p:cNvSpPr/>
          <p:nvPr/>
        </p:nvSpPr>
        <p:spPr>
          <a:xfrm>
            <a:off x="4297680" y="4800600"/>
            <a:ext cx="3566160" cy="1051560"/>
          </a:xfrm>
          <a:prstGeom prst="roundRect">
            <a:avLst>
              <a:gd name="adj" fmla="val 8696"/>
            </a:avLst>
          </a:prstGeom>
          <a:solidFill>
            <a:srgbClr val="F7F6FD"/>
          </a:solidFill>
          <a:ln w="12700">
            <a:solidFill>
              <a:srgbClr val="D9D6EC"/>
            </a:solidFill>
            <a:prstDash val="solid"/>
          </a:ln>
        </p:spPr>
      </p:sp>
      <p:sp>
        <p:nvSpPr>
          <p:cNvPr id="29" name="Shape 26"/>
          <p:cNvSpPr/>
          <p:nvPr/>
        </p:nvSpPr>
        <p:spPr>
          <a:xfrm>
            <a:off x="4434840" y="5029200"/>
            <a:ext cx="594360" cy="594360"/>
          </a:xfrm>
          <a:prstGeom prst="ellipse">
            <a:avLst/>
          </a:prstGeom>
          <a:solidFill>
            <a:srgbClr val="5B3FD0"/>
          </a:solidFill>
          <a:ln w="12700">
            <a:solidFill>
              <a:srgbClr val="5B3FD0"/>
            </a:solidFill>
            <a:prstDash val="solid"/>
          </a:ln>
        </p:spPr>
      </p:sp>
      <p:sp>
        <p:nvSpPr>
          <p:cNvPr id="30" name="Text 27"/>
          <p:cNvSpPr txBox="1"/>
          <p:nvPr/>
        </p:nvSpPr>
        <p:spPr>
          <a:xfrm>
            <a:off x="4434840" y="5029200"/>
            <a:ext cx="594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31" name="Text 28"/>
          <p:cNvSpPr txBox="1"/>
          <p:nvPr/>
        </p:nvSpPr>
        <p:spPr>
          <a:xfrm>
            <a:off x="5166360" y="4800600"/>
            <a:ext cx="2606040" cy="105156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le subnet</a:t>
            </a:r>
            <a:endParaRPr lang="en-US" sz="1700" dirty="0"/>
          </a:p>
          <a:p>
            <a:pPr indent="0" marL="0">
              <a:buNone/>
            </a:pPr>
            <a:r>
              <a:rPr lang="en-US" sz="1200" dirty="0">
                <a:solidFill>
                  <a:srgbClr val="5F6478"/>
                </a:solidFill>
                <a:latin typeface="Courier New" pitchFamily="34" charset="0"/>
                <a:ea typeface="Courier New" pitchFamily="34" charset="-122"/>
                <a:cs typeface="Courier New" pitchFamily="34" charset="-120"/>
              </a:rPr>
              <a:t>…_network_association</a:t>
            </a:r>
            <a:endParaRPr lang="en-US" sz="1700" dirty="0"/>
          </a:p>
        </p:txBody>
      </p:sp>
      <p:sp>
        <p:nvSpPr>
          <p:cNvPr id="32" name="Shape 29"/>
          <p:cNvSpPr/>
          <p:nvPr/>
        </p:nvSpPr>
        <p:spPr>
          <a:xfrm>
            <a:off x="8046720" y="4800600"/>
            <a:ext cx="3566160" cy="1051560"/>
          </a:xfrm>
          <a:prstGeom prst="roundRect">
            <a:avLst>
              <a:gd name="adj" fmla="val 8696"/>
            </a:avLst>
          </a:prstGeom>
          <a:solidFill>
            <a:srgbClr val="F7F6FD"/>
          </a:solidFill>
          <a:ln w="12700">
            <a:solidFill>
              <a:srgbClr val="D9D6EC"/>
            </a:solidFill>
            <a:prstDash val="solid"/>
          </a:ln>
        </p:spPr>
      </p:sp>
      <p:sp>
        <p:nvSpPr>
          <p:cNvPr id="33" name="Shape 30"/>
          <p:cNvSpPr/>
          <p:nvPr/>
        </p:nvSpPr>
        <p:spPr>
          <a:xfrm>
            <a:off x="8183880" y="5029200"/>
            <a:ext cx="594360" cy="594360"/>
          </a:xfrm>
          <a:prstGeom prst="ellipse">
            <a:avLst/>
          </a:prstGeom>
          <a:solidFill>
            <a:srgbClr val="5B3FD0"/>
          </a:solidFill>
          <a:ln w="12700">
            <a:solidFill>
              <a:srgbClr val="5B3FD0"/>
            </a:solidFill>
            <a:prstDash val="solid"/>
          </a:ln>
        </p:spPr>
      </p:sp>
      <p:sp>
        <p:nvSpPr>
          <p:cNvPr id="34" name="Text 31"/>
          <p:cNvSpPr txBox="1"/>
          <p:nvPr/>
        </p:nvSpPr>
        <p:spPr>
          <a:xfrm>
            <a:off x="8183880" y="5029200"/>
            <a:ext cx="594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35" name="Text 32"/>
          <p:cNvSpPr txBox="1"/>
          <p:nvPr/>
        </p:nvSpPr>
        <p:spPr>
          <a:xfrm>
            <a:off x="8915400" y="4800600"/>
            <a:ext cx="2606040" cy="105156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le regole</a:t>
            </a:r>
            <a:endParaRPr lang="en-US" sz="1700" dirty="0"/>
          </a:p>
          <a:p>
            <a:pPr indent="0" marL="0">
              <a:buNone/>
            </a:pPr>
            <a:r>
              <a:rPr lang="en-US" sz="1200" dirty="0">
                <a:solidFill>
                  <a:srgbClr val="5F6478"/>
                </a:solidFill>
                <a:latin typeface="Courier New" pitchFamily="34" charset="0"/>
                <a:ea typeface="Courier New" pitchFamily="34" charset="-122"/>
                <a:cs typeface="Courier New" pitchFamily="34" charset="-120"/>
              </a:rPr>
              <a:t>…_authorization_rule</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il certificato, in cinque passi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25880"/>
            <a:ext cx="5212080" cy="658368"/>
          </a:xfrm>
          <a:prstGeom prst="roundRect">
            <a:avLst>
              <a:gd name="adj" fmla="val 11111"/>
            </a:avLst>
          </a:prstGeom>
          <a:solidFill>
            <a:srgbClr val="1E1E2E"/>
          </a:solidFill>
          <a:ln w="12700">
            <a:solidFill>
              <a:srgbClr val="1E1E2E"/>
            </a:solidFill>
            <a:prstDash val="solid"/>
          </a:ln>
        </p:spPr>
      </p:sp>
      <p:sp>
        <p:nvSpPr>
          <p:cNvPr id="6" name="Text 3"/>
          <p:cNvSpPr txBox="1"/>
          <p:nvPr/>
        </p:nvSpPr>
        <p:spPr>
          <a:xfrm>
            <a:off x="731520" y="1463040"/>
            <a:ext cx="4846320" cy="384048"/>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tls_private_key.vpn_ca</a:t>
            </a:r>
            <a:endParaRPr lang="en-US" sz="1500" dirty="0"/>
          </a:p>
        </p:txBody>
      </p:sp>
      <p:sp>
        <p:nvSpPr>
          <p:cNvPr id="7" name="Shape 4"/>
          <p:cNvSpPr/>
          <p:nvPr/>
        </p:nvSpPr>
        <p:spPr>
          <a:xfrm>
            <a:off x="5806440" y="1655064"/>
            <a:ext cx="274320" cy="0"/>
          </a:xfrm>
          <a:prstGeom prst="line">
            <a:avLst/>
          </a:prstGeom>
          <a:noFill/>
          <a:ln w="25400">
            <a:solidFill>
              <a:srgbClr val="5B3FD0"/>
            </a:solidFill>
            <a:prstDash val="solid"/>
            <a:tailEnd type="triangle"/>
          </a:ln>
        </p:spPr>
      </p:sp>
      <p:sp>
        <p:nvSpPr>
          <p:cNvPr id="8" name="Text 5"/>
          <p:cNvSpPr txBox="1"/>
          <p:nvPr/>
        </p:nvSpPr>
        <p:spPr>
          <a:xfrm>
            <a:off x="6172200" y="1325880"/>
            <a:ext cx="5468112" cy="658368"/>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la chiave della CA</a:t>
            </a:r>
            <a:endParaRPr lang="en-US" sz="1600" dirty="0"/>
          </a:p>
          <a:p>
            <a:pPr indent="0" marL="0">
              <a:buNone/>
            </a:pPr>
            <a:r>
              <a:rPr lang="en-US" sz="1300" i="1" dirty="0">
                <a:solidFill>
                  <a:srgbClr val="5F6478"/>
                </a:solidFill>
                <a:latin typeface="Calibri" pitchFamily="34" charset="0"/>
                <a:ea typeface="Calibri" pitchFamily="34" charset="-122"/>
                <a:cs typeface="Calibri" pitchFamily="34" charset="-120"/>
              </a:rPr>
              <a:t>il timbro del comune</a:t>
            </a:r>
            <a:endParaRPr lang="en-US" sz="1600" dirty="0"/>
          </a:p>
        </p:txBody>
      </p:sp>
      <p:sp>
        <p:nvSpPr>
          <p:cNvPr id="9" name="Shape 6"/>
          <p:cNvSpPr/>
          <p:nvPr/>
        </p:nvSpPr>
        <p:spPr>
          <a:xfrm>
            <a:off x="548640" y="2112264"/>
            <a:ext cx="5212080" cy="658368"/>
          </a:xfrm>
          <a:prstGeom prst="roundRect">
            <a:avLst>
              <a:gd name="adj" fmla="val 11111"/>
            </a:avLst>
          </a:prstGeom>
          <a:solidFill>
            <a:srgbClr val="1E1E2E"/>
          </a:solidFill>
          <a:ln w="12700">
            <a:solidFill>
              <a:srgbClr val="1E1E2E"/>
            </a:solidFill>
            <a:prstDash val="solid"/>
          </a:ln>
        </p:spPr>
      </p:sp>
      <p:sp>
        <p:nvSpPr>
          <p:cNvPr id="10" name="Text 7"/>
          <p:cNvSpPr txBox="1"/>
          <p:nvPr/>
        </p:nvSpPr>
        <p:spPr>
          <a:xfrm>
            <a:off x="731520" y="2249424"/>
            <a:ext cx="4846320" cy="384048"/>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tls_self_signed_cert.vpn_ca</a:t>
            </a:r>
            <a:endParaRPr lang="en-US" sz="1500" dirty="0"/>
          </a:p>
        </p:txBody>
      </p:sp>
      <p:sp>
        <p:nvSpPr>
          <p:cNvPr id="11" name="Shape 8"/>
          <p:cNvSpPr/>
          <p:nvPr/>
        </p:nvSpPr>
        <p:spPr>
          <a:xfrm>
            <a:off x="5806440" y="2441448"/>
            <a:ext cx="274320" cy="0"/>
          </a:xfrm>
          <a:prstGeom prst="line">
            <a:avLst/>
          </a:prstGeom>
          <a:noFill/>
          <a:ln w="25400">
            <a:solidFill>
              <a:srgbClr val="5B3FD0"/>
            </a:solidFill>
            <a:prstDash val="solid"/>
            <a:tailEnd type="triangle"/>
          </a:ln>
        </p:spPr>
      </p:sp>
      <p:sp>
        <p:nvSpPr>
          <p:cNvPr id="12" name="Text 9"/>
          <p:cNvSpPr txBox="1"/>
          <p:nvPr/>
        </p:nvSpPr>
        <p:spPr>
          <a:xfrm>
            <a:off x="6172200" y="2112264"/>
            <a:ext cx="5468112" cy="658368"/>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il certificato della CA</a:t>
            </a:r>
            <a:endParaRPr lang="en-US" sz="1600" dirty="0"/>
          </a:p>
          <a:p>
            <a:pPr indent="0" marL="0">
              <a:buNone/>
            </a:pPr>
            <a:r>
              <a:rPr lang="en-US" sz="1300" i="1" dirty="0">
                <a:solidFill>
                  <a:srgbClr val="5F6478"/>
                </a:solidFill>
                <a:latin typeface="Calibri" pitchFamily="34" charset="0"/>
                <a:ea typeface="Calibri" pitchFamily="34" charset="-122"/>
                <a:cs typeface="Calibri" pitchFamily="34" charset="-120"/>
              </a:rPr>
              <a:t>il comune si dichiara comune</a:t>
            </a:r>
            <a:endParaRPr lang="en-US" sz="1600" dirty="0"/>
          </a:p>
        </p:txBody>
      </p:sp>
      <p:sp>
        <p:nvSpPr>
          <p:cNvPr id="13" name="Shape 10"/>
          <p:cNvSpPr/>
          <p:nvPr/>
        </p:nvSpPr>
        <p:spPr>
          <a:xfrm>
            <a:off x="548640" y="2898648"/>
            <a:ext cx="5212080" cy="658368"/>
          </a:xfrm>
          <a:prstGeom prst="roundRect">
            <a:avLst>
              <a:gd name="adj" fmla="val 11111"/>
            </a:avLst>
          </a:prstGeom>
          <a:solidFill>
            <a:srgbClr val="1E1E2E"/>
          </a:solidFill>
          <a:ln w="12700">
            <a:solidFill>
              <a:srgbClr val="1E1E2E"/>
            </a:solidFill>
            <a:prstDash val="solid"/>
          </a:ln>
        </p:spPr>
      </p:sp>
      <p:sp>
        <p:nvSpPr>
          <p:cNvPr id="14" name="Text 11"/>
          <p:cNvSpPr txBox="1"/>
          <p:nvPr/>
        </p:nvSpPr>
        <p:spPr>
          <a:xfrm>
            <a:off x="731520" y="3035808"/>
            <a:ext cx="4846320" cy="384048"/>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tls_private_key.vpn_server</a:t>
            </a:r>
            <a:endParaRPr lang="en-US" sz="1500" dirty="0"/>
          </a:p>
        </p:txBody>
      </p:sp>
      <p:sp>
        <p:nvSpPr>
          <p:cNvPr id="15" name="Shape 12"/>
          <p:cNvSpPr/>
          <p:nvPr/>
        </p:nvSpPr>
        <p:spPr>
          <a:xfrm>
            <a:off x="5806440" y="3227832"/>
            <a:ext cx="274320" cy="0"/>
          </a:xfrm>
          <a:prstGeom prst="line">
            <a:avLst/>
          </a:prstGeom>
          <a:noFill/>
          <a:ln w="25400">
            <a:solidFill>
              <a:srgbClr val="5B3FD0"/>
            </a:solidFill>
            <a:prstDash val="solid"/>
            <a:tailEnd type="triangle"/>
          </a:ln>
        </p:spPr>
      </p:sp>
      <p:sp>
        <p:nvSpPr>
          <p:cNvPr id="16" name="Text 13"/>
          <p:cNvSpPr txBox="1"/>
          <p:nvPr/>
        </p:nvSpPr>
        <p:spPr>
          <a:xfrm>
            <a:off x="6172200" y="2898648"/>
            <a:ext cx="5468112" cy="658368"/>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la chiave del server</a:t>
            </a:r>
            <a:endParaRPr lang="en-US" sz="1600" dirty="0"/>
          </a:p>
        </p:txBody>
      </p:sp>
      <p:sp>
        <p:nvSpPr>
          <p:cNvPr id="17" name="Shape 14"/>
          <p:cNvSpPr/>
          <p:nvPr/>
        </p:nvSpPr>
        <p:spPr>
          <a:xfrm>
            <a:off x="548640" y="3685032"/>
            <a:ext cx="5212080" cy="658368"/>
          </a:xfrm>
          <a:prstGeom prst="roundRect">
            <a:avLst>
              <a:gd name="adj" fmla="val 11111"/>
            </a:avLst>
          </a:prstGeom>
          <a:solidFill>
            <a:srgbClr val="1E1E2E"/>
          </a:solidFill>
          <a:ln w="12700">
            <a:solidFill>
              <a:srgbClr val="1E1E2E"/>
            </a:solidFill>
            <a:prstDash val="solid"/>
          </a:ln>
        </p:spPr>
      </p:sp>
      <p:sp>
        <p:nvSpPr>
          <p:cNvPr id="18" name="Text 15"/>
          <p:cNvSpPr txBox="1"/>
          <p:nvPr/>
        </p:nvSpPr>
        <p:spPr>
          <a:xfrm>
            <a:off x="731520" y="3822192"/>
            <a:ext cx="4846320" cy="384048"/>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tls_cert_request.vpn_server</a:t>
            </a:r>
            <a:endParaRPr lang="en-US" sz="1500" dirty="0"/>
          </a:p>
        </p:txBody>
      </p:sp>
      <p:sp>
        <p:nvSpPr>
          <p:cNvPr id="19" name="Shape 16"/>
          <p:cNvSpPr/>
          <p:nvPr/>
        </p:nvSpPr>
        <p:spPr>
          <a:xfrm>
            <a:off x="5806440" y="4014216"/>
            <a:ext cx="274320" cy="0"/>
          </a:xfrm>
          <a:prstGeom prst="line">
            <a:avLst/>
          </a:prstGeom>
          <a:noFill/>
          <a:ln w="25400">
            <a:solidFill>
              <a:srgbClr val="5B3FD0"/>
            </a:solidFill>
            <a:prstDash val="solid"/>
            <a:tailEnd type="triangle"/>
          </a:ln>
        </p:spPr>
      </p:sp>
      <p:sp>
        <p:nvSpPr>
          <p:cNvPr id="20" name="Text 17"/>
          <p:cNvSpPr txBox="1"/>
          <p:nvPr/>
        </p:nvSpPr>
        <p:spPr>
          <a:xfrm>
            <a:off x="6172200" y="3685032"/>
            <a:ext cx="5468112" cy="658368"/>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la richiesta: "sono vpn.corso-aws.internal"</a:t>
            </a:r>
            <a:endParaRPr lang="en-US" sz="1600" dirty="0"/>
          </a:p>
          <a:p>
            <a:pPr indent="0" marL="0">
              <a:buNone/>
            </a:pPr>
            <a:r>
              <a:rPr lang="en-US" sz="1300" i="1" dirty="0">
                <a:solidFill>
                  <a:srgbClr val="5F6478"/>
                </a:solidFill>
                <a:latin typeface="Calibri" pitchFamily="34" charset="0"/>
                <a:ea typeface="Calibri" pitchFamily="34" charset="-122"/>
                <a:cs typeface="Calibri" pitchFamily="34" charset="-120"/>
              </a:rPr>
              <a:t>il modulo</a:t>
            </a:r>
            <a:endParaRPr lang="en-US" sz="1600" dirty="0"/>
          </a:p>
        </p:txBody>
      </p:sp>
      <p:sp>
        <p:nvSpPr>
          <p:cNvPr id="21" name="Shape 18"/>
          <p:cNvSpPr/>
          <p:nvPr/>
        </p:nvSpPr>
        <p:spPr>
          <a:xfrm>
            <a:off x="548640" y="4471416"/>
            <a:ext cx="5212080" cy="658368"/>
          </a:xfrm>
          <a:prstGeom prst="roundRect">
            <a:avLst>
              <a:gd name="adj" fmla="val 11111"/>
            </a:avLst>
          </a:prstGeom>
          <a:solidFill>
            <a:srgbClr val="1E1E2E"/>
          </a:solidFill>
          <a:ln w="12700">
            <a:solidFill>
              <a:srgbClr val="1E1E2E"/>
            </a:solidFill>
            <a:prstDash val="solid"/>
          </a:ln>
        </p:spPr>
      </p:sp>
      <p:sp>
        <p:nvSpPr>
          <p:cNvPr id="22" name="Text 19"/>
          <p:cNvSpPr txBox="1"/>
          <p:nvPr/>
        </p:nvSpPr>
        <p:spPr>
          <a:xfrm>
            <a:off x="731520" y="4608576"/>
            <a:ext cx="4846320" cy="384048"/>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tls_locally_signed_cert.vpn_server</a:t>
            </a:r>
            <a:endParaRPr lang="en-US" sz="1500" dirty="0"/>
          </a:p>
        </p:txBody>
      </p:sp>
      <p:sp>
        <p:nvSpPr>
          <p:cNvPr id="23" name="Shape 20"/>
          <p:cNvSpPr/>
          <p:nvPr/>
        </p:nvSpPr>
        <p:spPr>
          <a:xfrm>
            <a:off x="5806440" y="4800600"/>
            <a:ext cx="274320" cy="0"/>
          </a:xfrm>
          <a:prstGeom prst="line">
            <a:avLst/>
          </a:prstGeom>
          <a:noFill/>
          <a:ln w="25400">
            <a:solidFill>
              <a:srgbClr val="5B3FD0"/>
            </a:solidFill>
            <a:prstDash val="solid"/>
            <a:tailEnd type="triangle"/>
          </a:ln>
        </p:spPr>
      </p:sp>
      <p:sp>
        <p:nvSpPr>
          <p:cNvPr id="24" name="Text 21"/>
          <p:cNvSpPr txBox="1"/>
          <p:nvPr/>
        </p:nvSpPr>
        <p:spPr>
          <a:xfrm>
            <a:off x="6172200" y="4471416"/>
            <a:ext cx="5468112" cy="658368"/>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la CA firma: nasce il certificato</a:t>
            </a:r>
            <a:endParaRPr lang="en-US" sz="1600" dirty="0"/>
          </a:p>
          <a:p>
            <a:pPr indent="0" marL="0">
              <a:buNone/>
            </a:pPr>
            <a:r>
              <a:rPr lang="en-US" sz="1300" i="1" dirty="0">
                <a:solidFill>
                  <a:srgbClr val="5F6478"/>
                </a:solidFill>
                <a:latin typeface="Calibri" pitchFamily="34" charset="0"/>
                <a:ea typeface="Calibri" pitchFamily="34" charset="-122"/>
                <a:cs typeface="Calibri" pitchFamily="34" charset="-120"/>
              </a:rPr>
              <a:t>il comune timbra la carta</a:t>
            </a:r>
            <a:endParaRPr lang="en-US" sz="1600" dirty="0"/>
          </a:p>
        </p:txBody>
      </p:sp>
      <p:sp>
        <p:nvSpPr>
          <p:cNvPr id="25" name="Shape 22"/>
          <p:cNvSpPr/>
          <p:nvPr/>
        </p:nvSpPr>
        <p:spPr>
          <a:xfrm>
            <a:off x="548640" y="5257800"/>
            <a:ext cx="5212080" cy="658368"/>
          </a:xfrm>
          <a:prstGeom prst="roundRect">
            <a:avLst>
              <a:gd name="adj" fmla="val 11111"/>
            </a:avLst>
          </a:prstGeom>
          <a:solidFill>
            <a:srgbClr val="1E1E2E"/>
          </a:solidFill>
          <a:ln w="12700">
            <a:solidFill>
              <a:srgbClr val="1E1E2E"/>
            </a:solidFill>
            <a:prstDash val="solid"/>
          </a:ln>
        </p:spPr>
      </p:sp>
      <p:sp>
        <p:nvSpPr>
          <p:cNvPr id="26" name="Text 23"/>
          <p:cNvSpPr txBox="1"/>
          <p:nvPr/>
        </p:nvSpPr>
        <p:spPr>
          <a:xfrm>
            <a:off x="731520" y="5394960"/>
            <a:ext cx="4846320" cy="384048"/>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aws_acm_certificate.vpn_server</a:t>
            </a:r>
            <a:endParaRPr lang="en-US" sz="1500" dirty="0"/>
          </a:p>
        </p:txBody>
      </p:sp>
      <p:sp>
        <p:nvSpPr>
          <p:cNvPr id="27" name="Shape 24"/>
          <p:cNvSpPr/>
          <p:nvPr/>
        </p:nvSpPr>
        <p:spPr>
          <a:xfrm>
            <a:off x="5806440" y="5586984"/>
            <a:ext cx="274320" cy="0"/>
          </a:xfrm>
          <a:prstGeom prst="line">
            <a:avLst/>
          </a:prstGeom>
          <a:noFill/>
          <a:ln w="25400">
            <a:solidFill>
              <a:srgbClr val="5B3FD0"/>
            </a:solidFill>
            <a:prstDash val="solid"/>
            <a:tailEnd type="triangle"/>
          </a:ln>
        </p:spPr>
      </p:sp>
      <p:sp>
        <p:nvSpPr>
          <p:cNvPr id="28" name="Text 25"/>
          <p:cNvSpPr txBox="1"/>
          <p:nvPr/>
        </p:nvSpPr>
        <p:spPr>
          <a:xfrm>
            <a:off x="6172200" y="5257800"/>
            <a:ext cx="5468112" cy="658368"/>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caricato in ACM: ora esiste in AWS</a:t>
            </a:r>
            <a:endParaRPr lang="en-US" sz="1600" dirty="0"/>
          </a:p>
        </p:txBody>
      </p:sp>
      <p:sp>
        <p:nvSpPr>
          <p:cNvPr id="29" name="Text 26"/>
          <p:cNvSpPr txBox="1"/>
          <p:nvPr/>
        </p:nvSpPr>
        <p:spPr>
          <a:xfrm>
            <a:off x="548640" y="6080760"/>
            <a:ext cx="11094415" cy="274320"/>
          </a:xfrm>
          <a:prstGeom prst="rect">
            <a:avLst/>
          </a:prstGeom>
          <a:noFill/>
          <a:ln/>
        </p:spPr>
        <p:txBody>
          <a:bodyPr wrap="square" lIns="0" tIns="0" rIns="0" bIns="0" rtlCol="0" anchor="ctr"/>
          <a:lstStyle/>
          <a:p>
            <a:pPr algn="l" indent="0" marL="0">
              <a:buNone/>
            </a:pPr>
            <a:r>
              <a:rPr lang="en-US" sz="1400" i="1" dirty="0">
                <a:solidFill>
                  <a:srgbClr val="5F6478"/>
                </a:solidFill>
                <a:latin typeface="Calibri" pitchFamily="34" charset="0"/>
                <a:ea typeface="Calibri" pitchFamily="34" charset="-122"/>
                <a:cs typeface="Calibri" pitchFamily="34" charset="-120"/>
              </a:rPr>
              <a:t>Le prime cinque generano solo testo (dentro lo state). Solo l'ultima crea qualcosa in AWS.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il login e il registro delle connessioni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25880"/>
            <a:ext cx="11094415" cy="1554480"/>
          </a:xfrm>
          <a:prstGeom prst="roundRect">
            <a:avLst>
              <a:gd name="adj" fmla="val 4706"/>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vpn.tf · 2. il login</a:t>
            </a:r>
            <a:endParaRPr lang="en-US" sz="1300" dirty="0"/>
          </a:p>
        </p:txBody>
      </p:sp>
      <p:sp>
        <p:nvSpPr>
          <p:cNvPr id="7" name="Text 4"/>
          <p:cNvSpPr txBox="1"/>
          <p:nvPr/>
        </p:nvSpPr>
        <p:spPr>
          <a:xfrm>
            <a:off x="731520" y="1737360"/>
            <a:ext cx="10728655" cy="100584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"aws_iam_saml_provider" "vpn"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"${var.project}-vpn"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saml_metadata_document = file("${path.module}/vpn-saml-metadata.xml")</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548640" y="2926080"/>
            <a:ext cx="11094415" cy="365760"/>
          </a:xfrm>
          <a:prstGeom prst="rect">
            <a:avLst/>
          </a:prstGeom>
          <a:noFill/>
          <a:ln/>
        </p:spPr>
        <p:txBody>
          <a:bodyPr wrap="square" lIns="0" tIns="0" rIns="0" bIns="0" rtlCol="0" anchor="ctr"/>
          <a:lstStyle/>
          <a:p>
            <a:pPr algn="l" indent="0" marL="0">
              <a:buNone/>
            </a:pPr>
            <a:r>
              <a:rPr lang="en-US" sz="1400" i="1" dirty="0">
                <a:solidFill>
                  <a:srgbClr val="5F6478"/>
                </a:solidFill>
                <a:latin typeface="Calibri" pitchFamily="34" charset="0"/>
                <a:ea typeface="Calibri" pitchFamily="34" charset="-122"/>
                <a:cs typeface="Calibri" pitchFamily="34" charset="-120"/>
              </a:rPr>
              <a:t>file(…) legge un file · path.module = la cartella del progetto · il file XML lo scarichi da IAM Identity Center</a:t>
            </a:r>
            <a:endParaRPr lang="en-US" sz="1400" dirty="0"/>
          </a:p>
        </p:txBody>
      </p:sp>
      <p:sp>
        <p:nvSpPr>
          <p:cNvPr id="9" name="Shape 6"/>
          <p:cNvSpPr/>
          <p:nvPr/>
        </p:nvSpPr>
        <p:spPr>
          <a:xfrm>
            <a:off x="548640" y="3383280"/>
            <a:ext cx="11094415" cy="2514600"/>
          </a:xfrm>
          <a:prstGeom prst="roundRect">
            <a:avLst>
              <a:gd name="adj" fmla="val 2909"/>
            </a:avLst>
          </a:prstGeom>
          <a:solidFill>
            <a:srgbClr val="1E1E2E"/>
          </a:solidFill>
          <a:ln w="12700">
            <a:solidFill>
              <a:srgbClr val="1E1E2E"/>
            </a:solidFill>
            <a:prstDash val="solid"/>
          </a:ln>
        </p:spPr>
      </p:sp>
      <p:sp>
        <p:nvSpPr>
          <p:cNvPr id="10" name="Text 7"/>
          <p:cNvSpPr txBox="1"/>
          <p:nvPr/>
        </p:nvSpPr>
        <p:spPr>
          <a:xfrm>
            <a:off x="731520" y="34564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vpn.tf · 3. il registro</a:t>
            </a:r>
            <a:endParaRPr lang="en-US" sz="1300" dirty="0"/>
          </a:p>
        </p:txBody>
      </p:sp>
      <p:sp>
        <p:nvSpPr>
          <p:cNvPr id="11" name="Text 8"/>
          <p:cNvSpPr txBox="1"/>
          <p:nvPr/>
        </p:nvSpPr>
        <p:spPr>
          <a:xfrm>
            <a:off x="731520" y="3794760"/>
            <a:ext cx="10728655" cy="19659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"aws_cloudwatch_log_group" "vpn"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"/${var.project}/client-vpn"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retention_in_days = 30          </a:t>
            </a:r>
            <a:pPr indent="0" marL="0">
              <a:buNone/>
            </a:pPr>
            <a:r>
              <a:rPr lang="en-US" sz="1600" dirty="0">
                <a:solidFill>
                  <a:srgbClr val="8FD694"/>
                </a:solidFill>
                <a:latin typeface="Courier New" pitchFamily="34" charset="0"/>
                <a:ea typeface="Courier New" pitchFamily="34" charset="-122"/>
                <a:cs typeface="Courier New" pitchFamily="34" charset="-120"/>
              </a:rPr>
              <a:t># conserva 30 giorni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"aws_cloudwatch_log_stream" "vpn"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"connessioni"   </a:t>
            </a:r>
            <a:pPr indent="0" marL="0">
              <a:buNone/>
            </a:pPr>
            <a:r>
              <a:rPr lang="en-US" sz="1600" dirty="0">
                <a:solidFill>
                  <a:srgbClr val="8FD694"/>
                </a:solidFill>
                <a:latin typeface="Courier New" pitchFamily="34" charset="0"/>
                <a:ea typeface="Courier New" pitchFamily="34" charset="-122"/>
                <a:cs typeface="Courier New" pitchFamily="34" charset="-120"/>
              </a:rPr>
              <a:t># il "quaderno"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log_group_name = aws_cloudwatch_log_group.vpn.name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l'endpoint, l'imbocco del tunnel</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25880"/>
            <a:ext cx="11094415" cy="4846320"/>
          </a:xfrm>
          <a:prstGeom prst="roundRect">
            <a:avLst>
              <a:gd name="adj" fmla="val 1509"/>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vpn.tf · 4. l'endpoint</a:t>
            </a:r>
            <a:endParaRPr lang="en-US" sz="1300" dirty="0"/>
          </a:p>
        </p:txBody>
      </p:sp>
      <p:sp>
        <p:nvSpPr>
          <p:cNvPr id="7" name="Text 4"/>
          <p:cNvSpPr txBox="1"/>
          <p:nvPr/>
        </p:nvSpPr>
        <p:spPr>
          <a:xfrm>
            <a:off x="731520" y="1737360"/>
            <a:ext cx="10728655" cy="429768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"aws_ec2_client_vpn_endpoint" "main"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server_certificate_arn = aws_acm_certificate.vpn_server.arn</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client_cidr_block      = var.vpn_client_cidr            </a:t>
            </a:r>
            <a:pPr indent="0" marL="0">
              <a:buNone/>
            </a:pPr>
            <a:r>
              <a:rPr lang="en-US" sz="1500" dirty="0">
                <a:solidFill>
                  <a:srgbClr val="8FD694"/>
                </a:solidFill>
                <a:latin typeface="Courier New" pitchFamily="34" charset="0"/>
                <a:ea typeface="Courier New" pitchFamily="34" charset="-122"/>
                <a:cs typeface="Courier New" pitchFamily="34" charset="-120"/>
              </a:rPr>
              <a:t># 10.100.0.0/22</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vpc_id                 = aws_vpc.main.id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security_group_ids     = [aws_security_group.vpn.id]    </a:t>
            </a:r>
            <a:pPr indent="0" marL="0">
              <a:buNone/>
            </a:pPr>
            <a:r>
              <a:rPr lang="en-US" sz="1500" dirty="0">
                <a:solidFill>
                  <a:srgbClr val="8FD694"/>
                </a:solidFill>
                <a:latin typeface="Courier New" pitchFamily="34" charset="0"/>
                <a:ea typeface="Courier New" pitchFamily="34" charset="-122"/>
                <a:cs typeface="Courier New" pitchFamily="34" charset="-120"/>
              </a:rPr>
              <a:t># lezione 3</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split_tunnel           = true</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dns_servers            = [cidrhost(var.vpc_cidr, 2)]    </a:t>
            </a:r>
            <a:pPr indent="0" marL="0">
              <a:buNone/>
            </a:pPr>
            <a:r>
              <a:rPr lang="en-US" sz="1500" dirty="0">
                <a:solidFill>
                  <a:srgbClr val="8FD694"/>
                </a:solidFill>
                <a:latin typeface="Courier New" pitchFamily="34" charset="0"/>
                <a:ea typeface="Courier New" pitchFamily="34" charset="-122"/>
                <a:cs typeface="Courier New" pitchFamily="34" charset="-120"/>
              </a:rPr>
              <a:t># 10.20.0.2</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session_timeout_hours  = 8</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authentication_options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type              = "federated-authentication"         </a:t>
            </a:r>
            <a:pPr indent="0" marL="0">
              <a:buNone/>
            </a:pPr>
            <a:r>
              <a:rPr lang="en-US" sz="1500" dirty="0">
                <a:solidFill>
                  <a:srgbClr val="8FD694"/>
                </a:solidFill>
                <a:latin typeface="Courier New" pitchFamily="34" charset="0"/>
                <a:ea typeface="Courier New" pitchFamily="34" charset="-122"/>
                <a:cs typeface="Courier New" pitchFamily="34" charset="-120"/>
              </a:rPr>
              <a:t># login aziendale</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saml_provider_arn = aws_iam_saml_provider.vpn.arn</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connection_log_options { … }                             </a:t>
            </a:r>
            <a:pPr indent="0" marL="0">
              <a:buNone/>
            </a:pPr>
            <a:r>
              <a:rPr lang="en-US" sz="1500" dirty="0">
                <a:solidFill>
                  <a:srgbClr val="8FD694"/>
                </a:solidFill>
                <a:latin typeface="Courier New" pitchFamily="34" charset="0"/>
                <a:ea typeface="Courier New" pitchFamily="34" charset="-122"/>
                <a:cs typeface="Courier New" pitchFamily="34" charset="-120"/>
              </a:rPr>
              <a:t># il registro</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le subnet e le regole per gruppo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325880"/>
            <a:ext cx="11094415" cy="1783080"/>
          </a:xfrm>
          <a:prstGeom prst="roundRect">
            <a:avLst>
              <a:gd name="adj" fmla="val 4103"/>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vpn.tf · 5. le subnet</a:t>
            </a:r>
            <a:endParaRPr lang="en-US" sz="1300" dirty="0"/>
          </a:p>
        </p:txBody>
      </p:sp>
      <p:sp>
        <p:nvSpPr>
          <p:cNvPr id="7" name="Text 4"/>
          <p:cNvSpPr txBox="1"/>
          <p:nvPr/>
        </p:nvSpPr>
        <p:spPr>
          <a:xfrm>
            <a:off x="731520" y="1737360"/>
            <a:ext cx="10728655" cy="123444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"aws_ec2_client_vpn_network_association" "private"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for_each               = aws_subnet.private      </a:t>
            </a:r>
            <a:pPr indent="0" marL="0">
              <a:buNone/>
            </a:pPr>
            <a:r>
              <a:rPr lang="en-US" sz="1500" dirty="0">
                <a:solidFill>
                  <a:srgbClr val="8FD694"/>
                </a:solidFill>
                <a:latin typeface="Courier New" pitchFamily="34" charset="0"/>
                <a:ea typeface="Courier New" pitchFamily="34" charset="-122"/>
                <a:cs typeface="Courier New" pitchFamily="34" charset="-120"/>
              </a:rPr>
              <a:t># una per AZ</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client_vpn_endpoint_id = aws_ec2_client_vpn_endpoint.main.id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subnet_id              = each.value.id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8" name="Shape 5"/>
          <p:cNvSpPr/>
          <p:nvPr/>
        </p:nvSpPr>
        <p:spPr>
          <a:xfrm>
            <a:off x="548640" y="3291840"/>
            <a:ext cx="11094415" cy="2011680"/>
          </a:xfrm>
          <a:prstGeom prst="roundRect">
            <a:avLst>
              <a:gd name="adj" fmla="val 3636"/>
            </a:avLst>
          </a:prstGeom>
          <a:solidFill>
            <a:srgbClr val="1E1E2E"/>
          </a:solidFill>
          <a:ln w="12700">
            <a:solidFill>
              <a:srgbClr val="1E1E2E"/>
            </a:solidFill>
            <a:prstDash val="solid"/>
          </a:ln>
        </p:spPr>
      </p:sp>
      <p:sp>
        <p:nvSpPr>
          <p:cNvPr id="9" name="Text 6"/>
          <p:cNvSpPr txBox="1"/>
          <p:nvPr/>
        </p:nvSpPr>
        <p:spPr>
          <a:xfrm>
            <a:off x="731520" y="336499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vpn.tf · 6. le regole</a:t>
            </a:r>
            <a:endParaRPr lang="en-US" sz="1300" dirty="0"/>
          </a:p>
        </p:txBody>
      </p:sp>
      <p:sp>
        <p:nvSpPr>
          <p:cNvPr id="10" name="Text 7"/>
          <p:cNvSpPr txBox="1"/>
          <p:nvPr/>
        </p:nvSpPr>
        <p:spPr>
          <a:xfrm>
            <a:off x="731520" y="3703320"/>
            <a:ext cx="10728655" cy="146304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"aws_ec2_client_vpn_authorization_rule" "db_admin"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for_each               = toset(local.db_cidrs)   </a:t>
            </a:r>
            <a:pPr indent="0" marL="0">
              <a:buNone/>
            </a:pPr>
            <a:r>
              <a:rPr lang="en-US" sz="1500" dirty="0">
                <a:solidFill>
                  <a:srgbClr val="8FD694"/>
                </a:solidFill>
                <a:latin typeface="Courier New" pitchFamily="34" charset="0"/>
                <a:ea typeface="Courier New" pitchFamily="34" charset="-122"/>
                <a:cs typeface="Courier New" pitchFamily="34" charset="-120"/>
              </a:rPr>
              <a:t># dalla lezione 3</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client_vpn_endpoint_id = aws_ec2_client_vpn_endpoint.main.id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target_network_cidr    = each.key                </a:t>
            </a:r>
            <a:pPr indent="0" marL="0">
              <a:buNone/>
            </a:pPr>
            <a:r>
              <a:rPr lang="en-US" sz="1500" dirty="0">
                <a:solidFill>
                  <a:srgbClr val="8FD694"/>
                </a:solidFill>
                <a:latin typeface="Courier New" pitchFamily="34" charset="0"/>
                <a:ea typeface="Courier New" pitchFamily="34" charset="-122"/>
                <a:cs typeface="Courier New" pitchFamily="34" charset="-120"/>
              </a:rPr>
              <a:t># una subnet database</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access_group_id        = var.vpn_admin_group_id  </a:t>
            </a:r>
            <a:pPr indent="0" marL="0">
              <a:buNone/>
            </a:pPr>
            <a:r>
              <a:rPr lang="en-US" sz="1500" dirty="0">
                <a:solidFill>
                  <a:srgbClr val="8FD694"/>
                </a:solidFill>
                <a:latin typeface="Courier New" pitchFamily="34" charset="0"/>
                <a:ea typeface="Courier New" pitchFamily="34" charset="-122"/>
                <a:cs typeface="Courier New" pitchFamily="34" charset="-120"/>
              </a:rPr>
              <a:t># solo vpn-admin</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11" name="Text 8"/>
          <p:cNvSpPr txBox="1"/>
          <p:nvPr/>
        </p:nvSpPr>
        <p:spPr>
          <a:xfrm>
            <a:off x="548640" y="5440680"/>
            <a:ext cx="11094415" cy="548640"/>
          </a:xfrm>
          <a:prstGeom prst="rect">
            <a:avLst/>
          </a:prstGeom>
          <a:noFill/>
          <a:ln/>
        </p:spPr>
        <p:txBody>
          <a:bodyPr wrap="square" lIns="0" tIns="0" rIns="0" bIns="0" rtlCol="0" anchor="ctr"/>
          <a:lstStyle/>
          <a:p>
            <a:pPr algn="l" indent="0" marL="0">
              <a:buNone/>
            </a:pPr>
            <a:r>
              <a:rPr lang="en-US" sz="1400" i="1" dirty="0">
                <a:solidFill>
                  <a:srgbClr val="5F6478"/>
                </a:solidFill>
                <a:latin typeface="Calibri" pitchFamily="34" charset="0"/>
                <a:ea typeface="Calibri" pitchFamily="34" charset="-122"/>
                <a:cs typeface="Calibri" pitchFamily="34" charset="-120"/>
              </a:rPr>
              <a:t>authorize_all_groups = true → tutti (regola del DNS) · access_group_id → solo quel gruppo · AWS aggiunge da sé la rotta verso la rete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in console, poi Terraform</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508760"/>
            <a:ext cx="640080" cy="640080"/>
          </a:xfrm>
          <a:prstGeom prst="ellipse">
            <a:avLst/>
          </a:prstGeom>
          <a:solidFill>
            <a:srgbClr val="5B3FD0"/>
          </a:solidFill>
          <a:ln w="12700">
            <a:solidFill>
              <a:srgbClr val="5B3FD0"/>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4"/>
          <p:cNvSpPr txBox="1"/>
          <p:nvPr/>
        </p:nvSpPr>
        <p:spPr>
          <a:xfrm>
            <a:off x="1371600" y="132588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IAM Identity Center → Groups: crea vpn-admin e vpn-dev</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Metti il tuo utente in vpn-admin · copia i due Group ID</a:t>
            </a:r>
            <a:endParaRPr lang="en-US" sz="1800" dirty="0"/>
          </a:p>
        </p:txBody>
      </p:sp>
      <p:sp>
        <p:nvSpPr>
          <p:cNvPr id="8" name="Shape 5"/>
          <p:cNvSpPr/>
          <p:nvPr/>
        </p:nvSpPr>
        <p:spPr>
          <a:xfrm>
            <a:off x="548640" y="260604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60604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0" name="Text 7"/>
          <p:cNvSpPr txBox="1"/>
          <p:nvPr/>
        </p:nvSpPr>
        <p:spPr>
          <a:xfrm>
            <a:off x="1371600" y="242316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Applications → nuova applicazione SAML 2.0</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Scarica il file XML in infra/ come vpn-saml-metadata.xml · attributi: Subject = email, memberOf = gruppi</a:t>
            </a:r>
            <a:endParaRPr lang="en-US" sz="1800" dirty="0"/>
          </a:p>
        </p:txBody>
      </p:sp>
      <p:sp>
        <p:nvSpPr>
          <p:cNvPr id="11" name="Shape 8"/>
          <p:cNvSpPr/>
          <p:nvPr/>
        </p:nvSpPr>
        <p:spPr>
          <a:xfrm>
            <a:off x="548640" y="3703320"/>
            <a:ext cx="640080" cy="640080"/>
          </a:xfrm>
          <a:prstGeom prst="ellipse">
            <a:avLst/>
          </a:prstGeom>
          <a:solidFill>
            <a:srgbClr val="5B3FD0"/>
          </a:solidFill>
          <a:ln w="12700">
            <a:solidFill>
              <a:srgbClr val="5B3FD0"/>
            </a:solidFill>
            <a:prstDash val="solid"/>
          </a:ln>
        </p:spPr>
      </p:sp>
      <p:sp>
        <p:nvSpPr>
          <p:cNvPr id="12" name="Text 9"/>
          <p:cNvSpPr txBox="1"/>
          <p:nvPr/>
        </p:nvSpPr>
        <p:spPr>
          <a:xfrm>
            <a:off x="548640" y="370332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3" name="Text 10"/>
          <p:cNvSpPr txBox="1"/>
          <p:nvPr/>
        </p:nvSpPr>
        <p:spPr>
          <a:xfrm>
            <a:off x="1371600" y="352044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terraform.tfvars: incolla i due Group ID</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vpn_admin_group_id = "…" · vpn_dev_group_id = "…"</a:t>
            </a:r>
            <a:endParaRPr lang="en-US" sz="1800" dirty="0"/>
          </a:p>
        </p:txBody>
      </p:sp>
      <p:sp>
        <p:nvSpPr>
          <p:cNvPr id="14" name="Shape 11"/>
          <p:cNvSpPr/>
          <p:nvPr/>
        </p:nvSpPr>
        <p:spPr>
          <a:xfrm>
            <a:off x="548640" y="4800600"/>
            <a:ext cx="640080" cy="640080"/>
          </a:xfrm>
          <a:prstGeom prst="ellipse">
            <a:avLst/>
          </a:prstGeom>
          <a:solidFill>
            <a:srgbClr val="5B3FD0"/>
          </a:solidFill>
          <a:ln w="12700">
            <a:solidFill>
              <a:srgbClr val="5B3FD0"/>
            </a:solidFill>
            <a:prstDash val="solid"/>
          </a:ln>
        </p:spPr>
      </p:sp>
      <p:sp>
        <p:nvSpPr>
          <p:cNvPr id="15" name="Text 12"/>
          <p:cNvSpPr txBox="1"/>
          <p:nvPr/>
        </p:nvSpPr>
        <p:spPr>
          <a:xfrm>
            <a:off x="548640" y="480060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16" name="Text 13"/>
          <p:cNvSpPr txBox="1"/>
          <p:nvPr/>
        </p:nvSpPr>
        <p:spPr>
          <a:xfrm>
            <a:off x="1371600" y="461772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init, plan, apply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init: c'è il provider nuovo tls · il collegamento alle subnet richiede diversi minuti</a:t>
            </a:r>
            <a:endParaRPr lang="en-US" sz="1800" dirty="0"/>
          </a:p>
        </p:txBody>
      </p:sp>
      <p:sp>
        <p:nvSpPr>
          <p:cNvPr id="17" name="Text 14"/>
          <p:cNvSpPr txBox="1"/>
          <p:nvPr/>
        </p:nvSpPr>
        <p:spPr>
          <a:xfrm>
            <a:off x="548640" y="5760720"/>
            <a:ext cx="11094415" cy="365760"/>
          </a:xfrm>
          <a:prstGeom prst="rect">
            <a:avLst/>
          </a:prstGeom>
          <a:noFill/>
          <a:ln/>
        </p:spPr>
        <p:txBody>
          <a:bodyPr wrap="square" lIns="0" tIns="0" rIns="0" bIns="0" rtlCol="0" anchor="ctr"/>
          <a:lstStyle/>
          <a:p>
            <a:pPr algn="l" indent="0" marL="0">
              <a:buNone/>
            </a:pPr>
            <a:r>
              <a:rPr lang="en-US" sz="1400" i="1" dirty="0">
                <a:solidFill>
                  <a:srgbClr val="5F6478"/>
                </a:solidFill>
                <a:latin typeface="Calibri" pitchFamily="34" charset="0"/>
                <a:ea typeface="Calibri" pitchFamily="34" charset="-122"/>
                <a:cs typeface="Calibri" pitchFamily="34" charset="-120"/>
              </a:rPr>
              <a:t>Tutti i valori esatti da inserire in console: dispensa 4, sezione 11.</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collegati e verifica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sp>
        <p:nvSpPr>
          <p:cNvPr id="5" name="Shape 2"/>
          <p:cNvSpPr/>
          <p:nvPr/>
        </p:nvSpPr>
        <p:spPr>
          <a:xfrm>
            <a:off x="548640" y="1508760"/>
            <a:ext cx="640080" cy="640080"/>
          </a:xfrm>
          <a:prstGeom prst="ellipse">
            <a:avLst/>
          </a:prstGeom>
          <a:solidFill>
            <a:srgbClr val="5B3FD0"/>
          </a:solidFill>
          <a:ln w="12700">
            <a:solidFill>
              <a:srgbClr val="5B3FD0"/>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7" name="Text 4"/>
          <p:cNvSpPr txBox="1"/>
          <p:nvPr/>
        </p:nvSpPr>
        <p:spPr>
          <a:xfrm>
            <a:off x="1371600" y="132588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Scarica la configurazione (corso-vpn.ovpn)</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aws ec2 export-client-vpn-client-configuration · dentro c'è il certificato della nostra CA</a:t>
            </a:r>
            <a:endParaRPr lang="en-US" sz="1800" dirty="0"/>
          </a:p>
        </p:txBody>
      </p:sp>
      <p:sp>
        <p:nvSpPr>
          <p:cNvPr id="8" name="Shape 5"/>
          <p:cNvSpPr/>
          <p:nvPr/>
        </p:nvSpPr>
        <p:spPr>
          <a:xfrm>
            <a:off x="548640" y="242316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4231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a:t>
            </a:r>
            <a:endParaRPr lang="en-US" sz="1900" dirty="0"/>
          </a:p>
        </p:txBody>
      </p:sp>
      <p:sp>
        <p:nvSpPr>
          <p:cNvPr id="10" name="Text 7"/>
          <p:cNvSpPr txBox="1"/>
          <p:nvPr/>
        </p:nvSpPr>
        <p:spPr>
          <a:xfrm>
            <a:off x="1371600" y="224028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AWS VPN Client → Add profile → Connect</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Si apre il browser: login + codice MFA → "Connected"</a:t>
            </a:r>
            <a:endParaRPr lang="en-US" sz="1800" dirty="0"/>
          </a:p>
        </p:txBody>
      </p:sp>
      <p:sp>
        <p:nvSpPr>
          <p:cNvPr id="11" name="Shape 8"/>
          <p:cNvSpPr/>
          <p:nvPr/>
        </p:nvSpPr>
        <p:spPr>
          <a:xfrm>
            <a:off x="548640" y="3337560"/>
            <a:ext cx="640080" cy="640080"/>
          </a:xfrm>
          <a:prstGeom prst="ellipse">
            <a:avLst/>
          </a:prstGeom>
          <a:solidFill>
            <a:srgbClr val="5B3FD0"/>
          </a:solidFill>
          <a:ln w="12700">
            <a:solidFill>
              <a:srgbClr val="5B3FD0"/>
            </a:solidFill>
            <a:prstDash val="solid"/>
          </a:ln>
        </p:spPr>
      </p:sp>
      <p:sp>
        <p:nvSpPr>
          <p:cNvPr id="12" name="Text 9"/>
          <p:cNvSpPr txBox="1"/>
          <p:nvPr/>
        </p:nvSpPr>
        <p:spPr>
          <a:xfrm>
            <a:off x="548640" y="33375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a:t>
            </a:r>
            <a:endParaRPr lang="en-US" sz="1900" dirty="0"/>
          </a:p>
        </p:txBody>
      </p:sp>
      <p:sp>
        <p:nvSpPr>
          <p:cNvPr id="13" name="Text 10"/>
          <p:cNvSpPr txBox="1"/>
          <p:nvPr/>
        </p:nvSpPr>
        <p:spPr>
          <a:xfrm>
            <a:off x="1371600" y="315468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Verifica: indirizzo 10.100.x.x, connessione attiva, registro</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ifconfig / ipconfig · describe-client-vpn-connections · CloudWatch → /corso-aws/client-vpn</a:t>
            </a:r>
            <a:endParaRPr lang="en-US" sz="1800" dirty="0"/>
          </a:p>
        </p:txBody>
      </p:sp>
      <p:sp>
        <p:nvSpPr>
          <p:cNvPr id="14" name="Shape 11"/>
          <p:cNvSpPr/>
          <p:nvPr/>
        </p:nvSpPr>
        <p:spPr>
          <a:xfrm>
            <a:off x="548640" y="4251960"/>
            <a:ext cx="640080" cy="640080"/>
          </a:xfrm>
          <a:prstGeom prst="ellipse">
            <a:avLst/>
          </a:prstGeom>
          <a:solidFill>
            <a:srgbClr val="5B3FD0"/>
          </a:solidFill>
          <a:ln w="12700">
            <a:solidFill>
              <a:srgbClr val="5B3FD0"/>
            </a:solidFill>
            <a:prstDash val="solid"/>
          </a:ln>
        </p:spPr>
      </p:sp>
      <p:sp>
        <p:nvSpPr>
          <p:cNvPr id="15" name="Text 12"/>
          <p:cNvSpPr txBox="1"/>
          <p:nvPr/>
        </p:nvSpPr>
        <p:spPr>
          <a:xfrm>
            <a:off x="548640" y="42519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8</a:t>
            </a:r>
            <a:endParaRPr lang="en-US" sz="1900" dirty="0"/>
          </a:p>
        </p:txBody>
      </p:sp>
      <p:sp>
        <p:nvSpPr>
          <p:cNvPr id="16" name="Text 13"/>
          <p:cNvSpPr txBox="1"/>
          <p:nvPr/>
        </p:nvSpPr>
        <p:spPr>
          <a:xfrm>
            <a:off x="1371600" y="406908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Passa da vpn-admin a vpn-dev, riconnettiti</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Cosa puoi raggiungere ora? (la prova vera sul database: lezione 6)</a:t>
            </a:r>
            <a:endParaRPr lang="en-US" sz="1800" dirty="0"/>
          </a:p>
        </p:txBody>
      </p:sp>
      <p:sp>
        <p:nvSpPr>
          <p:cNvPr id="17" name="Shape 14"/>
          <p:cNvSpPr/>
          <p:nvPr/>
        </p:nvSpPr>
        <p:spPr>
          <a:xfrm>
            <a:off x="548640" y="5166360"/>
            <a:ext cx="640080" cy="640080"/>
          </a:xfrm>
          <a:prstGeom prst="ellipse">
            <a:avLst/>
          </a:prstGeom>
          <a:solidFill>
            <a:srgbClr val="D64545"/>
          </a:solidFill>
          <a:ln w="12700">
            <a:solidFill>
              <a:srgbClr val="D64545"/>
            </a:solidFill>
            <a:prstDash val="solid"/>
          </a:ln>
        </p:spPr>
      </p:sp>
      <p:sp>
        <p:nvSpPr>
          <p:cNvPr id="18" name="Text 15"/>
          <p:cNvSpPr txBox="1"/>
          <p:nvPr/>
        </p:nvSpPr>
        <p:spPr>
          <a:xfrm>
            <a:off x="548640" y="51663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9</a:t>
            </a:r>
            <a:endParaRPr lang="en-US" sz="1900" dirty="0"/>
          </a:p>
        </p:txBody>
      </p:sp>
      <p:sp>
        <p:nvSpPr>
          <p:cNvPr id="19" name="Text 16"/>
          <p:cNvSpPr txBox="1"/>
          <p:nvPr/>
        </p:nvSpPr>
        <p:spPr>
          <a:xfrm>
            <a:off x="1371600" y="4983480"/>
            <a:ext cx="10180015"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Disconnetti, poi terraform destroy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La VPN si paga a ore per ogni subnet collegata</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Accesso remoto: Client VPN con MFA</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920240"/>
                <a:gridCol w="3657600"/>
                <a:gridCol w="2194560"/>
                <a:gridCol w="3319272"/>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VPN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tunnel cifrato verso la rete privata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SAML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"linguaggio" del login aziendale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endpoint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l'imbocco del tunnel, lato AWS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IdP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sistema di login (IAM Identity Center)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client CIDR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indirizzi per chi si collega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MFA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codice dal telefono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certificato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carta d'identità del server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authorization rule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gruppo → blocco raggiungibile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CA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l'autorità che firma i certificati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split tunnel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dalla VPN solo il traffico verso la rete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ACM</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dove AWS custodisce i certificati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CloudWatch Logs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servizio dei registri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VPN = tunnel cifrato: il tuo computer è "dentro" la rete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Indirizzi dei client 10.100.0.0/22, fuori da tutte le altre reti</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Certificato = carta d'identità del server, firmato da una CA nostra</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Login aziendale (SAML) con IAM Identity Center: MFA e gruppi</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vpn-admin anche il database, vpn-dev solo l'applicazione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Split tunnel · SSM per i comandi, VPN per i collegamenti</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dispense/dispensa-4-vpn.md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EC2: il server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2026-10-08T07:27:18Z</dcterms:created>
  <dcterms:modified xsi:type="dcterms:W3CDTF">2026-10-08T07:27:18Z</dcterms:modified>
</cp:coreProperties>
</file>