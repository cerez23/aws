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nostra rete è privata: il server della lezione 4 e il database della lezione 6 non si raggiungono da internet. Ma amministratori e sviluppatori, da casa, devono poterci lavorare. Oggi costruiamo un accesso sicuro con Tailscale: un piccolo router dentro la rete, il login con una passkey oppure con GitHub e il codice di Google Authenticator, senza nessun sistema aziendale, e permessi diversi per gruppo. Alla fine aprirete dal vostro computer la pagina del server della lezione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Riprendiamo la tabella della lezione 3. Un amministratore da casa deve raggiungere il database; uno sviluppatore l'applicazione, ma non il database; nessun altro da internet deve raggiungere niente. Il problema: chi lavora da casa è su internet, e la nostra rete da internet non si raggiunge. Aprire il database a internet sarebbe la cosa peggiore da fare. Serve un modo per far entrare nella rete privata solo le persone giuste, dopo averle riconosciute con certezza.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VPN, rete privata virtuale, è un collegamento cifrato tra il vostro computer e una rete lontana. Una volta collegati, raggiungete le risorse di quella rete con i loro indirizzi privati, come se foste dentro. L'analogia: la nostra rete è un edificio senza porte verso la strada; la VPN è un tunnel sotterraneo che parte da casa vostra e sbuca dentro. All'imbocco c'è un controllo documenti, e dentro il badge apre solo certi piani.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Tailscale si installa come un normale programma, su computer, telefoni e server. I dispositivi collegati con gli account della vostra organizzazione formano una rete privata tutta vostra: il tailnet. Tre idee. Ogni dispositivo ha un indirizzo Tailscale, 100 punto qualcosa, valido solo nel tailnet, che non si sovrappone alla nostra rete. Il traffico va diretto e cifrato tra i dispositivi: il servizio di Tailscale fa solo da centralino, dice a ognuno come raggiungere gli altri, ma non vede il contenuto. E nessuna porta da aprire: ogni dispositivo chiama in uscita; se due non riescono a parlarsi direttamente, passano da un ripetitore di Tailscale, sempre cifrato, sulla 443.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Tailscale collega i dispositivi su cui è installato. Ma il database RDS della lezione 6 non è un computer su cui installare programmi, e non vogliamo installare Tailscale su ogni server. La soluzione è un subnet router: un piccolo server EC2, dentro la nostra rete, con Tailscale, che dice al tailnet: attraverso di me si raggiungono le subnet 10.20. Il vostro computer manda i pacchetti per il server al router, nel tunnel cifrato, e il router li consegna nella rete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punto importante. Il router cambia il mittente dei pacchetti con il proprio indirizzo prima di consegnarli. Per il server e per il database, quindi, una connessione da casa arriva dal router: un indirizzo della subnet privata, con il Security Group vpn della lezione 3. Per questo le regole che abbiamo già scritto funzionano senza modifiche: il SG app accetta la 8080 dal SG vpn, il SG db accetta la 5432 dal SG vpn, e la NACL del database accetta la 5432 dalle subnet private.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Tailscale non ha password sue, e non serve nessun sistema di login aziendale. Usiamo uno di due modi. Primo, la passkey: ci si registra su Tailscale con l'impronta, il viso o il PIN del computer o del telefono, senza nessun altro account. Il secondo fattore è già incluso, ed è il modo più sicuro: niente password da rubare, e non funziona sui siti falsi. Secondo, un account GitHub gratuito, creato apposta, protetto da Google Authenticator: si entra con utente, password e il codice a sei cifre dell'app sul telefono. La regola: nessuno entra nel tailnet con una password sola. Nei gruppi della policy ogni persona si indica con il suo nome di login, che si legge nella console di Tailscale alla voce Users; per GitHub ha la forma nomeutente chiocciola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si fa, in pratica. Con la passkey: su tailscale.com si sceglie di iniziare, si sceglie la passkey, e il browser chiede l'impronta o il PIN. Finito. Con GitHub: si installa Google Authenticator sul telefono; si crea l'account su github.com; nelle impostazioni, Password and authentication, si attiva la verifica in due passaggi con l'app: si inquadra il QR code con Google Authenticator e si scrive il codice. Importante: si salvano i codici di recupero, servono se si perde il telefono. Poi su tailscale.com si entra con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volta dentro, chi può raggiungere cosa lo decide la policy del tailnet. All'inizio Tailscale consente tutto a tutti; appena scriviamo delle regole vale solo quello che è consentito, come in IAM. La policy ha quattro parti: groups, chi appartiene a quale gruppo; tagOwners, chi può dare un'etichetta ai dispositivi, qui il nostro router; acls, le regole chi raggiunge cosa; autoApprovers, quali dispositivi possono annunciare subnet senza approvazione manuale. Le regole: gli admin raggiungono le subnet private sulla 8080 e le subnet database sulla 5432; i dev solo le subnet private sulla 8080.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nella lezione 3, due controlli in fila. Prima la policy del tailnet: il mio gruppo può raggiungere questo indirizzo e questa porta? Se no, Tailscale blocca. Poi il Security Group della risorsa: accetta il SG vpn, cioè il router? L'amministratore verso il database passa entrambi. Lo sviluppatore verso il database viene fermato già da Tailscale.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router è un server EC2 come quello della lezione 4, con poche differenze: il tipo più piccolo, t4g.nano; il Security Group vpn invece di app; uno user_data che installa Tailscale invece dell'applicazione; niente in ingresso. Per entrarci per manutenzione, SSM, come per il server, ma con un role tutto suo che ha solo i permessi di SSM: il role del server dell'applicazione, nelle prossime lezioni, riceverà altri permessi che al router non servono. Due cose nuove. L'inoltro dei pacchetti: un server Linux normalmente scarta i pacchetti che non sono per lui; un router deve inoltrarli, e si attiva con l'impostazione ip_forward. E la chiave d'ingresso, che vediamo tra poco.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Nella lezione 3 il Security Group vpn usciva solo verso la nostra rete. Il router deve anche parlare con il centralino e i ripetitori di Tailscale. Aggiungiamo tre uscite verso internet: TCP 443, per il centralino, i ripetitori, l'installazione e SSM; UDP 41641, per il traffico diretto tra dispositivi, il più veloce; UDP 3478, per scoprire come raggiungere gli altri dispositivi da dietro il NAT. Senza le due UDP funziona lo stesso, ma tutto passa dai ripetitori ed è più lento.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primo avvio il router deve entrare nel tailnet da solo, senza che nessuno faccia il login per lui. Si usa una auth key: una chiave che Terraform crea in Tailscale e passa al router nel user_data. Siccome finisce nello state e nello script, la facciamo con tre protezioni. Monouso: dopo il primo utilizzo non vale più. Breve: scade dopo un'ora, anche se non usata. Effimera: se il router viene distrutto, Tailscale lo toglie da solo dall'elenco dei dispositivi.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codice. In providers.tf aggiungiamo il provider di Tailscale, che gestisce il tailnet dal codice; ha bisogno di una chiave API, che come le credenziali AWS non va mai nel codice: la legge dalla variabile d'ambiente TAILSCALE_API_KEY. Dopo va rilanciato terraform init. In variables.tf due liste di nomi di login Tailscale: gli amministratori e gli sviluppatori. E il file nuovo tailscale.tf, in quattro parti: la policy, la chiave d'ingresso, le uscite del SG vpn, il 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policy è un documento JSON. Invece di scriverlo a mano lo costruiamo con la funzione jsonencode, che trasforma una mappa HCL in JSON: così dentro possiamo usare variabili ed espressioni. I gruppi arrivano dalle variabili. Le destinazioni hanno la forma indirizzi due punti porta, e le costruiamo con espressioni for sulle liste di CIDR della lezione 3. concat unisce due liste in una. overwrite_existing_content: la policy la gestisce solo Terraform.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chiave d'ingresso: reusable false, monouso; ephemeral true, effimera; preauthorized true, entra senza approvazione; expiry un'ora; tags, l'etichetta del router. Il depends_on dice di crearla dopo la policy, perché il tag deve già esistere: uno dei rari casi in cui serve. Poi le tre uscite del SG vpn: qui ne vediamo una, le altre due sono uguali con UDP 41641 e 3478.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router è lo schema della lezione 4: AMI dal parametro, t4g.nano, subnet privata, Security Group vpn, un instance profile suo, router, con un role che ha solo la policy di SSM: ogni server ha il suo role, con i permessi che servono a lui. Lo script fa tre cose: attiva l'inoltro dei pacchetti e lo rende permanente; installa Tailscale con lo script ufficiale; lancia tailscale up, che entra nel tailnet con la chiave, si dà un nome e un'etichetta, e annuncia le subnet. join unisce la lista delle subnet in un testo separato da virgole.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Regola semplice. SSM, lezione 4, per i comandi sul server: aprire un terminale, lanciare comandi. Tailscale per tutto ciò che è un collegamento di rete: aprire l'applicazione nel browser sulla 8080, collegarsi al database con un programma come psql o DBeaver, nella lezione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L'esercizio. Uno: create l'account Tailscale con una passkey, oppure con un account GitHub protetto da Google Authenticator, come nella slide precedente; installate Tailscale sul vostro computer e fate il login. Due: create una chiave API nella console di Tailscale e mettetela nel terminale con export, mai nei file. Tre: scrivete il vostro nome di login, che trovate alla voce Users, in tailscale_admins nel tfvars. Quattro: init, perché c'è un provider nuovo, poi plan e apply; il router impiega un paio di minuti. Cinque: nella console di Tailscale, Machines, compare il router con l'etichetta e le subnet già approvate.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Seconda parte, la più bella. Sei: dal vostro computer, a casa, con Tailscale acceso, curl verso l'indirizzo privato del server della lezione 4 sulla 8080: risponde. State raggiungendo un server in una subnet privata, senza indirizzo pubblico, da casa vostra. Sette: spegnete Tailscale e riprovate: non risponde. Otto: spostatevi tra gli sviluppatori: la 8080 funziona ancora; la prova sul database la facciamo nella lezione 6. Nove: entrate nel router con SSM e lanciate tailscale status. Dieci: destroy; il router sparisce anche da Tailscale, perché era effimero.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ripasso delle parole della lezione, una riga ciascuna.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Riassumendo. Il materiale di studio è la dispensa 5, con il codice completo di tailscale.tf spiegato blocco per blocco. La prossima volta creiamo il database, e un amministratore lo raggiungerà da casa attraverso Tailscale.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7589520" y="548640"/>
            <a:ext cx="4206240" cy="5669280"/>
          </a:xfrm>
          <a:prstGeom prst="rect">
            <a:avLst/>
          </a:prstGeom>
          <a:noFill/>
          <a:ln/>
        </p:spPr>
        <p:txBody>
          <a:bodyPr wrap="square" lIns="0" tIns="0" rIns="0" bIns="0" rtlCol="0" anchor="ctr"/>
          <a:lstStyle/>
          <a:p>
            <a:pPr algn="r" indent="0" marL="0">
              <a:buNone/>
            </a:pPr>
            <a:r>
              <a:rPr lang="en-US" sz="30000" b="1" dirty="0">
                <a:solidFill>
                  <a:srgbClr val="5B3FD0"/>
                </a:solidFill>
                <a:latin typeface="Calibri" pitchFamily="34" charset="0"/>
                <a:ea typeface="Calibri" pitchFamily="34" charset="-122"/>
                <a:cs typeface="Calibri" pitchFamily="34" charset="-120"/>
              </a:rPr>
              <a:t>5</a:t>
            </a:r>
            <a:endParaRPr lang="en-US" sz="30000" dirty="0"/>
          </a:p>
        </p:txBody>
      </p:sp>
      <p:sp>
        <p:nvSpPr>
          <p:cNvPr id="3" name="Text 1"/>
          <p:cNvSpPr txBox="1"/>
          <p:nvPr/>
        </p:nvSpPr>
        <p:spPr>
          <a:xfrm>
            <a:off x="548640" y="1280160"/>
            <a:ext cx="7315200" cy="365760"/>
          </a:xfrm>
          <a:prstGeom prst="rect">
            <a:avLst/>
          </a:prstGeom>
          <a:noFill/>
          <a:ln/>
        </p:spPr>
        <p:txBody>
          <a:bodyPr wrap="square" lIns="0" tIns="0" rIns="0" bIns="0" rtlCol="0" anchor="ctr"/>
          <a:lstStyle/>
          <a:p>
            <a:pPr indent="0" marL="0">
              <a:buNone/>
            </a:pPr>
            <a:r>
              <a:rPr lang="en-US" sz="1600" b="1" dirty="0">
                <a:solidFill>
                  <a:srgbClr val="F28C28"/>
                </a:solidFill>
                <a:latin typeface="Calibri" pitchFamily="34" charset="0"/>
                <a:ea typeface="Calibri" pitchFamily="34" charset="-122"/>
                <a:cs typeface="Calibri" pitchFamily="34" charset="-120"/>
              </a:rPr>
              <a:t>Dispensa 5 · Accesso remoto: Tailscale</a:t>
            </a:r>
            <a:endParaRPr lang="en-US" sz="1600" dirty="0"/>
          </a:p>
        </p:txBody>
      </p:sp>
      <p:sp>
        <p:nvSpPr>
          <p:cNvPr id="4" name="Text 2"/>
          <p:cNvSpPr txBox="1"/>
          <p:nvPr/>
        </p:nvSpPr>
        <p:spPr>
          <a:xfrm>
            <a:off x="548640" y="1828800"/>
            <a:ext cx="7772400" cy="201168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Accesso remoto: Tailscale</a:t>
            </a:r>
            <a:endParaRPr lang="en-US" sz="4800" dirty="0"/>
          </a:p>
        </p:txBody>
      </p:sp>
      <p:sp>
        <p:nvSpPr>
          <p:cNvPr id="5" name="Text 3"/>
          <p:cNvSpPr txBox="1"/>
          <p:nvPr/>
        </p:nvSpPr>
        <p:spPr>
          <a:xfrm>
            <a:off x="548640" y="4023360"/>
            <a:ext cx="7315200" cy="1097280"/>
          </a:xfrm>
          <a:prstGeom prst="rect">
            <a:avLst/>
          </a:prstGeom>
          <a:noFill/>
          <a:ln/>
        </p:spPr>
        <p:txBody>
          <a:bodyPr wrap="square" lIns="0" tIns="0" rIns="0" bIns="0" rtlCol="0" anchor="t"/>
          <a:lstStyle/>
          <a:p>
            <a:pPr indent="0" marL="0">
              <a:buNone/>
            </a:pPr>
            <a:r>
              <a:rPr lang="en-US" sz="2000" dirty="0">
                <a:solidFill>
                  <a:srgbClr val="C9CBE0"/>
                </a:solidFill>
                <a:latin typeface="Calibri" pitchFamily="34" charset="0"/>
                <a:ea typeface="Calibri" pitchFamily="34" charset="-122"/>
                <a:cs typeface="Calibri" pitchFamily="34" charset="-120"/>
              </a:rPr>
              <a:t>Raggiungere la rete privata da casa: passkey, oppure GitHub con Google Authenticator</a:t>
            </a:r>
            <a:endParaRPr lang="en-US" sz="2000" dirty="0"/>
          </a:p>
        </p:txBody>
      </p:sp>
      <p:sp>
        <p:nvSpPr>
          <p:cNvPr id="6" name="Text 4"/>
          <p:cNvSpPr txBox="1"/>
          <p:nvPr/>
        </p:nvSpPr>
        <p:spPr>
          <a:xfrm>
            <a:off x="548640" y="6035040"/>
            <a:ext cx="7315200" cy="365760"/>
          </a:xfrm>
          <a:prstGeom prst="rect">
            <a:avLst/>
          </a:prstGeom>
          <a:noFill/>
          <a:ln/>
        </p:spPr>
        <p:txBody>
          <a:bodyPr wrap="square" lIns="0" tIns="0" rIns="0" bIns="0" rtlCol="0" anchor="ctr"/>
          <a:lstStyle/>
          <a:p>
            <a:pPr indent="0" marL="0">
              <a:buNone/>
            </a:pPr>
            <a:r>
              <a:rPr lang="en-US" sz="1200" dirty="0">
                <a:solidFill>
                  <a:srgbClr val="9A9DB8"/>
                </a:solidFill>
                <a:latin typeface="Calibri" pitchFamily="34" charset="0"/>
                <a:ea typeface="Calibri" pitchFamily="34" charset="-122"/>
                <a:cs typeface="Calibri" pitchFamily="34" charset="-120"/>
              </a:rPr>
              <a:t>Corso: Infrastruttura AWS con Terraform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problema di oggi: lavorare da casa su una rete privata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5 · Accesso remoto: Tailscale</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4023360"/>
                <a:gridCol w="4937760"/>
                <a:gridCol w="2130552"/>
              </a:tblGrid>
              <a:tr h="59436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Chi, da casa</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Verso</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Ammesso?</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594360">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un amministratore</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il database, porta 5432</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800" b="1" dirty="0">
                          <a:solidFill>
                            <a:srgbClr val="2E9E6B"/>
                          </a:solidFill>
                          <a:latin typeface="Calibri" pitchFamily="34" charset="0"/>
                          <a:ea typeface="Calibri" pitchFamily="34" charset="-122"/>
                          <a:cs typeface="Calibri" pitchFamily="34" charset="-120"/>
                        </a:rPr>
                        <a:t>SÌ</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94360">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uno sviluppatore</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l'applicazione, porta 8080</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800" b="1" dirty="0">
                          <a:solidFill>
                            <a:srgbClr val="2E9E6B"/>
                          </a:solidFill>
                          <a:latin typeface="Calibri" pitchFamily="34" charset="0"/>
                          <a:ea typeface="Calibri" pitchFamily="34" charset="-122"/>
                          <a:cs typeface="Calibri" pitchFamily="34" charset="-120"/>
                        </a:rPr>
                        <a:t>SÌ</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594360">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uno sviluppatore</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il database</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800" b="1" dirty="0">
                          <a:solidFill>
                            <a:srgbClr val="D64545"/>
                          </a:solidFill>
                          <a:latin typeface="Calibri" pitchFamily="34" charset="0"/>
                          <a:ea typeface="Calibri" pitchFamily="34" charset="-122"/>
                          <a:cs typeface="Calibri" pitchFamily="34" charset="-120"/>
                        </a:rPr>
                        <a:t>NO</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94360">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chiunque altro, da internet</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qualunque cosa</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800" b="1" dirty="0">
                          <a:solidFill>
                            <a:srgbClr val="D64545"/>
                          </a:solidFill>
                          <a:latin typeface="Calibri" pitchFamily="34" charset="0"/>
                          <a:ea typeface="Calibri" pitchFamily="34" charset="-122"/>
                          <a:cs typeface="Calibri" pitchFamily="34" charset="-120"/>
                        </a:rPr>
                        <a:t>NO</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6" name="Shape 2"/>
          <p:cNvSpPr/>
          <p:nvPr/>
        </p:nvSpPr>
        <p:spPr>
          <a:xfrm>
            <a:off x="548640" y="4572000"/>
            <a:ext cx="11094415" cy="1280160"/>
          </a:xfrm>
          <a:prstGeom prst="roundRect">
            <a:avLst>
              <a:gd name="adj" fmla="val 7143"/>
            </a:avLst>
          </a:prstGeom>
          <a:solidFill>
            <a:srgbClr val="FBE9E9"/>
          </a:solidFill>
          <a:ln w="12700">
            <a:solidFill>
              <a:srgbClr val="FBE9E9"/>
            </a:solidFill>
            <a:prstDash val="solid"/>
          </a:ln>
        </p:spPr>
      </p:sp>
      <p:sp>
        <p:nvSpPr>
          <p:cNvPr id="7" name="Text 3"/>
          <p:cNvSpPr txBox="1"/>
          <p:nvPr/>
        </p:nvSpPr>
        <p:spPr>
          <a:xfrm>
            <a:off x="822960" y="4572000"/>
            <a:ext cx="10545775" cy="1280160"/>
          </a:xfrm>
          <a:prstGeom prst="rect">
            <a:avLst/>
          </a:prstGeom>
          <a:noFill/>
          <a:ln/>
        </p:spPr>
        <p:txBody>
          <a:bodyPr wrap="square" lIns="0" tIns="0" rIns="0" bIns="0" rtlCol="0" anchor="ctr"/>
          <a:lstStyle/>
          <a:p>
            <a:pPr algn="l" indent="0" marL="0">
              <a:buNone/>
            </a:pPr>
            <a:r>
              <a:rPr lang="en-US" sz="1900" b="1" dirty="0">
                <a:solidFill>
                  <a:srgbClr val="22253A"/>
                </a:solidFill>
                <a:latin typeface="Calibri" pitchFamily="34" charset="0"/>
                <a:ea typeface="Calibri" pitchFamily="34" charset="-122"/>
                <a:cs typeface="Calibri" pitchFamily="34" charset="-120"/>
              </a:rPr>
              <a:t>Chi lavora da casa è su internet, e la nostra rete da internet non si raggiunge. Aprire il database a internet? Mai.</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Cos'è una VPN: un tunnel sotterraneo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5 · Accesso remoto: Tailscale</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VPN = collegamento cifrato: raggiungi la rete privata con i suoi indirizzi, come se fossi DENTRO.</a:t>
            </a:r>
            <a:endParaRPr lang="en-US" sz="1800" dirty="0"/>
          </a:p>
        </p:txBody>
      </p:sp>
      <p:sp>
        <p:nvSpPr>
          <p:cNvPr id="7" name="Shape 4"/>
          <p:cNvSpPr/>
          <p:nvPr/>
        </p:nvSpPr>
        <p:spPr>
          <a:xfrm>
            <a:off x="548640" y="2286000"/>
            <a:ext cx="11094415" cy="1737360"/>
          </a:xfrm>
          <a:prstGeom prst="roundRect">
            <a:avLst>
              <a:gd name="adj" fmla="val 6316"/>
            </a:avLst>
          </a:prstGeom>
          <a:solidFill>
            <a:srgbClr val="FDF0E3"/>
          </a:solidFill>
          <a:ln w="12700">
            <a:solidFill>
              <a:srgbClr val="FDF0E3"/>
            </a:solidFill>
            <a:prstDash val="solid"/>
          </a:ln>
        </p:spPr>
      </p:sp>
      <p:sp>
        <p:nvSpPr>
          <p:cNvPr id="8" name="Shape 5"/>
          <p:cNvSpPr/>
          <p:nvPr/>
        </p:nvSpPr>
        <p:spPr>
          <a:xfrm>
            <a:off x="777240" y="2514600"/>
            <a:ext cx="548640" cy="548640"/>
          </a:xfrm>
          <a:prstGeom prst="ellipse">
            <a:avLst/>
          </a:prstGeom>
          <a:solidFill>
            <a:srgbClr val="F28C28"/>
          </a:solidFill>
          <a:ln w="12700">
            <a:solidFill>
              <a:srgbClr val="F28C28"/>
            </a:solidFill>
            <a:prstDash val="solid"/>
          </a:ln>
        </p:spPr>
      </p:sp>
      <p:pic>
        <p:nvPicPr>
          <p:cNvPr id="9" name="Image 0" descr="preencoded.png">    </p:cNvPr>
          <p:cNvPicPr>
            <a:picLocks noChangeAspect="1"/>
          </p:cNvPicPr>
          <p:nvPr/>
        </p:nvPicPr>
        <p:blipFill>
          <a:blip r:embed="rId1"/>
          <a:stretch>
            <a:fillRect/>
          </a:stretch>
        </p:blipFill>
        <p:spPr>
          <a:xfrm>
            <a:off x="914400" y="2651760"/>
            <a:ext cx="274320" cy="274320"/>
          </a:xfrm>
          <a:prstGeom prst="rect">
            <a:avLst/>
          </a:prstGeom>
        </p:spPr>
      </p:pic>
      <p:sp>
        <p:nvSpPr>
          <p:cNvPr id="10" name="Text 6"/>
          <p:cNvSpPr txBox="1"/>
          <p:nvPr/>
        </p:nvSpPr>
        <p:spPr>
          <a:xfrm>
            <a:off x="1508760" y="2514600"/>
            <a:ext cx="9905695"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Il tunnel sotterraneo</a:t>
            </a:r>
            <a:endParaRPr lang="en-US" sz="1800" dirty="0"/>
          </a:p>
        </p:txBody>
      </p:sp>
      <p:sp>
        <p:nvSpPr>
          <p:cNvPr id="11" name="Text 7"/>
          <p:cNvSpPr txBox="1"/>
          <p:nvPr/>
        </p:nvSpPr>
        <p:spPr>
          <a:xfrm>
            <a:off x="777240" y="3200400"/>
            <a:ext cx="10637215" cy="640080"/>
          </a:xfrm>
          <a:prstGeom prst="rect">
            <a:avLst/>
          </a:prstGeom>
          <a:noFill/>
          <a:ln/>
        </p:spPr>
        <p:txBody>
          <a:bodyPr wrap="square" lIns="0" tIns="0" rIns="0" bIns="0" rtlCol="0" anchor="t"/>
          <a:lstStyle/>
          <a:p>
            <a:pPr indent="0" marL="0">
              <a:spcAft>
                <a:spcPts val="600"/>
              </a:spcAft>
              <a:buNone/>
            </a:pPr>
            <a:r>
              <a:rPr lang="en-US" sz="1700" dirty="0">
                <a:solidFill>
                  <a:srgbClr val="22253A"/>
                </a:solidFill>
                <a:latin typeface="Calibri" pitchFamily="34" charset="0"/>
                <a:ea typeface="Calibri" pitchFamily="34" charset="-122"/>
                <a:cs typeface="Calibri" pitchFamily="34" charset="-120"/>
              </a:rPr>
              <a:t>Parte da casa tua e sbuca dentro l'edificio senza porte. All'imbocco: il controllo documenti (il login). Dentro: il badge apre solo certi piani (le regole per gruppo).</a:t>
            </a:r>
            <a:endParaRPr lang="en-US" sz="1700" dirty="0"/>
          </a:p>
        </p:txBody>
      </p:sp>
      <p:sp>
        <p:nvSpPr>
          <p:cNvPr id="12" name="Shape 8"/>
          <p:cNvSpPr/>
          <p:nvPr/>
        </p:nvSpPr>
        <p:spPr>
          <a:xfrm>
            <a:off x="548640" y="4251960"/>
            <a:ext cx="11094415" cy="1691640"/>
          </a:xfrm>
          <a:prstGeom prst="roundRect">
            <a:avLst>
              <a:gd name="adj" fmla="val 6486"/>
            </a:avLst>
          </a:prstGeom>
          <a:solidFill>
            <a:srgbClr val="EEEAFB"/>
          </a:solidFill>
          <a:ln w="12700">
            <a:solidFill>
              <a:srgbClr val="EEEAFB"/>
            </a:solidFill>
            <a:prstDash val="solid"/>
          </a:ln>
        </p:spPr>
      </p:sp>
      <p:sp>
        <p:nvSpPr>
          <p:cNvPr id="13" name="Shape 9"/>
          <p:cNvSpPr/>
          <p:nvPr/>
        </p:nvSpPr>
        <p:spPr>
          <a:xfrm>
            <a:off x="777240" y="4480560"/>
            <a:ext cx="548640" cy="548640"/>
          </a:xfrm>
          <a:prstGeom prst="ellipse">
            <a:avLst/>
          </a:prstGeom>
          <a:solidFill>
            <a:srgbClr val="5B3FD0"/>
          </a:solidFill>
          <a:ln w="12700">
            <a:solidFill>
              <a:srgbClr val="5B3FD0"/>
            </a:solidFill>
            <a:prstDash val="solid"/>
          </a:ln>
        </p:spPr>
      </p:sp>
      <p:pic>
        <p:nvPicPr>
          <p:cNvPr id="14" name="Image 1" descr="preencoded.png">    </p:cNvPr>
          <p:cNvPicPr>
            <a:picLocks noChangeAspect="1"/>
          </p:cNvPicPr>
          <p:nvPr/>
        </p:nvPicPr>
        <p:blipFill>
          <a:blip r:embed="rId2"/>
          <a:stretch>
            <a:fillRect/>
          </a:stretch>
        </p:blipFill>
        <p:spPr>
          <a:xfrm>
            <a:off x="914400" y="4617720"/>
            <a:ext cx="274320" cy="274320"/>
          </a:xfrm>
          <a:prstGeom prst="rect">
            <a:avLst/>
          </a:prstGeom>
        </p:spPr>
      </p:pic>
      <p:sp>
        <p:nvSpPr>
          <p:cNvPr id="15" name="Text 10"/>
          <p:cNvSpPr txBox="1"/>
          <p:nvPr/>
        </p:nvSpPr>
        <p:spPr>
          <a:xfrm>
            <a:off x="1508760" y="4480560"/>
            <a:ext cx="9905695"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Perché Tailscale e non la VPN di AWS?</a:t>
            </a:r>
            <a:endParaRPr lang="en-US" sz="1800" dirty="0"/>
          </a:p>
        </p:txBody>
      </p:sp>
      <p:sp>
        <p:nvSpPr>
          <p:cNvPr id="16" name="Text 11"/>
          <p:cNvSpPr txBox="1"/>
          <p:nvPr/>
        </p:nvSpPr>
        <p:spPr>
          <a:xfrm>
            <a:off x="777240" y="5166360"/>
            <a:ext cx="10637215" cy="59436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AWS Client VPN si paga a ore per ogni subnet collegata, anche se nessuno la usa, e il login con MFA è lungo da configurare. Tailscale: piano gratuito per piccoli gruppi, un server piccolissimo su AWS, e l'MFA arriva da una passkey o da Google Authenticator: nessun login aziendale.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Come funziona Tailscale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5 · Accesso remoto: Tailscale</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I tuoi dispositivi con Tailscale formano una rete privata tutta tua: il TAILNET.</a:t>
            </a:r>
            <a:endParaRPr lang="en-US" sz="1900" dirty="0"/>
          </a:p>
        </p:txBody>
      </p:sp>
      <p:sp>
        <p:nvSpPr>
          <p:cNvPr id="7" name="Shape 4"/>
          <p:cNvSpPr/>
          <p:nvPr/>
        </p:nvSpPr>
        <p:spPr>
          <a:xfrm>
            <a:off x="548640" y="2240280"/>
            <a:ext cx="3566160" cy="2926080"/>
          </a:xfrm>
          <a:prstGeom prst="roundRect">
            <a:avLst>
              <a:gd name="adj" fmla="val 3750"/>
            </a:avLst>
          </a:prstGeom>
          <a:solidFill>
            <a:srgbClr val="EEEAFB"/>
          </a:solidFill>
          <a:ln w="12700">
            <a:solidFill>
              <a:srgbClr val="EEEAFB"/>
            </a:solidFill>
            <a:prstDash val="solid"/>
          </a:ln>
        </p:spPr>
      </p:sp>
      <p:sp>
        <p:nvSpPr>
          <p:cNvPr id="8" name="Shape 5"/>
          <p:cNvSpPr/>
          <p:nvPr/>
        </p:nvSpPr>
        <p:spPr>
          <a:xfrm>
            <a:off x="777240" y="2468880"/>
            <a:ext cx="548640" cy="548640"/>
          </a:xfrm>
          <a:prstGeom prst="ellipse">
            <a:avLst/>
          </a:prstGeom>
          <a:solidFill>
            <a:srgbClr val="5B3FD0"/>
          </a:solidFill>
          <a:ln w="12700">
            <a:solidFill>
              <a:srgbClr val="5B3FD0"/>
            </a:solidFill>
            <a:prstDash val="solid"/>
          </a:ln>
        </p:spPr>
      </p:sp>
      <p:pic>
        <p:nvPicPr>
          <p:cNvPr id="9" name="Image 0" descr="preencoded.png">    </p:cNvPr>
          <p:cNvPicPr>
            <a:picLocks noChangeAspect="1"/>
          </p:cNvPicPr>
          <p:nvPr/>
        </p:nvPicPr>
        <p:blipFill>
          <a:blip r:embed="rId1"/>
          <a:stretch>
            <a:fillRect/>
          </a:stretch>
        </p:blipFill>
        <p:spPr>
          <a:xfrm>
            <a:off x="914400" y="2606040"/>
            <a:ext cx="274320" cy="274320"/>
          </a:xfrm>
          <a:prstGeom prst="rect">
            <a:avLst/>
          </a:prstGeom>
        </p:spPr>
      </p:pic>
      <p:sp>
        <p:nvSpPr>
          <p:cNvPr id="10" name="Text 6"/>
          <p:cNvSpPr txBox="1"/>
          <p:nvPr/>
        </p:nvSpPr>
        <p:spPr>
          <a:xfrm>
            <a:off x="1508760" y="24688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Un indirizzo per dispositivo</a:t>
            </a:r>
            <a:endParaRPr lang="en-US" sz="1800" dirty="0"/>
          </a:p>
        </p:txBody>
      </p:sp>
      <p:sp>
        <p:nvSpPr>
          <p:cNvPr id="11" name="Text 7"/>
          <p:cNvSpPr txBox="1"/>
          <p:nvPr/>
        </p:nvSpPr>
        <p:spPr>
          <a:xfrm>
            <a:off x="777240" y="3154680"/>
            <a:ext cx="3108960" cy="182880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100.x.y.z, valido solo nel tailnet: non si sovrappone alla nostra rete 10.20</a:t>
            </a:r>
            <a:endParaRPr lang="en-US" sz="1600" dirty="0"/>
          </a:p>
        </p:txBody>
      </p:sp>
      <p:sp>
        <p:nvSpPr>
          <p:cNvPr id="12" name="Shape 8"/>
          <p:cNvSpPr/>
          <p:nvPr/>
        </p:nvSpPr>
        <p:spPr>
          <a:xfrm>
            <a:off x="4297680" y="2240280"/>
            <a:ext cx="3566160" cy="2926080"/>
          </a:xfrm>
          <a:prstGeom prst="roundRect">
            <a:avLst>
              <a:gd name="adj" fmla="val 3750"/>
            </a:avLst>
          </a:prstGeom>
          <a:solidFill>
            <a:srgbClr val="EEEAFB"/>
          </a:solidFill>
          <a:ln w="12700">
            <a:solidFill>
              <a:srgbClr val="EEEAFB"/>
            </a:solidFill>
            <a:prstDash val="solid"/>
          </a:ln>
        </p:spPr>
      </p:sp>
      <p:sp>
        <p:nvSpPr>
          <p:cNvPr id="13" name="Shape 9"/>
          <p:cNvSpPr/>
          <p:nvPr/>
        </p:nvSpPr>
        <p:spPr>
          <a:xfrm>
            <a:off x="4526280" y="2468880"/>
            <a:ext cx="548640" cy="548640"/>
          </a:xfrm>
          <a:prstGeom prst="ellipse">
            <a:avLst/>
          </a:prstGeom>
          <a:solidFill>
            <a:srgbClr val="5B3FD0"/>
          </a:solidFill>
          <a:ln w="12700">
            <a:solidFill>
              <a:srgbClr val="5B3FD0"/>
            </a:solidFill>
            <a:prstDash val="solid"/>
          </a:ln>
        </p:spPr>
      </p:sp>
      <p:pic>
        <p:nvPicPr>
          <p:cNvPr id="14" name="Image 1" descr="preencoded.png">    </p:cNvPr>
          <p:cNvPicPr>
            <a:picLocks noChangeAspect="1"/>
          </p:cNvPicPr>
          <p:nvPr/>
        </p:nvPicPr>
        <p:blipFill>
          <a:blip r:embed="rId2"/>
          <a:stretch>
            <a:fillRect/>
          </a:stretch>
        </p:blipFill>
        <p:spPr>
          <a:xfrm>
            <a:off x="4663440" y="2606040"/>
            <a:ext cx="274320" cy="274320"/>
          </a:xfrm>
          <a:prstGeom prst="rect">
            <a:avLst/>
          </a:prstGeom>
        </p:spPr>
      </p:pic>
      <p:sp>
        <p:nvSpPr>
          <p:cNvPr id="15" name="Text 10"/>
          <p:cNvSpPr txBox="1"/>
          <p:nvPr/>
        </p:nvSpPr>
        <p:spPr>
          <a:xfrm>
            <a:off x="5257800" y="24688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Traffico diretto e cifrato</a:t>
            </a:r>
            <a:endParaRPr lang="en-US" sz="1800" dirty="0"/>
          </a:p>
        </p:txBody>
      </p:sp>
      <p:sp>
        <p:nvSpPr>
          <p:cNvPr id="16" name="Text 11"/>
          <p:cNvSpPr txBox="1"/>
          <p:nvPr/>
        </p:nvSpPr>
        <p:spPr>
          <a:xfrm>
            <a:off x="4526280" y="3154680"/>
            <a:ext cx="3108960" cy="182880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Tailscale fa solo da "centralino": coordina, non vede il contenuto</a:t>
            </a:r>
            <a:endParaRPr lang="en-US" sz="1600" dirty="0"/>
          </a:p>
        </p:txBody>
      </p:sp>
      <p:sp>
        <p:nvSpPr>
          <p:cNvPr id="17" name="Shape 12"/>
          <p:cNvSpPr/>
          <p:nvPr/>
        </p:nvSpPr>
        <p:spPr>
          <a:xfrm>
            <a:off x="8046720" y="2240280"/>
            <a:ext cx="3566160" cy="2926080"/>
          </a:xfrm>
          <a:prstGeom prst="roundRect">
            <a:avLst>
              <a:gd name="adj" fmla="val 3750"/>
            </a:avLst>
          </a:prstGeom>
          <a:solidFill>
            <a:srgbClr val="FDF0E3"/>
          </a:solidFill>
          <a:ln w="12700">
            <a:solidFill>
              <a:srgbClr val="FDF0E3"/>
            </a:solidFill>
            <a:prstDash val="solid"/>
          </a:ln>
        </p:spPr>
      </p:sp>
      <p:sp>
        <p:nvSpPr>
          <p:cNvPr id="18" name="Shape 13"/>
          <p:cNvSpPr/>
          <p:nvPr/>
        </p:nvSpPr>
        <p:spPr>
          <a:xfrm>
            <a:off x="8275320" y="2468880"/>
            <a:ext cx="548640" cy="548640"/>
          </a:xfrm>
          <a:prstGeom prst="ellipse">
            <a:avLst/>
          </a:prstGeom>
          <a:solidFill>
            <a:srgbClr val="F28C28"/>
          </a:solidFill>
          <a:ln w="12700">
            <a:solidFill>
              <a:srgbClr val="F28C28"/>
            </a:solidFill>
            <a:prstDash val="solid"/>
          </a:ln>
        </p:spPr>
      </p:sp>
      <p:pic>
        <p:nvPicPr>
          <p:cNvPr id="19" name="Image 2" descr="preencoded.png">    </p:cNvPr>
          <p:cNvPicPr>
            <a:picLocks noChangeAspect="1"/>
          </p:cNvPicPr>
          <p:nvPr/>
        </p:nvPicPr>
        <p:blipFill>
          <a:blip r:embed="rId3"/>
          <a:stretch>
            <a:fillRect/>
          </a:stretch>
        </p:blipFill>
        <p:spPr>
          <a:xfrm>
            <a:off x="8412480" y="2606040"/>
            <a:ext cx="274320" cy="274320"/>
          </a:xfrm>
          <a:prstGeom prst="rect">
            <a:avLst/>
          </a:prstGeom>
        </p:spPr>
      </p:pic>
      <p:sp>
        <p:nvSpPr>
          <p:cNvPr id="20" name="Text 14"/>
          <p:cNvSpPr txBox="1"/>
          <p:nvPr/>
        </p:nvSpPr>
        <p:spPr>
          <a:xfrm>
            <a:off x="9006840" y="24688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Nessuna porta da aprire</a:t>
            </a:r>
            <a:endParaRPr lang="en-US" sz="1800" dirty="0"/>
          </a:p>
        </p:txBody>
      </p:sp>
      <p:sp>
        <p:nvSpPr>
          <p:cNvPr id="21" name="Text 15"/>
          <p:cNvSpPr txBox="1"/>
          <p:nvPr/>
        </p:nvSpPr>
        <p:spPr>
          <a:xfrm>
            <a:off x="8275320" y="3154680"/>
            <a:ext cx="3108960" cy="182880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tutti chiamano in uscita; se serve, un "ripetitore" sulla 443</a:t>
            </a:r>
            <a:endParaRPr lang="en-US" sz="1600" dirty="0"/>
          </a:p>
        </p:txBody>
      </p:sp>
      <p:sp>
        <p:nvSpPr>
          <p:cNvPr id="22" name="Shape 16"/>
          <p:cNvSpPr/>
          <p:nvPr/>
        </p:nvSpPr>
        <p:spPr>
          <a:xfrm>
            <a:off x="548640" y="5394960"/>
            <a:ext cx="11094415" cy="777240"/>
          </a:xfrm>
          <a:prstGeom prst="roundRect">
            <a:avLst>
              <a:gd name="adj" fmla="val 11765"/>
            </a:avLst>
          </a:prstGeom>
          <a:solidFill>
            <a:srgbClr val="FDF0E3"/>
          </a:solidFill>
          <a:ln w="12700">
            <a:solidFill>
              <a:srgbClr val="FDF0E3"/>
            </a:solidFill>
            <a:prstDash val="solid"/>
          </a:ln>
        </p:spPr>
      </p:sp>
      <p:sp>
        <p:nvSpPr>
          <p:cNvPr id="23" name="Text 17"/>
          <p:cNvSpPr txBox="1"/>
          <p:nvPr/>
        </p:nvSpPr>
        <p:spPr>
          <a:xfrm>
            <a:off x="822960" y="5394960"/>
            <a:ext cx="10545775" cy="77724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Come SSM (lezione 4): si chiama in uscita, quindi il router può stare nella subnet privata.</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subnet router: la porta d'ingresso nella rete AWS</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5 · Accesso remoto: Tailscale</a:t>
            </a:r>
            <a:endParaRPr lang="en-US" sz="1000" dirty="0"/>
          </a:p>
        </p:txBody>
      </p:sp>
      <p:sp>
        <p:nvSpPr>
          <p:cNvPr id="5" name="Shape 2"/>
          <p:cNvSpPr/>
          <p:nvPr/>
        </p:nvSpPr>
        <p:spPr>
          <a:xfrm>
            <a:off x="548640" y="1828800"/>
            <a:ext cx="2560320" cy="1371600"/>
          </a:xfrm>
          <a:prstGeom prst="roundRect">
            <a:avLst>
              <a:gd name="adj" fmla="val 6667"/>
            </a:avLst>
          </a:prstGeom>
          <a:solidFill>
            <a:srgbClr val="EEEAFB"/>
          </a:solidFill>
          <a:ln w="12700">
            <a:solidFill>
              <a:srgbClr val="EEEAFB"/>
            </a:solidFill>
            <a:prstDash val="solid"/>
          </a:ln>
        </p:spPr>
      </p:sp>
      <p:sp>
        <p:nvSpPr>
          <p:cNvPr id="6" name="Text 3"/>
          <p:cNvSpPr txBox="1"/>
          <p:nvPr/>
        </p:nvSpPr>
        <p:spPr>
          <a:xfrm>
            <a:off x="548640" y="1828800"/>
            <a:ext cx="2560320" cy="137160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Il tuo PC, da casa</a:t>
            </a:r>
            <a:endParaRPr lang="en-US" sz="1600" dirty="0"/>
          </a:p>
          <a:p>
            <a:pPr algn="ctr" indent="0" marL="0">
              <a:buNone/>
            </a:pPr>
            <a:r>
              <a:rPr lang="en-US" sz="1300" dirty="0">
                <a:solidFill>
                  <a:srgbClr val="5F6478"/>
                </a:solidFill>
                <a:latin typeface="Calibri" pitchFamily="34" charset="0"/>
                <a:ea typeface="Calibri" pitchFamily="34" charset="-122"/>
                <a:cs typeface="Calibri" pitchFamily="34" charset="-120"/>
              </a:rPr>
              <a:t>Tailscale · 100.x.y.z</a:t>
            </a:r>
            <a:endParaRPr lang="en-US" sz="1600" dirty="0"/>
          </a:p>
        </p:txBody>
      </p:sp>
      <p:sp>
        <p:nvSpPr>
          <p:cNvPr id="7" name="Shape 4"/>
          <p:cNvSpPr/>
          <p:nvPr/>
        </p:nvSpPr>
        <p:spPr>
          <a:xfrm>
            <a:off x="3154680" y="2514600"/>
            <a:ext cx="1280160" cy="0"/>
          </a:xfrm>
          <a:prstGeom prst="line">
            <a:avLst/>
          </a:prstGeom>
          <a:noFill/>
          <a:ln w="25400">
            <a:solidFill>
              <a:srgbClr val="5B3FD0"/>
            </a:solidFill>
            <a:prstDash val="solid"/>
            <a:tailEnd type="triangle"/>
          </a:ln>
        </p:spPr>
      </p:sp>
      <p:sp>
        <p:nvSpPr>
          <p:cNvPr id="8" name="Text 5"/>
          <p:cNvSpPr txBox="1"/>
          <p:nvPr/>
        </p:nvSpPr>
        <p:spPr>
          <a:xfrm>
            <a:off x="3154680" y="1965960"/>
            <a:ext cx="1280160" cy="502920"/>
          </a:xfrm>
          <a:prstGeom prst="rect">
            <a:avLst/>
          </a:prstGeom>
          <a:noFill/>
          <a:ln/>
        </p:spPr>
        <p:txBody>
          <a:bodyPr wrap="square" lIns="0" tIns="0" rIns="0" bIns="0" rtlCol="0" anchor="ctr"/>
          <a:lstStyle/>
          <a:p>
            <a:pPr algn="ctr" indent="0" marL="0">
              <a:buNone/>
            </a:pPr>
            <a:r>
              <a:rPr lang="en-US" sz="1300" b="1" dirty="0">
                <a:solidFill>
                  <a:srgbClr val="5B3FD0"/>
                </a:solidFill>
                <a:latin typeface="Calibri" pitchFamily="34" charset="0"/>
                <a:ea typeface="Calibri" pitchFamily="34" charset="-122"/>
                <a:cs typeface="Calibri" pitchFamily="34" charset="-120"/>
              </a:rPr>
              <a:t>tunnel cifrato</a:t>
            </a:r>
            <a:endParaRPr lang="en-US" sz="1300" dirty="0"/>
          </a:p>
        </p:txBody>
      </p:sp>
      <p:sp>
        <p:nvSpPr>
          <p:cNvPr id="9" name="Shape 6"/>
          <p:cNvSpPr/>
          <p:nvPr/>
        </p:nvSpPr>
        <p:spPr>
          <a:xfrm>
            <a:off x="4480560" y="1325880"/>
            <a:ext cx="7159752" cy="2926080"/>
          </a:xfrm>
          <a:prstGeom prst="roundRect">
            <a:avLst>
              <a:gd name="adj" fmla="val 3750"/>
            </a:avLst>
          </a:prstGeom>
          <a:solidFill>
            <a:srgbClr val="F7F6FD"/>
          </a:solidFill>
          <a:ln w="19050">
            <a:solidFill>
              <a:srgbClr val="5B3FD0"/>
            </a:solidFill>
            <a:prstDash val="solid"/>
          </a:ln>
        </p:spPr>
      </p:sp>
      <p:sp>
        <p:nvSpPr>
          <p:cNvPr id="10" name="Text 7"/>
          <p:cNvSpPr txBox="1"/>
          <p:nvPr/>
        </p:nvSpPr>
        <p:spPr>
          <a:xfrm>
            <a:off x="4663440" y="1371600"/>
            <a:ext cx="4572000" cy="320040"/>
          </a:xfrm>
          <a:prstGeom prst="rect">
            <a:avLst/>
          </a:prstGeom>
          <a:noFill/>
          <a:ln/>
        </p:spPr>
        <p:txBody>
          <a:bodyPr wrap="square" lIns="0" tIns="0" rIns="0" bIns="0" rtlCol="0" anchor="ctr"/>
          <a:lstStyle/>
          <a:p>
            <a:pPr algn="l" indent="0" marL="0">
              <a:buNone/>
            </a:pPr>
            <a:r>
              <a:rPr lang="en-US" sz="1300" b="1" dirty="0">
                <a:solidFill>
                  <a:srgbClr val="5B3FD0"/>
                </a:solidFill>
                <a:latin typeface="Calibri" pitchFamily="34" charset="0"/>
                <a:ea typeface="Calibri" pitchFamily="34" charset="-122"/>
                <a:cs typeface="Calibri" pitchFamily="34" charset="-120"/>
              </a:rPr>
              <a:t>La nostra rete (VPC) · Milano</a:t>
            </a:r>
            <a:endParaRPr lang="en-US" sz="1300" dirty="0"/>
          </a:p>
        </p:txBody>
      </p:sp>
      <p:sp>
        <p:nvSpPr>
          <p:cNvPr id="11" name="Shape 8"/>
          <p:cNvSpPr/>
          <p:nvPr/>
        </p:nvSpPr>
        <p:spPr>
          <a:xfrm>
            <a:off x="4663440" y="1828800"/>
            <a:ext cx="2377440" cy="1371600"/>
          </a:xfrm>
          <a:prstGeom prst="roundRect">
            <a:avLst>
              <a:gd name="adj" fmla="val 6667"/>
            </a:avLst>
          </a:prstGeom>
          <a:solidFill>
            <a:srgbClr val="1B1F3B"/>
          </a:solidFill>
          <a:ln w="12700">
            <a:solidFill>
              <a:srgbClr val="1B1F3B"/>
            </a:solidFill>
            <a:prstDash val="solid"/>
          </a:ln>
        </p:spPr>
      </p:sp>
      <p:sp>
        <p:nvSpPr>
          <p:cNvPr id="12" name="Text 9"/>
          <p:cNvSpPr txBox="1"/>
          <p:nvPr/>
        </p:nvSpPr>
        <p:spPr>
          <a:xfrm>
            <a:off x="4663440" y="1828800"/>
            <a:ext cx="2377440" cy="1371600"/>
          </a:xfrm>
          <a:prstGeom prst="rect">
            <a:avLst/>
          </a:prstGeom>
          <a:noFill/>
          <a:ln/>
        </p:spPr>
        <p:txBody>
          <a:bodyPr wrap="square" lIns="76200" tIns="76200" rIns="76200" bIns="762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Subnet router</a:t>
            </a:r>
            <a:endParaRPr lang="en-US" sz="1600" dirty="0"/>
          </a:p>
          <a:p>
            <a:pPr algn="ctr" indent="0" marL="0">
              <a:buNone/>
            </a:pPr>
            <a:r>
              <a:rPr lang="en-US" sz="1200" dirty="0">
                <a:solidFill>
                  <a:srgbClr val="C9CBE0"/>
                </a:solidFill>
                <a:latin typeface="Calibri" pitchFamily="34" charset="0"/>
                <a:ea typeface="Calibri" pitchFamily="34" charset="-122"/>
                <a:cs typeface="Calibri" pitchFamily="34" charset="-120"/>
              </a:rPr>
              <a:t>EC2 · subnet privata · SG vpn</a:t>
            </a:r>
            <a:endParaRPr lang="en-US" sz="1600" dirty="0"/>
          </a:p>
        </p:txBody>
      </p:sp>
      <p:sp>
        <p:nvSpPr>
          <p:cNvPr id="13" name="Shape 10"/>
          <p:cNvSpPr/>
          <p:nvPr/>
        </p:nvSpPr>
        <p:spPr>
          <a:xfrm>
            <a:off x="7680960" y="1783080"/>
            <a:ext cx="2377440" cy="731520"/>
          </a:xfrm>
          <a:prstGeom prst="roundRect">
            <a:avLst>
              <a:gd name="adj" fmla="val 12500"/>
            </a:avLst>
          </a:prstGeom>
          <a:solidFill>
            <a:srgbClr val="EEEAFB"/>
          </a:solidFill>
          <a:ln w="12700">
            <a:solidFill>
              <a:srgbClr val="EEEAFB"/>
            </a:solidFill>
            <a:prstDash val="solid"/>
          </a:ln>
        </p:spPr>
      </p:sp>
      <p:sp>
        <p:nvSpPr>
          <p:cNvPr id="14" name="Text 11"/>
          <p:cNvSpPr txBox="1"/>
          <p:nvPr/>
        </p:nvSpPr>
        <p:spPr>
          <a:xfrm>
            <a:off x="7680960" y="1783080"/>
            <a:ext cx="2377440" cy="731520"/>
          </a:xfrm>
          <a:prstGeom prst="rect">
            <a:avLst/>
          </a:prstGeom>
          <a:noFill/>
          <a:ln/>
        </p:spPr>
        <p:txBody>
          <a:bodyPr wrap="square" lIns="76200" tIns="76200" rIns="76200" bIns="76200" rtlCol="0" anchor="ctr"/>
          <a:lstStyle/>
          <a:p>
            <a:pPr algn="ctr" indent="0" marL="0">
              <a:buNone/>
            </a:pPr>
            <a:r>
              <a:rPr lang="en-US" sz="1400" dirty="0">
                <a:solidFill>
                  <a:srgbClr val="22253A"/>
                </a:solidFill>
                <a:latin typeface="Calibri" pitchFamily="34" charset="0"/>
                <a:ea typeface="Calibri" pitchFamily="34" charset="-122"/>
                <a:cs typeface="Calibri" pitchFamily="34" charset="-120"/>
              </a:rPr>
              <a:t>Server app · 8080</a:t>
            </a:r>
            <a:endParaRPr lang="en-US" sz="1400" dirty="0"/>
          </a:p>
        </p:txBody>
      </p:sp>
      <p:sp>
        <p:nvSpPr>
          <p:cNvPr id="15" name="Shape 12"/>
          <p:cNvSpPr/>
          <p:nvPr/>
        </p:nvSpPr>
        <p:spPr>
          <a:xfrm>
            <a:off x="7680960" y="2743200"/>
            <a:ext cx="2377440" cy="731520"/>
          </a:xfrm>
          <a:prstGeom prst="roundRect">
            <a:avLst>
              <a:gd name="adj" fmla="val 12500"/>
            </a:avLst>
          </a:prstGeom>
          <a:solidFill>
            <a:srgbClr val="E5F4EC"/>
          </a:solidFill>
          <a:ln w="12700">
            <a:solidFill>
              <a:srgbClr val="E5F4EC"/>
            </a:solidFill>
            <a:prstDash val="solid"/>
          </a:ln>
        </p:spPr>
      </p:sp>
      <p:sp>
        <p:nvSpPr>
          <p:cNvPr id="16" name="Text 13"/>
          <p:cNvSpPr txBox="1"/>
          <p:nvPr/>
        </p:nvSpPr>
        <p:spPr>
          <a:xfrm>
            <a:off x="7680960" y="2743200"/>
            <a:ext cx="2377440" cy="731520"/>
          </a:xfrm>
          <a:prstGeom prst="rect">
            <a:avLst/>
          </a:prstGeom>
          <a:noFill/>
          <a:ln/>
        </p:spPr>
        <p:txBody>
          <a:bodyPr wrap="square" lIns="76200" tIns="76200" rIns="76200" bIns="76200" rtlCol="0" anchor="ctr"/>
          <a:lstStyle/>
          <a:p>
            <a:pPr algn="ctr" indent="0" marL="0">
              <a:buNone/>
            </a:pPr>
            <a:r>
              <a:rPr lang="en-US" sz="1400" dirty="0">
                <a:solidFill>
                  <a:srgbClr val="22253A"/>
                </a:solidFill>
                <a:latin typeface="Calibri" pitchFamily="34" charset="0"/>
                <a:ea typeface="Calibri" pitchFamily="34" charset="-122"/>
                <a:cs typeface="Calibri" pitchFamily="34" charset="-120"/>
              </a:rPr>
              <a:t>Database · 5432</a:t>
            </a:r>
            <a:endParaRPr lang="en-US" sz="1400" dirty="0"/>
          </a:p>
        </p:txBody>
      </p:sp>
      <p:sp>
        <p:nvSpPr>
          <p:cNvPr id="17" name="Shape 14"/>
          <p:cNvSpPr/>
          <p:nvPr/>
        </p:nvSpPr>
        <p:spPr>
          <a:xfrm>
            <a:off x="7059168" y="2148840"/>
            <a:ext cx="594360" cy="0"/>
          </a:xfrm>
          <a:prstGeom prst="line">
            <a:avLst/>
          </a:prstGeom>
          <a:noFill/>
          <a:ln w="25400">
            <a:solidFill>
              <a:srgbClr val="5B3FD0"/>
            </a:solidFill>
            <a:prstDash val="solid"/>
            <a:tailEnd type="triangle"/>
          </a:ln>
        </p:spPr>
      </p:sp>
      <p:sp>
        <p:nvSpPr>
          <p:cNvPr id="18" name="Shape 15"/>
          <p:cNvSpPr/>
          <p:nvPr/>
        </p:nvSpPr>
        <p:spPr>
          <a:xfrm>
            <a:off x="7059168" y="3108960"/>
            <a:ext cx="594360" cy="0"/>
          </a:xfrm>
          <a:prstGeom prst="line">
            <a:avLst/>
          </a:prstGeom>
          <a:noFill/>
          <a:ln w="25400">
            <a:solidFill>
              <a:srgbClr val="2E9E6B"/>
            </a:solidFill>
            <a:prstDash val="solid"/>
            <a:tailEnd type="triangle"/>
          </a:ln>
        </p:spPr>
      </p:sp>
      <p:sp>
        <p:nvSpPr>
          <p:cNvPr id="19" name="Text 16"/>
          <p:cNvSpPr txBox="1"/>
          <p:nvPr/>
        </p:nvSpPr>
        <p:spPr>
          <a:xfrm>
            <a:off x="10149840" y="2743200"/>
            <a:ext cx="1417320" cy="731520"/>
          </a:xfrm>
          <a:prstGeom prst="rect">
            <a:avLst/>
          </a:prstGeom>
          <a:noFill/>
          <a:ln/>
        </p:spPr>
        <p:txBody>
          <a:bodyPr wrap="square" lIns="0" tIns="0" rIns="0" bIns="0" rtlCol="0" anchor="ctr"/>
          <a:lstStyle/>
          <a:p>
            <a:pPr algn="l" indent="0" marL="0">
              <a:buNone/>
            </a:pPr>
            <a:r>
              <a:rPr lang="en-US" sz="1300" b="1" dirty="0">
                <a:solidFill>
                  <a:srgbClr val="2E9E6B"/>
                </a:solidFill>
                <a:latin typeface="Calibri" pitchFamily="34" charset="0"/>
                <a:ea typeface="Calibri" pitchFamily="34" charset="-122"/>
                <a:cs typeface="Calibri" pitchFamily="34" charset="-120"/>
              </a:rPr>
              <a:t>solo admin</a:t>
            </a:r>
            <a:endParaRPr lang="en-US" sz="1300" dirty="0"/>
          </a:p>
        </p:txBody>
      </p:sp>
      <p:sp>
        <p:nvSpPr>
          <p:cNvPr id="20" name="Text 17"/>
          <p:cNvSpPr txBox="1"/>
          <p:nvPr/>
        </p:nvSpPr>
        <p:spPr>
          <a:xfrm>
            <a:off x="4663440" y="3611880"/>
            <a:ext cx="6858000" cy="457200"/>
          </a:xfrm>
          <a:prstGeom prst="rect">
            <a:avLst/>
          </a:prstGeom>
          <a:noFill/>
          <a:ln/>
        </p:spPr>
        <p:txBody>
          <a:bodyPr wrap="square" lIns="0" tIns="0" rIns="0" bIns="0" rtlCol="0" anchor="ctr"/>
          <a:lstStyle/>
          <a:p>
            <a:pPr algn="l" indent="0" marL="0">
              <a:buNone/>
            </a:pPr>
            <a:r>
              <a:rPr lang="en-US" sz="1300" i="1" dirty="0">
                <a:solidFill>
                  <a:srgbClr val="5F6478"/>
                </a:solidFill>
                <a:latin typeface="Calibri" pitchFamily="34" charset="0"/>
                <a:ea typeface="Calibri" pitchFamily="34" charset="-122"/>
                <a:cs typeface="Calibri" pitchFamily="34" charset="-120"/>
              </a:rPr>
              <a:t>il router annuncia: "attraverso di me si raggiungono 10.20.10.0/24, 10.20.20.0/24…"</a:t>
            </a:r>
            <a:endParaRPr lang="en-US" sz="1300" dirty="0"/>
          </a:p>
        </p:txBody>
      </p:sp>
      <p:sp>
        <p:nvSpPr>
          <p:cNvPr id="21" name="Shape 18"/>
          <p:cNvSpPr/>
          <p:nvPr/>
        </p:nvSpPr>
        <p:spPr>
          <a:xfrm>
            <a:off x="548640" y="4526280"/>
            <a:ext cx="11094415" cy="1463040"/>
          </a:xfrm>
          <a:prstGeom prst="roundRect">
            <a:avLst>
              <a:gd name="adj" fmla="val 7500"/>
            </a:avLst>
          </a:prstGeom>
          <a:solidFill>
            <a:srgbClr val="FDF0E3"/>
          </a:solidFill>
          <a:ln w="12700">
            <a:solidFill>
              <a:srgbClr val="FDF0E3"/>
            </a:solidFill>
            <a:prstDash val="solid"/>
          </a:ln>
        </p:spPr>
      </p:sp>
      <p:sp>
        <p:nvSpPr>
          <p:cNvPr id="22" name="Shape 19"/>
          <p:cNvSpPr/>
          <p:nvPr/>
        </p:nvSpPr>
        <p:spPr>
          <a:xfrm>
            <a:off x="777240" y="4754880"/>
            <a:ext cx="548640" cy="548640"/>
          </a:xfrm>
          <a:prstGeom prst="ellipse">
            <a:avLst/>
          </a:prstGeom>
          <a:solidFill>
            <a:srgbClr val="F28C28"/>
          </a:solidFill>
          <a:ln w="12700">
            <a:solidFill>
              <a:srgbClr val="F28C28"/>
            </a:solidFill>
            <a:prstDash val="solid"/>
          </a:ln>
        </p:spPr>
      </p:sp>
      <p:pic>
        <p:nvPicPr>
          <p:cNvPr id="23" name="Image 0" descr="preencoded.png">    </p:cNvPr>
          <p:cNvPicPr>
            <a:picLocks noChangeAspect="1"/>
          </p:cNvPicPr>
          <p:nvPr/>
        </p:nvPicPr>
        <p:blipFill>
          <a:blip r:embed="rId1"/>
          <a:stretch>
            <a:fillRect/>
          </a:stretch>
        </p:blipFill>
        <p:spPr>
          <a:xfrm>
            <a:off x="914400" y="4892040"/>
            <a:ext cx="274320" cy="274320"/>
          </a:xfrm>
          <a:prstGeom prst="rect">
            <a:avLst/>
          </a:prstGeom>
        </p:spPr>
      </p:pic>
      <p:sp>
        <p:nvSpPr>
          <p:cNvPr id="24" name="Text 20"/>
          <p:cNvSpPr txBox="1"/>
          <p:nvPr/>
        </p:nvSpPr>
        <p:spPr>
          <a:xfrm>
            <a:off x="1508760" y="4754880"/>
            <a:ext cx="9905695"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Perché un router e non Tailscale su ogni risorsa?</a:t>
            </a:r>
            <a:endParaRPr lang="en-US" sz="1800" dirty="0"/>
          </a:p>
        </p:txBody>
      </p:sp>
      <p:sp>
        <p:nvSpPr>
          <p:cNvPr id="25" name="Text 21"/>
          <p:cNvSpPr txBox="1"/>
          <p:nvPr/>
        </p:nvSpPr>
        <p:spPr>
          <a:xfrm>
            <a:off x="777240" y="5440680"/>
            <a:ext cx="10637215" cy="36576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Il database RDS (lezione 6) non è un computer su cui installare programmi. E non vogliamo Tailscale su ogni server: un solo router fa entrare in tutta la rete.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router indossa il SG vpn: le regole della lezione 3 valgono già</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5 · Accesso remoto: Tailscale</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Per server e database, chi arriva da casa arriva DAL ROUTER: indirizzo privato, Security Group vpn.</a:t>
            </a:r>
            <a:endParaRPr lang="en-US" sz="1700" dirty="0"/>
          </a:p>
        </p:txBody>
      </p:sp>
      <p:sp>
        <p:nvSpPr>
          <p:cNvPr id="7" name="Shape 4"/>
          <p:cNvSpPr/>
          <p:nvPr/>
        </p:nvSpPr>
        <p:spPr>
          <a:xfrm>
            <a:off x="548640" y="2286000"/>
            <a:ext cx="3566160" cy="1463040"/>
          </a:xfrm>
          <a:prstGeom prst="roundRect">
            <a:avLst>
              <a:gd name="adj" fmla="val 6250"/>
            </a:avLst>
          </a:prstGeom>
          <a:solidFill>
            <a:srgbClr val="EEEAFB"/>
          </a:solidFill>
          <a:ln w="12700">
            <a:solidFill>
              <a:srgbClr val="EEEAFB"/>
            </a:solidFill>
            <a:prstDash val="solid"/>
          </a:ln>
        </p:spPr>
      </p:sp>
      <p:sp>
        <p:nvSpPr>
          <p:cNvPr id="8" name="Text 5"/>
          <p:cNvSpPr txBox="1"/>
          <p:nvPr/>
        </p:nvSpPr>
        <p:spPr>
          <a:xfrm>
            <a:off x="548640" y="2286000"/>
            <a:ext cx="3566160" cy="146304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SG app (lezione 3)</a:t>
            </a:r>
            <a:endParaRPr lang="en-US" sz="1700" dirty="0"/>
          </a:p>
          <a:p>
            <a:pPr algn="ctr" indent="0" marL="0">
              <a:buNone/>
            </a:pPr>
            <a:r>
              <a:rPr lang="en-US" sz="1700" dirty="0">
                <a:solidFill>
                  <a:srgbClr val="5F6478"/>
                </a:solidFill>
                <a:latin typeface="Calibri" pitchFamily="34" charset="0"/>
                <a:ea typeface="Calibri" pitchFamily="34" charset="-122"/>
                <a:cs typeface="Calibri" pitchFamily="34" charset="-120"/>
              </a:rPr>
              <a:t>accetta la 8080 dal SG vpn</a:t>
            </a:r>
            <a:endParaRPr lang="en-US" sz="1700" dirty="0"/>
          </a:p>
        </p:txBody>
      </p:sp>
      <p:sp>
        <p:nvSpPr>
          <p:cNvPr id="9" name="Text 6"/>
          <p:cNvSpPr txBox="1"/>
          <p:nvPr/>
        </p:nvSpPr>
        <p:spPr>
          <a:xfrm>
            <a:off x="548640" y="3794760"/>
            <a:ext cx="3566160" cy="457200"/>
          </a:xfrm>
          <a:prstGeom prst="rect">
            <a:avLst/>
          </a:prstGeom>
          <a:noFill/>
          <a:ln/>
        </p:spPr>
        <p:txBody>
          <a:bodyPr wrap="square" lIns="0" tIns="0" rIns="0" bIns="0" rtlCol="0" anchor="ctr"/>
          <a:lstStyle/>
          <a:p>
            <a:pPr algn="ctr" indent="0" marL="0">
              <a:buNone/>
            </a:pPr>
            <a:r>
              <a:rPr lang="en-US" sz="1700" b="1" dirty="0">
                <a:solidFill>
                  <a:srgbClr val="2E9E6B"/>
                </a:solidFill>
                <a:latin typeface="Calibri" pitchFamily="34" charset="0"/>
                <a:ea typeface="Calibri" pitchFamily="34" charset="-122"/>
                <a:cs typeface="Calibri" pitchFamily="34" charset="-120"/>
              </a:rPr>
              <a:t>✓ funziona già</a:t>
            </a:r>
            <a:endParaRPr lang="en-US" sz="1700" dirty="0"/>
          </a:p>
        </p:txBody>
      </p:sp>
      <p:sp>
        <p:nvSpPr>
          <p:cNvPr id="10" name="Shape 7"/>
          <p:cNvSpPr/>
          <p:nvPr/>
        </p:nvSpPr>
        <p:spPr>
          <a:xfrm>
            <a:off x="4297680" y="2286000"/>
            <a:ext cx="3566160" cy="1463040"/>
          </a:xfrm>
          <a:prstGeom prst="roundRect">
            <a:avLst>
              <a:gd name="adj" fmla="val 6250"/>
            </a:avLst>
          </a:prstGeom>
          <a:solidFill>
            <a:srgbClr val="E5F4EC"/>
          </a:solidFill>
          <a:ln w="12700">
            <a:solidFill>
              <a:srgbClr val="E5F4EC"/>
            </a:solidFill>
            <a:prstDash val="solid"/>
          </a:ln>
        </p:spPr>
      </p:sp>
      <p:sp>
        <p:nvSpPr>
          <p:cNvPr id="11" name="Text 8"/>
          <p:cNvSpPr txBox="1"/>
          <p:nvPr/>
        </p:nvSpPr>
        <p:spPr>
          <a:xfrm>
            <a:off x="4297680" y="2286000"/>
            <a:ext cx="3566160" cy="146304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SG db (lezione 3)</a:t>
            </a:r>
            <a:endParaRPr lang="en-US" sz="1700" dirty="0"/>
          </a:p>
          <a:p>
            <a:pPr algn="ctr" indent="0" marL="0">
              <a:buNone/>
            </a:pPr>
            <a:r>
              <a:rPr lang="en-US" sz="1700" dirty="0">
                <a:solidFill>
                  <a:srgbClr val="5F6478"/>
                </a:solidFill>
                <a:latin typeface="Calibri" pitchFamily="34" charset="0"/>
                <a:ea typeface="Calibri" pitchFamily="34" charset="-122"/>
                <a:cs typeface="Calibri" pitchFamily="34" charset="-120"/>
              </a:rPr>
              <a:t>accetta la 5432 dal SG vpn</a:t>
            </a:r>
            <a:endParaRPr lang="en-US" sz="1700" dirty="0"/>
          </a:p>
        </p:txBody>
      </p:sp>
      <p:sp>
        <p:nvSpPr>
          <p:cNvPr id="12" name="Text 9"/>
          <p:cNvSpPr txBox="1"/>
          <p:nvPr/>
        </p:nvSpPr>
        <p:spPr>
          <a:xfrm>
            <a:off x="4297680" y="3794760"/>
            <a:ext cx="3566160" cy="457200"/>
          </a:xfrm>
          <a:prstGeom prst="rect">
            <a:avLst/>
          </a:prstGeom>
          <a:noFill/>
          <a:ln/>
        </p:spPr>
        <p:txBody>
          <a:bodyPr wrap="square" lIns="0" tIns="0" rIns="0" bIns="0" rtlCol="0" anchor="ctr"/>
          <a:lstStyle/>
          <a:p>
            <a:pPr algn="ctr" indent="0" marL="0">
              <a:buNone/>
            </a:pPr>
            <a:r>
              <a:rPr lang="en-US" sz="1700" b="1" dirty="0">
                <a:solidFill>
                  <a:srgbClr val="2E9E6B"/>
                </a:solidFill>
                <a:latin typeface="Calibri" pitchFamily="34" charset="0"/>
                <a:ea typeface="Calibri" pitchFamily="34" charset="-122"/>
                <a:cs typeface="Calibri" pitchFamily="34" charset="-120"/>
              </a:rPr>
              <a:t>✓ funziona già</a:t>
            </a:r>
            <a:endParaRPr lang="en-US" sz="1700" dirty="0"/>
          </a:p>
        </p:txBody>
      </p:sp>
      <p:sp>
        <p:nvSpPr>
          <p:cNvPr id="13" name="Shape 10"/>
          <p:cNvSpPr/>
          <p:nvPr/>
        </p:nvSpPr>
        <p:spPr>
          <a:xfrm>
            <a:off x="8046720" y="2286000"/>
            <a:ext cx="3566160" cy="1463040"/>
          </a:xfrm>
          <a:prstGeom prst="roundRect">
            <a:avLst>
              <a:gd name="adj" fmla="val 6250"/>
            </a:avLst>
          </a:prstGeom>
          <a:solidFill>
            <a:srgbClr val="FDF0E3"/>
          </a:solidFill>
          <a:ln w="12700">
            <a:solidFill>
              <a:srgbClr val="FDF0E3"/>
            </a:solidFill>
            <a:prstDash val="solid"/>
          </a:ln>
        </p:spPr>
      </p:sp>
      <p:sp>
        <p:nvSpPr>
          <p:cNvPr id="14" name="Text 11"/>
          <p:cNvSpPr txBox="1"/>
          <p:nvPr/>
        </p:nvSpPr>
        <p:spPr>
          <a:xfrm>
            <a:off x="8046720" y="2286000"/>
            <a:ext cx="3566160" cy="146304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NACL database (lezione 3)</a:t>
            </a:r>
            <a:endParaRPr lang="en-US" sz="1700" dirty="0"/>
          </a:p>
          <a:p>
            <a:pPr algn="ctr" indent="0" marL="0">
              <a:buNone/>
            </a:pPr>
            <a:r>
              <a:rPr lang="en-US" sz="1700" dirty="0">
                <a:solidFill>
                  <a:srgbClr val="5F6478"/>
                </a:solidFill>
                <a:latin typeface="Calibri" pitchFamily="34" charset="0"/>
                <a:ea typeface="Calibri" pitchFamily="34" charset="-122"/>
                <a:cs typeface="Calibri" pitchFamily="34" charset="-120"/>
              </a:rPr>
              <a:t>accetta la 5432 dalle subnet private</a:t>
            </a:r>
            <a:endParaRPr lang="en-US" sz="1700" dirty="0"/>
          </a:p>
        </p:txBody>
      </p:sp>
      <p:sp>
        <p:nvSpPr>
          <p:cNvPr id="15" name="Text 12"/>
          <p:cNvSpPr txBox="1"/>
          <p:nvPr/>
        </p:nvSpPr>
        <p:spPr>
          <a:xfrm>
            <a:off x="8046720" y="3794760"/>
            <a:ext cx="3566160" cy="457200"/>
          </a:xfrm>
          <a:prstGeom prst="rect">
            <a:avLst/>
          </a:prstGeom>
          <a:noFill/>
          <a:ln/>
        </p:spPr>
        <p:txBody>
          <a:bodyPr wrap="square" lIns="0" tIns="0" rIns="0" bIns="0" rtlCol="0" anchor="ctr"/>
          <a:lstStyle/>
          <a:p>
            <a:pPr algn="ctr" indent="0" marL="0">
              <a:buNone/>
            </a:pPr>
            <a:r>
              <a:rPr lang="en-US" sz="1700" b="1" dirty="0">
                <a:solidFill>
                  <a:srgbClr val="2E9E6B"/>
                </a:solidFill>
                <a:latin typeface="Calibri" pitchFamily="34" charset="0"/>
                <a:ea typeface="Calibri" pitchFamily="34" charset="-122"/>
                <a:cs typeface="Calibri" pitchFamily="34" charset="-120"/>
              </a:rPr>
              <a:t>✓ funziona già</a:t>
            </a:r>
            <a:endParaRPr lang="en-US" sz="1700" dirty="0"/>
          </a:p>
        </p:txBody>
      </p:sp>
      <p:sp>
        <p:nvSpPr>
          <p:cNvPr id="16" name="Shape 13"/>
          <p:cNvSpPr/>
          <p:nvPr/>
        </p:nvSpPr>
        <p:spPr>
          <a:xfrm>
            <a:off x="548640" y="4572000"/>
            <a:ext cx="11094415" cy="1005840"/>
          </a:xfrm>
          <a:prstGeom prst="roundRect">
            <a:avLst>
              <a:gd name="adj" fmla="val 9091"/>
            </a:avLst>
          </a:prstGeom>
          <a:solidFill>
            <a:srgbClr val="FDF0E3"/>
          </a:solidFill>
          <a:ln w="12700">
            <a:solidFill>
              <a:srgbClr val="FDF0E3"/>
            </a:solidFill>
            <a:prstDash val="solid"/>
          </a:ln>
        </p:spPr>
      </p:sp>
      <p:sp>
        <p:nvSpPr>
          <p:cNvPr id="17" name="Text 14"/>
          <p:cNvSpPr txBox="1"/>
          <p:nvPr/>
        </p:nvSpPr>
        <p:spPr>
          <a:xfrm>
            <a:off x="822960" y="4572000"/>
            <a:ext cx="10545775" cy="100584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Nessuna regola nuova per server e database: è il motivo per cui nella lezione 3 abbiamo creato il SG vpn.</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Chi si collega: due modi, sempre con un secondo fattore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5 · Accesso remoto: Tailscale</a:t>
            </a:r>
            <a:endParaRPr lang="en-US" sz="1000" dirty="0"/>
          </a:p>
        </p:txBody>
      </p:sp>
      <p:sp>
        <p:nvSpPr>
          <p:cNvPr id="5" name="Shape 2"/>
          <p:cNvSpPr/>
          <p:nvPr/>
        </p:nvSpPr>
        <p:spPr>
          <a:xfrm>
            <a:off x="548640" y="1280160"/>
            <a:ext cx="11094415" cy="777240"/>
          </a:xfrm>
          <a:prstGeom prst="roundRect">
            <a:avLst>
              <a:gd name="adj" fmla="val 11765"/>
            </a:avLst>
          </a:prstGeom>
          <a:solidFill>
            <a:srgbClr val="5B3FD0"/>
          </a:solidFill>
          <a:ln w="12700">
            <a:solidFill>
              <a:srgbClr val="5B3FD0"/>
            </a:solidFill>
            <a:prstDash val="solid"/>
          </a:ln>
        </p:spPr>
      </p:sp>
      <p:sp>
        <p:nvSpPr>
          <p:cNvPr id="6" name="Text 3"/>
          <p:cNvSpPr txBox="1"/>
          <p:nvPr/>
        </p:nvSpPr>
        <p:spPr>
          <a:xfrm>
            <a:off x="822960" y="1280160"/>
            <a:ext cx="10545775" cy="77724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Nessun login aziendale necessario. Regola: nessuno entra nel tailnet con una password sola.</a:t>
            </a:r>
            <a:endParaRPr lang="en-US" sz="1900" dirty="0"/>
          </a:p>
        </p:txBody>
      </p:sp>
      <p:sp>
        <p:nvSpPr>
          <p:cNvPr id="7" name="Shape 4"/>
          <p:cNvSpPr/>
          <p:nvPr/>
        </p:nvSpPr>
        <p:spPr>
          <a:xfrm>
            <a:off x="548640" y="2286000"/>
            <a:ext cx="5440680" cy="2514600"/>
          </a:xfrm>
          <a:prstGeom prst="roundRect">
            <a:avLst>
              <a:gd name="adj" fmla="val 4364"/>
            </a:avLst>
          </a:prstGeom>
          <a:solidFill>
            <a:srgbClr val="E5F4EC"/>
          </a:solidFill>
          <a:ln w="12700">
            <a:solidFill>
              <a:srgbClr val="E5F4EC"/>
            </a:solidFill>
            <a:prstDash val="solid"/>
          </a:ln>
        </p:spPr>
      </p:sp>
      <p:sp>
        <p:nvSpPr>
          <p:cNvPr id="8" name="Shape 5"/>
          <p:cNvSpPr/>
          <p:nvPr/>
        </p:nvSpPr>
        <p:spPr>
          <a:xfrm>
            <a:off x="777240" y="2514600"/>
            <a:ext cx="548640" cy="548640"/>
          </a:xfrm>
          <a:prstGeom prst="ellipse">
            <a:avLst/>
          </a:prstGeom>
          <a:solidFill>
            <a:srgbClr val="2E9E6B"/>
          </a:solidFill>
          <a:ln w="12700">
            <a:solidFill>
              <a:srgbClr val="2E9E6B"/>
            </a:solidFill>
            <a:prstDash val="solid"/>
          </a:ln>
        </p:spPr>
      </p:sp>
      <p:pic>
        <p:nvPicPr>
          <p:cNvPr id="9" name="Image 0" descr="preencoded.png">    </p:cNvPr>
          <p:cNvPicPr>
            <a:picLocks noChangeAspect="1"/>
          </p:cNvPicPr>
          <p:nvPr/>
        </p:nvPicPr>
        <p:blipFill>
          <a:blip r:embed="rId1"/>
          <a:stretch>
            <a:fillRect/>
          </a:stretch>
        </p:blipFill>
        <p:spPr>
          <a:xfrm>
            <a:off x="914400" y="2651760"/>
            <a:ext cx="274320" cy="274320"/>
          </a:xfrm>
          <a:prstGeom prst="rect">
            <a:avLst/>
          </a:prstGeom>
        </p:spPr>
      </p:pic>
      <p:sp>
        <p:nvSpPr>
          <p:cNvPr id="10" name="Text 6"/>
          <p:cNvSpPr txBox="1"/>
          <p:nvPr/>
        </p:nvSpPr>
        <p:spPr>
          <a:xfrm>
            <a:off x="1508760" y="251460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1. Passkey (consigliata)</a:t>
            </a:r>
            <a:endParaRPr lang="en-US" sz="1800" dirty="0"/>
          </a:p>
        </p:txBody>
      </p:sp>
      <p:sp>
        <p:nvSpPr>
          <p:cNvPr id="11" name="Text 7"/>
          <p:cNvSpPr txBox="1"/>
          <p:nvPr/>
        </p:nvSpPr>
        <p:spPr>
          <a:xfrm>
            <a:off x="777240" y="3200400"/>
            <a:ext cx="4983480" cy="1417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Impronta, viso o PIN del tuo computer o telefono</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Nessun altro account</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Secondo fattore già incluso · niente password da rubare</a:t>
            </a:r>
            <a:endParaRPr lang="en-US" sz="1600" dirty="0"/>
          </a:p>
        </p:txBody>
      </p:sp>
      <p:sp>
        <p:nvSpPr>
          <p:cNvPr id="12" name="Shape 8"/>
          <p:cNvSpPr/>
          <p:nvPr/>
        </p:nvSpPr>
        <p:spPr>
          <a:xfrm>
            <a:off x="6172200" y="2286000"/>
            <a:ext cx="5468112" cy="2514600"/>
          </a:xfrm>
          <a:prstGeom prst="roundRect">
            <a:avLst>
              <a:gd name="adj" fmla="val 4364"/>
            </a:avLst>
          </a:prstGeom>
          <a:solidFill>
            <a:srgbClr val="FDF0E3"/>
          </a:solidFill>
          <a:ln w="12700">
            <a:solidFill>
              <a:srgbClr val="FDF0E3"/>
            </a:solidFill>
            <a:prstDash val="solid"/>
          </a:ln>
        </p:spPr>
      </p:sp>
      <p:sp>
        <p:nvSpPr>
          <p:cNvPr id="13" name="Shape 9"/>
          <p:cNvSpPr/>
          <p:nvPr/>
        </p:nvSpPr>
        <p:spPr>
          <a:xfrm>
            <a:off x="6400800" y="2514600"/>
            <a:ext cx="548640" cy="548640"/>
          </a:xfrm>
          <a:prstGeom prst="ellipse">
            <a:avLst/>
          </a:prstGeom>
          <a:solidFill>
            <a:srgbClr val="F28C28"/>
          </a:solidFill>
          <a:ln w="12700">
            <a:solidFill>
              <a:srgbClr val="F28C28"/>
            </a:solidFill>
            <a:prstDash val="solid"/>
          </a:ln>
        </p:spPr>
      </p:sp>
      <p:pic>
        <p:nvPicPr>
          <p:cNvPr id="14" name="Image 1" descr="preencoded.png">    </p:cNvPr>
          <p:cNvPicPr>
            <a:picLocks noChangeAspect="1"/>
          </p:cNvPicPr>
          <p:nvPr/>
        </p:nvPicPr>
        <p:blipFill>
          <a:blip r:embed="rId2"/>
          <a:stretch>
            <a:fillRect/>
          </a:stretch>
        </p:blipFill>
        <p:spPr>
          <a:xfrm>
            <a:off x="6537960" y="2651760"/>
            <a:ext cx="274320" cy="274320"/>
          </a:xfrm>
          <a:prstGeom prst="rect">
            <a:avLst/>
          </a:prstGeom>
        </p:spPr>
      </p:pic>
      <p:sp>
        <p:nvSpPr>
          <p:cNvPr id="15" name="Text 10"/>
          <p:cNvSpPr txBox="1"/>
          <p:nvPr/>
        </p:nvSpPr>
        <p:spPr>
          <a:xfrm>
            <a:off x="7132320" y="251460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2. GitHub + Google Authenticator</a:t>
            </a:r>
            <a:endParaRPr lang="en-US" sz="1800" dirty="0"/>
          </a:p>
        </p:txBody>
      </p:sp>
      <p:sp>
        <p:nvSpPr>
          <p:cNvPr id="16" name="Text 11"/>
          <p:cNvSpPr txBox="1"/>
          <p:nvPr/>
        </p:nvSpPr>
        <p:spPr>
          <a:xfrm>
            <a:off x="6400800" y="3200400"/>
            <a:ext cx="5010912" cy="1417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Account GitHub gratuito, creato apposta</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Utente e password + codice a 6 cifre dall'app</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Il codice è OBBLIGATORIO: va attivato prima</a:t>
            </a:r>
            <a:endParaRPr lang="en-US" sz="1600" dirty="0"/>
          </a:p>
        </p:txBody>
      </p:sp>
      <p:sp>
        <p:nvSpPr>
          <p:cNvPr id="17" name="Shape 12"/>
          <p:cNvSpPr/>
          <p:nvPr/>
        </p:nvSpPr>
        <p:spPr>
          <a:xfrm>
            <a:off x="548640" y="5029200"/>
            <a:ext cx="5440680" cy="1143000"/>
          </a:xfrm>
          <a:prstGeom prst="roundRect">
            <a:avLst>
              <a:gd name="adj" fmla="val 9600"/>
            </a:avLst>
          </a:prstGeom>
          <a:solidFill>
            <a:srgbClr val="EEEAFB"/>
          </a:solidFill>
          <a:ln w="12700">
            <a:solidFill>
              <a:srgbClr val="EEEAFB"/>
            </a:solidFill>
            <a:prstDash val="solid"/>
          </a:ln>
        </p:spPr>
      </p:sp>
      <p:sp>
        <p:nvSpPr>
          <p:cNvPr id="18" name="Shape 13"/>
          <p:cNvSpPr/>
          <p:nvPr/>
        </p:nvSpPr>
        <p:spPr>
          <a:xfrm>
            <a:off x="777240" y="5257800"/>
            <a:ext cx="548640" cy="548640"/>
          </a:xfrm>
          <a:prstGeom prst="ellipse">
            <a:avLst/>
          </a:prstGeom>
          <a:solidFill>
            <a:srgbClr val="5B3FD0"/>
          </a:solidFill>
          <a:ln w="12700">
            <a:solidFill>
              <a:srgbClr val="5B3FD0"/>
            </a:solidFill>
            <a:prstDash val="solid"/>
          </a:ln>
        </p:spPr>
      </p:sp>
      <p:pic>
        <p:nvPicPr>
          <p:cNvPr id="19" name="Image 2" descr="preencoded.png">    </p:cNvPr>
          <p:cNvPicPr>
            <a:picLocks noChangeAspect="1"/>
          </p:cNvPicPr>
          <p:nvPr/>
        </p:nvPicPr>
        <p:blipFill>
          <a:blip r:embed="rId3"/>
          <a:stretch>
            <a:fillRect/>
          </a:stretch>
        </p:blipFill>
        <p:spPr>
          <a:xfrm>
            <a:off x="914400" y="5394960"/>
            <a:ext cx="274320" cy="274320"/>
          </a:xfrm>
          <a:prstGeom prst="rect">
            <a:avLst/>
          </a:prstGeom>
        </p:spPr>
      </p:pic>
      <p:sp>
        <p:nvSpPr>
          <p:cNvPr id="20" name="Text 14"/>
          <p:cNvSpPr txBox="1"/>
          <p:nvPr/>
        </p:nvSpPr>
        <p:spPr>
          <a:xfrm>
            <a:off x="1508760" y="525780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Nei gruppi: il nome di login</a:t>
            </a:r>
            <a:endParaRPr lang="en-US" sz="1800" dirty="0"/>
          </a:p>
        </p:txBody>
      </p:sp>
      <p:sp>
        <p:nvSpPr>
          <p:cNvPr id="21" name="Text 15"/>
          <p:cNvSpPr txBox="1"/>
          <p:nvPr/>
        </p:nvSpPr>
        <p:spPr>
          <a:xfrm>
            <a:off x="777240" y="5943600"/>
            <a:ext cx="4983480" cy="4572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console Tailscale → Users · con GitHub: nomeutente@github</a:t>
            </a:r>
            <a:endParaRPr lang="en-US" sz="1500" dirty="0"/>
          </a:p>
        </p:txBody>
      </p:sp>
      <p:sp>
        <p:nvSpPr>
          <p:cNvPr id="22" name="Shape 16"/>
          <p:cNvSpPr/>
          <p:nvPr/>
        </p:nvSpPr>
        <p:spPr>
          <a:xfrm>
            <a:off x="6172200" y="5029200"/>
            <a:ext cx="5468112" cy="1143000"/>
          </a:xfrm>
          <a:prstGeom prst="roundRect">
            <a:avLst>
              <a:gd name="adj" fmla="val 9600"/>
            </a:avLst>
          </a:prstGeom>
          <a:solidFill>
            <a:srgbClr val="EEEAFB"/>
          </a:solidFill>
          <a:ln w="12700">
            <a:solidFill>
              <a:srgbClr val="EEEAFB"/>
            </a:solidFill>
            <a:prstDash val="solid"/>
          </a:ln>
        </p:spPr>
      </p:sp>
      <p:sp>
        <p:nvSpPr>
          <p:cNvPr id="23" name="Shape 17"/>
          <p:cNvSpPr/>
          <p:nvPr/>
        </p:nvSpPr>
        <p:spPr>
          <a:xfrm>
            <a:off x="6400800" y="5257800"/>
            <a:ext cx="548640" cy="548640"/>
          </a:xfrm>
          <a:prstGeom prst="ellipse">
            <a:avLst/>
          </a:prstGeom>
          <a:solidFill>
            <a:srgbClr val="5B3FD0"/>
          </a:solidFill>
          <a:ln w="12700">
            <a:solidFill>
              <a:srgbClr val="5B3FD0"/>
            </a:solidFill>
            <a:prstDash val="solid"/>
          </a:ln>
        </p:spPr>
      </p:sp>
      <p:pic>
        <p:nvPicPr>
          <p:cNvPr id="24" name="Image 3" descr="preencoded.png">    </p:cNvPr>
          <p:cNvPicPr>
            <a:picLocks noChangeAspect="1"/>
          </p:cNvPicPr>
          <p:nvPr/>
        </p:nvPicPr>
        <p:blipFill>
          <a:blip r:embed="rId4"/>
          <a:stretch>
            <a:fillRect/>
          </a:stretch>
        </p:blipFill>
        <p:spPr>
          <a:xfrm>
            <a:off x="6537960" y="5394960"/>
            <a:ext cx="274320" cy="274320"/>
          </a:xfrm>
          <a:prstGeom prst="rect">
            <a:avLst/>
          </a:prstGeom>
        </p:spPr>
      </p:pic>
      <p:sp>
        <p:nvSpPr>
          <p:cNvPr id="25" name="Text 18"/>
          <p:cNvSpPr txBox="1"/>
          <p:nvPr/>
        </p:nvSpPr>
        <p:spPr>
          <a:xfrm>
            <a:off x="7132320" y="525780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Chi lascia il gruppo</a:t>
            </a:r>
            <a:endParaRPr lang="en-US" sz="1800" dirty="0"/>
          </a:p>
        </p:txBody>
      </p:sp>
      <p:sp>
        <p:nvSpPr>
          <p:cNvPr id="26" name="Text 19"/>
          <p:cNvSpPr txBox="1"/>
          <p:nvPr/>
        </p:nvSpPr>
        <p:spPr>
          <a:xfrm>
            <a:off x="6400800" y="5943600"/>
            <a:ext cx="5010912" cy="4572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si rimuove da Tailscale (Users): perde subito l'accesso</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Come si attiva: passkey o GitHub con Google Authenticator</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5 · Accesso remoto: Tailscale</a:t>
            </a:r>
            <a:endParaRPr lang="en-US" sz="1000" dirty="0"/>
          </a:p>
        </p:txBody>
      </p:sp>
      <p:sp>
        <p:nvSpPr>
          <p:cNvPr id="5" name="Text 2"/>
          <p:cNvSpPr txBox="1"/>
          <p:nvPr/>
        </p:nvSpPr>
        <p:spPr>
          <a:xfrm>
            <a:off x="548640" y="1280160"/>
            <a:ext cx="5440680" cy="411480"/>
          </a:xfrm>
          <a:prstGeom prst="rect">
            <a:avLst/>
          </a:prstGeom>
          <a:noFill/>
          <a:ln/>
        </p:spPr>
        <p:txBody>
          <a:bodyPr wrap="square" lIns="0" tIns="0" rIns="0" bIns="0" rtlCol="0" anchor="ctr"/>
          <a:lstStyle/>
          <a:p>
            <a:pPr algn="l" indent="0" marL="0">
              <a:buNone/>
            </a:pPr>
            <a:r>
              <a:rPr lang="en-US" sz="1900" b="1" dirty="0">
                <a:solidFill>
                  <a:srgbClr val="2E9E6B"/>
                </a:solidFill>
                <a:latin typeface="Calibri" pitchFamily="34" charset="0"/>
                <a:ea typeface="Calibri" pitchFamily="34" charset="-122"/>
                <a:cs typeface="Calibri" pitchFamily="34" charset="-120"/>
              </a:rPr>
              <a:t>1. Passkey</a:t>
            </a:r>
            <a:endParaRPr lang="en-US" sz="1900" dirty="0"/>
          </a:p>
        </p:txBody>
      </p:sp>
      <p:sp>
        <p:nvSpPr>
          <p:cNvPr id="6" name="Shape 3"/>
          <p:cNvSpPr/>
          <p:nvPr/>
        </p:nvSpPr>
        <p:spPr>
          <a:xfrm>
            <a:off x="548640" y="1920240"/>
            <a:ext cx="548640" cy="548640"/>
          </a:xfrm>
          <a:prstGeom prst="ellipse">
            <a:avLst/>
          </a:prstGeom>
          <a:solidFill>
            <a:srgbClr val="2E9E6B"/>
          </a:solidFill>
          <a:ln w="12700">
            <a:solidFill>
              <a:srgbClr val="2E9E6B"/>
            </a:solidFill>
            <a:prstDash val="solid"/>
          </a:ln>
        </p:spPr>
      </p:sp>
      <p:sp>
        <p:nvSpPr>
          <p:cNvPr id="7" name="Text 4"/>
          <p:cNvSpPr txBox="1"/>
          <p:nvPr/>
        </p:nvSpPr>
        <p:spPr>
          <a:xfrm>
            <a:off x="548640" y="19202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1280160" y="1783080"/>
            <a:ext cx="4663440" cy="822960"/>
          </a:xfrm>
          <a:prstGeom prst="rect">
            <a:avLst/>
          </a:prstGeom>
          <a:noFill/>
          <a:ln/>
        </p:spPr>
        <p:txBody>
          <a:bodyPr wrap="square" lIns="0" tIns="0" rIns="0" bIns="0" rtlCol="0" anchor="ctr"/>
          <a:lstStyle/>
          <a:p>
            <a:pPr indent="0" marL="0">
              <a:buNone/>
            </a:pPr>
            <a:r>
              <a:rPr lang="en-US" sz="1600" b="1" dirty="0">
                <a:solidFill>
                  <a:srgbClr val="22253A"/>
                </a:solidFill>
                <a:latin typeface="Calibri" pitchFamily="34" charset="0"/>
                <a:ea typeface="Calibri" pitchFamily="34" charset="-122"/>
                <a:cs typeface="Calibri" pitchFamily="34" charset="-120"/>
              </a:rPr>
              <a:t>tailscale.com → Get started</a:t>
            </a:r>
            <a:endParaRPr lang="en-US" sz="1600" dirty="0"/>
          </a:p>
          <a:p>
            <a:pPr indent="0" marL="0">
              <a:buNone/>
            </a:pPr>
            <a:r>
              <a:rPr lang="en-US" sz="1400" dirty="0">
                <a:solidFill>
                  <a:srgbClr val="5F6478"/>
                </a:solidFill>
                <a:latin typeface="Calibri" pitchFamily="34" charset="0"/>
                <a:ea typeface="Calibri" pitchFamily="34" charset="-122"/>
                <a:cs typeface="Calibri" pitchFamily="34" charset="-120"/>
              </a:rPr>
              <a:t>scegli la passkey come modo di accesso</a:t>
            </a:r>
            <a:endParaRPr lang="en-US" sz="1600" dirty="0"/>
          </a:p>
        </p:txBody>
      </p:sp>
      <p:sp>
        <p:nvSpPr>
          <p:cNvPr id="9" name="Shape 6"/>
          <p:cNvSpPr/>
          <p:nvPr/>
        </p:nvSpPr>
        <p:spPr>
          <a:xfrm>
            <a:off x="548640" y="2971800"/>
            <a:ext cx="548640" cy="548640"/>
          </a:xfrm>
          <a:prstGeom prst="ellipse">
            <a:avLst/>
          </a:prstGeom>
          <a:solidFill>
            <a:srgbClr val="2E9E6B"/>
          </a:solidFill>
          <a:ln w="12700">
            <a:solidFill>
              <a:srgbClr val="2E9E6B"/>
            </a:solidFill>
            <a:prstDash val="solid"/>
          </a:ln>
        </p:spPr>
      </p:sp>
      <p:sp>
        <p:nvSpPr>
          <p:cNvPr id="10" name="Text 7"/>
          <p:cNvSpPr txBox="1"/>
          <p:nvPr/>
        </p:nvSpPr>
        <p:spPr>
          <a:xfrm>
            <a:off x="548640" y="2971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1280160" y="2834640"/>
            <a:ext cx="4663440" cy="822960"/>
          </a:xfrm>
          <a:prstGeom prst="rect">
            <a:avLst/>
          </a:prstGeom>
          <a:noFill/>
          <a:ln/>
        </p:spPr>
        <p:txBody>
          <a:bodyPr wrap="square" lIns="0" tIns="0" rIns="0" bIns="0" rtlCol="0" anchor="ctr"/>
          <a:lstStyle/>
          <a:p>
            <a:pPr indent="0" marL="0">
              <a:buNone/>
            </a:pPr>
            <a:r>
              <a:rPr lang="en-US" sz="1600" b="1" dirty="0">
                <a:solidFill>
                  <a:srgbClr val="22253A"/>
                </a:solidFill>
                <a:latin typeface="Calibri" pitchFamily="34" charset="0"/>
                <a:ea typeface="Calibri" pitchFamily="34" charset="-122"/>
                <a:cs typeface="Calibri" pitchFamily="34" charset="-120"/>
              </a:rPr>
              <a:t>Conferma con impronta, viso o PIN</a:t>
            </a:r>
            <a:endParaRPr lang="en-US" sz="1600" dirty="0"/>
          </a:p>
          <a:p>
            <a:pPr indent="0" marL="0">
              <a:buNone/>
            </a:pPr>
            <a:r>
              <a:rPr lang="en-US" sz="1400" dirty="0">
                <a:solidFill>
                  <a:srgbClr val="5F6478"/>
                </a:solidFill>
                <a:latin typeface="Calibri" pitchFamily="34" charset="0"/>
                <a:ea typeface="Calibri" pitchFamily="34" charset="-122"/>
                <a:cs typeface="Calibri" pitchFamily="34" charset="-120"/>
              </a:rPr>
              <a:t>il browser te lo chiede</a:t>
            </a:r>
            <a:endParaRPr lang="en-US" sz="1600" dirty="0"/>
          </a:p>
        </p:txBody>
      </p:sp>
      <p:sp>
        <p:nvSpPr>
          <p:cNvPr id="12" name="Shape 9"/>
          <p:cNvSpPr/>
          <p:nvPr/>
        </p:nvSpPr>
        <p:spPr>
          <a:xfrm>
            <a:off x="548640" y="4023360"/>
            <a:ext cx="548640" cy="548640"/>
          </a:xfrm>
          <a:prstGeom prst="ellipse">
            <a:avLst/>
          </a:prstGeom>
          <a:solidFill>
            <a:srgbClr val="2E9E6B"/>
          </a:solidFill>
          <a:ln w="12700">
            <a:solidFill>
              <a:srgbClr val="2E9E6B"/>
            </a:solidFill>
            <a:prstDash val="solid"/>
          </a:ln>
        </p:spPr>
      </p:sp>
      <p:sp>
        <p:nvSpPr>
          <p:cNvPr id="13" name="Text 10"/>
          <p:cNvSpPr txBox="1"/>
          <p:nvPr/>
        </p:nvSpPr>
        <p:spPr>
          <a:xfrm>
            <a:off x="548640" y="4023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1280160" y="3886200"/>
            <a:ext cx="4663440" cy="822960"/>
          </a:xfrm>
          <a:prstGeom prst="rect">
            <a:avLst/>
          </a:prstGeom>
          <a:noFill/>
          <a:ln/>
        </p:spPr>
        <p:txBody>
          <a:bodyPr wrap="square" lIns="0" tIns="0" rIns="0" bIns="0" rtlCol="0" anchor="ctr"/>
          <a:lstStyle/>
          <a:p>
            <a:pPr indent="0" marL="0">
              <a:buNone/>
            </a:pPr>
            <a:r>
              <a:rPr lang="en-US" sz="1600" b="1" dirty="0">
                <a:solidFill>
                  <a:srgbClr val="22253A"/>
                </a:solidFill>
                <a:latin typeface="Calibri" pitchFamily="34" charset="0"/>
                <a:ea typeface="Calibri" pitchFamily="34" charset="-122"/>
                <a:cs typeface="Calibri" pitchFamily="34" charset="-120"/>
              </a:rPr>
              <a:t>Fatto</a:t>
            </a:r>
            <a:endParaRPr lang="en-US" sz="1600" dirty="0"/>
          </a:p>
          <a:p>
            <a:pPr indent="0" marL="0">
              <a:buNone/>
            </a:pPr>
            <a:r>
              <a:rPr lang="en-US" sz="1400" dirty="0">
                <a:solidFill>
                  <a:srgbClr val="5F6478"/>
                </a:solidFill>
                <a:latin typeface="Calibri" pitchFamily="34" charset="0"/>
                <a:ea typeface="Calibri" pitchFamily="34" charset="-122"/>
                <a:cs typeface="Calibri" pitchFamily="34" charset="-120"/>
              </a:rPr>
              <a:t>nessun altro account da creare</a:t>
            </a:r>
            <a:endParaRPr lang="en-US" sz="1600" dirty="0"/>
          </a:p>
        </p:txBody>
      </p:sp>
      <p:sp>
        <p:nvSpPr>
          <p:cNvPr id="15" name="Text 12"/>
          <p:cNvSpPr txBox="1"/>
          <p:nvPr/>
        </p:nvSpPr>
        <p:spPr>
          <a:xfrm>
            <a:off x="6400800" y="1280160"/>
            <a:ext cx="5239512" cy="411480"/>
          </a:xfrm>
          <a:prstGeom prst="rect">
            <a:avLst/>
          </a:prstGeom>
          <a:noFill/>
          <a:ln/>
        </p:spPr>
        <p:txBody>
          <a:bodyPr wrap="square" lIns="0" tIns="0" rIns="0" bIns="0" rtlCol="0" anchor="ctr"/>
          <a:lstStyle/>
          <a:p>
            <a:pPr algn="l" indent="0" marL="0">
              <a:buNone/>
            </a:pPr>
            <a:r>
              <a:rPr lang="en-US" sz="1900" b="1" dirty="0">
                <a:solidFill>
                  <a:srgbClr val="F28C28"/>
                </a:solidFill>
                <a:latin typeface="Calibri" pitchFamily="34" charset="0"/>
                <a:ea typeface="Calibri" pitchFamily="34" charset="-122"/>
                <a:cs typeface="Calibri" pitchFamily="34" charset="-120"/>
              </a:rPr>
              <a:t>2. GitHub + Google Authenticator</a:t>
            </a:r>
            <a:endParaRPr lang="en-US" sz="1900" dirty="0"/>
          </a:p>
        </p:txBody>
      </p:sp>
      <p:sp>
        <p:nvSpPr>
          <p:cNvPr id="16" name="Shape 13"/>
          <p:cNvSpPr/>
          <p:nvPr/>
        </p:nvSpPr>
        <p:spPr>
          <a:xfrm>
            <a:off x="6400800" y="1892808"/>
            <a:ext cx="457200" cy="457200"/>
          </a:xfrm>
          <a:prstGeom prst="ellipse">
            <a:avLst/>
          </a:prstGeom>
          <a:solidFill>
            <a:srgbClr val="F28C28"/>
          </a:solidFill>
          <a:ln w="12700">
            <a:solidFill>
              <a:srgbClr val="F28C28"/>
            </a:solidFill>
            <a:prstDash val="solid"/>
          </a:ln>
        </p:spPr>
      </p:sp>
      <p:sp>
        <p:nvSpPr>
          <p:cNvPr id="17" name="Text 14"/>
          <p:cNvSpPr txBox="1"/>
          <p:nvPr/>
        </p:nvSpPr>
        <p:spPr>
          <a:xfrm>
            <a:off x="6400800" y="189280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6995160" y="1783080"/>
            <a:ext cx="4645152" cy="685800"/>
          </a:xfrm>
          <a:prstGeom prst="rect">
            <a:avLst/>
          </a:prstGeom>
          <a:noFill/>
          <a:ln/>
        </p:spPr>
        <p:txBody>
          <a:bodyPr wrap="square" lIns="0" tIns="0" rIns="0" bIns="0" rtlCol="0" anchor="ctr"/>
          <a:lstStyle/>
          <a:p>
            <a:pPr indent="0" marL="0">
              <a:buNone/>
            </a:pPr>
            <a:r>
              <a:rPr lang="en-US" sz="1500" b="1" dirty="0">
                <a:solidFill>
                  <a:srgbClr val="22253A"/>
                </a:solidFill>
                <a:latin typeface="Calibri" pitchFamily="34" charset="0"/>
                <a:ea typeface="Calibri" pitchFamily="34" charset="-122"/>
                <a:cs typeface="Calibri" pitchFamily="34" charset="-120"/>
              </a:rPr>
              <a:t>Installa Google Authenticator sul telefono</a:t>
            </a:r>
            <a:endParaRPr lang="en-US" sz="1500" dirty="0"/>
          </a:p>
        </p:txBody>
      </p:sp>
      <p:sp>
        <p:nvSpPr>
          <p:cNvPr id="19" name="Shape 16"/>
          <p:cNvSpPr/>
          <p:nvPr/>
        </p:nvSpPr>
        <p:spPr>
          <a:xfrm>
            <a:off x="6400800" y="2624328"/>
            <a:ext cx="457200" cy="457200"/>
          </a:xfrm>
          <a:prstGeom prst="ellipse">
            <a:avLst/>
          </a:prstGeom>
          <a:solidFill>
            <a:srgbClr val="F28C28"/>
          </a:solidFill>
          <a:ln w="12700">
            <a:solidFill>
              <a:srgbClr val="F28C28"/>
            </a:solidFill>
            <a:prstDash val="solid"/>
          </a:ln>
        </p:spPr>
      </p:sp>
      <p:sp>
        <p:nvSpPr>
          <p:cNvPr id="20" name="Text 17"/>
          <p:cNvSpPr txBox="1"/>
          <p:nvPr/>
        </p:nvSpPr>
        <p:spPr>
          <a:xfrm>
            <a:off x="6400800" y="26243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1" name="Text 18"/>
          <p:cNvSpPr txBox="1"/>
          <p:nvPr/>
        </p:nvSpPr>
        <p:spPr>
          <a:xfrm>
            <a:off x="6995160" y="2514600"/>
            <a:ext cx="4645152" cy="685800"/>
          </a:xfrm>
          <a:prstGeom prst="rect">
            <a:avLst/>
          </a:prstGeom>
          <a:noFill/>
          <a:ln/>
        </p:spPr>
        <p:txBody>
          <a:bodyPr wrap="square" lIns="0" tIns="0" rIns="0" bIns="0" rtlCol="0" anchor="ctr"/>
          <a:lstStyle/>
          <a:p>
            <a:pPr indent="0" marL="0">
              <a:buNone/>
            </a:pPr>
            <a:r>
              <a:rPr lang="en-US" sz="1500" b="1" dirty="0">
                <a:solidFill>
                  <a:srgbClr val="22253A"/>
                </a:solidFill>
                <a:latin typeface="Calibri" pitchFamily="34" charset="0"/>
                <a:ea typeface="Calibri" pitchFamily="34" charset="-122"/>
                <a:cs typeface="Calibri" pitchFamily="34" charset="-120"/>
              </a:rPr>
              <a:t>github.com → Sign up</a:t>
            </a:r>
            <a:endParaRPr lang="en-US" sz="1500" dirty="0"/>
          </a:p>
          <a:p>
            <a:pPr indent="0" marL="0">
              <a:buNone/>
            </a:pPr>
            <a:r>
              <a:rPr lang="en-US" sz="1300" dirty="0">
                <a:solidFill>
                  <a:srgbClr val="5F6478"/>
                </a:solidFill>
                <a:latin typeface="Calibri" pitchFamily="34" charset="0"/>
                <a:ea typeface="Calibri" pitchFamily="34" charset="-122"/>
                <a:cs typeface="Calibri" pitchFamily="34" charset="-120"/>
              </a:rPr>
              <a:t>email, password, nome utente</a:t>
            </a:r>
            <a:endParaRPr lang="en-US" sz="1500" dirty="0"/>
          </a:p>
        </p:txBody>
      </p:sp>
      <p:sp>
        <p:nvSpPr>
          <p:cNvPr id="22" name="Shape 19"/>
          <p:cNvSpPr/>
          <p:nvPr/>
        </p:nvSpPr>
        <p:spPr>
          <a:xfrm>
            <a:off x="6400800" y="3355848"/>
            <a:ext cx="457200" cy="457200"/>
          </a:xfrm>
          <a:prstGeom prst="ellipse">
            <a:avLst/>
          </a:prstGeom>
          <a:solidFill>
            <a:srgbClr val="F28C28"/>
          </a:solidFill>
          <a:ln w="12700">
            <a:solidFill>
              <a:srgbClr val="F28C28"/>
            </a:solidFill>
            <a:prstDash val="solid"/>
          </a:ln>
        </p:spPr>
      </p:sp>
      <p:sp>
        <p:nvSpPr>
          <p:cNvPr id="23" name="Text 20"/>
          <p:cNvSpPr txBox="1"/>
          <p:nvPr/>
        </p:nvSpPr>
        <p:spPr>
          <a:xfrm>
            <a:off x="6400800" y="3355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4" name="Text 21"/>
          <p:cNvSpPr txBox="1"/>
          <p:nvPr/>
        </p:nvSpPr>
        <p:spPr>
          <a:xfrm>
            <a:off x="6995160" y="3246120"/>
            <a:ext cx="4645152" cy="685800"/>
          </a:xfrm>
          <a:prstGeom prst="rect">
            <a:avLst/>
          </a:prstGeom>
          <a:noFill/>
          <a:ln/>
        </p:spPr>
        <p:txBody>
          <a:bodyPr wrap="square" lIns="0" tIns="0" rIns="0" bIns="0" rtlCol="0" anchor="ctr"/>
          <a:lstStyle/>
          <a:p>
            <a:pPr indent="0" marL="0">
              <a:buNone/>
            </a:pPr>
            <a:r>
              <a:rPr lang="en-US" sz="1500" b="1" dirty="0">
                <a:solidFill>
                  <a:srgbClr val="22253A"/>
                </a:solidFill>
                <a:latin typeface="Calibri" pitchFamily="34" charset="0"/>
                <a:ea typeface="Calibri" pitchFamily="34" charset="-122"/>
                <a:cs typeface="Calibri" pitchFamily="34" charset="-120"/>
              </a:rPr>
              <a:t>Settings → Password and authentication</a:t>
            </a:r>
            <a:endParaRPr lang="en-US" sz="1500" dirty="0"/>
          </a:p>
          <a:p>
            <a:pPr indent="0" marL="0">
              <a:buNone/>
            </a:pPr>
            <a:r>
              <a:rPr lang="en-US" sz="1300" dirty="0">
                <a:solidFill>
                  <a:srgbClr val="5F6478"/>
                </a:solidFill>
                <a:latin typeface="Calibri" pitchFamily="34" charset="0"/>
                <a:ea typeface="Calibri" pitchFamily="34" charset="-122"/>
                <a:cs typeface="Calibri" pitchFamily="34" charset="-120"/>
              </a:rPr>
              <a:t>→ Enable two-factor authentication → app di autenticazione</a:t>
            </a:r>
            <a:endParaRPr lang="en-US" sz="1500" dirty="0"/>
          </a:p>
        </p:txBody>
      </p:sp>
      <p:sp>
        <p:nvSpPr>
          <p:cNvPr id="25" name="Shape 22"/>
          <p:cNvSpPr/>
          <p:nvPr/>
        </p:nvSpPr>
        <p:spPr>
          <a:xfrm>
            <a:off x="6400800" y="4087368"/>
            <a:ext cx="457200" cy="457200"/>
          </a:xfrm>
          <a:prstGeom prst="ellipse">
            <a:avLst/>
          </a:prstGeom>
          <a:solidFill>
            <a:srgbClr val="F28C28"/>
          </a:solidFill>
          <a:ln w="12700">
            <a:solidFill>
              <a:srgbClr val="F28C28"/>
            </a:solidFill>
            <a:prstDash val="solid"/>
          </a:ln>
        </p:spPr>
      </p:sp>
      <p:sp>
        <p:nvSpPr>
          <p:cNvPr id="26" name="Text 23"/>
          <p:cNvSpPr txBox="1"/>
          <p:nvPr/>
        </p:nvSpPr>
        <p:spPr>
          <a:xfrm>
            <a:off x="6400800" y="40873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4"/>
          <p:cNvSpPr txBox="1"/>
          <p:nvPr/>
        </p:nvSpPr>
        <p:spPr>
          <a:xfrm>
            <a:off x="6995160" y="3977640"/>
            <a:ext cx="4645152" cy="685800"/>
          </a:xfrm>
          <a:prstGeom prst="rect">
            <a:avLst/>
          </a:prstGeom>
          <a:noFill/>
          <a:ln/>
        </p:spPr>
        <p:txBody>
          <a:bodyPr wrap="square" lIns="0" tIns="0" rIns="0" bIns="0" rtlCol="0" anchor="ctr"/>
          <a:lstStyle/>
          <a:p>
            <a:pPr indent="0" marL="0">
              <a:buNone/>
            </a:pPr>
            <a:r>
              <a:rPr lang="en-US" sz="1500" b="1" dirty="0">
                <a:solidFill>
                  <a:srgbClr val="22253A"/>
                </a:solidFill>
                <a:latin typeface="Calibri" pitchFamily="34" charset="0"/>
                <a:ea typeface="Calibri" pitchFamily="34" charset="-122"/>
                <a:cs typeface="Calibri" pitchFamily="34" charset="-120"/>
              </a:rPr>
              <a:t>Inquadra il QR code con l'app</a:t>
            </a:r>
            <a:endParaRPr lang="en-US" sz="1500" dirty="0"/>
          </a:p>
          <a:p>
            <a:pPr indent="0" marL="0">
              <a:buNone/>
            </a:pPr>
            <a:r>
              <a:rPr lang="en-US" sz="1300" dirty="0">
                <a:solidFill>
                  <a:srgbClr val="5F6478"/>
                </a:solidFill>
                <a:latin typeface="Calibri" pitchFamily="34" charset="0"/>
                <a:ea typeface="Calibri" pitchFamily="34" charset="-122"/>
                <a:cs typeface="Calibri" pitchFamily="34" charset="-120"/>
              </a:rPr>
              <a:t>e scrivi il codice a 6 cifre</a:t>
            </a:r>
            <a:endParaRPr lang="en-US" sz="1500" dirty="0"/>
          </a:p>
        </p:txBody>
      </p:sp>
      <p:sp>
        <p:nvSpPr>
          <p:cNvPr id="28" name="Shape 25"/>
          <p:cNvSpPr/>
          <p:nvPr/>
        </p:nvSpPr>
        <p:spPr>
          <a:xfrm>
            <a:off x="6400800" y="4818888"/>
            <a:ext cx="457200" cy="457200"/>
          </a:xfrm>
          <a:prstGeom prst="ellipse">
            <a:avLst/>
          </a:prstGeom>
          <a:solidFill>
            <a:srgbClr val="D64545"/>
          </a:solidFill>
          <a:ln w="12700">
            <a:solidFill>
              <a:srgbClr val="D64545"/>
            </a:solidFill>
            <a:prstDash val="solid"/>
          </a:ln>
        </p:spPr>
      </p:sp>
      <p:sp>
        <p:nvSpPr>
          <p:cNvPr id="29" name="Text 26"/>
          <p:cNvSpPr txBox="1"/>
          <p:nvPr/>
        </p:nvSpPr>
        <p:spPr>
          <a:xfrm>
            <a:off x="6400800" y="48188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Text 27"/>
          <p:cNvSpPr txBox="1"/>
          <p:nvPr/>
        </p:nvSpPr>
        <p:spPr>
          <a:xfrm>
            <a:off x="6995160" y="4709160"/>
            <a:ext cx="4645152" cy="685800"/>
          </a:xfrm>
          <a:prstGeom prst="rect">
            <a:avLst/>
          </a:prstGeom>
          <a:noFill/>
          <a:ln/>
        </p:spPr>
        <p:txBody>
          <a:bodyPr wrap="square" lIns="0" tIns="0" rIns="0" bIns="0" rtlCol="0" anchor="ctr"/>
          <a:lstStyle/>
          <a:p>
            <a:pPr indent="0" marL="0">
              <a:buNone/>
            </a:pPr>
            <a:r>
              <a:rPr lang="en-US" sz="1500" b="1" dirty="0">
                <a:solidFill>
                  <a:srgbClr val="22253A"/>
                </a:solidFill>
                <a:latin typeface="Calibri" pitchFamily="34" charset="0"/>
                <a:ea typeface="Calibri" pitchFamily="34" charset="-122"/>
                <a:cs typeface="Calibri" pitchFamily="34" charset="-120"/>
              </a:rPr>
              <a:t>SALVA i codici di recupero</a:t>
            </a:r>
            <a:endParaRPr lang="en-US" sz="1500" dirty="0"/>
          </a:p>
          <a:p>
            <a:pPr indent="0" marL="0">
              <a:buNone/>
            </a:pPr>
            <a:r>
              <a:rPr lang="en-US" sz="1300" dirty="0">
                <a:solidFill>
                  <a:srgbClr val="5F6478"/>
                </a:solidFill>
                <a:latin typeface="Calibri" pitchFamily="34" charset="0"/>
                <a:ea typeface="Calibri" pitchFamily="34" charset="-122"/>
                <a:cs typeface="Calibri" pitchFamily="34" charset="-120"/>
              </a:rPr>
              <a:t>servono se perdi il telefono</a:t>
            </a:r>
            <a:endParaRPr lang="en-US" sz="1500" dirty="0"/>
          </a:p>
        </p:txBody>
      </p:sp>
      <p:sp>
        <p:nvSpPr>
          <p:cNvPr id="31" name="Shape 28"/>
          <p:cNvSpPr/>
          <p:nvPr/>
        </p:nvSpPr>
        <p:spPr>
          <a:xfrm>
            <a:off x="6400800" y="5550408"/>
            <a:ext cx="457200" cy="457200"/>
          </a:xfrm>
          <a:prstGeom prst="ellipse">
            <a:avLst/>
          </a:prstGeom>
          <a:solidFill>
            <a:srgbClr val="F28C28"/>
          </a:solidFill>
          <a:ln w="12700">
            <a:solidFill>
              <a:srgbClr val="F28C28"/>
            </a:solidFill>
            <a:prstDash val="solid"/>
          </a:ln>
        </p:spPr>
      </p:sp>
      <p:sp>
        <p:nvSpPr>
          <p:cNvPr id="32" name="Text 29"/>
          <p:cNvSpPr txBox="1"/>
          <p:nvPr/>
        </p:nvSpPr>
        <p:spPr>
          <a:xfrm>
            <a:off x="6400800" y="555040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3" name="Text 30"/>
          <p:cNvSpPr txBox="1"/>
          <p:nvPr/>
        </p:nvSpPr>
        <p:spPr>
          <a:xfrm>
            <a:off x="6995160" y="5440680"/>
            <a:ext cx="4645152" cy="685800"/>
          </a:xfrm>
          <a:prstGeom prst="rect">
            <a:avLst/>
          </a:prstGeom>
          <a:noFill/>
          <a:ln/>
        </p:spPr>
        <p:txBody>
          <a:bodyPr wrap="square" lIns="0" tIns="0" rIns="0" bIns="0" rtlCol="0" anchor="ctr"/>
          <a:lstStyle/>
          <a:p>
            <a:pPr indent="0" marL="0">
              <a:buNone/>
            </a:pPr>
            <a:r>
              <a:rPr lang="en-US" sz="1500" b="1" dirty="0">
                <a:solidFill>
                  <a:srgbClr val="22253A"/>
                </a:solidFill>
                <a:latin typeface="Calibri" pitchFamily="34" charset="0"/>
                <a:ea typeface="Calibri" pitchFamily="34" charset="-122"/>
                <a:cs typeface="Calibri" pitchFamily="34" charset="-120"/>
              </a:rPr>
              <a:t>tailscale.com → entra con GitHub</a:t>
            </a:r>
            <a:endParaRPr lang="en-US" sz="1500" dirty="0"/>
          </a:p>
          <a:p>
            <a:pPr indent="0" marL="0">
              <a:buNone/>
            </a:pPr>
            <a:r>
              <a:rPr lang="en-US" sz="1300" dirty="0">
                <a:solidFill>
                  <a:srgbClr val="5F6478"/>
                </a:solidFill>
                <a:latin typeface="Calibri" pitchFamily="34" charset="0"/>
                <a:ea typeface="Calibri" pitchFamily="34" charset="-122"/>
                <a:cs typeface="Calibri" pitchFamily="34" charset="-120"/>
              </a:rPr>
              <a:t>password + codice dall'app</a:t>
            </a:r>
            <a:endParaRPr lang="en-US" sz="1500" dirty="0"/>
          </a:p>
        </p:txBody>
      </p:sp>
      <p:sp>
        <p:nvSpPr>
          <p:cNvPr id="34" name="Shape 31"/>
          <p:cNvSpPr/>
          <p:nvPr/>
        </p:nvSpPr>
        <p:spPr>
          <a:xfrm>
            <a:off x="548640" y="5120640"/>
            <a:ext cx="5440680" cy="914400"/>
          </a:xfrm>
          <a:prstGeom prst="roundRect">
            <a:avLst>
              <a:gd name="adj" fmla="val 10000"/>
            </a:avLst>
          </a:prstGeom>
          <a:solidFill>
            <a:srgbClr val="FDF0E3"/>
          </a:solidFill>
          <a:ln w="12700">
            <a:solidFill>
              <a:srgbClr val="FDF0E3"/>
            </a:solidFill>
            <a:prstDash val="solid"/>
          </a:ln>
        </p:spPr>
      </p:sp>
      <p:sp>
        <p:nvSpPr>
          <p:cNvPr id="35" name="Text 32"/>
          <p:cNvSpPr txBox="1"/>
          <p:nvPr/>
        </p:nvSpPr>
        <p:spPr>
          <a:xfrm>
            <a:off x="822960" y="5120640"/>
            <a:ext cx="4892040" cy="914400"/>
          </a:xfrm>
          <a:prstGeom prst="rect">
            <a:avLst/>
          </a:prstGeom>
          <a:noFill/>
          <a:ln/>
        </p:spPr>
        <p:txBody>
          <a:bodyPr wrap="square" lIns="0" tIns="0" rIns="0" bIns="0" rtlCol="0" anchor="ctr"/>
          <a:lstStyle/>
          <a:p>
            <a:pPr algn="l" indent="0" marL="0">
              <a:buNone/>
            </a:pPr>
            <a:r>
              <a:rPr lang="en-US" sz="1600" b="1" dirty="0">
                <a:solidFill>
                  <a:srgbClr val="22253A"/>
                </a:solidFill>
                <a:latin typeface="Calibri" pitchFamily="34" charset="0"/>
                <a:ea typeface="Calibri" pitchFamily="34" charset="-122"/>
                <a:cs typeface="Calibri" pitchFamily="34" charset="-120"/>
              </a:rPr>
              <a:t>Poi installa Tailscale sul computer e fai il login nello stesso modo.</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Le regole per gruppo: la policy del tailnet</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5 · Accesso remoto: Tailscale</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572000"/>
                <a:gridCol w="4142232"/>
              </a:tblGrid>
              <a:tr h="54864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Parte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Cosa dice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Nel corso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548640">
                <a:tc>
                  <a:txBody>
                    <a:bodyPr/>
                    <a:lstStyle/>
                    <a:p>
                      <a:pPr indent="0" marL="0">
                        <a:buNone/>
                      </a:pPr>
                      <a:r>
                        <a:rPr lang="en-US" sz="1600" b="1" dirty="0">
                          <a:solidFill>
                            <a:srgbClr val="22253A"/>
                          </a:solidFill>
                          <a:latin typeface="Courier New" pitchFamily="34" charset="0"/>
                          <a:ea typeface="Courier New" pitchFamily="34" charset="-122"/>
                          <a:cs typeface="Courier New" pitchFamily="34" charset="-120"/>
                        </a:rPr>
                        <a:t>groups</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chi appartiene a quale gruppo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group:admin e group:dev, con i nomi di login</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48640">
                <a:tc>
                  <a:txBody>
                    <a:bodyPr/>
                    <a:lstStyle/>
                    <a:p>
                      <a:pPr indent="0" marL="0">
                        <a:buNone/>
                      </a:pPr>
                      <a:r>
                        <a:rPr lang="en-US" sz="1600" b="1" dirty="0">
                          <a:solidFill>
                            <a:srgbClr val="22253A"/>
                          </a:solidFill>
                          <a:latin typeface="Courier New" pitchFamily="34" charset="0"/>
                          <a:ea typeface="Courier New" pitchFamily="34" charset="-122"/>
                          <a:cs typeface="Courier New" pitchFamily="34" charset="-120"/>
                        </a:rPr>
                        <a:t>tagOwners</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chi può dare un'etichetta ai dispositivi</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tag:router-aws, per il router</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548640">
                <a:tc>
                  <a:txBody>
                    <a:bodyPr/>
                    <a:lstStyle/>
                    <a:p>
                      <a:pPr indent="0" marL="0">
                        <a:buNone/>
                      </a:pPr>
                      <a:r>
                        <a:rPr lang="en-US" sz="1600" b="1" dirty="0">
                          <a:solidFill>
                            <a:srgbClr val="22253A"/>
                          </a:solidFill>
                          <a:latin typeface="Courier New" pitchFamily="34" charset="0"/>
                          <a:ea typeface="Courier New" pitchFamily="34" charset="-122"/>
                          <a:cs typeface="Courier New" pitchFamily="34" charset="-120"/>
                        </a:rPr>
                        <a:t>acls</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le regole: chi raggiunge cosa, su quali porte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vedi sotto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48640">
                <a:tc>
                  <a:txBody>
                    <a:bodyPr/>
                    <a:lstStyle/>
                    <a:p>
                      <a:pPr indent="0" marL="0">
                        <a:buNone/>
                      </a:pPr>
                      <a:r>
                        <a:rPr lang="en-US" sz="1600" b="1" dirty="0">
                          <a:solidFill>
                            <a:srgbClr val="22253A"/>
                          </a:solidFill>
                          <a:latin typeface="Courier New" pitchFamily="34" charset="0"/>
                          <a:ea typeface="Courier New" pitchFamily="34" charset="-122"/>
                          <a:cs typeface="Courier New" pitchFamily="34" charset="-120"/>
                        </a:rPr>
                        <a:t>autoApprovers</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chi annuncia subnet senza approvazione a mano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il router, con il suo tag</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548640" y="4343400"/>
          <a:ext cx="11094415" cy="914400"/>
        </p:xfrm>
        <a:graphic>
          <a:graphicData uri="http://schemas.openxmlformats.org/drawingml/2006/table">
            <a:tbl>
              <a:tblPr/>
              <a:tblGrid>
                <a:gridCol w="2743200"/>
                <a:gridCol w="8348472"/>
              </a:tblGrid>
              <a:tr h="566928">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Gruppo</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Può raggiungere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566928">
                <a:tc>
                  <a:txBody>
                    <a:bodyPr/>
                    <a:lstStyle/>
                    <a:p>
                      <a:pPr indent="0" marL="0">
                        <a:buNone/>
                      </a:pPr>
                      <a:r>
                        <a:rPr lang="en-US" sz="1700" b="1" dirty="0">
                          <a:solidFill>
                            <a:srgbClr val="22253A"/>
                          </a:solidFill>
                          <a:latin typeface="Courier New" pitchFamily="34" charset="0"/>
                          <a:ea typeface="Courier New" pitchFamily="34" charset="-122"/>
                          <a:cs typeface="Courier New" pitchFamily="34" charset="-120"/>
                        </a:rPr>
                        <a:t>group:admin</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b="1" dirty="0">
                          <a:solidFill>
                            <a:srgbClr val="2E9E6B"/>
                          </a:solidFill>
                          <a:latin typeface="Calibri" pitchFamily="34" charset="0"/>
                          <a:ea typeface="Calibri" pitchFamily="34" charset="-122"/>
                          <a:cs typeface="Calibri" pitchFamily="34" charset="-120"/>
                        </a:rPr>
                        <a:t>subnet private sulla 8080  E  subnet database sulla 5432</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66928">
                <a:tc>
                  <a:txBody>
                    <a:bodyPr/>
                    <a:lstStyle/>
                    <a:p>
                      <a:pPr indent="0" marL="0">
                        <a:buNone/>
                      </a:pPr>
                      <a:r>
                        <a:rPr lang="en-US" sz="1700" b="1" dirty="0">
                          <a:solidFill>
                            <a:srgbClr val="22253A"/>
                          </a:solidFill>
                          <a:latin typeface="Courier New" pitchFamily="34" charset="0"/>
                          <a:ea typeface="Courier New" pitchFamily="34" charset="-122"/>
                          <a:cs typeface="Courier New" pitchFamily="34" charset="-120"/>
                        </a:rPr>
                        <a:t>group:dev</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b="1" dirty="0">
                          <a:solidFill>
                            <a:srgbClr val="5B3FD0"/>
                          </a:solidFill>
                          <a:latin typeface="Calibri" pitchFamily="34" charset="0"/>
                          <a:ea typeface="Calibri" pitchFamily="34" charset="-122"/>
                          <a:cs typeface="Calibri" pitchFamily="34" charset="-120"/>
                        </a:rPr>
                        <a:t>subnet private sulla 8080 (niente database)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Due controlli in fila: Tailscale, poi il Security Group</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5 · Accesso remoto: Tailscale</a:t>
            </a:r>
            <a:endParaRPr lang="en-US" sz="1000" dirty="0"/>
          </a:p>
        </p:txBody>
      </p:sp>
      <p:sp>
        <p:nvSpPr>
          <p:cNvPr id="5" name="Shape 2"/>
          <p:cNvSpPr/>
          <p:nvPr/>
        </p:nvSpPr>
        <p:spPr>
          <a:xfrm>
            <a:off x="548640" y="1463040"/>
            <a:ext cx="2514600" cy="1463040"/>
          </a:xfrm>
          <a:prstGeom prst="roundRect">
            <a:avLst>
              <a:gd name="adj" fmla="val 6250"/>
            </a:avLst>
          </a:prstGeom>
          <a:solidFill>
            <a:srgbClr val="1B1F3B"/>
          </a:solidFill>
          <a:ln w="12700">
            <a:solidFill>
              <a:srgbClr val="1B1F3B"/>
            </a:solidFill>
            <a:prstDash val="solid"/>
          </a:ln>
        </p:spPr>
      </p:sp>
      <p:sp>
        <p:nvSpPr>
          <p:cNvPr id="6" name="Text 3"/>
          <p:cNvSpPr txBox="1"/>
          <p:nvPr/>
        </p:nvSpPr>
        <p:spPr>
          <a:xfrm>
            <a:off x="548640" y="1463040"/>
            <a:ext cx="2514600" cy="1463040"/>
          </a:xfrm>
          <a:prstGeom prst="rect">
            <a:avLst/>
          </a:prstGeom>
          <a:noFill/>
          <a:ln/>
        </p:spPr>
        <p:txBody>
          <a:bodyPr wrap="square" lIns="76200" tIns="76200" rIns="76200" bIns="762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Persona in Tailscale</a:t>
            </a:r>
            <a:endParaRPr lang="en-US" sz="1600" dirty="0"/>
          </a:p>
        </p:txBody>
      </p:sp>
      <p:sp>
        <p:nvSpPr>
          <p:cNvPr id="7" name="Shape 4"/>
          <p:cNvSpPr/>
          <p:nvPr/>
        </p:nvSpPr>
        <p:spPr>
          <a:xfrm>
            <a:off x="3081528" y="2194560"/>
            <a:ext cx="301752" cy="0"/>
          </a:xfrm>
          <a:prstGeom prst="line">
            <a:avLst/>
          </a:prstGeom>
          <a:noFill/>
          <a:ln w="25400">
            <a:solidFill>
              <a:srgbClr val="5B3FD0"/>
            </a:solidFill>
            <a:prstDash val="solid"/>
            <a:tailEnd type="triangle"/>
          </a:ln>
        </p:spPr>
      </p:sp>
      <p:sp>
        <p:nvSpPr>
          <p:cNvPr id="8" name="Shape 5"/>
          <p:cNvSpPr/>
          <p:nvPr/>
        </p:nvSpPr>
        <p:spPr>
          <a:xfrm>
            <a:off x="3401568" y="1463040"/>
            <a:ext cx="2514600" cy="1463040"/>
          </a:xfrm>
          <a:prstGeom prst="roundRect">
            <a:avLst>
              <a:gd name="adj" fmla="val 6250"/>
            </a:avLst>
          </a:prstGeom>
          <a:solidFill>
            <a:srgbClr val="FDF0E3"/>
          </a:solidFill>
          <a:ln w="12700">
            <a:solidFill>
              <a:srgbClr val="FDF0E3"/>
            </a:solidFill>
            <a:prstDash val="solid"/>
          </a:ln>
        </p:spPr>
      </p:sp>
      <p:sp>
        <p:nvSpPr>
          <p:cNvPr id="9" name="Text 6"/>
          <p:cNvSpPr txBox="1"/>
          <p:nvPr/>
        </p:nvSpPr>
        <p:spPr>
          <a:xfrm>
            <a:off x="3401568" y="1463040"/>
            <a:ext cx="2514600" cy="146304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1. Policy: il mio gruppo può raggiungere indirizzo e porta?</a:t>
            </a:r>
            <a:endParaRPr lang="en-US" sz="1600" dirty="0"/>
          </a:p>
        </p:txBody>
      </p:sp>
      <p:sp>
        <p:nvSpPr>
          <p:cNvPr id="10" name="Shape 7"/>
          <p:cNvSpPr/>
          <p:nvPr/>
        </p:nvSpPr>
        <p:spPr>
          <a:xfrm>
            <a:off x="5934456" y="2194560"/>
            <a:ext cx="301752" cy="0"/>
          </a:xfrm>
          <a:prstGeom prst="line">
            <a:avLst/>
          </a:prstGeom>
          <a:noFill/>
          <a:ln w="25400">
            <a:solidFill>
              <a:srgbClr val="5B3FD0"/>
            </a:solidFill>
            <a:prstDash val="solid"/>
            <a:tailEnd type="triangle"/>
          </a:ln>
        </p:spPr>
      </p:sp>
      <p:sp>
        <p:nvSpPr>
          <p:cNvPr id="11" name="Shape 8"/>
          <p:cNvSpPr/>
          <p:nvPr/>
        </p:nvSpPr>
        <p:spPr>
          <a:xfrm>
            <a:off x="6254496" y="1463040"/>
            <a:ext cx="2514600" cy="1463040"/>
          </a:xfrm>
          <a:prstGeom prst="roundRect">
            <a:avLst>
              <a:gd name="adj" fmla="val 6250"/>
            </a:avLst>
          </a:prstGeom>
          <a:solidFill>
            <a:srgbClr val="EEEAFB"/>
          </a:solidFill>
          <a:ln w="12700">
            <a:solidFill>
              <a:srgbClr val="EEEAFB"/>
            </a:solidFill>
            <a:prstDash val="solid"/>
          </a:ln>
        </p:spPr>
      </p:sp>
      <p:sp>
        <p:nvSpPr>
          <p:cNvPr id="12" name="Text 9"/>
          <p:cNvSpPr txBox="1"/>
          <p:nvPr/>
        </p:nvSpPr>
        <p:spPr>
          <a:xfrm>
            <a:off x="6254496" y="1463040"/>
            <a:ext cx="2514600" cy="146304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2. Security Group: accetta il SG vpn (il router)?</a:t>
            </a:r>
            <a:endParaRPr lang="en-US" sz="1600" dirty="0"/>
          </a:p>
        </p:txBody>
      </p:sp>
      <p:sp>
        <p:nvSpPr>
          <p:cNvPr id="13" name="Shape 10"/>
          <p:cNvSpPr/>
          <p:nvPr/>
        </p:nvSpPr>
        <p:spPr>
          <a:xfrm>
            <a:off x="8787384" y="2194560"/>
            <a:ext cx="301752" cy="0"/>
          </a:xfrm>
          <a:prstGeom prst="line">
            <a:avLst/>
          </a:prstGeom>
          <a:noFill/>
          <a:ln w="25400">
            <a:solidFill>
              <a:srgbClr val="5B3FD0"/>
            </a:solidFill>
            <a:prstDash val="solid"/>
            <a:tailEnd type="triangle"/>
          </a:ln>
        </p:spPr>
      </p:sp>
      <p:sp>
        <p:nvSpPr>
          <p:cNvPr id="14" name="Shape 11"/>
          <p:cNvSpPr/>
          <p:nvPr/>
        </p:nvSpPr>
        <p:spPr>
          <a:xfrm>
            <a:off x="9107424" y="1463040"/>
            <a:ext cx="2514600" cy="1463040"/>
          </a:xfrm>
          <a:prstGeom prst="roundRect">
            <a:avLst>
              <a:gd name="adj" fmla="val 6250"/>
            </a:avLst>
          </a:prstGeom>
          <a:solidFill>
            <a:srgbClr val="2E9E6B"/>
          </a:solidFill>
          <a:ln w="12700">
            <a:solidFill>
              <a:srgbClr val="2E9E6B"/>
            </a:solidFill>
            <a:prstDash val="solid"/>
          </a:ln>
        </p:spPr>
      </p:sp>
      <p:sp>
        <p:nvSpPr>
          <p:cNvPr id="15" name="Text 12"/>
          <p:cNvSpPr txBox="1"/>
          <p:nvPr/>
        </p:nvSpPr>
        <p:spPr>
          <a:xfrm>
            <a:off x="9107424" y="1463040"/>
            <a:ext cx="2514600" cy="1463040"/>
          </a:xfrm>
          <a:prstGeom prst="rect">
            <a:avLst/>
          </a:prstGeom>
          <a:noFill/>
          <a:ln/>
        </p:spPr>
        <p:txBody>
          <a:bodyPr wrap="square" lIns="76200" tIns="76200" rIns="76200" bIns="762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Connessione riuscita</a:t>
            </a:r>
            <a:endParaRPr lang="en-US" sz="1600" dirty="0"/>
          </a:p>
        </p:txBody>
      </p:sp>
      <p:sp>
        <p:nvSpPr>
          <p:cNvPr id="16" name="Shape 13"/>
          <p:cNvSpPr/>
          <p:nvPr/>
        </p:nvSpPr>
        <p:spPr>
          <a:xfrm>
            <a:off x="548640" y="3291840"/>
            <a:ext cx="5440680" cy="2560320"/>
          </a:xfrm>
          <a:prstGeom prst="roundRect">
            <a:avLst>
              <a:gd name="adj" fmla="val 4286"/>
            </a:avLst>
          </a:prstGeom>
          <a:solidFill>
            <a:srgbClr val="E5F4EC"/>
          </a:solidFill>
          <a:ln w="12700">
            <a:solidFill>
              <a:srgbClr val="E5F4EC"/>
            </a:solidFill>
            <a:prstDash val="solid"/>
          </a:ln>
        </p:spPr>
      </p:sp>
      <p:sp>
        <p:nvSpPr>
          <p:cNvPr id="17" name="Shape 14"/>
          <p:cNvSpPr/>
          <p:nvPr/>
        </p:nvSpPr>
        <p:spPr>
          <a:xfrm>
            <a:off x="777240" y="3520440"/>
            <a:ext cx="548640" cy="548640"/>
          </a:xfrm>
          <a:prstGeom prst="ellipse">
            <a:avLst/>
          </a:prstGeom>
          <a:solidFill>
            <a:srgbClr val="2E9E6B"/>
          </a:solidFill>
          <a:ln w="12700">
            <a:solidFill>
              <a:srgbClr val="2E9E6B"/>
            </a:solidFill>
            <a:prstDash val="solid"/>
          </a:ln>
        </p:spPr>
      </p:sp>
      <p:pic>
        <p:nvPicPr>
          <p:cNvPr id="18" name="Image 0" descr="preencoded.png">    </p:cNvPr>
          <p:cNvPicPr>
            <a:picLocks noChangeAspect="1"/>
          </p:cNvPicPr>
          <p:nvPr/>
        </p:nvPicPr>
        <p:blipFill>
          <a:blip r:embed="rId1"/>
          <a:stretch>
            <a:fillRect/>
          </a:stretch>
        </p:blipFill>
        <p:spPr>
          <a:xfrm>
            <a:off x="914400" y="3657600"/>
            <a:ext cx="274320" cy="274320"/>
          </a:xfrm>
          <a:prstGeom prst="rect">
            <a:avLst/>
          </a:prstGeom>
        </p:spPr>
      </p:pic>
      <p:sp>
        <p:nvSpPr>
          <p:cNvPr id="19" name="Text 15"/>
          <p:cNvSpPr txBox="1"/>
          <p:nvPr/>
        </p:nvSpPr>
        <p:spPr>
          <a:xfrm>
            <a:off x="1508760" y="352044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Amministratore → database</a:t>
            </a:r>
            <a:endParaRPr lang="en-US" sz="1800" dirty="0"/>
          </a:p>
        </p:txBody>
      </p:sp>
      <p:sp>
        <p:nvSpPr>
          <p:cNvPr id="20" name="Text 16"/>
          <p:cNvSpPr txBox="1"/>
          <p:nvPr/>
        </p:nvSpPr>
        <p:spPr>
          <a:xfrm>
            <a:off x="777240" y="4206240"/>
            <a:ext cx="4983480" cy="14630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Policy: group:admin raggiunge le subnet database sulla 5432 ✓</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SG db: accetta la 5432 dal SG vpn ✓</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 passa</a:t>
            </a:r>
            <a:endParaRPr lang="en-US" sz="1600" dirty="0"/>
          </a:p>
        </p:txBody>
      </p:sp>
      <p:sp>
        <p:nvSpPr>
          <p:cNvPr id="21" name="Shape 17"/>
          <p:cNvSpPr/>
          <p:nvPr/>
        </p:nvSpPr>
        <p:spPr>
          <a:xfrm>
            <a:off x="6172200" y="3291840"/>
            <a:ext cx="5468112" cy="2560320"/>
          </a:xfrm>
          <a:prstGeom prst="roundRect">
            <a:avLst>
              <a:gd name="adj" fmla="val 4286"/>
            </a:avLst>
          </a:prstGeom>
          <a:solidFill>
            <a:srgbClr val="FBE9E9"/>
          </a:solidFill>
          <a:ln w="12700">
            <a:solidFill>
              <a:srgbClr val="FBE9E9"/>
            </a:solidFill>
            <a:prstDash val="solid"/>
          </a:ln>
        </p:spPr>
      </p:sp>
      <p:sp>
        <p:nvSpPr>
          <p:cNvPr id="22" name="Shape 18"/>
          <p:cNvSpPr/>
          <p:nvPr/>
        </p:nvSpPr>
        <p:spPr>
          <a:xfrm>
            <a:off x="6400800" y="3520440"/>
            <a:ext cx="548640" cy="548640"/>
          </a:xfrm>
          <a:prstGeom prst="ellipse">
            <a:avLst/>
          </a:prstGeom>
          <a:solidFill>
            <a:srgbClr val="D64545"/>
          </a:solidFill>
          <a:ln w="12700">
            <a:solidFill>
              <a:srgbClr val="D64545"/>
            </a:solidFill>
            <a:prstDash val="solid"/>
          </a:ln>
        </p:spPr>
      </p:sp>
      <p:pic>
        <p:nvPicPr>
          <p:cNvPr id="23" name="Image 1" descr="preencoded.png">    </p:cNvPr>
          <p:cNvPicPr>
            <a:picLocks noChangeAspect="1"/>
          </p:cNvPicPr>
          <p:nvPr/>
        </p:nvPicPr>
        <p:blipFill>
          <a:blip r:embed="rId2"/>
          <a:stretch>
            <a:fillRect/>
          </a:stretch>
        </p:blipFill>
        <p:spPr>
          <a:xfrm>
            <a:off x="6537960" y="3657600"/>
            <a:ext cx="274320" cy="274320"/>
          </a:xfrm>
          <a:prstGeom prst="rect">
            <a:avLst/>
          </a:prstGeom>
        </p:spPr>
      </p:pic>
      <p:sp>
        <p:nvSpPr>
          <p:cNvPr id="24" name="Text 19"/>
          <p:cNvSpPr txBox="1"/>
          <p:nvPr/>
        </p:nvSpPr>
        <p:spPr>
          <a:xfrm>
            <a:off x="7132320" y="352044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Sviluppatore → database</a:t>
            </a:r>
            <a:endParaRPr lang="en-US" sz="1800" dirty="0"/>
          </a:p>
        </p:txBody>
      </p:sp>
      <p:sp>
        <p:nvSpPr>
          <p:cNvPr id="25" name="Text 20"/>
          <p:cNvSpPr txBox="1"/>
          <p:nvPr/>
        </p:nvSpPr>
        <p:spPr>
          <a:xfrm>
            <a:off x="6400800" y="4206240"/>
            <a:ext cx="5010912" cy="14630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Policy: group:dev NON raggiunge le subnet database</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 fermato già da Tailscale</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(il SG non viene nemmeno consultato)</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router: un EC2 come quello della lezione 4</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5 · Accesso remoto: Tailscale</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468880"/>
                <a:gridCol w="4023360"/>
                <a:gridCol w="4599432"/>
              </a:tblGrid>
              <a:tr h="548640">
                <a:tc>
                  <a:txBody>
                    <a:bodyPr/>
                    <a:lstStyle/>
                    <a:p>
                      <a:pPr indent="0" marL="0">
                        <a:buNone/>
                      </a:pP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Server applicazione (lezione 4)</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Subnet router</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548640">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Tipo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t4g.micro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t4g.nano: il più piccolo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48640">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Security Group</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app</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vpn</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548640">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user_data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avvia l'applicazione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installa Tailscale e lo collega al tailnet</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48640">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In ingresso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8080 dal SG vpn</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niente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548640">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Manutenzione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SSM</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SSM (role suo, solo SSM)</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4800600"/>
            <a:ext cx="11094415" cy="1280160"/>
          </a:xfrm>
          <a:prstGeom prst="roundRect">
            <a:avLst>
              <a:gd name="adj" fmla="val 8571"/>
            </a:avLst>
          </a:prstGeom>
          <a:solidFill>
            <a:srgbClr val="FDF0E3"/>
          </a:solidFill>
          <a:ln w="12700">
            <a:solidFill>
              <a:srgbClr val="FDF0E3"/>
            </a:solidFill>
            <a:prstDash val="solid"/>
          </a:ln>
        </p:spPr>
      </p:sp>
      <p:sp>
        <p:nvSpPr>
          <p:cNvPr id="7" name="Shape 3"/>
          <p:cNvSpPr/>
          <p:nvPr/>
        </p:nvSpPr>
        <p:spPr>
          <a:xfrm>
            <a:off x="777240" y="5029200"/>
            <a:ext cx="548640" cy="548640"/>
          </a:xfrm>
          <a:prstGeom prst="ellipse">
            <a:avLst/>
          </a:prstGeom>
          <a:solidFill>
            <a:srgbClr val="F28C28"/>
          </a:solidFill>
          <a:ln w="12700">
            <a:solidFill>
              <a:srgbClr val="F28C28"/>
            </a:solidFill>
            <a:prstDash val="solid"/>
          </a:ln>
        </p:spPr>
      </p:sp>
      <p:pic>
        <p:nvPicPr>
          <p:cNvPr id="8" name="Image 0" descr="preencoded.png">    </p:cNvPr>
          <p:cNvPicPr>
            <a:picLocks noChangeAspect="1"/>
          </p:cNvPicPr>
          <p:nvPr/>
        </p:nvPicPr>
        <p:blipFill>
          <a:blip r:embed="rId1"/>
          <a:stretch>
            <a:fillRect/>
          </a:stretch>
        </p:blipFill>
        <p:spPr>
          <a:xfrm>
            <a:off x="914400" y="5166360"/>
            <a:ext cx="274320" cy="274320"/>
          </a:xfrm>
          <a:prstGeom prst="rect">
            <a:avLst/>
          </a:prstGeom>
        </p:spPr>
      </p:pic>
      <p:sp>
        <p:nvSpPr>
          <p:cNvPr id="9" name="Text 4"/>
          <p:cNvSpPr txBox="1"/>
          <p:nvPr/>
        </p:nvSpPr>
        <p:spPr>
          <a:xfrm>
            <a:off x="1508760" y="5029200"/>
            <a:ext cx="9905695"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Novità: l'inoltro dei pacchetti (ip_forward)</a:t>
            </a:r>
            <a:endParaRPr lang="en-US" sz="1800" dirty="0"/>
          </a:p>
        </p:txBody>
      </p:sp>
      <p:sp>
        <p:nvSpPr>
          <p:cNvPr id="10" name="Text 5"/>
          <p:cNvSpPr txBox="1"/>
          <p:nvPr/>
        </p:nvSpPr>
        <p:spPr>
          <a:xfrm>
            <a:off x="777240" y="5715000"/>
            <a:ext cx="10637215" cy="18288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Un server normale scarta i pacchetti che non sono per lui. Un router deve INOLTRARLI: si attiva nel user_data.</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Le uscite verso Tailscale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5 · Accesso remoto: Tailscale</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Il router deve chiamare Tailscale: tre uscite in più per il SG vpn.</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4415" cy="914400"/>
        </p:xfrm>
        <a:graphic>
          <a:graphicData uri="http://schemas.openxmlformats.org/drawingml/2006/table">
            <a:tbl>
              <a:tblPr/>
              <a:tblGrid>
                <a:gridCol w="1463040"/>
                <a:gridCol w="1645920"/>
                <a:gridCol w="7982712"/>
              </a:tblGrid>
              <a:tr h="59436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Uscita</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Porta</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Perché</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594360">
                <a:tc>
                  <a:txBody>
                    <a:bodyPr/>
                    <a:lstStyle/>
                    <a:p>
                      <a:pPr indent="0" marL="0">
                        <a:buNone/>
                      </a:pPr>
                      <a:r>
                        <a:rPr lang="en-US" sz="1700" b="1" dirty="0">
                          <a:solidFill>
                            <a:srgbClr val="22253A"/>
                          </a:solidFill>
                          <a:latin typeface="Calibri" pitchFamily="34" charset="0"/>
                          <a:ea typeface="Calibri" pitchFamily="34" charset="-122"/>
                          <a:cs typeface="Calibri" pitchFamily="34" charset="-120"/>
                        </a:rPr>
                        <a:t>TCP</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b="1" dirty="0">
                          <a:solidFill>
                            <a:srgbClr val="22253A"/>
                          </a:solidFill>
                          <a:latin typeface="Courier New" pitchFamily="34" charset="0"/>
                          <a:ea typeface="Courier New" pitchFamily="34" charset="-122"/>
                          <a:cs typeface="Courier New" pitchFamily="34" charset="-120"/>
                        </a:rPr>
                        <a:t>443</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centralino, ripetitori, installazione di Tailscale, SSM</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94360">
                <a:tc>
                  <a:txBody>
                    <a:bodyPr/>
                    <a:lstStyle/>
                    <a:p>
                      <a:pPr indent="0" marL="0">
                        <a:buNone/>
                      </a:pPr>
                      <a:r>
                        <a:rPr lang="en-US" sz="1700" b="1" dirty="0">
                          <a:solidFill>
                            <a:srgbClr val="22253A"/>
                          </a:solidFill>
                          <a:latin typeface="Calibri" pitchFamily="34" charset="0"/>
                          <a:ea typeface="Calibri" pitchFamily="34" charset="-122"/>
                          <a:cs typeface="Calibri" pitchFamily="34" charset="-120"/>
                        </a:rPr>
                        <a:t>UDP</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b="1" dirty="0">
                          <a:solidFill>
                            <a:srgbClr val="22253A"/>
                          </a:solidFill>
                          <a:latin typeface="Courier New" pitchFamily="34" charset="0"/>
                          <a:ea typeface="Courier New" pitchFamily="34" charset="-122"/>
                          <a:cs typeface="Courier New" pitchFamily="34" charset="-120"/>
                        </a:rPr>
                        <a:t>41641</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il traffico diretto tra dispositivi (il più veloce)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594360">
                <a:tc>
                  <a:txBody>
                    <a:bodyPr/>
                    <a:lstStyle/>
                    <a:p>
                      <a:pPr indent="0" marL="0">
                        <a:buNone/>
                      </a:pPr>
                      <a:r>
                        <a:rPr lang="en-US" sz="1700" b="1" dirty="0">
                          <a:solidFill>
                            <a:srgbClr val="22253A"/>
                          </a:solidFill>
                          <a:latin typeface="Calibri" pitchFamily="34" charset="0"/>
                          <a:ea typeface="Calibri" pitchFamily="34" charset="-122"/>
                          <a:cs typeface="Calibri" pitchFamily="34" charset="-120"/>
                        </a:rPr>
                        <a:t>UDP</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b="1" dirty="0">
                          <a:solidFill>
                            <a:srgbClr val="22253A"/>
                          </a:solidFill>
                          <a:latin typeface="Courier New" pitchFamily="34" charset="0"/>
                          <a:ea typeface="Courier New" pitchFamily="34" charset="-122"/>
                          <a:cs typeface="Courier New" pitchFamily="34" charset="-120"/>
                        </a:rPr>
                        <a:t>3478</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scoprire come raggiungere gli altri da dietro il NAT</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4846320"/>
            <a:ext cx="11094415" cy="914400"/>
          </a:xfrm>
          <a:prstGeom prst="roundRect">
            <a:avLst>
              <a:gd name="adj" fmla="val 10000"/>
            </a:avLst>
          </a:prstGeom>
          <a:solidFill>
            <a:srgbClr val="FDF0E3"/>
          </a:solidFill>
          <a:ln w="12700">
            <a:solidFill>
              <a:srgbClr val="FDF0E3"/>
            </a:solidFill>
            <a:prstDash val="solid"/>
          </a:ln>
        </p:spPr>
      </p:sp>
      <p:sp>
        <p:nvSpPr>
          <p:cNvPr id="9" name="Text 5"/>
          <p:cNvSpPr txBox="1"/>
          <p:nvPr/>
        </p:nvSpPr>
        <p:spPr>
          <a:xfrm>
            <a:off x="822960" y="4846320"/>
            <a:ext cx="10545775" cy="91440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Senza le due UDP funziona lo stesso, ma tutto passa dai ripetitori ed è più lento. Nessuna regola in ingresso.</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La chiave d'ingresso del router</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5 · Accesso remoto: Tailscale</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Auth key = la chiave con cui il router entra nel tailnet DA SOLO, al primo avvio.</a:t>
            </a:r>
            <a:endParaRPr lang="en-US" sz="1900" dirty="0"/>
          </a:p>
        </p:txBody>
      </p:sp>
      <p:sp>
        <p:nvSpPr>
          <p:cNvPr id="7" name="Shape 4"/>
          <p:cNvSpPr/>
          <p:nvPr/>
        </p:nvSpPr>
        <p:spPr>
          <a:xfrm>
            <a:off x="548640" y="2240280"/>
            <a:ext cx="3566160" cy="2377440"/>
          </a:xfrm>
          <a:prstGeom prst="roundRect">
            <a:avLst>
              <a:gd name="adj" fmla="val 4615"/>
            </a:avLst>
          </a:prstGeom>
          <a:solidFill>
            <a:srgbClr val="EEEAFB"/>
          </a:solidFill>
          <a:ln w="12700">
            <a:solidFill>
              <a:srgbClr val="EEEAFB"/>
            </a:solidFill>
            <a:prstDash val="solid"/>
          </a:ln>
        </p:spPr>
      </p:sp>
      <p:sp>
        <p:nvSpPr>
          <p:cNvPr id="8" name="Shape 5"/>
          <p:cNvSpPr/>
          <p:nvPr/>
        </p:nvSpPr>
        <p:spPr>
          <a:xfrm>
            <a:off x="777240" y="2468880"/>
            <a:ext cx="548640" cy="548640"/>
          </a:xfrm>
          <a:prstGeom prst="ellipse">
            <a:avLst/>
          </a:prstGeom>
          <a:solidFill>
            <a:srgbClr val="5B3FD0"/>
          </a:solidFill>
          <a:ln w="12700">
            <a:solidFill>
              <a:srgbClr val="5B3FD0"/>
            </a:solidFill>
            <a:prstDash val="solid"/>
          </a:ln>
        </p:spPr>
      </p:sp>
      <p:pic>
        <p:nvPicPr>
          <p:cNvPr id="9" name="Image 0" descr="preencoded.png">    </p:cNvPr>
          <p:cNvPicPr>
            <a:picLocks noChangeAspect="1"/>
          </p:cNvPicPr>
          <p:nvPr/>
        </p:nvPicPr>
        <p:blipFill>
          <a:blip r:embed="rId1"/>
          <a:stretch>
            <a:fillRect/>
          </a:stretch>
        </p:blipFill>
        <p:spPr>
          <a:xfrm>
            <a:off x="914400" y="2606040"/>
            <a:ext cx="274320" cy="274320"/>
          </a:xfrm>
          <a:prstGeom prst="rect">
            <a:avLst/>
          </a:prstGeom>
        </p:spPr>
      </p:pic>
      <p:sp>
        <p:nvSpPr>
          <p:cNvPr id="10" name="Text 6"/>
          <p:cNvSpPr txBox="1"/>
          <p:nvPr/>
        </p:nvSpPr>
        <p:spPr>
          <a:xfrm>
            <a:off x="1508760" y="24688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Monouso</a:t>
            </a:r>
            <a:endParaRPr lang="en-US" sz="1800" dirty="0"/>
          </a:p>
        </p:txBody>
      </p:sp>
      <p:sp>
        <p:nvSpPr>
          <p:cNvPr id="11" name="Text 7"/>
          <p:cNvSpPr txBox="1"/>
          <p:nvPr/>
        </p:nvSpPr>
        <p:spPr>
          <a:xfrm>
            <a:off x="777240" y="3154680"/>
            <a:ext cx="3108960" cy="128016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reusable = false: dopo il primo utilizzo non vale più</a:t>
            </a:r>
            <a:endParaRPr lang="en-US" sz="1600" dirty="0"/>
          </a:p>
        </p:txBody>
      </p:sp>
      <p:sp>
        <p:nvSpPr>
          <p:cNvPr id="12" name="Shape 8"/>
          <p:cNvSpPr/>
          <p:nvPr/>
        </p:nvSpPr>
        <p:spPr>
          <a:xfrm>
            <a:off x="4297680" y="2240280"/>
            <a:ext cx="3566160" cy="2377440"/>
          </a:xfrm>
          <a:prstGeom prst="roundRect">
            <a:avLst>
              <a:gd name="adj" fmla="val 4615"/>
            </a:avLst>
          </a:prstGeom>
          <a:solidFill>
            <a:srgbClr val="EEEAFB"/>
          </a:solidFill>
          <a:ln w="12700">
            <a:solidFill>
              <a:srgbClr val="EEEAFB"/>
            </a:solidFill>
            <a:prstDash val="solid"/>
          </a:ln>
        </p:spPr>
      </p:sp>
      <p:sp>
        <p:nvSpPr>
          <p:cNvPr id="13" name="Shape 9"/>
          <p:cNvSpPr/>
          <p:nvPr/>
        </p:nvSpPr>
        <p:spPr>
          <a:xfrm>
            <a:off x="4526280" y="2468880"/>
            <a:ext cx="548640" cy="548640"/>
          </a:xfrm>
          <a:prstGeom prst="ellipse">
            <a:avLst/>
          </a:prstGeom>
          <a:solidFill>
            <a:srgbClr val="5B3FD0"/>
          </a:solidFill>
          <a:ln w="12700">
            <a:solidFill>
              <a:srgbClr val="5B3FD0"/>
            </a:solidFill>
            <a:prstDash val="solid"/>
          </a:ln>
        </p:spPr>
      </p:sp>
      <p:pic>
        <p:nvPicPr>
          <p:cNvPr id="14" name="Image 1" descr="preencoded.png">    </p:cNvPr>
          <p:cNvPicPr>
            <a:picLocks noChangeAspect="1"/>
          </p:cNvPicPr>
          <p:nvPr/>
        </p:nvPicPr>
        <p:blipFill>
          <a:blip r:embed="rId2"/>
          <a:stretch>
            <a:fillRect/>
          </a:stretch>
        </p:blipFill>
        <p:spPr>
          <a:xfrm>
            <a:off x="4663440" y="2606040"/>
            <a:ext cx="274320" cy="274320"/>
          </a:xfrm>
          <a:prstGeom prst="rect">
            <a:avLst/>
          </a:prstGeom>
        </p:spPr>
      </p:pic>
      <p:sp>
        <p:nvSpPr>
          <p:cNvPr id="15" name="Text 10"/>
          <p:cNvSpPr txBox="1"/>
          <p:nvPr/>
        </p:nvSpPr>
        <p:spPr>
          <a:xfrm>
            <a:off x="5257800" y="24688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Breve</a:t>
            </a:r>
            <a:endParaRPr lang="en-US" sz="1800" dirty="0"/>
          </a:p>
        </p:txBody>
      </p:sp>
      <p:sp>
        <p:nvSpPr>
          <p:cNvPr id="16" name="Text 11"/>
          <p:cNvSpPr txBox="1"/>
          <p:nvPr/>
        </p:nvSpPr>
        <p:spPr>
          <a:xfrm>
            <a:off x="4526280" y="3154680"/>
            <a:ext cx="3108960" cy="128016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expiry = 3600: scade dopo un'ora, anche se non usata</a:t>
            </a:r>
            <a:endParaRPr lang="en-US" sz="1600" dirty="0"/>
          </a:p>
        </p:txBody>
      </p:sp>
      <p:sp>
        <p:nvSpPr>
          <p:cNvPr id="17" name="Shape 12"/>
          <p:cNvSpPr/>
          <p:nvPr/>
        </p:nvSpPr>
        <p:spPr>
          <a:xfrm>
            <a:off x="8046720" y="2240280"/>
            <a:ext cx="3566160" cy="2377440"/>
          </a:xfrm>
          <a:prstGeom prst="roundRect">
            <a:avLst>
              <a:gd name="adj" fmla="val 4615"/>
            </a:avLst>
          </a:prstGeom>
          <a:solidFill>
            <a:srgbClr val="EEEAFB"/>
          </a:solidFill>
          <a:ln w="12700">
            <a:solidFill>
              <a:srgbClr val="EEEAFB"/>
            </a:solidFill>
            <a:prstDash val="solid"/>
          </a:ln>
        </p:spPr>
      </p:sp>
      <p:sp>
        <p:nvSpPr>
          <p:cNvPr id="18" name="Shape 13"/>
          <p:cNvSpPr/>
          <p:nvPr/>
        </p:nvSpPr>
        <p:spPr>
          <a:xfrm>
            <a:off x="8275320" y="2468880"/>
            <a:ext cx="548640" cy="548640"/>
          </a:xfrm>
          <a:prstGeom prst="ellipse">
            <a:avLst/>
          </a:prstGeom>
          <a:solidFill>
            <a:srgbClr val="5B3FD0"/>
          </a:solidFill>
          <a:ln w="12700">
            <a:solidFill>
              <a:srgbClr val="5B3FD0"/>
            </a:solidFill>
            <a:prstDash val="solid"/>
          </a:ln>
        </p:spPr>
      </p:sp>
      <p:pic>
        <p:nvPicPr>
          <p:cNvPr id="19" name="Image 2" descr="preencoded.png">    </p:cNvPr>
          <p:cNvPicPr>
            <a:picLocks noChangeAspect="1"/>
          </p:cNvPicPr>
          <p:nvPr/>
        </p:nvPicPr>
        <p:blipFill>
          <a:blip r:embed="rId3"/>
          <a:stretch>
            <a:fillRect/>
          </a:stretch>
        </p:blipFill>
        <p:spPr>
          <a:xfrm>
            <a:off x="8412480" y="2606040"/>
            <a:ext cx="274320" cy="274320"/>
          </a:xfrm>
          <a:prstGeom prst="rect">
            <a:avLst/>
          </a:prstGeom>
        </p:spPr>
      </p:pic>
      <p:sp>
        <p:nvSpPr>
          <p:cNvPr id="20" name="Text 14"/>
          <p:cNvSpPr txBox="1"/>
          <p:nvPr/>
        </p:nvSpPr>
        <p:spPr>
          <a:xfrm>
            <a:off x="9006840" y="24688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Effimera</a:t>
            </a:r>
            <a:endParaRPr lang="en-US" sz="1800" dirty="0"/>
          </a:p>
        </p:txBody>
      </p:sp>
      <p:sp>
        <p:nvSpPr>
          <p:cNvPr id="21" name="Text 15"/>
          <p:cNvSpPr txBox="1"/>
          <p:nvPr/>
        </p:nvSpPr>
        <p:spPr>
          <a:xfrm>
            <a:off x="8275320" y="3154680"/>
            <a:ext cx="3108960" cy="128016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ephemeral = true: router distrutto → sparisce da solo da Tailscale</a:t>
            </a:r>
            <a:endParaRPr lang="en-US" sz="1600" dirty="0"/>
          </a:p>
        </p:txBody>
      </p:sp>
      <p:sp>
        <p:nvSpPr>
          <p:cNvPr id="22" name="Shape 16"/>
          <p:cNvSpPr/>
          <p:nvPr/>
        </p:nvSpPr>
        <p:spPr>
          <a:xfrm>
            <a:off x="548640" y="4892040"/>
            <a:ext cx="11094415" cy="914400"/>
          </a:xfrm>
          <a:prstGeom prst="roundRect">
            <a:avLst>
              <a:gd name="adj" fmla="val 10000"/>
            </a:avLst>
          </a:prstGeom>
          <a:solidFill>
            <a:srgbClr val="FDF0E3"/>
          </a:solidFill>
          <a:ln w="12700">
            <a:solidFill>
              <a:srgbClr val="FDF0E3"/>
            </a:solidFill>
            <a:prstDash val="solid"/>
          </a:ln>
        </p:spPr>
      </p:sp>
      <p:sp>
        <p:nvSpPr>
          <p:cNvPr id="23" name="Text 17"/>
          <p:cNvSpPr txBox="1"/>
          <p:nvPr/>
        </p:nvSpPr>
        <p:spPr>
          <a:xfrm>
            <a:off x="822960" y="4892040"/>
            <a:ext cx="10545775" cy="91440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Finisce nello state e nel user_data: per questo dopo il primo avvio non deve servire più a niente.</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In Terraform: cosa aggiungiamo, e dove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5 · Accesso remoto: Tailscale</a:t>
            </a:r>
            <a:endParaRPr lang="en-US" sz="1000" dirty="0"/>
          </a:p>
        </p:txBody>
      </p:sp>
      <p:sp>
        <p:nvSpPr>
          <p:cNvPr id="5" name="Shape 2"/>
          <p:cNvSpPr/>
          <p:nvPr/>
        </p:nvSpPr>
        <p:spPr>
          <a:xfrm>
            <a:off x="548640" y="1325880"/>
            <a:ext cx="5440680" cy="1920240"/>
          </a:xfrm>
          <a:prstGeom prst="roundRect">
            <a:avLst>
              <a:gd name="adj" fmla="val 3810"/>
            </a:avLst>
          </a:prstGeom>
          <a:solidFill>
            <a:srgbClr val="1E1E2E"/>
          </a:solidFill>
          <a:ln w="12700">
            <a:solidFill>
              <a:srgbClr val="1E1E2E"/>
            </a:solidFill>
            <a:prstDash val="solid"/>
          </a:ln>
        </p:spPr>
      </p:sp>
      <p:sp>
        <p:nvSpPr>
          <p:cNvPr id="6" name="Text 3"/>
          <p:cNvSpPr txBox="1"/>
          <p:nvPr/>
        </p:nvSpPr>
        <p:spPr>
          <a:xfrm>
            <a:off x="731520" y="1399032"/>
            <a:ext cx="5074920"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providers.tf · dentro required_providers</a:t>
            </a:r>
            <a:endParaRPr lang="en-US" sz="1300" dirty="0"/>
          </a:p>
        </p:txBody>
      </p:sp>
      <p:sp>
        <p:nvSpPr>
          <p:cNvPr id="7" name="Text 4"/>
          <p:cNvSpPr txBox="1"/>
          <p:nvPr/>
        </p:nvSpPr>
        <p:spPr>
          <a:xfrm>
            <a:off x="731520" y="1737360"/>
            <a:ext cx="5074920" cy="1371600"/>
          </a:xfrm>
          <a:prstGeom prst="rect">
            <a:avLst/>
          </a:prstGeom>
          <a:noFill/>
          <a:ln/>
        </p:spPr>
        <p:txBody>
          <a:bodyPr wrap="square" lIns="0" tIns="0" rIns="0" bIns="0" rtlCol="0" anchor="t"/>
          <a:lstStyle/>
          <a:p>
            <a:pPr indent="0" marL="0">
              <a:buNone/>
            </a:pPr>
            <a:r>
              <a:rPr lang="en-US" sz="1500" dirty="0">
                <a:solidFill>
                  <a:srgbClr val="E6E6F0"/>
                </a:solidFill>
                <a:latin typeface="Courier New" pitchFamily="34" charset="0"/>
                <a:ea typeface="Courier New" pitchFamily="34" charset="-122"/>
                <a:cs typeface="Courier New" pitchFamily="34" charset="-120"/>
              </a:rPr>
              <a:t>tailscale =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source  = "tailscale/tailscale"</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version = "~&gt; 0.21"</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8FD694"/>
                </a:solidFill>
                <a:latin typeface="Courier New" pitchFamily="34" charset="0"/>
                <a:ea typeface="Courier New" pitchFamily="34" charset="-122"/>
                <a:cs typeface="Courier New" pitchFamily="34" charset="-120"/>
              </a:rPr>
              <a:t># + in fondo: provider "tailscale" {}</a:t>
            </a:r>
            <a:endParaRPr lang="en-US" sz="1500" dirty="0"/>
          </a:p>
        </p:txBody>
      </p:sp>
      <p:sp>
        <p:nvSpPr>
          <p:cNvPr id="8" name="Shape 5"/>
          <p:cNvSpPr/>
          <p:nvPr/>
        </p:nvSpPr>
        <p:spPr>
          <a:xfrm>
            <a:off x="6172200" y="1325880"/>
            <a:ext cx="5468112" cy="1920240"/>
          </a:xfrm>
          <a:prstGeom prst="roundRect">
            <a:avLst>
              <a:gd name="adj" fmla="val 3810"/>
            </a:avLst>
          </a:prstGeom>
          <a:solidFill>
            <a:srgbClr val="1E1E2E"/>
          </a:solidFill>
          <a:ln w="12700">
            <a:solidFill>
              <a:srgbClr val="1E1E2E"/>
            </a:solidFill>
            <a:prstDash val="solid"/>
          </a:ln>
        </p:spPr>
      </p:sp>
      <p:sp>
        <p:nvSpPr>
          <p:cNvPr id="9" name="Text 6"/>
          <p:cNvSpPr txBox="1"/>
          <p:nvPr/>
        </p:nvSpPr>
        <p:spPr>
          <a:xfrm>
            <a:off x="6355080" y="1399032"/>
            <a:ext cx="5102352"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variables.tf</a:t>
            </a:r>
            <a:endParaRPr lang="en-US" sz="1300" dirty="0"/>
          </a:p>
        </p:txBody>
      </p:sp>
      <p:sp>
        <p:nvSpPr>
          <p:cNvPr id="10" name="Text 7"/>
          <p:cNvSpPr txBox="1"/>
          <p:nvPr/>
        </p:nvSpPr>
        <p:spPr>
          <a:xfrm>
            <a:off x="6355080" y="1737360"/>
            <a:ext cx="5102352" cy="1371600"/>
          </a:xfrm>
          <a:prstGeom prst="rect">
            <a:avLst/>
          </a:prstGeom>
          <a:noFill/>
          <a:ln/>
        </p:spPr>
        <p:txBody>
          <a:bodyPr wrap="square" lIns="0" tIns="0" rIns="0" bIns="0" rtlCol="0" anchor="t"/>
          <a:lstStyle/>
          <a:p>
            <a:pPr indent="0" marL="0">
              <a:buNone/>
            </a:pPr>
            <a:r>
              <a:rPr lang="en-US" sz="1500" dirty="0">
                <a:solidFill>
                  <a:srgbClr val="E6E6F0"/>
                </a:solidFill>
                <a:latin typeface="Courier New" pitchFamily="34" charset="0"/>
                <a:ea typeface="Courier New" pitchFamily="34" charset="-122"/>
                <a:cs typeface="Courier New" pitchFamily="34" charset="-120"/>
              </a:rPr>
              <a:t>variable "tailscale_admins"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type = list(string)  </a:t>
            </a:r>
            <a:pPr indent="0" marL="0">
              <a:buNone/>
            </a:pPr>
            <a:r>
              <a:rPr lang="en-US" sz="1500" dirty="0">
                <a:solidFill>
                  <a:srgbClr val="8FD694"/>
                </a:solidFill>
                <a:latin typeface="Courier New" pitchFamily="34" charset="0"/>
                <a:ea typeface="Courier New" pitchFamily="34" charset="-122"/>
                <a:cs typeface="Courier New" pitchFamily="34" charset="-120"/>
              </a:rPr>
              <a:t># nomi di login</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variable "tailscale_devs"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type = list(string)  </a:t>
            </a:r>
            <a:pPr indent="0" marL="0">
              <a:buNone/>
            </a:pPr>
            <a:r>
              <a:rPr lang="en-US" sz="1500" dirty="0">
                <a:solidFill>
                  <a:srgbClr val="8FD694"/>
                </a:solidFill>
                <a:latin typeface="Courier New" pitchFamily="34" charset="0"/>
                <a:ea typeface="Courier New" pitchFamily="34" charset="-122"/>
                <a:cs typeface="Courier New" pitchFamily="34" charset="-120"/>
              </a:rPr>
              <a:t># nomi di login</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a:t>
            </a:r>
            <a:endParaRPr lang="en-US" sz="1500" dirty="0"/>
          </a:p>
        </p:txBody>
      </p:sp>
      <p:sp>
        <p:nvSpPr>
          <p:cNvPr id="11" name="Shape 8"/>
          <p:cNvSpPr/>
          <p:nvPr/>
        </p:nvSpPr>
        <p:spPr>
          <a:xfrm>
            <a:off x="548640" y="3429000"/>
            <a:ext cx="11094415" cy="777240"/>
          </a:xfrm>
          <a:prstGeom prst="roundRect">
            <a:avLst>
              <a:gd name="adj" fmla="val 11765"/>
            </a:avLst>
          </a:prstGeom>
          <a:solidFill>
            <a:srgbClr val="FBE9E9"/>
          </a:solidFill>
          <a:ln w="12700">
            <a:solidFill>
              <a:srgbClr val="FBE9E9"/>
            </a:solidFill>
            <a:prstDash val="solid"/>
          </a:ln>
        </p:spPr>
      </p:sp>
      <p:sp>
        <p:nvSpPr>
          <p:cNvPr id="12" name="Text 9"/>
          <p:cNvSpPr txBox="1"/>
          <p:nvPr/>
        </p:nvSpPr>
        <p:spPr>
          <a:xfrm>
            <a:off x="822960" y="3429000"/>
            <a:ext cx="10545775" cy="77724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La chiave API di Tailscale: MAI nel codice. Nel terminale: export TAILSCALE_API_KEY="…"</a:t>
            </a:r>
            <a:endParaRPr lang="en-US" sz="1800" dirty="0"/>
          </a:p>
        </p:txBody>
      </p:sp>
      <p:sp>
        <p:nvSpPr>
          <p:cNvPr id="13" name="Shape 10"/>
          <p:cNvSpPr/>
          <p:nvPr/>
        </p:nvSpPr>
        <p:spPr>
          <a:xfrm>
            <a:off x="548640" y="4434840"/>
            <a:ext cx="2651760" cy="1463040"/>
          </a:xfrm>
          <a:prstGeom prst="roundRect">
            <a:avLst>
              <a:gd name="adj" fmla="val 6250"/>
            </a:avLst>
          </a:prstGeom>
          <a:solidFill>
            <a:srgbClr val="F7F6FD"/>
          </a:solidFill>
          <a:ln w="12700">
            <a:solidFill>
              <a:srgbClr val="D9D6EC"/>
            </a:solidFill>
            <a:prstDash val="solid"/>
          </a:ln>
        </p:spPr>
      </p:sp>
      <p:sp>
        <p:nvSpPr>
          <p:cNvPr id="14" name="Shape 11"/>
          <p:cNvSpPr/>
          <p:nvPr/>
        </p:nvSpPr>
        <p:spPr>
          <a:xfrm>
            <a:off x="685800" y="4572000"/>
            <a:ext cx="548640" cy="548640"/>
          </a:xfrm>
          <a:prstGeom prst="ellipse">
            <a:avLst/>
          </a:prstGeom>
          <a:solidFill>
            <a:srgbClr val="5B3FD0"/>
          </a:solidFill>
          <a:ln w="12700">
            <a:solidFill>
              <a:srgbClr val="5B3FD0"/>
            </a:solidFill>
            <a:prstDash val="solid"/>
          </a:ln>
        </p:spPr>
      </p:sp>
      <p:sp>
        <p:nvSpPr>
          <p:cNvPr id="15" name="Text 12"/>
          <p:cNvSpPr txBox="1"/>
          <p:nvPr/>
        </p:nvSpPr>
        <p:spPr>
          <a:xfrm>
            <a:off x="685800" y="4572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6" name="Text 13"/>
          <p:cNvSpPr txBox="1"/>
          <p:nvPr/>
        </p:nvSpPr>
        <p:spPr>
          <a:xfrm>
            <a:off x="1325880" y="4572000"/>
            <a:ext cx="1783080" cy="548640"/>
          </a:xfrm>
          <a:prstGeom prst="rect">
            <a:avLst/>
          </a:prstGeom>
          <a:noFill/>
          <a:ln/>
        </p:spPr>
        <p:txBody>
          <a:bodyPr wrap="square" lIns="0" tIns="0" rIns="0" bIns="0" rtlCol="0" anchor="ctr"/>
          <a:lstStyle/>
          <a:p>
            <a:pPr algn="l" indent="0" marL="0">
              <a:buNone/>
            </a:pPr>
            <a:r>
              <a:rPr lang="en-US" sz="1600" b="1" dirty="0">
                <a:solidFill>
                  <a:srgbClr val="22253A"/>
                </a:solidFill>
                <a:latin typeface="Calibri" pitchFamily="34" charset="0"/>
                <a:ea typeface="Calibri" pitchFamily="34" charset="-122"/>
                <a:cs typeface="Calibri" pitchFamily="34" charset="-120"/>
              </a:rPr>
              <a:t>la policy</a:t>
            </a:r>
            <a:endParaRPr lang="en-US" sz="1600" dirty="0"/>
          </a:p>
        </p:txBody>
      </p:sp>
      <p:sp>
        <p:nvSpPr>
          <p:cNvPr id="17" name="Text 14"/>
          <p:cNvSpPr txBox="1"/>
          <p:nvPr/>
        </p:nvSpPr>
        <p:spPr>
          <a:xfrm>
            <a:off x="685800" y="5212080"/>
            <a:ext cx="2377440" cy="502920"/>
          </a:xfrm>
          <a:prstGeom prst="rect">
            <a:avLst/>
          </a:prstGeom>
          <a:noFill/>
          <a:ln/>
        </p:spPr>
        <p:txBody>
          <a:bodyPr wrap="square" lIns="0" tIns="0" rIns="0" bIns="0" rtlCol="0" anchor="ctr"/>
          <a:lstStyle/>
          <a:p>
            <a:pPr algn="l" indent="0" marL="0">
              <a:buNone/>
            </a:pPr>
            <a:r>
              <a:rPr lang="en-US" sz="1200" dirty="0">
                <a:solidFill>
                  <a:srgbClr val="5F6478"/>
                </a:solidFill>
                <a:latin typeface="Courier New" pitchFamily="34" charset="0"/>
                <a:ea typeface="Courier New" pitchFamily="34" charset="-122"/>
                <a:cs typeface="Courier New" pitchFamily="34" charset="-120"/>
              </a:rPr>
              <a:t>tailscale_acl</a:t>
            </a:r>
            <a:endParaRPr lang="en-US" sz="1200" dirty="0"/>
          </a:p>
        </p:txBody>
      </p:sp>
      <p:sp>
        <p:nvSpPr>
          <p:cNvPr id="18" name="Shape 15"/>
          <p:cNvSpPr/>
          <p:nvPr/>
        </p:nvSpPr>
        <p:spPr>
          <a:xfrm>
            <a:off x="3383280" y="4434840"/>
            <a:ext cx="2651760" cy="1463040"/>
          </a:xfrm>
          <a:prstGeom prst="roundRect">
            <a:avLst>
              <a:gd name="adj" fmla="val 6250"/>
            </a:avLst>
          </a:prstGeom>
          <a:solidFill>
            <a:srgbClr val="F7F6FD"/>
          </a:solidFill>
          <a:ln w="12700">
            <a:solidFill>
              <a:srgbClr val="D9D6EC"/>
            </a:solidFill>
            <a:prstDash val="solid"/>
          </a:ln>
        </p:spPr>
      </p:sp>
      <p:sp>
        <p:nvSpPr>
          <p:cNvPr id="19" name="Shape 16"/>
          <p:cNvSpPr/>
          <p:nvPr/>
        </p:nvSpPr>
        <p:spPr>
          <a:xfrm>
            <a:off x="3520440" y="4572000"/>
            <a:ext cx="548640" cy="548640"/>
          </a:xfrm>
          <a:prstGeom prst="ellipse">
            <a:avLst/>
          </a:prstGeom>
          <a:solidFill>
            <a:srgbClr val="5B3FD0"/>
          </a:solidFill>
          <a:ln w="12700">
            <a:solidFill>
              <a:srgbClr val="5B3FD0"/>
            </a:solidFill>
            <a:prstDash val="solid"/>
          </a:ln>
        </p:spPr>
      </p:sp>
      <p:sp>
        <p:nvSpPr>
          <p:cNvPr id="20" name="Text 17"/>
          <p:cNvSpPr txBox="1"/>
          <p:nvPr/>
        </p:nvSpPr>
        <p:spPr>
          <a:xfrm>
            <a:off x="3520440" y="4572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18"/>
          <p:cNvSpPr txBox="1"/>
          <p:nvPr/>
        </p:nvSpPr>
        <p:spPr>
          <a:xfrm>
            <a:off x="4160520" y="4572000"/>
            <a:ext cx="1783080" cy="548640"/>
          </a:xfrm>
          <a:prstGeom prst="rect">
            <a:avLst/>
          </a:prstGeom>
          <a:noFill/>
          <a:ln/>
        </p:spPr>
        <p:txBody>
          <a:bodyPr wrap="square" lIns="0" tIns="0" rIns="0" bIns="0" rtlCol="0" anchor="ctr"/>
          <a:lstStyle/>
          <a:p>
            <a:pPr algn="l" indent="0" marL="0">
              <a:buNone/>
            </a:pPr>
            <a:r>
              <a:rPr lang="en-US" sz="1600" b="1" dirty="0">
                <a:solidFill>
                  <a:srgbClr val="22253A"/>
                </a:solidFill>
                <a:latin typeface="Calibri" pitchFamily="34" charset="0"/>
                <a:ea typeface="Calibri" pitchFamily="34" charset="-122"/>
                <a:cs typeface="Calibri" pitchFamily="34" charset="-120"/>
              </a:rPr>
              <a:t>la chiave d'ingresso</a:t>
            </a:r>
            <a:endParaRPr lang="en-US" sz="1600" dirty="0"/>
          </a:p>
        </p:txBody>
      </p:sp>
      <p:sp>
        <p:nvSpPr>
          <p:cNvPr id="22" name="Text 19"/>
          <p:cNvSpPr txBox="1"/>
          <p:nvPr/>
        </p:nvSpPr>
        <p:spPr>
          <a:xfrm>
            <a:off x="3520440" y="5212080"/>
            <a:ext cx="2377440" cy="502920"/>
          </a:xfrm>
          <a:prstGeom prst="rect">
            <a:avLst/>
          </a:prstGeom>
          <a:noFill/>
          <a:ln/>
        </p:spPr>
        <p:txBody>
          <a:bodyPr wrap="square" lIns="0" tIns="0" rIns="0" bIns="0" rtlCol="0" anchor="ctr"/>
          <a:lstStyle/>
          <a:p>
            <a:pPr algn="l" indent="0" marL="0">
              <a:buNone/>
            </a:pPr>
            <a:r>
              <a:rPr lang="en-US" sz="1200" dirty="0">
                <a:solidFill>
                  <a:srgbClr val="5F6478"/>
                </a:solidFill>
                <a:latin typeface="Courier New" pitchFamily="34" charset="0"/>
                <a:ea typeface="Courier New" pitchFamily="34" charset="-122"/>
                <a:cs typeface="Courier New" pitchFamily="34" charset="-120"/>
              </a:rPr>
              <a:t>tailscale_tailnet_key</a:t>
            </a:r>
            <a:endParaRPr lang="en-US" sz="1200" dirty="0"/>
          </a:p>
        </p:txBody>
      </p:sp>
      <p:sp>
        <p:nvSpPr>
          <p:cNvPr id="23" name="Shape 20"/>
          <p:cNvSpPr/>
          <p:nvPr/>
        </p:nvSpPr>
        <p:spPr>
          <a:xfrm>
            <a:off x="6217920" y="4434840"/>
            <a:ext cx="2651760" cy="1463040"/>
          </a:xfrm>
          <a:prstGeom prst="roundRect">
            <a:avLst>
              <a:gd name="adj" fmla="val 6250"/>
            </a:avLst>
          </a:prstGeom>
          <a:solidFill>
            <a:srgbClr val="F7F6FD"/>
          </a:solidFill>
          <a:ln w="12700">
            <a:solidFill>
              <a:srgbClr val="D9D6EC"/>
            </a:solidFill>
            <a:prstDash val="solid"/>
          </a:ln>
        </p:spPr>
      </p:sp>
      <p:sp>
        <p:nvSpPr>
          <p:cNvPr id="24" name="Shape 21"/>
          <p:cNvSpPr/>
          <p:nvPr/>
        </p:nvSpPr>
        <p:spPr>
          <a:xfrm>
            <a:off x="6355080" y="4572000"/>
            <a:ext cx="548640" cy="548640"/>
          </a:xfrm>
          <a:prstGeom prst="ellipse">
            <a:avLst/>
          </a:prstGeom>
          <a:solidFill>
            <a:srgbClr val="5B3FD0"/>
          </a:solidFill>
          <a:ln w="12700">
            <a:solidFill>
              <a:srgbClr val="5B3FD0"/>
            </a:solidFill>
            <a:prstDash val="solid"/>
          </a:ln>
        </p:spPr>
      </p:sp>
      <p:sp>
        <p:nvSpPr>
          <p:cNvPr id="25" name="Text 22"/>
          <p:cNvSpPr txBox="1"/>
          <p:nvPr/>
        </p:nvSpPr>
        <p:spPr>
          <a:xfrm>
            <a:off x="6355080" y="4572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6" name="Text 23"/>
          <p:cNvSpPr txBox="1"/>
          <p:nvPr/>
        </p:nvSpPr>
        <p:spPr>
          <a:xfrm>
            <a:off x="6995160" y="4572000"/>
            <a:ext cx="1783080" cy="548640"/>
          </a:xfrm>
          <a:prstGeom prst="rect">
            <a:avLst/>
          </a:prstGeom>
          <a:noFill/>
          <a:ln/>
        </p:spPr>
        <p:txBody>
          <a:bodyPr wrap="square" lIns="0" tIns="0" rIns="0" bIns="0" rtlCol="0" anchor="ctr"/>
          <a:lstStyle/>
          <a:p>
            <a:pPr algn="l" indent="0" marL="0">
              <a:buNone/>
            </a:pPr>
            <a:r>
              <a:rPr lang="en-US" sz="1600" b="1" dirty="0">
                <a:solidFill>
                  <a:srgbClr val="22253A"/>
                </a:solidFill>
                <a:latin typeface="Calibri" pitchFamily="34" charset="0"/>
                <a:ea typeface="Calibri" pitchFamily="34" charset="-122"/>
                <a:cs typeface="Calibri" pitchFamily="34" charset="-120"/>
              </a:rPr>
              <a:t>le uscite</a:t>
            </a:r>
            <a:endParaRPr lang="en-US" sz="1600" dirty="0"/>
          </a:p>
        </p:txBody>
      </p:sp>
      <p:sp>
        <p:nvSpPr>
          <p:cNvPr id="27" name="Text 24"/>
          <p:cNvSpPr txBox="1"/>
          <p:nvPr/>
        </p:nvSpPr>
        <p:spPr>
          <a:xfrm>
            <a:off x="6355080" y="5212080"/>
            <a:ext cx="2377440" cy="502920"/>
          </a:xfrm>
          <a:prstGeom prst="rect">
            <a:avLst/>
          </a:prstGeom>
          <a:noFill/>
          <a:ln/>
        </p:spPr>
        <p:txBody>
          <a:bodyPr wrap="square" lIns="0" tIns="0" rIns="0" bIns="0" rtlCol="0" anchor="ctr"/>
          <a:lstStyle/>
          <a:p>
            <a:pPr algn="l" indent="0" marL="0">
              <a:buNone/>
            </a:pPr>
            <a:r>
              <a:rPr lang="en-US" sz="1200" dirty="0">
                <a:solidFill>
                  <a:srgbClr val="5F6478"/>
                </a:solidFill>
                <a:latin typeface="Courier New" pitchFamily="34" charset="0"/>
                <a:ea typeface="Courier New" pitchFamily="34" charset="-122"/>
                <a:cs typeface="Courier New" pitchFamily="34" charset="-120"/>
              </a:rPr>
              <a:t>…_egress_rule (SG vpn)</a:t>
            </a:r>
            <a:endParaRPr lang="en-US" sz="1200" dirty="0"/>
          </a:p>
        </p:txBody>
      </p:sp>
      <p:sp>
        <p:nvSpPr>
          <p:cNvPr id="28" name="Shape 25"/>
          <p:cNvSpPr/>
          <p:nvPr/>
        </p:nvSpPr>
        <p:spPr>
          <a:xfrm>
            <a:off x="9052560" y="4434840"/>
            <a:ext cx="2651760" cy="1463040"/>
          </a:xfrm>
          <a:prstGeom prst="roundRect">
            <a:avLst>
              <a:gd name="adj" fmla="val 6250"/>
            </a:avLst>
          </a:prstGeom>
          <a:solidFill>
            <a:srgbClr val="F7F6FD"/>
          </a:solidFill>
          <a:ln w="12700">
            <a:solidFill>
              <a:srgbClr val="D9D6EC"/>
            </a:solidFill>
            <a:prstDash val="solid"/>
          </a:ln>
        </p:spPr>
      </p:sp>
      <p:sp>
        <p:nvSpPr>
          <p:cNvPr id="29" name="Shape 26"/>
          <p:cNvSpPr/>
          <p:nvPr/>
        </p:nvSpPr>
        <p:spPr>
          <a:xfrm>
            <a:off x="9189720" y="4572000"/>
            <a:ext cx="548640" cy="548640"/>
          </a:xfrm>
          <a:prstGeom prst="ellipse">
            <a:avLst/>
          </a:prstGeom>
          <a:solidFill>
            <a:srgbClr val="5B3FD0"/>
          </a:solidFill>
          <a:ln w="12700">
            <a:solidFill>
              <a:srgbClr val="5B3FD0"/>
            </a:solidFill>
            <a:prstDash val="solid"/>
          </a:ln>
        </p:spPr>
      </p:sp>
      <p:sp>
        <p:nvSpPr>
          <p:cNvPr id="30" name="Text 27"/>
          <p:cNvSpPr txBox="1"/>
          <p:nvPr/>
        </p:nvSpPr>
        <p:spPr>
          <a:xfrm>
            <a:off x="9189720" y="4572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1" name="Text 28"/>
          <p:cNvSpPr txBox="1"/>
          <p:nvPr/>
        </p:nvSpPr>
        <p:spPr>
          <a:xfrm>
            <a:off x="9829800" y="4572000"/>
            <a:ext cx="1783080" cy="548640"/>
          </a:xfrm>
          <a:prstGeom prst="rect">
            <a:avLst/>
          </a:prstGeom>
          <a:noFill/>
          <a:ln/>
        </p:spPr>
        <p:txBody>
          <a:bodyPr wrap="square" lIns="0" tIns="0" rIns="0" bIns="0" rtlCol="0" anchor="ctr"/>
          <a:lstStyle/>
          <a:p>
            <a:pPr algn="l" indent="0" marL="0">
              <a:buNone/>
            </a:pPr>
            <a:r>
              <a:rPr lang="en-US" sz="1600" b="1" dirty="0">
                <a:solidFill>
                  <a:srgbClr val="22253A"/>
                </a:solidFill>
                <a:latin typeface="Calibri" pitchFamily="34" charset="0"/>
                <a:ea typeface="Calibri" pitchFamily="34" charset="-122"/>
                <a:cs typeface="Calibri" pitchFamily="34" charset="-120"/>
              </a:rPr>
              <a:t>il router</a:t>
            </a:r>
            <a:endParaRPr lang="en-US" sz="1600" dirty="0"/>
          </a:p>
        </p:txBody>
      </p:sp>
      <p:sp>
        <p:nvSpPr>
          <p:cNvPr id="32" name="Text 29"/>
          <p:cNvSpPr txBox="1"/>
          <p:nvPr/>
        </p:nvSpPr>
        <p:spPr>
          <a:xfrm>
            <a:off x="9189720" y="5212080"/>
            <a:ext cx="2377440" cy="502920"/>
          </a:xfrm>
          <a:prstGeom prst="rect">
            <a:avLst/>
          </a:prstGeom>
          <a:noFill/>
          <a:ln/>
        </p:spPr>
        <p:txBody>
          <a:bodyPr wrap="square" lIns="0" tIns="0" rIns="0" bIns="0" rtlCol="0" anchor="ctr"/>
          <a:lstStyle/>
          <a:p>
            <a:pPr algn="l" indent="0" marL="0">
              <a:buNone/>
            </a:pPr>
            <a:r>
              <a:rPr lang="en-US" sz="1200" dirty="0">
                <a:solidFill>
                  <a:srgbClr val="5F6478"/>
                </a:solidFill>
                <a:latin typeface="Courier New" pitchFamily="34" charset="0"/>
                <a:ea typeface="Courier New" pitchFamily="34" charset="-122"/>
                <a:cs typeface="Courier New" pitchFamily="34" charset="-120"/>
              </a:rPr>
              <a:t>aws_instance</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In Terraform: la policy, scritta con jsonencode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5 · Accesso remoto: Tailscale</a:t>
            </a:r>
            <a:endParaRPr lang="en-US" sz="1000" dirty="0"/>
          </a:p>
        </p:txBody>
      </p:sp>
      <p:sp>
        <p:nvSpPr>
          <p:cNvPr id="5" name="Shape 2"/>
          <p:cNvSpPr/>
          <p:nvPr/>
        </p:nvSpPr>
        <p:spPr>
          <a:xfrm>
            <a:off x="548640" y="1280160"/>
            <a:ext cx="11094415" cy="4663440"/>
          </a:xfrm>
          <a:prstGeom prst="roundRect">
            <a:avLst>
              <a:gd name="adj" fmla="val 1569"/>
            </a:avLst>
          </a:prstGeom>
          <a:solidFill>
            <a:srgbClr val="1E1E2E"/>
          </a:solidFill>
          <a:ln w="12700">
            <a:solidFill>
              <a:srgbClr val="1E1E2E"/>
            </a:solidFill>
            <a:prstDash val="solid"/>
          </a:ln>
        </p:spPr>
      </p:sp>
      <p:sp>
        <p:nvSpPr>
          <p:cNvPr id="6" name="Text 3"/>
          <p:cNvSpPr txBox="1"/>
          <p:nvPr/>
        </p:nvSpPr>
        <p:spPr>
          <a:xfrm>
            <a:off x="731520" y="135331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tailscale.tf · 1. la policy</a:t>
            </a:r>
            <a:endParaRPr lang="en-US" sz="1300" dirty="0"/>
          </a:p>
        </p:txBody>
      </p:sp>
      <p:sp>
        <p:nvSpPr>
          <p:cNvPr id="7" name="Text 4"/>
          <p:cNvSpPr txBox="1"/>
          <p:nvPr/>
        </p:nvSpPr>
        <p:spPr>
          <a:xfrm>
            <a:off x="731520" y="1691640"/>
            <a:ext cx="10728655" cy="4114800"/>
          </a:xfrm>
          <a:prstGeom prst="rect">
            <a:avLst/>
          </a:prstGeom>
          <a:noFill/>
          <a:ln/>
        </p:spPr>
        <p:txBody>
          <a:bodyPr wrap="square" lIns="0" tIns="0" rIns="0" bIns="0" rtlCol="0" anchor="t"/>
          <a:lstStyle/>
          <a:p>
            <a:pPr indent="0" marL="0">
              <a:buNone/>
            </a:pPr>
            <a:r>
              <a:rPr lang="en-US" sz="1500" dirty="0">
                <a:solidFill>
                  <a:srgbClr val="E6E6F0"/>
                </a:solidFill>
                <a:latin typeface="Courier New" pitchFamily="34" charset="0"/>
                <a:ea typeface="Courier New" pitchFamily="34" charset="-122"/>
                <a:cs typeface="Courier New" pitchFamily="34" charset="-120"/>
              </a:rPr>
              <a:t>resource "tailscale_acl" "main"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overwrite_existing_content = true            </a:t>
            </a:r>
            <a:pPr indent="0" marL="0">
              <a:buNone/>
            </a:pPr>
            <a:r>
              <a:rPr lang="en-US" sz="1500" dirty="0">
                <a:solidFill>
                  <a:srgbClr val="8FD694"/>
                </a:solidFill>
                <a:latin typeface="Courier New" pitchFamily="34" charset="0"/>
                <a:ea typeface="Courier New" pitchFamily="34" charset="-122"/>
                <a:cs typeface="Courier New" pitchFamily="34" charset="-120"/>
              </a:rPr>
              <a:t># la gestisce solo Terraform</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acl = jsonencode({                            </a:t>
            </a:r>
            <a:pPr indent="0" marL="0">
              <a:buNone/>
            </a:pPr>
            <a:r>
              <a:rPr lang="en-US" sz="1500" dirty="0">
                <a:solidFill>
                  <a:srgbClr val="8FD694"/>
                </a:solidFill>
                <a:latin typeface="Courier New" pitchFamily="34" charset="0"/>
                <a:ea typeface="Courier New" pitchFamily="34" charset="-122"/>
                <a:cs typeface="Courier New" pitchFamily="34" charset="-120"/>
              </a:rPr>
              <a:t># HCL → JSON</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groups =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"group:admin" = var.tailscale_admins</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"group:dev"   = var.tailscale_devs</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acls =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 action = "accept", src = ["group:admin"],</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dst = concat([for c in local.private_cidrs : "${c}:8080"],</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[for c in local.db_cidrs : "${c}:5432"])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 action = "accept", src = ["group:dev"],</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dst = [for c in local.private_cidrs : "${c}:8080"]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a:t>
            </a:r>
            <a:pPr indent="0" marL="0">
              <a:buNone/>
            </a:pPr>
            <a:r>
              <a:rPr lang="en-US" sz="1500" dirty="0">
                <a:solidFill>
                  <a:srgbClr val="8FD694"/>
                </a:solidFill>
                <a:latin typeface="Courier New" pitchFamily="34" charset="0"/>
                <a:ea typeface="Courier New" pitchFamily="34" charset="-122"/>
                <a:cs typeface="Courier New" pitchFamily="34" charset="-120"/>
              </a:rPr>
              <a:t># + tagOwners e autoApprovers (codice completo nella dispensa)</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a:t>
            </a:r>
            <a:endParaRPr lang="en-US" sz="1500" dirty="0"/>
          </a:p>
        </p:txBody>
      </p:sp>
      <p:sp>
        <p:nvSpPr>
          <p:cNvPr id="8" name="Text 5"/>
          <p:cNvSpPr txBox="1"/>
          <p:nvPr/>
        </p:nvSpPr>
        <p:spPr>
          <a:xfrm>
            <a:off x="548640" y="5989320"/>
            <a:ext cx="11094415" cy="320040"/>
          </a:xfrm>
          <a:prstGeom prst="rect">
            <a:avLst/>
          </a:prstGeom>
          <a:noFill/>
          <a:ln/>
        </p:spPr>
        <p:txBody>
          <a:bodyPr wrap="square" lIns="0" tIns="0" rIns="0" bIns="0" rtlCol="0" anchor="ctr"/>
          <a:lstStyle/>
          <a:p>
            <a:pPr algn="l" indent="0" marL="0">
              <a:buNone/>
            </a:pPr>
            <a:r>
              <a:rPr lang="en-US" sz="1400" dirty="0">
                <a:solidFill>
                  <a:srgbClr val="5F6478"/>
                </a:solidFill>
                <a:latin typeface="Courier New" pitchFamily="34" charset="0"/>
                <a:ea typeface="Courier New" pitchFamily="34" charset="-122"/>
                <a:cs typeface="Courier New" pitchFamily="34" charset="-120"/>
              </a:rPr>
              <a:t>[for c in local.private_cidrs : "${c}:8080"]  →  ["10.20.10.0/24:8080", "10.20.11.0/24:8080"]</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In Terraform: la chiave e le uscite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5 · Accesso remoto: Tailscale</a:t>
            </a:r>
            <a:endParaRPr lang="en-US" sz="1000" dirty="0"/>
          </a:p>
        </p:txBody>
      </p:sp>
      <p:sp>
        <p:nvSpPr>
          <p:cNvPr id="5" name="Shape 2"/>
          <p:cNvSpPr/>
          <p:nvPr/>
        </p:nvSpPr>
        <p:spPr>
          <a:xfrm>
            <a:off x="548640" y="1280160"/>
            <a:ext cx="11094415" cy="2697480"/>
          </a:xfrm>
          <a:prstGeom prst="roundRect">
            <a:avLst>
              <a:gd name="adj" fmla="val 2712"/>
            </a:avLst>
          </a:prstGeom>
          <a:solidFill>
            <a:srgbClr val="1E1E2E"/>
          </a:solidFill>
          <a:ln w="12700">
            <a:solidFill>
              <a:srgbClr val="1E1E2E"/>
            </a:solidFill>
            <a:prstDash val="solid"/>
          </a:ln>
        </p:spPr>
      </p:sp>
      <p:sp>
        <p:nvSpPr>
          <p:cNvPr id="6" name="Text 3"/>
          <p:cNvSpPr txBox="1"/>
          <p:nvPr/>
        </p:nvSpPr>
        <p:spPr>
          <a:xfrm>
            <a:off x="731520" y="135331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tailscale.tf · 2. la chiave d'ingresso</a:t>
            </a:r>
            <a:endParaRPr lang="en-US" sz="1300" dirty="0"/>
          </a:p>
        </p:txBody>
      </p:sp>
      <p:sp>
        <p:nvSpPr>
          <p:cNvPr id="7" name="Text 4"/>
          <p:cNvSpPr txBox="1"/>
          <p:nvPr/>
        </p:nvSpPr>
        <p:spPr>
          <a:xfrm>
            <a:off x="731520" y="1691640"/>
            <a:ext cx="10728655" cy="2148840"/>
          </a:xfrm>
          <a:prstGeom prst="rect">
            <a:avLst/>
          </a:prstGeom>
          <a:noFill/>
          <a:ln/>
        </p:spPr>
        <p:txBody>
          <a:bodyPr wrap="square" lIns="0" tIns="0" rIns="0" bIns="0" rtlCol="0" anchor="t"/>
          <a:lstStyle/>
          <a:p>
            <a:pPr indent="0" marL="0">
              <a:buNone/>
            </a:pPr>
            <a:r>
              <a:rPr lang="en-US" sz="1500" dirty="0">
                <a:solidFill>
                  <a:srgbClr val="E6E6F0"/>
                </a:solidFill>
                <a:latin typeface="Courier New" pitchFamily="34" charset="0"/>
                <a:ea typeface="Courier New" pitchFamily="34" charset="-122"/>
                <a:cs typeface="Courier New" pitchFamily="34" charset="-120"/>
              </a:rPr>
              <a:t>resource "tailscale_tailnet_key" "router"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reusable      = false               </a:t>
            </a:r>
            <a:pPr indent="0" marL="0">
              <a:buNone/>
            </a:pPr>
            <a:r>
              <a:rPr lang="en-US" sz="1500" dirty="0">
                <a:solidFill>
                  <a:srgbClr val="8FD694"/>
                </a:solidFill>
                <a:latin typeface="Courier New" pitchFamily="34" charset="0"/>
                <a:ea typeface="Courier New" pitchFamily="34" charset="-122"/>
                <a:cs typeface="Courier New" pitchFamily="34" charset="-120"/>
              </a:rPr>
              <a:t># monouso</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ephemeral     = true                </a:t>
            </a:r>
            <a:pPr indent="0" marL="0">
              <a:buNone/>
            </a:pPr>
            <a:r>
              <a:rPr lang="en-US" sz="1500" dirty="0">
                <a:solidFill>
                  <a:srgbClr val="8FD694"/>
                </a:solidFill>
                <a:latin typeface="Courier New" pitchFamily="34" charset="0"/>
                <a:ea typeface="Courier New" pitchFamily="34" charset="-122"/>
                <a:cs typeface="Courier New" pitchFamily="34" charset="-120"/>
              </a:rPr>
              <a:t># effimera</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preauthorized = true                </a:t>
            </a:r>
            <a:pPr indent="0" marL="0">
              <a:buNone/>
            </a:pPr>
            <a:r>
              <a:rPr lang="en-US" sz="1500" dirty="0">
                <a:solidFill>
                  <a:srgbClr val="8FD694"/>
                </a:solidFill>
                <a:latin typeface="Courier New" pitchFamily="34" charset="0"/>
                <a:ea typeface="Courier New" pitchFamily="34" charset="-122"/>
                <a:cs typeface="Courier New" pitchFamily="34" charset="-120"/>
              </a:rPr>
              <a:t># entra senza approvazione</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expiry        = 3600                </a:t>
            </a:r>
            <a:pPr indent="0" marL="0">
              <a:buNone/>
            </a:pPr>
            <a:r>
              <a:rPr lang="en-US" sz="1500" dirty="0">
                <a:solidFill>
                  <a:srgbClr val="8FD694"/>
                </a:solidFill>
                <a:latin typeface="Courier New" pitchFamily="34" charset="0"/>
                <a:ea typeface="Courier New" pitchFamily="34" charset="-122"/>
                <a:cs typeface="Courier New" pitchFamily="34" charset="-120"/>
              </a:rPr>
              <a:t># un'ora</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tags          = ["tag:router-aws"]</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depends_on    = [tailscale_acl.main]  </a:t>
            </a:r>
            <a:pPr indent="0" marL="0">
              <a:buNone/>
            </a:pPr>
            <a:r>
              <a:rPr lang="en-US" sz="1500" dirty="0">
                <a:solidFill>
                  <a:srgbClr val="8FD694"/>
                </a:solidFill>
                <a:latin typeface="Courier New" pitchFamily="34" charset="0"/>
                <a:ea typeface="Courier New" pitchFamily="34" charset="-122"/>
                <a:cs typeface="Courier New" pitchFamily="34" charset="-120"/>
              </a:rPr>
              <a:t># prima deve esistere il tag</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a:t>
            </a:r>
            <a:endParaRPr lang="en-US" sz="1500" dirty="0"/>
          </a:p>
        </p:txBody>
      </p:sp>
      <p:sp>
        <p:nvSpPr>
          <p:cNvPr id="8" name="Shape 5"/>
          <p:cNvSpPr/>
          <p:nvPr/>
        </p:nvSpPr>
        <p:spPr>
          <a:xfrm>
            <a:off x="548640" y="4160520"/>
            <a:ext cx="11094415" cy="2103120"/>
          </a:xfrm>
          <a:prstGeom prst="roundRect">
            <a:avLst>
              <a:gd name="adj" fmla="val 3478"/>
            </a:avLst>
          </a:prstGeom>
          <a:solidFill>
            <a:srgbClr val="1E1E2E"/>
          </a:solidFill>
          <a:ln w="12700">
            <a:solidFill>
              <a:srgbClr val="1E1E2E"/>
            </a:solidFill>
            <a:prstDash val="solid"/>
          </a:ln>
        </p:spPr>
      </p:sp>
      <p:sp>
        <p:nvSpPr>
          <p:cNvPr id="9" name="Text 6"/>
          <p:cNvSpPr txBox="1"/>
          <p:nvPr/>
        </p:nvSpPr>
        <p:spPr>
          <a:xfrm>
            <a:off x="731520" y="423367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tailscale.tf · 3. le uscite</a:t>
            </a:r>
            <a:endParaRPr lang="en-US" sz="1300" dirty="0"/>
          </a:p>
        </p:txBody>
      </p:sp>
      <p:sp>
        <p:nvSpPr>
          <p:cNvPr id="10" name="Text 7"/>
          <p:cNvSpPr txBox="1"/>
          <p:nvPr/>
        </p:nvSpPr>
        <p:spPr>
          <a:xfrm>
            <a:off x="731520" y="4572000"/>
            <a:ext cx="10728655" cy="1554480"/>
          </a:xfrm>
          <a:prstGeom prst="rect">
            <a:avLst/>
          </a:prstGeom>
          <a:noFill/>
          <a:ln/>
        </p:spPr>
        <p:txBody>
          <a:bodyPr wrap="square" lIns="0" tIns="0" rIns="0" bIns="0" rtlCol="0" anchor="t"/>
          <a:lstStyle/>
          <a:p>
            <a:pPr indent="0" marL="0">
              <a:buNone/>
            </a:pPr>
            <a:r>
              <a:rPr lang="en-US" sz="1500" dirty="0">
                <a:solidFill>
                  <a:srgbClr val="E6E6F0"/>
                </a:solidFill>
                <a:latin typeface="Courier New" pitchFamily="34" charset="0"/>
                <a:ea typeface="Courier New" pitchFamily="34" charset="-122"/>
                <a:cs typeface="Courier New" pitchFamily="34" charset="-120"/>
              </a:rPr>
              <a:t>resource "aws_vpc_security_group_egress_rule" "vpn_wireguard"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security_group_id = aws_security_group.vpn.id</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ip_protocol       = "udp"</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from_port         = 41641</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to_port           = 41641</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cidr_ipv4         = "0.0.0.0/0"   </a:t>
            </a:r>
            <a:pPr indent="0" marL="0">
              <a:buNone/>
            </a:pPr>
            <a:r>
              <a:rPr lang="en-US" sz="1500" dirty="0">
                <a:solidFill>
                  <a:srgbClr val="8FD694"/>
                </a:solidFill>
                <a:latin typeface="Courier New" pitchFamily="34" charset="0"/>
                <a:ea typeface="Courier New" pitchFamily="34" charset="-122"/>
                <a:cs typeface="Courier New" pitchFamily="34" charset="-120"/>
              </a:rPr>
              <a:t># + vpn_https (tcp 443) e vpn_stun (udp 3478)</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In Terraform: il router e il suo script</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5 · Accesso remoto: Tailscale</a:t>
            </a:r>
            <a:endParaRPr lang="en-US" sz="1000" dirty="0"/>
          </a:p>
        </p:txBody>
      </p:sp>
      <p:sp>
        <p:nvSpPr>
          <p:cNvPr id="5" name="Shape 2"/>
          <p:cNvSpPr/>
          <p:nvPr/>
        </p:nvSpPr>
        <p:spPr>
          <a:xfrm>
            <a:off x="548640" y="1280160"/>
            <a:ext cx="11094415" cy="4572000"/>
          </a:xfrm>
          <a:prstGeom prst="roundRect">
            <a:avLst>
              <a:gd name="adj" fmla="val 1600"/>
            </a:avLst>
          </a:prstGeom>
          <a:solidFill>
            <a:srgbClr val="1E1E2E"/>
          </a:solidFill>
          <a:ln w="12700">
            <a:solidFill>
              <a:srgbClr val="1E1E2E"/>
            </a:solidFill>
            <a:prstDash val="solid"/>
          </a:ln>
        </p:spPr>
      </p:sp>
      <p:sp>
        <p:nvSpPr>
          <p:cNvPr id="6" name="Text 3"/>
          <p:cNvSpPr txBox="1"/>
          <p:nvPr/>
        </p:nvSpPr>
        <p:spPr>
          <a:xfrm>
            <a:off x="731520" y="135331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tailscale.tf · 4. il router</a:t>
            </a:r>
            <a:endParaRPr lang="en-US" sz="1300" dirty="0"/>
          </a:p>
        </p:txBody>
      </p:sp>
      <p:sp>
        <p:nvSpPr>
          <p:cNvPr id="7" name="Text 4"/>
          <p:cNvSpPr txBox="1"/>
          <p:nvPr/>
        </p:nvSpPr>
        <p:spPr>
          <a:xfrm>
            <a:off x="731520" y="1691640"/>
            <a:ext cx="10728655" cy="4023360"/>
          </a:xfrm>
          <a:prstGeom prst="rect">
            <a:avLst/>
          </a:prstGeom>
          <a:noFill/>
          <a:ln/>
        </p:spPr>
        <p:txBody>
          <a:bodyPr wrap="square" lIns="0" tIns="0" rIns="0" bIns="0" rtlCol="0" anchor="t"/>
          <a:lstStyle/>
          <a:p>
            <a:pPr indent="0" marL="0">
              <a:buNone/>
            </a:pPr>
            <a:r>
              <a:rPr lang="en-US" sz="1400" dirty="0">
                <a:solidFill>
                  <a:srgbClr val="E6E6F0"/>
                </a:solidFill>
                <a:latin typeface="Courier New" pitchFamily="34" charset="0"/>
                <a:ea typeface="Courier New" pitchFamily="34" charset="-122"/>
                <a:cs typeface="Courier New" pitchFamily="34" charset="-120"/>
              </a:rPr>
              <a:t>resource "aws_instance" "tailscale_router" {</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instance_type          = "t4g.nano"</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vpc_security_group_ids = [aws_security_group.vpn.id]</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iam_instance_profile   = aws_iam_instance_profile.router.name   </a:t>
            </a:r>
            <a:pPr indent="0" marL="0">
              <a:buNone/>
            </a:pPr>
            <a:r>
              <a:rPr lang="en-US" sz="1400" dirty="0">
                <a:solidFill>
                  <a:srgbClr val="8FD694"/>
                </a:solidFill>
                <a:latin typeface="Courier New" pitchFamily="34" charset="0"/>
                <a:ea typeface="Courier New" pitchFamily="34" charset="-122"/>
                <a:cs typeface="Courier New" pitchFamily="34" charset="-120"/>
              </a:rPr>
              <a:t># role suo: solo SSM</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a:t>
            </a:r>
            <a:pPr indent="0" marL="0">
              <a:buNone/>
            </a:pPr>
            <a:r>
              <a:rPr lang="en-US" sz="1400" dirty="0">
                <a:solidFill>
                  <a:srgbClr val="8FD694"/>
                </a:solidFill>
                <a:latin typeface="Courier New" pitchFamily="34" charset="0"/>
                <a:ea typeface="Courier New" pitchFamily="34" charset="-122"/>
                <a:cs typeface="Courier New" pitchFamily="34" charset="-120"/>
              </a:rPr>
              <a:t># … ami, subnet privata, disco cifrato, IMDSv2: come nella lezione 4</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user_data = &lt;&lt;-EOF</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a:t>
            </a:r>
            <a:pPr indent="0" marL="0">
              <a:buNone/>
            </a:pPr>
            <a:r>
              <a:rPr lang="en-US" sz="1400" dirty="0">
                <a:solidFill>
                  <a:srgbClr val="8FD694"/>
                </a:solidFill>
                <a:latin typeface="Courier New" pitchFamily="34" charset="0"/>
                <a:ea typeface="Courier New" pitchFamily="34" charset="-122"/>
                <a:cs typeface="Courier New" pitchFamily="34" charset="-120"/>
              </a:rPr>
              <a:t>#!/bin/bash</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echo 'net.ipv4.ip_forward = 1' &gt; /etc/sysctl.d/99-tailscale.conf   </a:t>
            </a:r>
            <a:pPr indent="0" marL="0">
              <a:buNone/>
            </a:pPr>
            <a:r>
              <a:rPr lang="en-US" sz="1400" dirty="0">
                <a:solidFill>
                  <a:srgbClr val="8FD694"/>
                </a:solidFill>
                <a:latin typeface="Courier New" pitchFamily="34" charset="0"/>
                <a:ea typeface="Courier New" pitchFamily="34" charset="-122"/>
                <a:cs typeface="Courier New" pitchFamily="34" charset="-120"/>
              </a:rPr>
              <a:t># inoltro</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sysctl -p /etc/sysctl.d/99-tailscale.conf</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curl -fsSL https://tailscale.com/install.sh | sh                   </a:t>
            </a:r>
            <a:pPr indent="0" marL="0">
              <a:buNone/>
            </a:pPr>
            <a:r>
              <a:rPr lang="en-US" sz="1400" dirty="0">
                <a:solidFill>
                  <a:srgbClr val="8FD694"/>
                </a:solidFill>
                <a:latin typeface="Courier New" pitchFamily="34" charset="0"/>
                <a:ea typeface="Courier New" pitchFamily="34" charset="-122"/>
                <a:cs typeface="Courier New" pitchFamily="34" charset="-120"/>
              </a:rPr>
              <a:t># installa</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tailscale up --authkey=${tailscale_tailnet_key.router.key} \</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--advertise-tags=tag:router-aws \</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--advertise-routes=${join(",", concat(local.private_cidrs, local.db_cidrs))}</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EOF</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a:t>
            </a:r>
            <a:endParaRPr lang="en-US" sz="1400" dirty="0"/>
          </a:p>
        </p:txBody>
      </p:sp>
      <p:sp>
        <p:nvSpPr>
          <p:cNvPr id="8" name="Text 5"/>
          <p:cNvSpPr txBox="1"/>
          <p:nvPr/>
        </p:nvSpPr>
        <p:spPr>
          <a:xfrm>
            <a:off x="548640" y="5943600"/>
            <a:ext cx="11094415" cy="320040"/>
          </a:xfrm>
          <a:prstGeom prst="rect">
            <a:avLst/>
          </a:prstGeom>
          <a:noFill/>
          <a:ln/>
        </p:spPr>
        <p:txBody>
          <a:bodyPr wrap="square" lIns="0" tIns="0" rIns="0" bIns="0" rtlCol="0" anchor="ctr"/>
          <a:lstStyle/>
          <a:p>
            <a:pPr algn="l" indent="0" marL="0">
              <a:buNone/>
            </a:pPr>
            <a:r>
              <a:rPr lang="en-US" sz="1400" dirty="0">
                <a:solidFill>
                  <a:srgbClr val="5F6478"/>
                </a:solidFill>
                <a:latin typeface="Courier New" pitchFamily="34" charset="0"/>
                <a:ea typeface="Courier New" pitchFamily="34" charset="-122"/>
                <a:cs typeface="Courier New" pitchFamily="34" charset="-120"/>
              </a:rPr>
              <a:t>join(",", lista) → "10.20.10.0/24,10.20.11.0/24,10.20.20.0/24,10.20.21.0/24"</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Tailscale o SSM: quando usare cosa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5 · Accesso remoto: Tailscale</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7315200"/>
                <a:gridCol w="3776472"/>
              </a:tblGrid>
              <a:tr h="73152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Devo…</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Strumento</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731520">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aprire un terminale sul server, lanciare comandi</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800" b="1" dirty="0">
                          <a:solidFill>
                            <a:srgbClr val="5B3FD0"/>
                          </a:solidFill>
                          <a:latin typeface="Calibri" pitchFamily="34" charset="0"/>
                          <a:ea typeface="Calibri" pitchFamily="34" charset="-122"/>
                          <a:cs typeface="Calibri" pitchFamily="34" charset="-120"/>
                        </a:rPr>
                        <a:t>SSM Session Manager (lezione 4)</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731520">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aprire l'applicazione nel browser (porta 8080)</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800" b="1" dirty="0">
                          <a:solidFill>
                            <a:srgbClr val="F28C28"/>
                          </a:solidFill>
                          <a:latin typeface="Calibri" pitchFamily="34" charset="0"/>
                          <a:ea typeface="Calibri" pitchFamily="34" charset="-122"/>
                          <a:cs typeface="Calibri" pitchFamily="34" charset="-120"/>
                        </a:rPr>
                        <a:t>Tailscale</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731520">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collegarmi al database con un programma (psql, DBeaver…)</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800" b="1" dirty="0">
                          <a:solidFill>
                            <a:srgbClr val="F28C28"/>
                          </a:solidFill>
                          <a:latin typeface="Calibri" pitchFamily="34" charset="0"/>
                          <a:ea typeface="Calibri" pitchFamily="34" charset="-122"/>
                          <a:cs typeface="Calibri" pitchFamily="34" charset="-120"/>
                        </a:rPr>
                        <a:t>Tailscale (lezione 6)</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4572000"/>
            <a:ext cx="11094415" cy="1005840"/>
          </a:xfrm>
          <a:prstGeom prst="roundRect">
            <a:avLst>
              <a:gd name="adj" fmla="val 9091"/>
            </a:avLst>
          </a:prstGeom>
          <a:solidFill>
            <a:srgbClr val="5B3FD0"/>
          </a:solidFill>
          <a:ln w="12700">
            <a:solidFill>
              <a:srgbClr val="5B3FD0"/>
            </a:solidFill>
            <a:prstDash val="solid"/>
          </a:ln>
        </p:spPr>
      </p:sp>
      <p:sp>
        <p:nvSpPr>
          <p:cNvPr id="7" name="Text 3"/>
          <p:cNvSpPr txBox="1"/>
          <p:nvPr/>
        </p:nvSpPr>
        <p:spPr>
          <a:xfrm>
            <a:off x="822960" y="4572000"/>
            <a:ext cx="10545775" cy="10058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SSM per i comandi sul server. Tailscale per i collegamenti di rete.</a:t>
            </a:r>
            <a:endParaRPr lang="en-US" sz="2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Esercizio (1/2): prepara e costruisci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5 · Accesso remoto: Tailscale</a:t>
            </a:r>
            <a:endParaRPr lang="en-US" sz="1000" dirty="0"/>
          </a:p>
        </p:txBody>
      </p:sp>
      <p:sp>
        <p:nvSpPr>
          <p:cNvPr id="5" name="Shape 2"/>
          <p:cNvSpPr/>
          <p:nvPr/>
        </p:nvSpPr>
        <p:spPr>
          <a:xfrm>
            <a:off x="548640" y="1508760"/>
            <a:ext cx="640080" cy="640080"/>
          </a:xfrm>
          <a:prstGeom prst="ellipse">
            <a:avLst/>
          </a:prstGeom>
          <a:solidFill>
            <a:srgbClr val="5B3FD0"/>
          </a:solidFill>
          <a:ln w="12700">
            <a:solidFill>
              <a:srgbClr val="5B3FD0"/>
            </a:solidFill>
            <a:prstDash val="solid"/>
          </a:ln>
        </p:spPr>
      </p:sp>
      <p:sp>
        <p:nvSpPr>
          <p:cNvPr id="6" name="Text 3"/>
          <p:cNvSpPr txBox="1"/>
          <p:nvPr/>
        </p:nvSpPr>
        <p:spPr>
          <a:xfrm>
            <a:off x="548640" y="150876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7" name="Text 4"/>
          <p:cNvSpPr txBox="1"/>
          <p:nvPr/>
        </p:nvSpPr>
        <p:spPr>
          <a:xfrm>
            <a:off x="1371600" y="1325880"/>
            <a:ext cx="10180015" cy="91440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Account Tailscale: passkey, oppure GitHub + Google Authenticator</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Installa Tailscale e fai il login · il tuo PC compare con un indirizzo 100.x.y.z · in Users: il tuo nome di login</a:t>
            </a:r>
            <a:endParaRPr lang="en-US" sz="1800" dirty="0"/>
          </a:p>
        </p:txBody>
      </p:sp>
      <p:sp>
        <p:nvSpPr>
          <p:cNvPr id="8" name="Shape 5"/>
          <p:cNvSpPr/>
          <p:nvPr/>
        </p:nvSpPr>
        <p:spPr>
          <a:xfrm>
            <a:off x="548640" y="2468880"/>
            <a:ext cx="640080" cy="640080"/>
          </a:xfrm>
          <a:prstGeom prst="ellipse">
            <a:avLst/>
          </a:prstGeom>
          <a:solidFill>
            <a:srgbClr val="5B3FD0"/>
          </a:solidFill>
          <a:ln w="12700">
            <a:solidFill>
              <a:srgbClr val="5B3FD0"/>
            </a:solidFill>
            <a:prstDash val="solid"/>
          </a:ln>
        </p:spPr>
      </p:sp>
      <p:sp>
        <p:nvSpPr>
          <p:cNvPr id="9" name="Text 6"/>
          <p:cNvSpPr txBox="1"/>
          <p:nvPr/>
        </p:nvSpPr>
        <p:spPr>
          <a:xfrm>
            <a:off x="548640" y="246888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0" name="Text 7"/>
          <p:cNvSpPr txBox="1"/>
          <p:nvPr/>
        </p:nvSpPr>
        <p:spPr>
          <a:xfrm>
            <a:off x="1371600" y="2286000"/>
            <a:ext cx="10180015" cy="91440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Chiave API: Settings → Keys → Generate API access token</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export TAILSCALE_API_KEY="tskey-api-…"  ·  MAI nei file del progetto</a:t>
            </a:r>
            <a:endParaRPr lang="en-US" sz="1800" dirty="0"/>
          </a:p>
        </p:txBody>
      </p:sp>
      <p:sp>
        <p:nvSpPr>
          <p:cNvPr id="11" name="Shape 8"/>
          <p:cNvSpPr/>
          <p:nvPr/>
        </p:nvSpPr>
        <p:spPr>
          <a:xfrm>
            <a:off x="548640" y="3429000"/>
            <a:ext cx="640080" cy="640080"/>
          </a:xfrm>
          <a:prstGeom prst="ellipse">
            <a:avLst/>
          </a:prstGeom>
          <a:solidFill>
            <a:srgbClr val="5B3FD0"/>
          </a:solidFill>
          <a:ln w="12700">
            <a:solidFill>
              <a:srgbClr val="5B3FD0"/>
            </a:solidFill>
            <a:prstDash val="solid"/>
          </a:ln>
        </p:spPr>
      </p:sp>
      <p:sp>
        <p:nvSpPr>
          <p:cNvPr id="12" name="Text 9"/>
          <p:cNvSpPr txBox="1"/>
          <p:nvPr/>
        </p:nvSpPr>
        <p:spPr>
          <a:xfrm>
            <a:off x="548640" y="342900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13" name="Text 10"/>
          <p:cNvSpPr txBox="1"/>
          <p:nvPr/>
        </p:nvSpPr>
        <p:spPr>
          <a:xfrm>
            <a:off x="1371600" y="3246120"/>
            <a:ext cx="10180015" cy="91440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terraform.tfvars: tailscale_admins = ["il-tuo-nome-di-login"]</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il nome che trovi nella console di Tailscale, alla voce Users</a:t>
            </a:r>
            <a:endParaRPr lang="en-US" sz="1800" dirty="0"/>
          </a:p>
        </p:txBody>
      </p:sp>
      <p:sp>
        <p:nvSpPr>
          <p:cNvPr id="14" name="Shape 11"/>
          <p:cNvSpPr/>
          <p:nvPr/>
        </p:nvSpPr>
        <p:spPr>
          <a:xfrm>
            <a:off x="548640" y="4389120"/>
            <a:ext cx="640080" cy="640080"/>
          </a:xfrm>
          <a:prstGeom prst="ellipse">
            <a:avLst/>
          </a:prstGeom>
          <a:solidFill>
            <a:srgbClr val="5B3FD0"/>
          </a:solidFill>
          <a:ln w="12700">
            <a:solidFill>
              <a:srgbClr val="5B3FD0"/>
            </a:solidFill>
            <a:prstDash val="solid"/>
          </a:ln>
        </p:spPr>
      </p:sp>
      <p:sp>
        <p:nvSpPr>
          <p:cNvPr id="15" name="Text 12"/>
          <p:cNvSpPr txBox="1"/>
          <p:nvPr/>
        </p:nvSpPr>
        <p:spPr>
          <a:xfrm>
            <a:off x="548640" y="438912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16" name="Text 13"/>
          <p:cNvSpPr txBox="1"/>
          <p:nvPr/>
        </p:nvSpPr>
        <p:spPr>
          <a:xfrm>
            <a:off x="1371600" y="4206240"/>
            <a:ext cx="10180015" cy="91440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terraform init, plan, apply</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init: c'è il provider nuovo · il router impiega un paio di minuti</a:t>
            </a:r>
            <a:endParaRPr lang="en-US" sz="1800" dirty="0"/>
          </a:p>
        </p:txBody>
      </p:sp>
      <p:sp>
        <p:nvSpPr>
          <p:cNvPr id="17" name="Shape 14"/>
          <p:cNvSpPr/>
          <p:nvPr/>
        </p:nvSpPr>
        <p:spPr>
          <a:xfrm>
            <a:off x="548640" y="5349240"/>
            <a:ext cx="640080" cy="640080"/>
          </a:xfrm>
          <a:prstGeom prst="ellipse">
            <a:avLst/>
          </a:prstGeom>
          <a:solidFill>
            <a:srgbClr val="5B3FD0"/>
          </a:solidFill>
          <a:ln w="12700">
            <a:solidFill>
              <a:srgbClr val="5B3FD0"/>
            </a:solidFill>
            <a:prstDash val="solid"/>
          </a:ln>
        </p:spPr>
      </p:sp>
      <p:sp>
        <p:nvSpPr>
          <p:cNvPr id="18" name="Text 15"/>
          <p:cNvSpPr txBox="1"/>
          <p:nvPr/>
        </p:nvSpPr>
        <p:spPr>
          <a:xfrm>
            <a:off x="548640" y="534924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5</a:t>
            </a:r>
            <a:endParaRPr lang="en-US" sz="1900" dirty="0"/>
          </a:p>
        </p:txBody>
      </p:sp>
      <p:sp>
        <p:nvSpPr>
          <p:cNvPr id="19" name="Text 16"/>
          <p:cNvSpPr txBox="1"/>
          <p:nvPr/>
        </p:nvSpPr>
        <p:spPr>
          <a:xfrm>
            <a:off x="1371600" y="5166360"/>
            <a:ext cx="10180015" cy="91440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Console Tailscale → Machines</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compare corso-aws-router, con tag:router-aws e le Subnets già approvate</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Esercizio (2/2): raggiungi il server da casa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5 · Accesso remoto: Tailscale</a:t>
            </a:r>
            <a:endParaRPr lang="en-US" sz="1000" dirty="0"/>
          </a:p>
        </p:txBody>
      </p:sp>
      <p:sp>
        <p:nvSpPr>
          <p:cNvPr id="5" name="Shape 2"/>
          <p:cNvSpPr/>
          <p:nvPr/>
        </p:nvSpPr>
        <p:spPr>
          <a:xfrm>
            <a:off x="548640" y="1508760"/>
            <a:ext cx="640080" cy="640080"/>
          </a:xfrm>
          <a:prstGeom prst="ellipse">
            <a:avLst/>
          </a:prstGeom>
          <a:solidFill>
            <a:srgbClr val="2E9E6B"/>
          </a:solidFill>
          <a:ln w="12700">
            <a:solidFill>
              <a:srgbClr val="2E9E6B"/>
            </a:solidFill>
            <a:prstDash val="solid"/>
          </a:ln>
        </p:spPr>
      </p:sp>
      <p:sp>
        <p:nvSpPr>
          <p:cNvPr id="6" name="Text 3"/>
          <p:cNvSpPr txBox="1"/>
          <p:nvPr/>
        </p:nvSpPr>
        <p:spPr>
          <a:xfrm>
            <a:off x="548640" y="150876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6</a:t>
            </a:r>
            <a:endParaRPr lang="en-US" sz="1900" dirty="0"/>
          </a:p>
        </p:txBody>
      </p:sp>
      <p:sp>
        <p:nvSpPr>
          <p:cNvPr id="7" name="Text 4"/>
          <p:cNvSpPr txBox="1"/>
          <p:nvPr/>
        </p:nvSpPr>
        <p:spPr>
          <a:xfrm>
            <a:off x="1371600" y="1325880"/>
            <a:ext cx="10180015" cy="91440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Dal TUO computer: curl http://&lt;IP del server&gt;:8080</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terraform output -raw app_private_ip · atteso: la pagina della lezione 4, da casa!</a:t>
            </a:r>
            <a:endParaRPr lang="en-US" sz="1800" dirty="0"/>
          </a:p>
        </p:txBody>
      </p:sp>
      <p:sp>
        <p:nvSpPr>
          <p:cNvPr id="8" name="Shape 5"/>
          <p:cNvSpPr/>
          <p:nvPr/>
        </p:nvSpPr>
        <p:spPr>
          <a:xfrm>
            <a:off x="548640" y="2468880"/>
            <a:ext cx="640080" cy="640080"/>
          </a:xfrm>
          <a:prstGeom prst="ellipse">
            <a:avLst/>
          </a:prstGeom>
          <a:solidFill>
            <a:srgbClr val="5B3FD0"/>
          </a:solidFill>
          <a:ln w="12700">
            <a:solidFill>
              <a:srgbClr val="5B3FD0"/>
            </a:solidFill>
            <a:prstDash val="solid"/>
          </a:ln>
        </p:spPr>
      </p:sp>
      <p:sp>
        <p:nvSpPr>
          <p:cNvPr id="9" name="Text 6"/>
          <p:cNvSpPr txBox="1"/>
          <p:nvPr/>
        </p:nvSpPr>
        <p:spPr>
          <a:xfrm>
            <a:off x="548640" y="246888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7</a:t>
            </a:r>
            <a:endParaRPr lang="en-US" sz="1900" dirty="0"/>
          </a:p>
        </p:txBody>
      </p:sp>
      <p:sp>
        <p:nvSpPr>
          <p:cNvPr id="10" name="Text 7"/>
          <p:cNvSpPr txBox="1"/>
          <p:nvPr/>
        </p:nvSpPr>
        <p:spPr>
          <a:xfrm>
            <a:off x="1371600" y="2286000"/>
            <a:ext cx="10180015" cy="91440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Spegni Tailscale e riprova</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atteso: non risponde. Senza tunnel la rete privata non si raggiunge</a:t>
            </a:r>
            <a:endParaRPr lang="en-US" sz="1800" dirty="0"/>
          </a:p>
        </p:txBody>
      </p:sp>
      <p:sp>
        <p:nvSpPr>
          <p:cNvPr id="11" name="Shape 8"/>
          <p:cNvSpPr/>
          <p:nvPr/>
        </p:nvSpPr>
        <p:spPr>
          <a:xfrm>
            <a:off x="548640" y="3429000"/>
            <a:ext cx="640080" cy="640080"/>
          </a:xfrm>
          <a:prstGeom prst="ellipse">
            <a:avLst/>
          </a:prstGeom>
          <a:solidFill>
            <a:srgbClr val="5B3FD0"/>
          </a:solidFill>
          <a:ln w="12700">
            <a:solidFill>
              <a:srgbClr val="5B3FD0"/>
            </a:solidFill>
            <a:prstDash val="solid"/>
          </a:ln>
        </p:spPr>
      </p:sp>
      <p:sp>
        <p:nvSpPr>
          <p:cNvPr id="12" name="Text 9"/>
          <p:cNvSpPr txBox="1"/>
          <p:nvPr/>
        </p:nvSpPr>
        <p:spPr>
          <a:xfrm>
            <a:off x="548640" y="342900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8</a:t>
            </a:r>
            <a:endParaRPr lang="en-US" sz="1900" dirty="0"/>
          </a:p>
        </p:txBody>
      </p:sp>
      <p:sp>
        <p:nvSpPr>
          <p:cNvPr id="13" name="Text 10"/>
          <p:cNvSpPr txBox="1"/>
          <p:nvPr/>
        </p:nvSpPr>
        <p:spPr>
          <a:xfrm>
            <a:off x="1371600" y="3246120"/>
            <a:ext cx="10180015" cy="91440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Spostati in tailscale_devs, poi apply e riprova</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la 8080 funziona ancora · la prova sul database: lezione 6</a:t>
            </a:r>
            <a:endParaRPr lang="en-US" sz="1800" dirty="0"/>
          </a:p>
        </p:txBody>
      </p:sp>
      <p:sp>
        <p:nvSpPr>
          <p:cNvPr id="14" name="Shape 11"/>
          <p:cNvSpPr/>
          <p:nvPr/>
        </p:nvSpPr>
        <p:spPr>
          <a:xfrm>
            <a:off x="548640" y="4389120"/>
            <a:ext cx="640080" cy="640080"/>
          </a:xfrm>
          <a:prstGeom prst="ellipse">
            <a:avLst/>
          </a:prstGeom>
          <a:solidFill>
            <a:srgbClr val="5B3FD0"/>
          </a:solidFill>
          <a:ln w="12700">
            <a:solidFill>
              <a:srgbClr val="5B3FD0"/>
            </a:solidFill>
            <a:prstDash val="solid"/>
          </a:ln>
        </p:spPr>
      </p:sp>
      <p:sp>
        <p:nvSpPr>
          <p:cNvPr id="15" name="Text 12"/>
          <p:cNvSpPr txBox="1"/>
          <p:nvPr/>
        </p:nvSpPr>
        <p:spPr>
          <a:xfrm>
            <a:off x="548640" y="438912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9</a:t>
            </a:r>
            <a:endParaRPr lang="en-US" sz="1900" dirty="0"/>
          </a:p>
        </p:txBody>
      </p:sp>
      <p:sp>
        <p:nvSpPr>
          <p:cNvPr id="16" name="Text 13"/>
          <p:cNvSpPr txBox="1"/>
          <p:nvPr/>
        </p:nvSpPr>
        <p:spPr>
          <a:xfrm>
            <a:off x="1371600" y="4206240"/>
            <a:ext cx="10180015" cy="91440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Nel router, con SSM: tailscale status</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l'elenco dei dispositivi del tailnet, compreso il tuo computer</a:t>
            </a:r>
            <a:endParaRPr lang="en-US" sz="1800" dirty="0"/>
          </a:p>
        </p:txBody>
      </p:sp>
      <p:sp>
        <p:nvSpPr>
          <p:cNvPr id="17" name="Shape 14"/>
          <p:cNvSpPr/>
          <p:nvPr/>
        </p:nvSpPr>
        <p:spPr>
          <a:xfrm>
            <a:off x="548640" y="5349240"/>
            <a:ext cx="640080" cy="640080"/>
          </a:xfrm>
          <a:prstGeom prst="ellipse">
            <a:avLst/>
          </a:prstGeom>
          <a:solidFill>
            <a:srgbClr val="D64545"/>
          </a:solidFill>
          <a:ln w="12700">
            <a:solidFill>
              <a:srgbClr val="D64545"/>
            </a:solidFill>
            <a:prstDash val="solid"/>
          </a:ln>
        </p:spPr>
      </p:sp>
      <p:sp>
        <p:nvSpPr>
          <p:cNvPr id="18" name="Text 15"/>
          <p:cNvSpPr txBox="1"/>
          <p:nvPr/>
        </p:nvSpPr>
        <p:spPr>
          <a:xfrm>
            <a:off x="548640" y="534924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10</a:t>
            </a:r>
            <a:endParaRPr lang="en-US" sz="1900" dirty="0"/>
          </a:p>
        </p:txBody>
      </p:sp>
      <p:sp>
        <p:nvSpPr>
          <p:cNvPr id="19" name="Text 16"/>
          <p:cNvSpPr txBox="1"/>
          <p:nvPr/>
        </p:nvSpPr>
        <p:spPr>
          <a:xfrm>
            <a:off x="1371600" y="5166360"/>
            <a:ext cx="10180015" cy="91440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terraform destroy</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il router sparisce anche da Tailscale (effimero) · revoca la chiave API</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Le parole della lezione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5 · Accesso remoto: Tailscale</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03120"/>
                <a:gridCol w="3566160"/>
                <a:gridCol w="2377440"/>
                <a:gridCol w="3044952"/>
              </a:tblGrid>
              <a:tr h="6400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Parola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Significato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Parola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Significato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VPN</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tunnel cifrato verso la rete privata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policy del tailnet</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chi raggiunge cosa, per gruppo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Tailscale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il servizio di VPN che usiamo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tag</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l'etichetta di un dispositivo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tailnet</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la tua rete privata Tailscale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auth key</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la chiave d'ingresso del router</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subnet router</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porta d'ingresso nella rete AWS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effimero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sparisce da solo quando si spegne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40080">
                <a:tc>
                  <a:txBody>
                    <a:bodyPr/>
                    <a:lstStyle/>
                    <a:p>
                      <a:pPr indent="0" marL="0">
                        <a:buNone/>
                      </a:pPr>
                      <a:r>
                        <a:rPr lang="en-US" sz="1500" b="1" dirty="0">
                          <a:solidFill>
                            <a:srgbClr val="22253A"/>
                          </a:solidFill>
                          <a:latin typeface="Courier New" pitchFamily="34" charset="0"/>
                          <a:ea typeface="Courier New" pitchFamily="34" charset="-122"/>
                          <a:cs typeface="Courier New" pitchFamily="34" charset="-120"/>
                        </a:rPr>
                        <a:t>100.x.y.z</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indirizzo di un dispositivo Tailscale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ip_forward</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il server inoltra i pacchetti (router)</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passkey</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login con impronta o PIN: MFA inclusa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jsonencode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trasforma HCL in JSON</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Riepilogo</a:t>
            </a:r>
            <a:endParaRPr lang="en-US" sz="3600" dirty="0"/>
          </a:p>
        </p:txBody>
      </p:sp>
      <p:sp>
        <p:nvSpPr>
          <p:cNvPr id="3" name="Text 1"/>
          <p:cNvSpPr txBox="1"/>
          <p:nvPr/>
        </p:nvSpPr>
        <p:spPr>
          <a:xfrm>
            <a:off x="548640" y="1463040"/>
            <a:ext cx="6949440" cy="42062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VPN = tunnel cifrato; Tailscale forma un tailnet, senza porte da aprire</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Il subnet router (EC2, SG vpn) fa entrare nelle nostre subnet</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Passkey, oppure GitHub + Google Authenticator: niente login aziendale</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Policy: admin anche il database (5432), dev solo l'app (8080)</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Chiave d'ingresso monouso, breve, effimera</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SSM per i comandi, Tailscale per i collegamenti</a:t>
            </a:r>
            <a:endParaRPr lang="en-US" sz="1800" dirty="0"/>
          </a:p>
        </p:txBody>
      </p:sp>
      <p:sp>
        <p:nvSpPr>
          <p:cNvPr id="4" name="Shape 2"/>
          <p:cNvSpPr/>
          <p:nvPr/>
        </p:nvSpPr>
        <p:spPr>
          <a:xfrm>
            <a:off x="7955280" y="1463040"/>
            <a:ext cx="3685032" cy="2103120"/>
          </a:xfrm>
          <a:prstGeom prst="roundRect">
            <a:avLst>
              <a:gd name="adj" fmla="val 5217"/>
            </a:avLst>
          </a:prstGeom>
          <a:solidFill>
            <a:srgbClr val="2A2F55"/>
          </a:solidFill>
          <a:ln w="12700">
            <a:solidFill>
              <a:srgbClr val="2A2F55"/>
            </a:solidFill>
            <a:prstDash val="solid"/>
          </a:ln>
        </p:spPr>
      </p:sp>
      <p:sp>
        <p:nvSpPr>
          <p:cNvPr id="5" name="Text 3"/>
          <p:cNvSpPr txBox="1"/>
          <p:nvPr/>
        </p:nvSpPr>
        <p:spPr>
          <a:xfrm>
            <a:off x="8183880" y="1645920"/>
            <a:ext cx="3291840" cy="1737360"/>
          </a:xfrm>
          <a:prstGeom prst="rect">
            <a:avLst/>
          </a:prstGeom>
          <a:noFill/>
          <a:ln/>
        </p:spPr>
        <p:txBody>
          <a:bodyPr wrap="square" lIns="0" tIns="0" rIns="0" bIns="0" rtlCol="0" anchor="t"/>
          <a:lstStyle/>
          <a:p>
            <a:pPr indent="0" marL="0">
              <a:buNone/>
            </a:pPr>
            <a:r>
              <a:rPr lang="en-US" sz="1600" b="1" dirty="0">
                <a:solidFill>
                  <a:srgbClr val="F28C28"/>
                </a:solidFill>
                <a:latin typeface="Calibri" pitchFamily="34" charset="0"/>
                <a:ea typeface="Calibri" pitchFamily="34" charset="-122"/>
                <a:cs typeface="Calibri" pitchFamily="34" charset="-120"/>
              </a:rPr>
              <a:t>Materiale di studio</a:t>
            </a:r>
            <a:endParaRPr lang="en-US" sz="1600" dirty="0"/>
          </a:p>
          <a:p>
            <a:pPr indent="0" marL="0">
              <a:buNone/>
            </a:pPr>
            <a:r>
              <a:rPr lang="en-US" sz="1400" dirty="0">
                <a:solidFill>
                  <a:srgbClr val="FFFFFF"/>
                </a:solidFill>
                <a:latin typeface="Courier New" pitchFamily="34" charset="0"/>
                <a:ea typeface="Courier New" pitchFamily="34" charset="-122"/>
                <a:cs typeface="Courier New" pitchFamily="34" charset="-120"/>
              </a:rPr>
              <a:t>dispense/dispensa-5-tailscale.md</a:t>
            </a:r>
            <a:endParaRPr lang="en-US" sz="1600" dirty="0"/>
          </a:p>
        </p:txBody>
      </p:sp>
      <p:sp>
        <p:nvSpPr>
          <p:cNvPr id="6" name="Shape 4"/>
          <p:cNvSpPr/>
          <p:nvPr/>
        </p:nvSpPr>
        <p:spPr>
          <a:xfrm>
            <a:off x="7955280" y="3840480"/>
            <a:ext cx="3685032" cy="1463040"/>
          </a:xfrm>
          <a:prstGeom prst="roundRect">
            <a:avLst>
              <a:gd name="adj" fmla="val 7500"/>
            </a:avLst>
          </a:prstGeom>
          <a:solidFill>
            <a:srgbClr val="5B3FD0"/>
          </a:solidFill>
          <a:ln w="12700">
            <a:solidFill>
              <a:srgbClr val="5B3FD0"/>
            </a:solidFill>
            <a:prstDash val="solid"/>
          </a:ln>
        </p:spPr>
      </p:sp>
      <p:sp>
        <p:nvSpPr>
          <p:cNvPr id="7" name="Text 5"/>
          <p:cNvSpPr txBox="1"/>
          <p:nvPr/>
        </p:nvSpPr>
        <p:spPr>
          <a:xfrm>
            <a:off x="8183880" y="4023360"/>
            <a:ext cx="3291840" cy="1097280"/>
          </a:xfrm>
          <a:prstGeom prst="rect">
            <a:avLst/>
          </a:prstGeom>
          <a:noFill/>
          <a:ln/>
        </p:spPr>
        <p:txBody>
          <a:bodyPr wrap="square" lIns="0" tIns="0" rIns="0" bIns="0" rtlCol="0" anchor="t"/>
          <a:lstStyle/>
          <a:p>
            <a:pPr indent="0" marL="0">
              <a:buNone/>
            </a:pPr>
            <a:r>
              <a:rPr lang="en-US" sz="1400" b="1" dirty="0">
                <a:solidFill>
                  <a:srgbClr val="D9D2FF"/>
                </a:solidFill>
                <a:latin typeface="Calibri" pitchFamily="34" charset="0"/>
                <a:ea typeface="Calibri" pitchFamily="34" charset="-122"/>
                <a:cs typeface="Calibri" pitchFamily="34" charset="-120"/>
              </a:rPr>
              <a:t>Prossima lezione</a:t>
            </a:r>
            <a:endParaRPr lang="en-US" sz="1400" dirty="0"/>
          </a:p>
          <a:p>
            <a:pPr indent="0" marL="0">
              <a:buNone/>
            </a:pPr>
            <a:r>
              <a:rPr lang="en-US" sz="1800" b="1" dirty="0">
                <a:solidFill>
                  <a:srgbClr val="FFFFFF"/>
                </a:solidFill>
                <a:latin typeface="Calibri" pitchFamily="34" charset="0"/>
                <a:ea typeface="Calibri" pitchFamily="34" charset="-122"/>
                <a:cs typeface="Calibri" pitchFamily="34" charset="-120"/>
              </a:rPr>
              <a:t>RDS PostgreSQL in alta affidabilità</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cereZ23</dc:creator>
  <cp:lastModifiedBy>cereZ23</cp:lastModifiedBy>
  <cp:revision>1</cp:revision>
  <dcterms:created xsi:type="dcterms:W3CDTF">2026-10-08T11:17:42Z</dcterms:created>
  <dcterms:modified xsi:type="dcterms:W3CDTF">2026-10-08T11:17:42Z</dcterms:modified>
</cp:coreProperties>
</file>