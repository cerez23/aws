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 ha cancellato quel bucket? Chi ha aperto la porta 22? Perché mi dà AccessDenied? Sono le domande più frequenti del lavoro su AWS, e la risposta sta sempre nello stesso posto: CloudTrail, il registro di tutto quello che succede nell'account. Oggi impariamo a leggerlo, a conservarlo come si deve, e a farci avvisare quando registra qualcosa di pericoloso. È anche la base della prossima lezione: GuardDuty legge proprio questo registro.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Ogni richiesta ad AWS passa da un'API: dalla console, dalla CLI, da Terraform, da un server con il suo role. CloudTrail scrive una riga per ogni chiamata, un evento. È il registro delle visite alla reception, scritto da un notaio. Tre tipi. Eventi di gestione: creare, modificare, cancellare, leggere la configurazione; registrati sempre, gratis, 90 giorni. Data event: le operazioni sui dati, come leggere un file in S3; solo se li chiedete, in un trail, e si pagano. Insights: le anomalie, un'API chiamata molto più del solito; a parte. E gli eventi dei servizi globali, come IAM, compaiono nella regione us-east-1.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evento è un documento JSON. Ecco, accorciato, quello che CloudTrail scrive quando qualcuno aggiunge una regola a un Security Group dalla console. eventTime: quando, sempre in UTC. eventSource ed eventName: quale servizio e cosa. sourceIPAddress: da quale indirizzo. userIdentity: chi. requestParameters: i dettagli, qui la porta 22 aperta a tutto internet. errorCode: se è andata bene; null vuol dire sì, AccessDenied vuol dire negata.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il login SSO del corso nessuno usa un utente IAM: si assume un role. Per questo userIdentity type è AssumedRole, e l'ARN ha tre parti: assumed-role, il nome del role, che è il permission set dell'SSO, e il nome della sessione, che è il nome di login della persona. Per un server, al posto della persona c'è l'ID del server. Così si distingue l'ha fatto Mario dalla console da l'ha fatto il server con il suo role.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L'Event history c'è sempre: gli eventi di gestione degli ultimi 90 giorni, una regione alla volta, in console o con aws cloudtrail lookup-events. Basta per le domande di tutti i giorni. Per un'infrastruttura vera serve un trail: scrive tutto in un bucket S3, per tutto il tempo che volete, in tutte le regioni, anche i data event, e firma i log. Il nostro: tutte le regioni, data event solo sul bucket degli artefatti, bucket privato con versioning, e una copia in CloudWatch Logs per le ricerche e gli allarmi. Object Lock e Insights li citiamo, non li usiamo.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registro serve solo se ci si può fidare. Se un intruso entra nell'account, la prima cosa che prova è cancellare o modificare le righe che lo riguardano. Con log file validation CloudTrail scrive ogni ora un file in più, il digest: l'elenco dei file di log con la loro impronta, firmato da AWS. Con validate-logs chiunque può verificare quali file sono validi, modificati o cancellati. Il primo digest arriva dopo circa un'ora.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trail manda gli eventi anche a un log group di CloudWatch Logs. Lì si interrogano con Logs Insights, un piccolo linguaggio di ricerca: scrivete la domanda, scegliete il periodo, e in pochi secondi arrivano le righe. Questa si legge: mostrami ora, evento, chi e da dove, per gli eventi di EC2 che riguardano i Security Group, dal più recente, i primi venti. Per anni di log nel bucket esistono strumenti più grandi, Athena e CloudTrail Lake: il principio è lo stesso.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Alcuni eventi non vanno cercati: vanno segnalati subito. Un metric filter guarda ogni riga che arriva nel log group e, quando corrisponde, fa salire una metrica; su quella metrica un allarme manda l'email della lezione 10. Sorvegliamo i classici dell'elenco CIS: uso del root; login in console senza MFA, per gli utenti IAM con password; modifiche alle policy IAM; modifiche ai Security Group; CloudTrail fermato o cancellato. Attenzione: anche i vostri terraform apply li fanno scattare. È voluto: un avviso che arriva senza che nessuno abbia lanciato un apply è proprio quello che volete vedere.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trail. Tutte le regioni, gli eventi dei servizi globali, le firme. Il blocco event_selector: tutti gli eventi di gestione, e i data event del solo bucket degli artefatti; la barra finale vuol dire tutti i file. Poi la copia in CloudWatch Logs: l'ARN del log group con due punti asterisco, e un role che CloudTrail usa per scriverci. Il bucket dei log, a parte, ha versioning, Block Public Access e una bucket policy che lascia scrivere solo il nostro trail; il suo ARN lo costruiamo a mano in un local, per evitare un ciclo tra trail e bucket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Gli eventi da sorvegliare sono una mappa: nome, filtro. I filtri hanno un loro linguaggio: dollaro punto indica un campo dell'evento, e commerciale doppio vuol dire e, barra doppia oppure. Le virgolette interne sono scritte con la barra perché stanno dentro una stringa di Terraform. Poi, con for_each, un metric filter e un allarme per ogni voce della mappa: se in cinque minuti la somma è almeno uno, l'email parte.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Quattro passi. Uno: leggi tutto il messaggio, spesso dice già il motivo: nessun Allow, un Deny esplicito, una SCP, un boundary. Due: se è codificato, come fa EC2, si decodifica con sts decode-authorization-message. Tre: cercalo in CloudTrail: l'evento negato ha errorCode AccessDenied e dice chi, da dove e quando. Quattro: il Policy simulator di IAM, per provare la correzione prima di farla.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L'esercizio completo è nella dispensa 12. Uno: apply. Due: aggiungete a mano, dalla console, una regola al Security Group app: entro qualche minuto arriva la mail. Tre: trovate chi è stato nell'Event history: il vostro nome, il vostro indirizzo, la porta. Quattro: terraform plan non vede niente, perché Terraform gestisce solo le sue regole: per questo l'allarme è prezioso. Togliete la regola: arriva un'altra mail. Cinque: cercate le due modifiche con Logs Insights.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Seconda parte. Sei: dal server, list-secrets viene negato; lo trovate in CloudTrail con l'ID del server come sessione. Sette: stop-instances dal server dà un messaggio codificato; lo decodificate dal vostro computer. Otto: il Policy simulator dice denied per ListBucket e allowed per GetObject. Nove: dopo un'ora, validate-logs dice che i log sono integri. Dieci: pulizia; in un account vero il trail non si cancella mai.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ripasso delle parole della lezione, una riga ciascuna.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Riassumendo. Il materiale di studio è la dispensa 12, con cloudtrail.tf spiegato blocco per blocco e l'esercizio passo per passo. La prossima volta accendiamo GuardDuty, la guardia che guarda proprio questo registro, giorno e notte, e ci avvisa quando vede un attacco.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F3B"/>
        </a:solidFill>
      </p:bgPr>
    </p:bg>
    <p:spTree>
      <p:nvGrpSpPr>
        <p:cNvPr id="1" name=""/>
        <p:cNvGrpSpPr/>
        <p:nvPr/>
      </p:nvGrpSpPr>
      <p:grpSpPr>
        <a:xfrm>
          <a:off x="0" y="0"/>
          <a:ext cx="0" cy="0"/>
          <a:chOff x="0" y="0"/>
          <a:chExt cx="0" cy="0"/>
        </a:xfrm>
      </p:grpSpPr>
      <p:sp>
        <p:nvSpPr>
          <p:cNvPr id="2" name="Text 0"/>
          <p:cNvSpPr txBox="1"/>
          <p:nvPr/>
        </p:nvSpPr>
        <p:spPr>
          <a:xfrm>
            <a:off x="7589520" y="548640"/>
            <a:ext cx="4206240" cy="5669280"/>
          </a:xfrm>
          <a:prstGeom prst="rect">
            <a:avLst/>
          </a:prstGeom>
          <a:noFill/>
          <a:ln/>
        </p:spPr>
        <p:txBody>
          <a:bodyPr wrap="square" lIns="0" tIns="0" rIns="0" bIns="0" rtlCol="0" anchor="ctr"/>
          <a:lstStyle/>
          <a:p>
            <a:pPr algn="r" indent="0" marL="0">
              <a:buNone/>
            </a:pPr>
            <a:r>
              <a:rPr lang="en-US" sz="30000" b="1" dirty="0">
                <a:solidFill>
                  <a:srgbClr val="5B3FD0"/>
                </a:solidFill>
                <a:latin typeface="Calibri" pitchFamily="34" charset="0"/>
                <a:ea typeface="Calibri" pitchFamily="34" charset="-122"/>
                <a:cs typeface="Calibri" pitchFamily="34" charset="-120"/>
              </a:rPr>
              <a:t>12</a:t>
            </a:r>
            <a:endParaRPr lang="en-US" sz="30000" dirty="0"/>
          </a:p>
        </p:txBody>
      </p:sp>
      <p:sp>
        <p:nvSpPr>
          <p:cNvPr id="3" name="Text 1"/>
          <p:cNvSpPr txBox="1"/>
          <p:nvPr/>
        </p:nvSpPr>
        <p:spPr>
          <a:xfrm>
            <a:off x="548640" y="1280160"/>
            <a:ext cx="7315200" cy="365760"/>
          </a:xfrm>
          <a:prstGeom prst="rect">
            <a:avLst/>
          </a:prstGeom>
          <a:noFill/>
          <a:ln/>
        </p:spPr>
        <p:txBody>
          <a:bodyPr wrap="square" lIns="0" tIns="0" rIns="0" bIns="0" rtlCol="0" anchor="ctr"/>
          <a:lstStyle/>
          <a:p>
            <a:pPr indent="0" marL="0">
              <a:buNone/>
            </a:pPr>
            <a:r>
              <a:rPr lang="en-US" sz="1600" b="1" dirty="0">
                <a:solidFill>
                  <a:srgbClr val="F28C28"/>
                </a:solidFill>
                <a:latin typeface="Calibri" pitchFamily="34" charset="0"/>
                <a:ea typeface="Calibri" pitchFamily="34" charset="-122"/>
                <a:cs typeface="Calibri" pitchFamily="34" charset="-120"/>
              </a:rPr>
              <a:t>Dispensa 12 · CloudTrail: chi ha fatto cosa</a:t>
            </a:r>
            <a:endParaRPr lang="en-US" sz="1600" dirty="0"/>
          </a:p>
        </p:txBody>
      </p:sp>
      <p:sp>
        <p:nvSpPr>
          <p:cNvPr id="4" name="Text 2"/>
          <p:cNvSpPr txBox="1"/>
          <p:nvPr/>
        </p:nvSpPr>
        <p:spPr>
          <a:xfrm>
            <a:off x="548640" y="1828800"/>
            <a:ext cx="7772400" cy="2011680"/>
          </a:xfrm>
          <a:prstGeom prst="rect">
            <a:avLst/>
          </a:prstGeom>
          <a:noFill/>
          <a:ln/>
        </p:spPr>
        <p:txBody>
          <a:bodyPr wrap="square" lIns="0" tIns="0" rIns="0" bIns="0" rtlCol="0" anchor="t"/>
          <a:lstStyle/>
          <a:p>
            <a:pPr indent="0" marL="0">
              <a:buNone/>
            </a:pPr>
            <a:r>
              <a:rPr lang="en-US" sz="4800" b="1" dirty="0">
                <a:solidFill>
                  <a:srgbClr val="FFFFFF"/>
                </a:solidFill>
                <a:latin typeface="Calibri" pitchFamily="34" charset="0"/>
                <a:ea typeface="Calibri" pitchFamily="34" charset="-122"/>
                <a:cs typeface="Calibri" pitchFamily="34" charset="-120"/>
              </a:rPr>
              <a:t>CloudTrail: chi ha fatto cosa</a:t>
            </a:r>
            <a:endParaRPr lang="en-US" sz="4800" dirty="0"/>
          </a:p>
        </p:txBody>
      </p:sp>
      <p:sp>
        <p:nvSpPr>
          <p:cNvPr id="5" name="Text 3"/>
          <p:cNvSpPr txBox="1"/>
          <p:nvPr/>
        </p:nvSpPr>
        <p:spPr>
          <a:xfrm>
            <a:off x="548640" y="4023360"/>
            <a:ext cx="7315200" cy="1097280"/>
          </a:xfrm>
          <a:prstGeom prst="rect">
            <a:avLst/>
          </a:prstGeom>
          <a:noFill/>
          <a:ln/>
        </p:spPr>
        <p:txBody>
          <a:bodyPr wrap="square" lIns="0" tIns="0" rIns="0" bIns="0" rtlCol="0" anchor="t"/>
          <a:lstStyle/>
          <a:p>
            <a:pPr indent="0" marL="0">
              <a:buNone/>
            </a:pPr>
            <a:r>
              <a:rPr lang="en-US" sz="2000" dirty="0">
                <a:solidFill>
                  <a:srgbClr val="C9CBE0"/>
                </a:solidFill>
                <a:latin typeface="Calibri" pitchFamily="34" charset="0"/>
                <a:ea typeface="Calibri" pitchFamily="34" charset="-122"/>
                <a:cs typeface="Calibri" pitchFamily="34" charset="-120"/>
              </a:rPr>
              <a:t>Il registro di tutto quello che succede nell'account: leggerlo, conservarlo, farsi avvisare</a:t>
            </a:r>
            <a:endParaRPr lang="en-US" sz="2000" dirty="0"/>
          </a:p>
        </p:txBody>
      </p:sp>
      <p:sp>
        <p:nvSpPr>
          <p:cNvPr id="6" name="Text 4"/>
          <p:cNvSpPr txBox="1"/>
          <p:nvPr/>
        </p:nvSpPr>
        <p:spPr>
          <a:xfrm>
            <a:off x="548640" y="6035040"/>
            <a:ext cx="7315200" cy="365760"/>
          </a:xfrm>
          <a:prstGeom prst="rect">
            <a:avLst/>
          </a:prstGeom>
          <a:noFill/>
          <a:ln/>
        </p:spPr>
        <p:txBody>
          <a:bodyPr wrap="square" lIns="0" tIns="0" rIns="0" bIns="0" rtlCol="0" anchor="ctr"/>
          <a:lstStyle/>
          <a:p>
            <a:pPr indent="0" marL="0">
              <a:buNone/>
            </a:pPr>
            <a:r>
              <a:rPr lang="en-US" sz="1200" dirty="0">
                <a:solidFill>
                  <a:srgbClr val="9A9DB8"/>
                </a:solidFill>
                <a:latin typeface="Calibri" pitchFamily="34" charset="0"/>
                <a:ea typeface="Calibri" pitchFamily="34" charset="-122"/>
                <a:cs typeface="Calibri" pitchFamily="34" charset="-120"/>
              </a:rPr>
              <a:t>Corso: Infrastruttura AWS con Terraform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Cosa registra CloudTrail</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12 · CloudTrail: chi ha fatto cosa</a:t>
            </a:r>
            <a:endParaRPr lang="en-US" sz="1000" dirty="0"/>
          </a:p>
        </p:txBody>
      </p:sp>
      <p:sp>
        <p:nvSpPr>
          <p:cNvPr id="5" name="Shape 2"/>
          <p:cNvSpPr/>
          <p:nvPr/>
        </p:nvSpPr>
        <p:spPr>
          <a:xfrm>
            <a:off x="548640" y="1280160"/>
            <a:ext cx="11094415" cy="731520"/>
          </a:xfrm>
          <a:prstGeom prst="roundRect">
            <a:avLst>
              <a:gd name="adj" fmla="val 12500"/>
            </a:avLst>
          </a:prstGeom>
          <a:solidFill>
            <a:srgbClr val="5B3FD0"/>
          </a:solidFill>
          <a:ln w="12700">
            <a:solidFill>
              <a:srgbClr val="5B3FD0"/>
            </a:solidFill>
            <a:prstDash val="solid"/>
          </a:ln>
        </p:spPr>
      </p:sp>
      <p:sp>
        <p:nvSpPr>
          <p:cNvPr id="6" name="Text 3"/>
          <p:cNvSpPr txBox="1"/>
          <p:nvPr/>
        </p:nvSpPr>
        <p:spPr>
          <a:xfrm>
            <a:off x="822960" y="1280160"/>
            <a:ext cx="10545775" cy="731520"/>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Un evento per ogni chiamata ad AWS: console, CLI, Terraform, un server col suo role.</a:t>
            </a:r>
            <a:endParaRPr lang="en-US" sz="18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2240280"/>
          <a:ext cx="11094415" cy="914400"/>
        </p:xfrm>
        <a:graphic>
          <a:graphicData uri="http://schemas.openxmlformats.org/drawingml/2006/table">
            <a:tbl>
              <a:tblPr/>
              <a:tblGrid>
                <a:gridCol w="2560320"/>
                <a:gridCol w="3291840"/>
                <a:gridCol w="3383280"/>
                <a:gridCol w="1856232"/>
              </a:tblGrid>
              <a:tr h="73152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Tipo</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Cosa</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Esempi</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Registrato</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r>
              <a:tr h="731520">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Eventi di gestione</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creare, cambiare, cancellare risorse</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dirty="0">
                          <a:solidFill>
                            <a:srgbClr val="22253A"/>
                          </a:solidFill>
                          <a:latin typeface="Courier New" pitchFamily="34" charset="0"/>
                          <a:ea typeface="Courier New" pitchFamily="34" charset="-122"/>
                          <a:cs typeface="Courier New" pitchFamily="34" charset="-120"/>
                        </a:rPr>
                        <a:t>CreateBucket, AssumeRole, ConsoleLogin</a:t>
                      </a:r>
                      <a:endParaRPr lang="en-US" sz="1500" dirty="0">
                        <a:latin typeface="Courier New" charset="0"/>
                        <a:ea typeface="Courier New" charset="0"/>
                        <a:cs typeface="Courier New"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b="1" dirty="0">
                          <a:solidFill>
                            <a:srgbClr val="2E9E6B"/>
                          </a:solidFill>
                          <a:latin typeface="Calibri" pitchFamily="34" charset="0"/>
                          <a:ea typeface="Calibri" pitchFamily="34" charset="-122"/>
                          <a:cs typeface="Calibri" pitchFamily="34" charset="-120"/>
                        </a:rPr>
                        <a:t>sempre, 90 giorni</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731520">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Data event</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operazioni sui DATI dentro le risorse</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dirty="0">
                          <a:solidFill>
                            <a:srgbClr val="22253A"/>
                          </a:solidFill>
                          <a:latin typeface="Courier New" pitchFamily="34" charset="0"/>
                          <a:ea typeface="Courier New" pitchFamily="34" charset="-122"/>
                          <a:cs typeface="Courier New" pitchFamily="34" charset="-120"/>
                        </a:rPr>
                        <a:t>GetObject, PutObject</a:t>
                      </a:r>
                      <a:endParaRPr lang="en-US" sz="1500" dirty="0">
                        <a:latin typeface="Courier New" charset="0"/>
                        <a:ea typeface="Courier New" charset="0"/>
                        <a:cs typeface="Courier New"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solo in un trail, si pagano</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r h="731520">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Insights</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anomalie: un'API molto più del solito</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300 DeleteObject in un minuto</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a parte, si pagano</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bl>
          </a:graphicData>
        </a:graphic>
      </p:graphicFrame>
      <p:sp>
        <p:nvSpPr>
          <p:cNvPr id="8" name="Text 4"/>
          <p:cNvSpPr txBox="1"/>
          <p:nvPr/>
        </p:nvSpPr>
        <p:spPr>
          <a:xfrm>
            <a:off x="548640" y="5349240"/>
            <a:ext cx="11094415" cy="640080"/>
          </a:xfrm>
          <a:prstGeom prst="rect">
            <a:avLst/>
          </a:prstGeom>
          <a:noFill/>
          <a:ln/>
        </p:spPr>
        <p:txBody>
          <a:bodyPr wrap="square" lIns="0" tIns="0" rIns="0" bIns="0" rtlCol="0" anchor="ctr"/>
          <a:lstStyle/>
          <a:p>
            <a:pPr algn="l" indent="0" marL="0">
              <a:buNone/>
            </a:pPr>
            <a:r>
              <a:rPr lang="en-US" sz="1500" i="1" dirty="0">
                <a:solidFill>
                  <a:srgbClr val="5F6478"/>
                </a:solidFill>
                <a:latin typeface="Calibri" pitchFamily="34" charset="0"/>
                <a:ea typeface="Calibri" pitchFamily="34" charset="-122"/>
                <a:cs typeface="Calibri" pitchFamily="34" charset="-120"/>
              </a:rPr>
              <a:t>Come il registro delle visite scritto da un notaio. Gli eventi dei servizi globali (IAM, login in console) stanno in us-east-1.</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Come si legge un evento</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12 · CloudTrail: chi ha fatto cosa</a:t>
            </a:r>
            <a:endParaRPr lang="en-US" sz="1000" dirty="0"/>
          </a:p>
        </p:txBody>
      </p:sp>
      <p:sp>
        <p:nvSpPr>
          <p:cNvPr id="5" name="Shape 2"/>
          <p:cNvSpPr/>
          <p:nvPr/>
        </p:nvSpPr>
        <p:spPr>
          <a:xfrm>
            <a:off x="548640" y="1325880"/>
            <a:ext cx="11094415" cy="2514600"/>
          </a:xfrm>
          <a:prstGeom prst="roundRect">
            <a:avLst>
              <a:gd name="adj" fmla="val 2909"/>
            </a:avLst>
          </a:prstGeom>
          <a:solidFill>
            <a:srgbClr val="1E1E2E"/>
          </a:solidFill>
          <a:ln w="12700">
            <a:solidFill>
              <a:srgbClr val="1E1E2E"/>
            </a:solidFill>
            <a:prstDash val="solid"/>
          </a:ln>
        </p:spPr>
      </p:sp>
      <p:sp>
        <p:nvSpPr>
          <p:cNvPr id="6" name="Text 3"/>
          <p:cNvSpPr txBox="1"/>
          <p:nvPr/>
        </p:nvSpPr>
        <p:spPr>
          <a:xfrm>
            <a:off x="731520" y="1399032"/>
            <a:ext cx="10728655" cy="274320"/>
          </a:xfrm>
          <a:prstGeom prst="rect">
            <a:avLst/>
          </a:prstGeom>
          <a:noFill/>
          <a:ln/>
        </p:spPr>
        <p:txBody>
          <a:bodyPr wrap="square" lIns="0" tIns="0" rIns="0" bIns="0" rtlCol="0" anchor="t"/>
          <a:lstStyle/>
          <a:p>
            <a:pPr indent="0" marL="0">
              <a:buNone/>
            </a:pPr>
            <a:r>
              <a:rPr lang="en-US" sz="1300" b="1" dirty="0">
                <a:solidFill>
                  <a:srgbClr val="F2B880"/>
                </a:solidFill>
                <a:latin typeface="Calibri" pitchFamily="34" charset="0"/>
                <a:ea typeface="Calibri" pitchFamily="34" charset="-122"/>
                <a:cs typeface="Calibri" pitchFamily="34" charset="-120"/>
              </a:rPr>
              <a:t>un evento di CloudTrail (accorciato)</a:t>
            </a:r>
            <a:endParaRPr lang="en-US" sz="1300" dirty="0"/>
          </a:p>
        </p:txBody>
      </p:sp>
      <p:sp>
        <p:nvSpPr>
          <p:cNvPr id="7" name="Text 4"/>
          <p:cNvSpPr txBox="1"/>
          <p:nvPr/>
        </p:nvSpPr>
        <p:spPr>
          <a:xfrm>
            <a:off x="731520" y="1737360"/>
            <a:ext cx="10728655" cy="1965960"/>
          </a:xfrm>
          <a:prstGeom prst="rect">
            <a:avLst/>
          </a:prstGeom>
          <a:noFill/>
          <a:ln/>
        </p:spPr>
        <p:txBody>
          <a:bodyPr wrap="square" lIns="0" tIns="0" rIns="0" bIns="0" rtlCol="0" anchor="t"/>
          <a:lstStyle/>
          <a:p>
            <a:pPr indent="0" marL="0">
              <a:buNone/>
            </a:pPr>
            <a:r>
              <a:rPr lang="en-US" sz="1600" dirty="0">
                <a:solidFill>
                  <a:srgbClr val="E6E6F0"/>
                </a:solidFill>
                <a:latin typeface="Courier New" pitchFamily="34" charset="0"/>
                <a:ea typeface="Courier New" pitchFamily="34" charset="-122"/>
                <a:cs typeface="Courier New" pitchFamily="34" charset="-120"/>
              </a:rPr>
              <a:t>"eventTime": "2026-10-09T14:32:07Z"                  ← QUANDO (UTC)</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"eventName": "AuthorizeSecurityGroupIngress"          ← COSA</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"awsRegion": "eu-south-1"                            ← DOVE</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"sourceIPAddress": "93.40.12.7"                      ← DA DOVE</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"userIdentity.arn": "…/AWSReservedSSO_…/mario.rossi" ← CHI</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"requestParameters": { "fromPort": 22, "cidrIp": "0.0.0.0/0" }  ← DETTAGLI</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"errorCode": null                                    ← ANDATA BENE?</a:t>
            </a:r>
            <a:endParaRPr lang="en-US" sz="1600" dirty="0"/>
          </a:p>
        </p:txBody>
      </p:sp>
      <p:sp>
        <p:nvSpPr>
          <p:cNvPr id="8" name="Shape 5"/>
          <p:cNvSpPr/>
          <p:nvPr/>
        </p:nvSpPr>
        <p:spPr>
          <a:xfrm>
            <a:off x="548640" y="4069080"/>
            <a:ext cx="11094415" cy="914400"/>
          </a:xfrm>
          <a:prstGeom prst="roundRect">
            <a:avLst>
              <a:gd name="adj" fmla="val 10000"/>
            </a:avLst>
          </a:prstGeom>
          <a:solidFill>
            <a:srgbClr val="FBE9E9"/>
          </a:solidFill>
          <a:ln w="12700">
            <a:solidFill>
              <a:srgbClr val="FBE9E9"/>
            </a:solidFill>
            <a:prstDash val="solid"/>
          </a:ln>
        </p:spPr>
      </p:sp>
      <p:sp>
        <p:nvSpPr>
          <p:cNvPr id="9" name="Text 6"/>
          <p:cNvSpPr txBox="1"/>
          <p:nvPr/>
        </p:nvSpPr>
        <p:spPr>
          <a:xfrm>
            <a:off x="822960" y="4069080"/>
            <a:ext cx="10545775" cy="914400"/>
          </a:xfrm>
          <a:prstGeom prst="rect">
            <a:avLst/>
          </a:prstGeom>
          <a:noFill/>
          <a:ln/>
        </p:spPr>
        <p:txBody>
          <a:bodyPr wrap="square" lIns="0" tIns="0" rIns="0" bIns="0" rtlCol="0" anchor="ctr"/>
          <a:lstStyle/>
          <a:p>
            <a:pPr algn="l" indent="0" marL="0">
              <a:buNone/>
            </a:pPr>
            <a:r>
              <a:rPr lang="en-US" sz="1900" b="1" dirty="0">
                <a:solidFill>
                  <a:srgbClr val="22253A"/>
                </a:solidFill>
                <a:latin typeface="Calibri" pitchFamily="34" charset="0"/>
                <a:ea typeface="Calibri" pitchFamily="34" charset="-122"/>
                <a:cs typeface="Calibri" pitchFamily="34" charset="-120"/>
              </a:rPr>
              <a:t>Porta 22 aperta a TUTTO internet, da mario.rossi, da casa sua, alle 14:32 UTC. Tutto in una riga.</a:t>
            </a:r>
            <a:endParaRPr lang="en-US" sz="1900" dirty="0"/>
          </a:p>
        </p:txBody>
      </p:sp>
      <p:sp>
        <p:nvSpPr>
          <p:cNvPr id="10" name="Text 7"/>
          <p:cNvSpPr txBox="1"/>
          <p:nvPr/>
        </p:nvSpPr>
        <p:spPr>
          <a:xfrm>
            <a:off x="548640" y="5212080"/>
            <a:ext cx="11094415" cy="731520"/>
          </a:xfrm>
          <a:prstGeom prst="rect">
            <a:avLst/>
          </a:prstGeom>
          <a:noFill/>
          <a:ln/>
        </p:spPr>
        <p:txBody>
          <a:bodyPr wrap="square" lIns="0" tIns="0" rIns="0" bIns="0" rtlCol="0" anchor="ctr"/>
          <a:lstStyle/>
          <a:p>
            <a:pPr algn="l" indent="0" marL="0">
              <a:buNone/>
            </a:pPr>
            <a:r>
              <a:rPr lang="en-US" sz="1600" i="1" dirty="0">
                <a:solidFill>
                  <a:srgbClr val="5F6478"/>
                </a:solidFill>
                <a:latin typeface="Calibri" pitchFamily="34" charset="0"/>
                <a:ea typeface="Calibri" pitchFamily="34" charset="-122"/>
                <a:cs typeface="Calibri" pitchFamily="34" charset="-120"/>
              </a:rPr>
              <a:t>errorCode: null = è andata bene · AccessDenied = negata (lo vediamo più avanti)</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Chi è stato, davvero?</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12 · CloudTrail: chi ha fatto cosa</a:t>
            </a:r>
            <a:endParaRPr lang="en-US" sz="1000" dirty="0"/>
          </a:p>
        </p:txBody>
      </p:sp>
      <p:sp>
        <p:nvSpPr>
          <p:cNvPr id="5" name="Shape 2"/>
          <p:cNvSpPr/>
          <p:nvPr/>
        </p:nvSpPr>
        <p:spPr>
          <a:xfrm>
            <a:off x="548640" y="1417320"/>
            <a:ext cx="11094415" cy="868680"/>
          </a:xfrm>
          <a:prstGeom prst="roundRect">
            <a:avLst>
              <a:gd name="adj" fmla="val 8421"/>
            </a:avLst>
          </a:prstGeom>
          <a:solidFill>
            <a:srgbClr val="1E1E2E"/>
          </a:solidFill>
          <a:ln w="12700">
            <a:solidFill>
              <a:srgbClr val="1E1E2E"/>
            </a:solidFill>
            <a:prstDash val="solid"/>
          </a:ln>
        </p:spPr>
      </p:sp>
      <p:sp>
        <p:nvSpPr>
          <p:cNvPr id="6" name="Text 3"/>
          <p:cNvSpPr txBox="1"/>
          <p:nvPr/>
        </p:nvSpPr>
        <p:spPr>
          <a:xfrm>
            <a:off x="731520" y="1554480"/>
            <a:ext cx="10728655" cy="594360"/>
          </a:xfrm>
          <a:prstGeom prst="rect">
            <a:avLst/>
          </a:prstGeom>
          <a:noFill/>
          <a:ln/>
        </p:spPr>
        <p:txBody>
          <a:bodyPr wrap="square" lIns="0" tIns="0" rIns="0" bIns="0" rtlCol="0" anchor="t"/>
          <a:lstStyle/>
          <a:p>
            <a:pPr indent="0" marL="0">
              <a:buNone/>
            </a:pPr>
            <a:r>
              <a:rPr lang="en-US" sz="1800" dirty="0">
                <a:solidFill>
                  <a:srgbClr val="E6E6F0"/>
                </a:solidFill>
                <a:latin typeface="Courier New" pitchFamily="34" charset="0"/>
                <a:ea typeface="Courier New" pitchFamily="34" charset="-122"/>
                <a:cs typeface="Courier New" pitchFamily="34" charset="-120"/>
              </a:rPr>
              <a:t>assumed-role / AWSReservedSSO_AdministratorAccess_1a2b3c / mario.rossi</a:t>
            </a:r>
            <a:endParaRPr lang="en-US" sz="1800" dirty="0"/>
          </a:p>
        </p:txBody>
      </p:sp>
      <p:sp>
        <p:nvSpPr>
          <p:cNvPr id="7" name="Shape 4"/>
          <p:cNvSpPr/>
          <p:nvPr/>
        </p:nvSpPr>
        <p:spPr>
          <a:xfrm>
            <a:off x="2377440" y="2514600"/>
            <a:ext cx="5303520" cy="1097280"/>
          </a:xfrm>
          <a:prstGeom prst="roundRect">
            <a:avLst>
              <a:gd name="adj" fmla="val 8333"/>
            </a:avLst>
          </a:prstGeom>
          <a:solidFill>
            <a:srgbClr val="EEEAFB"/>
          </a:solidFill>
          <a:ln w="12700">
            <a:solidFill>
              <a:srgbClr val="EEEAFB"/>
            </a:solidFill>
            <a:prstDash val="solid"/>
          </a:ln>
        </p:spPr>
      </p:sp>
      <p:sp>
        <p:nvSpPr>
          <p:cNvPr id="8" name="Text 5"/>
          <p:cNvSpPr txBox="1"/>
          <p:nvPr/>
        </p:nvSpPr>
        <p:spPr>
          <a:xfrm>
            <a:off x="2377440" y="2514600"/>
            <a:ext cx="5303520" cy="1097280"/>
          </a:xfrm>
          <a:prstGeom prst="rect">
            <a:avLst/>
          </a:prstGeom>
          <a:noFill/>
          <a:ln/>
        </p:spPr>
        <p:txBody>
          <a:bodyPr wrap="square" lIns="76200" tIns="76200" rIns="76200" bIns="76200" rtlCol="0" anchor="ctr"/>
          <a:lstStyle/>
          <a:p>
            <a:pPr algn="ctr" indent="0" marL="0">
              <a:buNone/>
            </a:pPr>
            <a:r>
              <a:rPr lang="en-US" sz="1800" b="1" dirty="0">
                <a:solidFill>
                  <a:srgbClr val="22253A"/>
                </a:solidFill>
                <a:latin typeface="Calibri" pitchFamily="34" charset="0"/>
                <a:ea typeface="Calibri" pitchFamily="34" charset="-122"/>
                <a:cs typeface="Calibri" pitchFamily="34" charset="-120"/>
              </a:rPr>
              <a:t>il role</a:t>
            </a:r>
            <a:endParaRPr lang="en-US" sz="1800" dirty="0"/>
          </a:p>
          <a:p>
            <a:pPr algn="ctr" indent="0" marL="0">
              <a:buNone/>
            </a:pPr>
            <a:r>
              <a:rPr lang="en-US" sz="1400" dirty="0">
                <a:solidFill>
                  <a:srgbClr val="5F6478"/>
                </a:solidFill>
                <a:latin typeface="Calibri" pitchFamily="34" charset="0"/>
                <a:ea typeface="Calibri" pitchFamily="34" charset="-122"/>
                <a:cs typeface="Calibri" pitchFamily="34" charset="-120"/>
              </a:rPr>
              <a:t>il permission set dell'SSO (lezione 0)</a:t>
            </a:r>
            <a:endParaRPr lang="en-US" sz="1800" dirty="0"/>
          </a:p>
        </p:txBody>
      </p:sp>
      <p:sp>
        <p:nvSpPr>
          <p:cNvPr id="9" name="Shape 6"/>
          <p:cNvSpPr/>
          <p:nvPr/>
        </p:nvSpPr>
        <p:spPr>
          <a:xfrm>
            <a:off x="7498080" y="2514600"/>
            <a:ext cx="4142232" cy="1097280"/>
          </a:xfrm>
          <a:prstGeom prst="roundRect">
            <a:avLst>
              <a:gd name="adj" fmla="val 8333"/>
            </a:avLst>
          </a:prstGeom>
          <a:solidFill>
            <a:srgbClr val="E5F4EC"/>
          </a:solidFill>
          <a:ln w="25400">
            <a:solidFill>
              <a:srgbClr val="2E9E6B"/>
            </a:solidFill>
            <a:prstDash val="solid"/>
          </a:ln>
        </p:spPr>
      </p:sp>
      <p:sp>
        <p:nvSpPr>
          <p:cNvPr id="10" name="Text 7"/>
          <p:cNvSpPr txBox="1"/>
          <p:nvPr/>
        </p:nvSpPr>
        <p:spPr>
          <a:xfrm>
            <a:off x="7498080" y="2514600"/>
            <a:ext cx="4142232" cy="1097280"/>
          </a:xfrm>
          <a:prstGeom prst="rect">
            <a:avLst/>
          </a:prstGeom>
          <a:noFill/>
          <a:ln/>
        </p:spPr>
        <p:txBody>
          <a:bodyPr wrap="square" lIns="76200" tIns="76200" rIns="76200" bIns="76200" rtlCol="0" anchor="ctr"/>
          <a:lstStyle/>
          <a:p>
            <a:pPr algn="ctr" indent="0" marL="0">
              <a:buNone/>
            </a:pPr>
            <a:r>
              <a:rPr lang="en-US" sz="1800" b="1" dirty="0">
                <a:solidFill>
                  <a:srgbClr val="22253A"/>
                </a:solidFill>
                <a:latin typeface="Calibri" pitchFamily="34" charset="0"/>
                <a:ea typeface="Calibri" pitchFamily="34" charset="-122"/>
                <a:cs typeface="Calibri" pitchFamily="34" charset="-120"/>
              </a:rPr>
              <a:t>il nome della sessione</a:t>
            </a:r>
            <a:endParaRPr lang="en-US" sz="1800" dirty="0"/>
          </a:p>
          <a:p>
            <a:pPr algn="ctr" indent="0" marL="0">
              <a:buNone/>
            </a:pPr>
            <a:r>
              <a:rPr lang="en-US" sz="1400" dirty="0">
                <a:solidFill>
                  <a:srgbClr val="5F6478"/>
                </a:solidFill>
                <a:latin typeface="Calibri" pitchFamily="34" charset="0"/>
                <a:ea typeface="Calibri" pitchFamily="34" charset="-122"/>
                <a:cs typeface="Calibri" pitchFamily="34" charset="-120"/>
              </a:rPr>
              <a:t>la PERSONA: il suo login</a:t>
            </a:r>
            <a:endParaRPr lang="en-US" sz="1800" dirty="0"/>
          </a:p>
        </p:txBody>
      </p:sp>
      <p:sp>
        <p:nvSpPr>
          <p:cNvPr id="11" name="Shape 8"/>
          <p:cNvSpPr/>
          <p:nvPr/>
        </p:nvSpPr>
        <p:spPr>
          <a:xfrm>
            <a:off x="548640" y="3931920"/>
            <a:ext cx="5440680" cy="2103120"/>
          </a:xfrm>
          <a:prstGeom prst="roundRect">
            <a:avLst>
              <a:gd name="adj" fmla="val 5217"/>
            </a:avLst>
          </a:prstGeom>
          <a:solidFill>
            <a:srgbClr val="EEEAFB"/>
          </a:solidFill>
          <a:ln w="12700">
            <a:solidFill>
              <a:srgbClr val="EEEAFB"/>
            </a:solidFill>
            <a:prstDash val="solid"/>
          </a:ln>
        </p:spPr>
      </p:sp>
      <p:sp>
        <p:nvSpPr>
          <p:cNvPr id="12" name="Shape 9"/>
          <p:cNvSpPr/>
          <p:nvPr/>
        </p:nvSpPr>
        <p:spPr>
          <a:xfrm>
            <a:off x="777240" y="4160520"/>
            <a:ext cx="548640" cy="548640"/>
          </a:xfrm>
          <a:prstGeom prst="ellipse">
            <a:avLst/>
          </a:prstGeom>
          <a:solidFill>
            <a:srgbClr val="5B3FD0"/>
          </a:solidFill>
          <a:ln w="12700">
            <a:solidFill>
              <a:srgbClr val="5B3FD0"/>
            </a:solidFill>
            <a:prstDash val="solid"/>
          </a:ln>
        </p:spPr>
      </p:sp>
      <p:pic>
        <p:nvPicPr>
          <p:cNvPr id="13" name="Image 0" descr="preencoded.png">    </p:cNvPr>
          <p:cNvPicPr>
            <a:picLocks noChangeAspect="1"/>
          </p:cNvPicPr>
          <p:nvPr/>
        </p:nvPicPr>
        <p:blipFill>
          <a:blip r:embed="rId1"/>
          <a:stretch>
            <a:fillRect/>
          </a:stretch>
        </p:blipFill>
        <p:spPr>
          <a:xfrm>
            <a:off x="914400" y="4297680"/>
            <a:ext cx="274320" cy="274320"/>
          </a:xfrm>
          <a:prstGeom prst="rect">
            <a:avLst/>
          </a:prstGeom>
        </p:spPr>
      </p:pic>
      <p:sp>
        <p:nvSpPr>
          <p:cNvPr id="14" name="Text 10"/>
          <p:cNvSpPr txBox="1"/>
          <p:nvPr/>
        </p:nvSpPr>
        <p:spPr>
          <a:xfrm>
            <a:off x="1508760" y="4160520"/>
            <a:ext cx="425196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Una persona, con l'SSO</a:t>
            </a:r>
            <a:endParaRPr lang="en-US" sz="1800" dirty="0"/>
          </a:p>
        </p:txBody>
      </p:sp>
      <p:sp>
        <p:nvSpPr>
          <p:cNvPr id="15" name="Text 11"/>
          <p:cNvSpPr txBox="1"/>
          <p:nvPr/>
        </p:nvSpPr>
        <p:spPr>
          <a:xfrm>
            <a:off x="777240" y="4846320"/>
            <a:ext cx="4983480" cy="1005840"/>
          </a:xfrm>
          <a:prstGeom prst="rect">
            <a:avLst/>
          </a:prstGeom>
          <a:noFill/>
          <a:ln/>
        </p:spPr>
        <p:txBody>
          <a:bodyPr wrap="square" lIns="0" tIns="0" rIns="0" bIns="0" rtlCol="0" anchor="t"/>
          <a:lstStyle/>
          <a:p>
            <a:pPr indent="0" marL="0">
              <a:spcAft>
                <a:spcPts val="600"/>
              </a:spcAft>
              <a:buNone/>
            </a:pPr>
            <a:r>
              <a:rPr lang="en-US" sz="1500" dirty="0">
                <a:solidFill>
                  <a:srgbClr val="22253A"/>
                </a:solidFill>
                <a:latin typeface="Calibri" pitchFamily="34" charset="0"/>
                <a:ea typeface="Calibri" pitchFamily="34" charset="-122"/>
                <a:cs typeface="Calibri" pitchFamily="34" charset="-120"/>
              </a:rPr>
              <a:t>type: AssumedRole · sessione = il nome di login: "l'ha fatto Mario, dalla console"</a:t>
            </a:r>
            <a:endParaRPr lang="en-US" sz="1500" dirty="0"/>
          </a:p>
        </p:txBody>
      </p:sp>
      <p:sp>
        <p:nvSpPr>
          <p:cNvPr id="16" name="Shape 12"/>
          <p:cNvSpPr/>
          <p:nvPr/>
        </p:nvSpPr>
        <p:spPr>
          <a:xfrm>
            <a:off x="6172200" y="3931920"/>
            <a:ext cx="5468112" cy="2103120"/>
          </a:xfrm>
          <a:prstGeom prst="roundRect">
            <a:avLst>
              <a:gd name="adj" fmla="val 5217"/>
            </a:avLst>
          </a:prstGeom>
          <a:solidFill>
            <a:srgbClr val="FDF0E3"/>
          </a:solidFill>
          <a:ln w="12700">
            <a:solidFill>
              <a:srgbClr val="FDF0E3"/>
            </a:solidFill>
            <a:prstDash val="solid"/>
          </a:ln>
        </p:spPr>
      </p:sp>
      <p:sp>
        <p:nvSpPr>
          <p:cNvPr id="17" name="Shape 13"/>
          <p:cNvSpPr/>
          <p:nvPr/>
        </p:nvSpPr>
        <p:spPr>
          <a:xfrm>
            <a:off x="6400800" y="4160520"/>
            <a:ext cx="548640" cy="548640"/>
          </a:xfrm>
          <a:prstGeom prst="ellipse">
            <a:avLst/>
          </a:prstGeom>
          <a:solidFill>
            <a:srgbClr val="F28C28"/>
          </a:solidFill>
          <a:ln w="12700">
            <a:solidFill>
              <a:srgbClr val="F28C28"/>
            </a:solidFill>
            <a:prstDash val="solid"/>
          </a:ln>
        </p:spPr>
      </p:sp>
      <p:pic>
        <p:nvPicPr>
          <p:cNvPr id="18" name="Image 1" descr="preencoded.png">    </p:cNvPr>
          <p:cNvPicPr>
            <a:picLocks noChangeAspect="1"/>
          </p:cNvPicPr>
          <p:nvPr/>
        </p:nvPicPr>
        <p:blipFill>
          <a:blip r:embed="rId2"/>
          <a:stretch>
            <a:fillRect/>
          </a:stretch>
        </p:blipFill>
        <p:spPr>
          <a:xfrm>
            <a:off x="6537960" y="4297680"/>
            <a:ext cx="274320" cy="274320"/>
          </a:xfrm>
          <a:prstGeom prst="rect">
            <a:avLst/>
          </a:prstGeom>
        </p:spPr>
      </p:pic>
      <p:sp>
        <p:nvSpPr>
          <p:cNvPr id="19" name="Text 14"/>
          <p:cNvSpPr txBox="1"/>
          <p:nvPr/>
        </p:nvSpPr>
        <p:spPr>
          <a:xfrm>
            <a:off x="7132320" y="4160520"/>
            <a:ext cx="4279392"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Un server, con il suo role</a:t>
            </a:r>
            <a:endParaRPr lang="en-US" sz="1800" dirty="0"/>
          </a:p>
        </p:txBody>
      </p:sp>
      <p:sp>
        <p:nvSpPr>
          <p:cNvPr id="20" name="Text 15"/>
          <p:cNvSpPr txBox="1"/>
          <p:nvPr/>
        </p:nvSpPr>
        <p:spPr>
          <a:xfrm>
            <a:off x="6400800" y="4846320"/>
            <a:ext cx="5010912" cy="1005840"/>
          </a:xfrm>
          <a:prstGeom prst="rect">
            <a:avLst/>
          </a:prstGeom>
          <a:noFill/>
          <a:ln/>
        </p:spPr>
        <p:txBody>
          <a:bodyPr wrap="square" lIns="0" tIns="0" rIns="0" bIns="0" rtlCol="0" anchor="t"/>
          <a:lstStyle/>
          <a:p>
            <a:pPr indent="0" marL="0">
              <a:spcAft>
                <a:spcPts val="600"/>
              </a:spcAft>
              <a:buNone/>
            </a:pPr>
            <a:r>
              <a:rPr lang="en-US" sz="1500" dirty="0">
                <a:solidFill>
                  <a:srgbClr val="22253A"/>
                </a:solidFill>
                <a:latin typeface="Calibri" pitchFamily="34" charset="0"/>
                <a:ea typeface="Calibri" pitchFamily="34" charset="-122"/>
                <a:cs typeface="Calibri" pitchFamily="34" charset="-120"/>
              </a:rPr>
              <a:t>sessione = l'ID del server (i-0abc…): "l'ha fatto il server"</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Event history e trail</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12 · CloudTrail: chi ha fatto cosa</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3657600"/>
                <a:gridCol w="3474720"/>
                <a:gridCol w="3959352"/>
              </a:tblGrid>
              <a:tr h="530352">
                <a:tc>
                  <a:txBody>
                    <a:bodyPr/>
                    <a:lstStyle/>
                    <a:p>
                      <a:pPr indent="0" marL="0">
                        <a:buNone/>
                      </a:pP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Event history</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Trail</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r>
              <a:tr h="530352">
                <a:tc>
                  <a:txBody>
                    <a:bodyPr/>
                    <a:lstStyle/>
                    <a:p>
                      <a:pPr indent="0" marL="0">
                        <a:buNone/>
                      </a:pPr>
                      <a:r>
                        <a:rPr lang="en-US" sz="1600" b="1" dirty="0">
                          <a:solidFill>
                            <a:srgbClr val="22253A"/>
                          </a:solidFill>
                          <a:latin typeface="Calibri" pitchFamily="34" charset="0"/>
                          <a:ea typeface="Calibri" pitchFamily="34" charset="-122"/>
                          <a:cs typeface="Calibri" pitchFamily="34" charset="-120"/>
                        </a:rPr>
                        <a:t>Quanto tempo</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90 giorni</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b="1" dirty="0">
                          <a:solidFill>
                            <a:srgbClr val="22253A"/>
                          </a:solidFill>
                          <a:latin typeface="Calibri" pitchFamily="34" charset="0"/>
                          <a:ea typeface="Calibri" pitchFamily="34" charset="-122"/>
                          <a:cs typeface="Calibri" pitchFamily="34" charset="-120"/>
                        </a:rPr>
                        <a:t>quanto vuoi</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530352">
                <a:tc>
                  <a:txBody>
                    <a:bodyPr/>
                    <a:lstStyle/>
                    <a:p>
                      <a:pPr indent="0" marL="0">
                        <a:buNone/>
                      </a:pPr>
                      <a:r>
                        <a:rPr lang="en-US" sz="1600" b="1" dirty="0">
                          <a:solidFill>
                            <a:srgbClr val="22253A"/>
                          </a:solidFill>
                          <a:latin typeface="Calibri" pitchFamily="34" charset="0"/>
                          <a:ea typeface="Calibri" pitchFamily="34" charset="-122"/>
                          <a:cs typeface="Calibri" pitchFamily="34" charset="-120"/>
                        </a:rPr>
                        <a:t>Data event (file in S3…)</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no</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600" b="1" dirty="0">
                          <a:solidFill>
                            <a:srgbClr val="22253A"/>
                          </a:solidFill>
                          <a:latin typeface="Calibri" pitchFamily="34" charset="0"/>
                          <a:ea typeface="Calibri" pitchFamily="34" charset="-122"/>
                          <a:cs typeface="Calibri" pitchFamily="34" charset="-120"/>
                        </a:rPr>
                        <a:t>sì, dove li scegli</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r h="530352">
                <a:tc>
                  <a:txBody>
                    <a:bodyPr/>
                    <a:lstStyle/>
                    <a:p>
                      <a:pPr indent="0" marL="0">
                        <a:buNone/>
                      </a:pPr>
                      <a:r>
                        <a:rPr lang="en-US" sz="1600" b="1" dirty="0">
                          <a:solidFill>
                            <a:srgbClr val="22253A"/>
                          </a:solidFill>
                          <a:latin typeface="Calibri" pitchFamily="34" charset="0"/>
                          <a:ea typeface="Calibri" pitchFamily="34" charset="-122"/>
                          <a:cs typeface="Calibri" pitchFamily="34" charset="-120"/>
                        </a:rPr>
                        <a:t>Regioni</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una alla volta</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b="1" dirty="0">
                          <a:solidFill>
                            <a:srgbClr val="22253A"/>
                          </a:solidFill>
                          <a:latin typeface="Calibri" pitchFamily="34" charset="0"/>
                          <a:ea typeface="Calibri" pitchFamily="34" charset="-122"/>
                          <a:cs typeface="Calibri" pitchFamily="34" charset="-120"/>
                        </a:rPr>
                        <a:t>tutte, in un posto solo</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530352">
                <a:tc>
                  <a:txBody>
                    <a:bodyPr/>
                    <a:lstStyle/>
                    <a:p>
                      <a:pPr indent="0" marL="0">
                        <a:buNone/>
                      </a:pPr>
                      <a:r>
                        <a:rPr lang="en-US" sz="1600" b="1" dirty="0">
                          <a:solidFill>
                            <a:srgbClr val="22253A"/>
                          </a:solidFill>
                          <a:latin typeface="Calibri" pitchFamily="34" charset="0"/>
                          <a:ea typeface="Calibri" pitchFamily="34" charset="-122"/>
                          <a:cs typeface="Calibri" pitchFamily="34" charset="-120"/>
                        </a:rPr>
                        <a:t>Integrità</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600" b="1" dirty="0">
                          <a:solidFill>
                            <a:srgbClr val="22253A"/>
                          </a:solidFill>
                          <a:latin typeface="Calibri" pitchFamily="34" charset="0"/>
                          <a:ea typeface="Calibri" pitchFamily="34" charset="-122"/>
                          <a:cs typeface="Calibri" pitchFamily="34" charset="-120"/>
                        </a:rPr>
                        <a:t>firme ogni ora</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bl>
          </a:graphicData>
        </a:graphic>
      </p:graphicFrame>
      <p:sp>
        <p:nvSpPr>
          <p:cNvPr id="6" name="Shape 2"/>
          <p:cNvSpPr/>
          <p:nvPr/>
        </p:nvSpPr>
        <p:spPr>
          <a:xfrm>
            <a:off x="548640" y="4023360"/>
            <a:ext cx="11094415" cy="1600200"/>
          </a:xfrm>
          <a:prstGeom prst="roundRect">
            <a:avLst>
              <a:gd name="adj" fmla="val 4571"/>
            </a:avLst>
          </a:prstGeom>
          <a:solidFill>
            <a:srgbClr val="1E1E2E"/>
          </a:solidFill>
          <a:ln w="12700">
            <a:solidFill>
              <a:srgbClr val="1E1E2E"/>
            </a:solidFill>
            <a:prstDash val="solid"/>
          </a:ln>
        </p:spPr>
      </p:sp>
      <p:sp>
        <p:nvSpPr>
          <p:cNvPr id="7" name="Text 3"/>
          <p:cNvSpPr txBox="1"/>
          <p:nvPr/>
        </p:nvSpPr>
        <p:spPr>
          <a:xfrm>
            <a:off x="731520" y="4096512"/>
            <a:ext cx="10728655" cy="274320"/>
          </a:xfrm>
          <a:prstGeom prst="rect">
            <a:avLst/>
          </a:prstGeom>
          <a:noFill/>
          <a:ln/>
        </p:spPr>
        <p:txBody>
          <a:bodyPr wrap="square" lIns="0" tIns="0" rIns="0" bIns="0" rtlCol="0" anchor="t"/>
          <a:lstStyle/>
          <a:p>
            <a:pPr indent="0" marL="0">
              <a:buNone/>
            </a:pPr>
            <a:r>
              <a:rPr lang="en-US" sz="1300" b="1" dirty="0">
                <a:solidFill>
                  <a:srgbClr val="F2B880"/>
                </a:solidFill>
                <a:latin typeface="Calibri" pitchFamily="34" charset="0"/>
                <a:ea typeface="Calibri" pitchFamily="34" charset="-122"/>
                <a:cs typeface="Calibri" pitchFamily="34" charset="-120"/>
              </a:rPr>
              <a:t>Event history dalla CLI</a:t>
            </a:r>
            <a:endParaRPr lang="en-US" sz="1300" dirty="0"/>
          </a:p>
        </p:txBody>
      </p:sp>
      <p:sp>
        <p:nvSpPr>
          <p:cNvPr id="8" name="Text 4"/>
          <p:cNvSpPr txBox="1"/>
          <p:nvPr/>
        </p:nvSpPr>
        <p:spPr>
          <a:xfrm>
            <a:off x="731520" y="4434840"/>
            <a:ext cx="10728655" cy="1051560"/>
          </a:xfrm>
          <a:prstGeom prst="rect">
            <a:avLst/>
          </a:prstGeom>
          <a:noFill/>
          <a:ln/>
        </p:spPr>
        <p:txBody>
          <a:bodyPr wrap="square" lIns="0" tIns="0" rIns="0" bIns="0" rtlCol="0" anchor="t"/>
          <a:lstStyle/>
          <a:p>
            <a:pPr indent="0" marL="0">
              <a:buNone/>
            </a:pPr>
            <a:r>
              <a:rPr lang="en-US" sz="1600" dirty="0">
                <a:solidFill>
                  <a:srgbClr val="E6E6F0"/>
                </a:solidFill>
                <a:latin typeface="Courier New" pitchFamily="34" charset="0"/>
                <a:ea typeface="Courier New" pitchFamily="34" charset="-122"/>
                <a:cs typeface="Courier New" pitchFamily="34" charset="-120"/>
              </a:rPr>
              <a:t>aws cloudtrail lookup-events --max-results 5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--lookup-attributes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AttributeKey=EventName,AttributeValue=AuthorizeSecurityGroupIngress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--query 'Events[].{quando:EventTime,chi:Username}'</a:t>
            </a:r>
            <a:endParaRPr lang="en-US" sz="1600" dirty="0"/>
          </a:p>
        </p:txBody>
      </p:sp>
      <p:sp>
        <p:nvSpPr>
          <p:cNvPr id="9" name="Text 5"/>
          <p:cNvSpPr txBox="1"/>
          <p:nvPr/>
        </p:nvSpPr>
        <p:spPr>
          <a:xfrm>
            <a:off x="548640" y="5760720"/>
            <a:ext cx="11094415" cy="457200"/>
          </a:xfrm>
          <a:prstGeom prst="rect">
            <a:avLst/>
          </a:prstGeom>
          <a:noFill/>
          <a:ln/>
        </p:spPr>
        <p:txBody>
          <a:bodyPr wrap="square" lIns="0" tIns="0" rIns="0" bIns="0" rtlCol="0" anchor="ctr"/>
          <a:lstStyle/>
          <a:p>
            <a:pPr algn="l" indent="0" marL="0">
              <a:buNone/>
            </a:pPr>
            <a:r>
              <a:rPr lang="en-US" sz="1500" i="1" dirty="0">
                <a:solidFill>
                  <a:srgbClr val="5F6478"/>
                </a:solidFill>
                <a:latin typeface="Calibri" pitchFamily="34" charset="0"/>
                <a:ea typeface="Calibri" pitchFamily="34" charset="-122"/>
                <a:cs typeface="Calibri" pitchFamily="34" charset="-120"/>
              </a:rPr>
              <a:t>Il nostro trail: tutte le regioni · data event solo sugli artefatti · bucket privato con versioning · copia in CloudWatch Logs</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Le firme: nessuno ha toccato i log?</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12 · CloudTrail: chi ha fatto cosa</a:t>
            </a:r>
            <a:endParaRPr lang="en-US" sz="1000" dirty="0"/>
          </a:p>
        </p:txBody>
      </p:sp>
      <p:sp>
        <p:nvSpPr>
          <p:cNvPr id="5" name="Shape 2"/>
          <p:cNvSpPr/>
          <p:nvPr/>
        </p:nvSpPr>
        <p:spPr>
          <a:xfrm>
            <a:off x="548640" y="1280160"/>
            <a:ext cx="11094415" cy="731520"/>
          </a:xfrm>
          <a:prstGeom prst="roundRect">
            <a:avLst>
              <a:gd name="adj" fmla="val 12500"/>
            </a:avLst>
          </a:prstGeom>
          <a:solidFill>
            <a:srgbClr val="5B3FD0"/>
          </a:solidFill>
          <a:ln w="12700">
            <a:solidFill>
              <a:srgbClr val="5B3FD0"/>
            </a:solidFill>
            <a:prstDash val="solid"/>
          </a:ln>
        </p:spPr>
      </p:sp>
      <p:sp>
        <p:nvSpPr>
          <p:cNvPr id="6" name="Text 3"/>
          <p:cNvSpPr txBox="1"/>
          <p:nvPr/>
        </p:nvSpPr>
        <p:spPr>
          <a:xfrm>
            <a:off x="822960" y="1280160"/>
            <a:ext cx="10545775" cy="731520"/>
          </a:xfrm>
          <a:prstGeom prst="rect">
            <a:avLst/>
          </a:prstGeom>
          <a:noFill/>
          <a:ln/>
        </p:spPr>
        <p:txBody>
          <a:bodyPr wrap="square" lIns="0" tIns="0" rIns="0" bIns="0" rtlCol="0" anchor="ctr"/>
          <a:lstStyle/>
          <a:p>
            <a:pPr algn="l" indent="0" marL="0">
              <a:buNone/>
            </a:pPr>
            <a:r>
              <a:rPr lang="en-US" sz="1900" b="1" dirty="0">
                <a:solidFill>
                  <a:srgbClr val="FFFFFF"/>
                </a:solidFill>
                <a:latin typeface="Calibri" pitchFamily="34" charset="0"/>
                <a:ea typeface="Calibri" pitchFamily="34" charset="-122"/>
                <a:cs typeface="Calibri" pitchFamily="34" charset="-120"/>
              </a:rPr>
              <a:t>Ogni ora un "digest": l'impronta di ogni file di log, firmata da AWS.</a:t>
            </a:r>
            <a:endParaRPr lang="en-US" sz="1900" dirty="0"/>
          </a:p>
        </p:txBody>
      </p:sp>
      <p:sp>
        <p:nvSpPr>
          <p:cNvPr id="7" name="Shape 4"/>
          <p:cNvSpPr/>
          <p:nvPr/>
        </p:nvSpPr>
        <p:spPr>
          <a:xfrm>
            <a:off x="548640" y="2240280"/>
            <a:ext cx="3566160" cy="1828800"/>
          </a:xfrm>
          <a:prstGeom prst="roundRect">
            <a:avLst>
              <a:gd name="adj" fmla="val 6000"/>
            </a:avLst>
          </a:prstGeom>
          <a:solidFill>
            <a:srgbClr val="EEEAFB"/>
          </a:solidFill>
          <a:ln w="12700">
            <a:solidFill>
              <a:srgbClr val="EEEAFB"/>
            </a:solidFill>
            <a:prstDash val="solid"/>
          </a:ln>
        </p:spPr>
      </p:sp>
      <p:sp>
        <p:nvSpPr>
          <p:cNvPr id="8" name="Shape 5"/>
          <p:cNvSpPr/>
          <p:nvPr/>
        </p:nvSpPr>
        <p:spPr>
          <a:xfrm>
            <a:off x="777240" y="2468880"/>
            <a:ext cx="548640" cy="548640"/>
          </a:xfrm>
          <a:prstGeom prst="ellipse">
            <a:avLst/>
          </a:prstGeom>
          <a:solidFill>
            <a:srgbClr val="5B3FD0"/>
          </a:solidFill>
          <a:ln w="12700">
            <a:solidFill>
              <a:srgbClr val="5B3FD0"/>
            </a:solidFill>
            <a:prstDash val="solid"/>
          </a:ln>
        </p:spPr>
      </p:sp>
      <p:pic>
        <p:nvPicPr>
          <p:cNvPr id="9" name="Image 0" descr="preencoded.png">    </p:cNvPr>
          <p:cNvPicPr>
            <a:picLocks noChangeAspect="1"/>
          </p:cNvPicPr>
          <p:nvPr/>
        </p:nvPicPr>
        <p:blipFill>
          <a:blip r:embed="rId1"/>
          <a:stretch>
            <a:fillRect/>
          </a:stretch>
        </p:blipFill>
        <p:spPr>
          <a:xfrm>
            <a:off x="914400" y="2606040"/>
            <a:ext cx="274320" cy="274320"/>
          </a:xfrm>
          <a:prstGeom prst="rect">
            <a:avLst/>
          </a:prstGeom>
        </p:spPr>
      </p:pic>
      <p:sp>
        <p:nvSpPr>
          <p:cNvPr id="10" name="Text 6"/>
          <p:cNvSpPr txBox="1"/>
          <p:nvPr/>
        </p:nvSpPr>
        <p:spPr>
          <a:xfrm>
            <a:off x="1508760" y="2468880"/>
            <a:ext cx="237744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I file di log</a:t>
            </a:r>
            <a:endParaRPr lang="en-US" sz="1800" dirty="0"/>
          </a:p>
        </p:txBody>
      </p:sp>
      <p:sp>
        <p:nvSpPr>
          <p:cNvPr id="11" name="Text 7"/>
          <p:cNvSpPr txBox="1"/>
          <p:nvPr/>
        </p:nvSpPr>
        <p:spPr>
          <a:xfrm>
            <a:off x="777240" y="3154680"/>
            <a:ext cx="3108960" cy="731520"/>
          </a:xfrm>
          <a:prstGeom prst="rect">
            <a:avLst/>
          </a:prstGeom>
          <a:noFill/>
          <a:ln/>
        </p:spPr>
        <p:txBody>
          <a:bodyPr wrap="square" lIns="0" tIns="0" rIns="0" bIns="0" rtlCol="0" anchor="t"/>
          <a:lstStyle/>
          <a:p>
            <a:pPr indent="0" marL="0">
              <a:spcAft>
                <a:spcPts val="600"/>
              </a:spcAft>
              <a:buNone/>
            </a:pPr>
            <a:r>
              <a:rPr lang="en-US" sz="1500" dirty="0">
                <a:solidFill>
                  <a:srgbClr val="22253A"/>
                </a:solidFill>
                <a:latin typeface="Calibri" pitchFamily="34" charset="0"/>
                <a:ea typeface="Calibri" pitchFamily="34" charset="-122"/>
                <a:cs typeface="Calibri" pitchFamily="34" charset="-120"/>
              </a:rPr>
              <a:t>scritti nel bucket, come sempre</a:t>
            </a:r>
            <a:endParaRPr lang="en-US" sz="1500" dirty="0"/>
          </a:p>
        </p:txBody>
      </p:sp>
      <p:sp>
        <p:nvSpPr>
          <p:cNvPr id="12" name="Shape 8"/>
          <p:cNvSpPr/>
          <p:nvPr/>
        </p:nvSpPr>
        <p:spPr>
          <a:xfrm>
            <a:off x="4133088" y="3154680"/>
            <a:ext cx="155448" cy="0"/>
          </a:xfrm>
          <a:prstGeom prst="line">
            <a:avLst/>
          </a:prstGeom>
          <a:noFill/>
          <a:ln w="25400">
            <a:solidFill>
              <a:srgbClr val="5B3FD0"/>
            </a:solidFill>
            <a:prstDash val="solid"/>
            <a:tailEnd type="triangle"/>
          </a:ln>
        </p:spPr>
      </p:sp>
      <p:sp>
        <p:nvSpPr>
          <p:cNvPr id="13" name="Shape 9"/>
          <p:cNvSpPr/>
          <p:nvPr/>
        </p:nvSpPr>
        <p:spPr>
          <a:xfrm>
            <a:off x="4297680" y="2240280"/>
            <a:ext cx="3566160" cy="1828800"/>
          </a:xfrm>
          <a:prstGeom prst="roundRect">
            <a:avLst>
              <a:gd name="adj" fmla="val 6000"/>
            </a:avLst>
          </a:prstGeom>
          <a:solidFill>
            <a:srgbClr val="EEEAFB"/>
          </a:solidFill>
          <a:ln w="12700">
            <a:solidFill>
              <a:srgbClr val="EEEAFB"/>
            </a:solidFill>
            <a:prstDash val="solid"/>
          </a:ln>
        </p:spPr>
      </p:sp>
      <p:sp>
        <p:nvSpPr>
          <p:cNvPr id="14" name="Shape 10"/>
          <p:cNvSpPr/>
          <p:nvPr/>
        </p:nvSpPr>
        <p:spPr>
          <a:xfrm>
            <a:off x="4526280" y="2468880"/>
            <a:ext cx="548640" cy="548640"/>
          </a:xfrm>
          <a:prstGeom prst="ellipse">
            <a:avLst/>
          </a:prstGeom>
          <a:solidFill>
            <a:srgbClr val="5B3FD0"/>
          </a:solidFill>
          <a:ln w="12700">
            <a:solidFill>
              <a:srgbClr val="5B3FD0"/>
            </a:solidFill>
            <a:prstDash val="solid"/>
          </a:ln>
        </p:spPr>
      </p:sp>
      <p:pic>
        <p:nvPicPr>
          <p:cNvPr id="15" name="Image 1" descr="preencoded.png">    </p:cNvPr>
          <p:cNvPicPr>
            <a:picLocks noChangeAspect="1"/>
          </p:cNvPicPr>
          <p:nvPr/>
        </p:nvPicPr>
        <p:blipFill>
          <a:blip r:embed="rId2"/>
          <a:stretch>
            <a:fillRect/>
          </a:stretch>
        </p:blipFill>
        <p:spPr>
          <a:xfrm>
            <a:off x="4663440" y="2606040"/>
            <a:ext cx="274320" cy="274320"/>
          </a:xfrm>
          <a:prstGeom prst="rect">
            <a:avLst/>
          </a:prstGeom>
        </p:spPr>
      </p:pic>
      <p:sp>
        <p:nvSpPr>
          <p:cNvPr id="16" name="Text 11"/>
          <p:cNvSpPr txBox="1"/>
          <p:nvPr/>
        </p:nvSpPr>
        <p:spPr>
          <a:xfrm>
            <a:off x="5257800" y="2468880"/>
            <a:ext cx="237744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Il digest, ogni ora</a:t>
            </a:r>
            <a:endParaRPr lang="en-US" sz="1800" dirty="0"/>
          </a:p>
        </p:txBody>
      </p:sp>
      <p:sp>
        <p:nvSpPr>
          <p:cNvPr id="17" name="Text 12"/>
          <p:cNvSpPr txBox="1"/>
          <p:nvPr/>
        </p:nvSpPr>
        <p:spPr>
          <a:xfrm>
            <a:off x="4526280" y="3154680"/>
            <a:ext cx="3108960" cy="731520"/>
          </a:xfrm>
          <a:prstGeom prst="rect">
            <a:avLst/>
          </a:prstGeom>
          <a:noFill/>
          <a:ln/>
        </p:spPr>
        <p:txBody>
          <a:bodyPr wrap="square" lIns="0" tIns="0" rIns="0" bIns="0" rtlCol="0" anchor="t"/>
          <a:lstStyle/>
          <a:p>
            <a:pPr indent="0" marL="0">
              <a:spcAft>
                <a:spcPts val="600"/>
              </a:spcAft>
              <a:buNone/>
            </a:pPr>
            <a:r>
              <a:rPr lang="en-US" sz="1500" dirty="0">
                <a:solidFill>
                  <a:srgbClr val="22253A"/>
                </a:solidFill>
                <a:latin typeface="Calibri" pitchFamily="34" charset="0"/>
                <a:ea typeface="Calibri" pitchFamily="34" charset="-122"/>
                <a:cs typeface="Calibri" pitchFamily="34" charset="-120"/>
              </a:rPr>
              <a:t>l'impronta di ogni file, firmata</a:t>
            </a:r>
            <a:endParaRPr lang="en-US" sz="1500" dirty="0"/>
          </a:p>
        </p:txBody>
      </p:sp>
      <p:sp>
        <p:nvSpPr>
          <p:cNvPr id="18" name="Shape 13"/>
          <p:cNvSpPr/>
          <p:nvPr/>
        </p:nvSpPr>
        <p:spPr>
          <a:xfrm>
            <a:off x="7882128" y="3154680"/>
            <a:ext cx="155448" cy="0"/>
          </a:xfrm>
          <a:prstGeom prst="line">
            <a:avLst/>
          </a:prstGeom>
          <a:noFill/>
          <a:ln w="25400">
            <a:solidFill>
              <a:srgbClr val="5B3FD0"/>
            </a:solidFill>
            <a:prstDash val="solid"/>
            <a:tailEnd type="triangle"/>
          </a:ln>
        </p:spPr>
      </p:sp>
      <p:sp>
        <p:nvSpPr>
          <p:cNvPr id="19" name="Shape 14"/>
          <p:cNvSpPr/>
          <p:nvPr/>
        </p:nvSpPr>
        <p:spPr>
          <a:xfrm>
            <a:off x="8046720" y="2240280"/>
            <a:ext cx="3566160" cy="1828800"/>
          </a:xfrm>
          <a:prstGeom prst="roundRect">
            <a:avLst>
              <a:gd name="adj" fmla="val 6000"/>
            </a:avLst>
          </a:prstGeom>
          <a:solidFill>
            <a:srgbClr val="EEEAFB"/>
          </a:solidFill>
          <a:ln w="12700">
            <a:solidFill>
              <a:srgbClr val="EEEAFB"/>
            </a:solidFill>
            <a:prstDash val="solid"/>
          </a:ln>
        </p:spPr>
      </p:sp>
      <p:sp>
        <p:nvSpPr>
          <p:cNvPr id="20" name="Shape 15"/>
          <p:cNvSpPr/>
          <p:nvPr/>
        </p:nvSpPr>
        <p:spPr>
          <a:xfrm>
            <a:off x="8275320" y="2468880"/>
            <a:ext cx="548640" cy="548640"/>
          </a:xfrm>
          <a:prstGeom prst="ellipse">
            <a:avLst/>
          </a:prstGeom>
          <a:solidFill>
            <a:srgbClr val="5B3FD0"/>
          </a:solidFill>
          <a:ln w="12700">
            <a:solidFill>
              <a:srgbClr val="5B3FD0"/>
            </a:solidFill>
            <a:prstDash val="solid"/>
          </a:ln>
        </p:spPr>
      </p:sp>
      <p:pic>
        <p:nvPicPr>
          <p:cNvPr id="21" name="Image 2" descr="preencoded.png">    </p:cNvPr>
          <p:cNvPicPr>
            <a:picLocks noChangeAspect="1"/>
          </p:cNvPicPr>
          <p:nvPr/>
        </p:nvPicPr>
        <p:blipFill>
          <a:blip r:embed="rId3"/>
          <a:stretch>
            <a:fillRect/>
          </a:stretch>
        </p:blipFill>
        <p:spPr>
          <a:xfrm>
            <a:off x="8412480" y="2606040"/>
            <a:ext cx="274320" cy="274320"/>
          </a:xfrm>
          <a:prstGeom prst="rect">
            <a:avLst/>
          </a:prstGeom>
        </p:spPr>
      </p:pic>
      <p:sp>
        <p:nvSpPr>
          <p:cNvPr id="22" name="Text 16"/>
          <p:cNvSpPr txBox="1"/>
          <p:nvPr/>
        </p:nvSpPr>
        <p:spPr>
          <a:xfrm>
            <a:off x="9006840" y="2468880"/>
            <a:ext cx="237744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validate-logs</a:t>
            </a:r>
            <a:endParaRPr lang="en-US" sz="1800" dirty="0"/>
          </a:p>
        </p:txBody>
      </p:sp>
      <p:sp>
        <p:nvSpPr>
          <p:cNvPr id="23" name="Text 17"/>
          <p:cNvSpPr txBox="1"/>
          <p:nvPr/>
        </p:nvSpPr>
        <p:spPr>
          <a:xfrm>
            <a:off x="8275320" y="3154680"/>
            <a:ext cx="3108960" cy="731520"/>
          </a:xfrm>
          <a:prstGeom prst="rect">
            <a:avLst/>
          </a:prstGeom>
          <a:noFill/>
          <a:ln/>
        </p:spPr>
        <p:txBody>
          <a:bodyPr wrap="square" lIns="0" tIns="0" rIns="0" bIns="0" rtlCol="0" anchor="t"/>
          <a:lstStyle/>
          <a:p>
            <a:pPr indent="0" marL="0">
              <a:spcAft>
                <a:spcPts val="600"/>
              </a:spcAft>
              <a:buNone/>
            </a:pPr>
            <a:r>
              <a:rPr lang="en-US" sz="1500" dirty="0">
                <a:solidFill>
                  <a:srgbClr val="22253A"/>
                </a:solidFill>
                <a:latin typeface="Calibri" pitchFamily="34" charset="0"/>
                <a:ea typeface="Calibri" pitchFamily="34" charset="-122"/>
                <a:cs typeface="Calibri" pitchFamily="34" charset="-120"/>
              </a:rPr>
              <a:t>validi? modificati? cancellati?</a:t>
            </a:r>
            <a:endParaRPr lang="en-US" sz="1500" dirty="0"/>
          </a:p>
        </p:txBody>
      </p:sp>
      <p:sp>
        <p:nvSpPr>
          <p:cNvPr id="24" name="Shape 18"/>
          <p:cNvSpPr/>
          <p:nvPr/>
        </p:nvSpPr>
        <p:spPr>
          <a:xfrm>
            <a:off x="548640" y="4343400"/>
            <a:ext cx="11094415" cy="1143000"/>
          </a:xfrm>
          <a:prstGeom prst="roundRect">
            <a:avLst>
              <a:gd name="adj" fmla="val 6400"/>
            </a:avLst>
          </a:prstGeom>
          <a:solidFill>
            <a:srgbClr val="1E1E2E"/>
          </a:solidFill>
          <a:ln w="12700">
            <a:solidFill>
              <a:srgbClr val="1E1E2E"/>
            </a:solidFill>
            <a:prstDash val="solid"/>
          </a:ln>
        </p:spPr>
      </p:sp>
      <p:sp>
        <p:nvSpPr>
          <p:cNvPr id="25" name="Text 19"/>
          <p:cNvSpPr txBox="1"/>
          <p:nvPr/>
        </p:nvSpPr>
        <p:spPr>
          <a:xfrm>
            <a:off x="731520" y="4416552"/>
            <a:ext cx="10728655" cy="274320"/>
          </a:xfrm>
          <a:prstGeom prst="rect">
            <a:avLst/>
          </a:prstGeom>
          <a:noFill/>
          <a:ln/>
        </p:spPr>
        <p:txBody>
          <a:bodyPr wrap="square" lIns="0" tIns="0" rIns="0" bIns="0" rtlCol="0" anchor="t"/>
          <a:lstStyle/>
          <a:p>
            <a:pPr indent="0" marL="0">
              <a:buNone/>
            </a:pPr>
            <a:r>
              <a:rPr lang="en-US" sz="1300" b="1" dirty="0">
                <a:solidFill>
                  <a:srgbClr val="F2B880"/>
                </a:solidFill>
                <a:latin typeface="Calibri" pitchFamily="34" charset="0"/>
                <a:ea typeface="Calibri" pitchFamily="34" charset="-122"/>
                <a:cs typeface="Calibri" pitchFamily="34" charset="-120"/>
              </a:rPr>
              <a:t>nel terminale</a:t>
            </a:r>
            <a:endParaRPr lang="en-US" sz="1300" dirty="0"/>
          </a:p>
        </p:txBody>
      </p:sp>
      <p:sp>
        <p:nvSpPr>
          <p:cNvPr id="26" name="Text 20"/>
          <p:cNvSpPr txBox="1"/>
          <p:nvPr/>
        </p:nvSpPr>
        <p:spPr>
          <a:xfrm>
            <a:off x="731520" y="4754880"/>
            <a:ext cx="10728655" cy="594360"/>
          </a:xfrm>
          <a:prstGeom prst="rect">
            <a:avLst/>
          </a:prstGeom>
          <a:noFill/>
          <a:ln/>
        </p:spPr>
        <p:txBody>
          <a:bodyPr wrap="square" lIns="0" tIns="0" rIns="0" bIns="0" rtlCol="0" anchor="t"/>
          <a:lstStyle/>
          <a:p>
            <a:pPr indent="0" marL="0">
              <a:buNone/>
            </a:pPr>
            <a:r>
              <a:rPr lang="en-US" sz="1600" dirty="0">
                <a:solidFill>
                  <a:srgbClr val="E6E6F0"/>
                </a:solidFill>
                <a:latin typeface="Courier New" pitchFamily="34" charset="0"/>
                <a:ea typeface="Courier New" pitchFamily="34" charset="-122"/>
                <a:cs typeface="Courier New" pitchFamily="34" charset="-120"/>
              </a:rPr>
              <a:t>aws cloudtrail validate-logs --trail-arn "$(terraform output -raw trail_arn)"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--start-time 2026-10-09T08:00:00Z</a:t>
            </a:r>
            <a:endParaRPr lang="en-US" sz="1600" dirty="0"/>
          </a:p>
        </p:txBody>
      </p:sp>
      <p:sp>
        <p:nvSpPr>
          <p:cNvPr id="27" name="Text 21"/>
          <p:cNvSpPr txBox="1"/>
          <p:nvPr/>
        </p:nvSpPr>
        <p:spPr>
          <a:xfrm>
            <a:off x="548640" y="5623560"/>
            <a:ext cx="11094415" cy="457200"/>
          </a:xfrm>
          <a:prstGeom prst="rect">
            <a:avLst/>
          </a:prstGeom>
          <a:noFill/>
          <a:ln/>
        </p:spPr>
        <p:txBody>
          <a:bodyPr wrap="square" lIns="0" tIns="0" rIns="0" bIns="0" rtlCol="0" anchor="ctr"/>
          <a:lstStyle/>
          <a:p>
            <a:pPr algn="l" indent="0" marL="0">
              <a:buNone/>
            </a:pPr>
            <a:r>
              <a:rPr lang="en-US" sz="1600" i="1" dirty="0">
                <a:solidFill>
                  <a:srgbClr val="5F6478"/>
                </a:solidFill>
                <a:latin typeface="Calibri" pitchFamily="34" charset="0"/>
                <a:ea typeface="Calibri" pitchFamily="34" charset="-122"/>
                <a:cs typeface="Calibri" pitchFamily="34" charset="-120"/>
              </a:rPr>
              <a:t>Protegge dalla prima mossa di un intruso: cancellare le proprie tracce.</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Cercare negli eventi: Logs Insights</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12 · CloudTrail: chi ha fatto cosa</a:t>
            </a:r>
            <a:endParaRPr lang="en-US" sz="1000" dirty="0"/>
          </a:p>
        </p:txBody>
      </p:sp>
      <p:sp>
        <p:nvSpPr>
          <p:cNvPr id="5" name="Shape 2"/>
          <p:cNvSpPr/>
          <p:nvPr/>
        </p:nvSpPr>
        <p:spPr>
          <a:xfrm>
            <a:off x="548640" y="1325880"/>
            <a:ext cx="11094415" cy="1737360"/>
          </a:xfrm>
          <a:prstGeom prst="roundRect">
            <a:avLst>
              <a:gd name="adj" fmla="val 4211"/>
            </a:avLst>
          </a:prstGeom>
          <a:solidFill>
            <a:srgbClr val="1E1E2E"/>
          </a:solidFill>
          <a:ln w="12700">
            <a:solidFill>
              <a:srgbClr val="1E1E2E"/>
            </a:solidFill>
            <a:prstDash val="solid"/>
          </a:ln>
        </p:spPr>
      </p:sp>
      <p:sp>
        <p:nvSpPr>
          <p:cNvPr id="6" name="Text 3"/>
          <p:cNvSpPr txBox="1"/>
          <p:nvPr/>
        </p:nvSpPr>
        <p:spPr>
          <a:xfrm>
            <a:off x="731520" y="1399032"/>
            <a:ext cx="10728655" cy="274320"/>
          </a:xfrm>
          <a:prstGeom prst="rect">
            <a:avLst/>
          </a:prstGeom>
          <a:noFill/>
          <a:ln/>
        </p:spPr>
        <p:txBody>
          <a:bodyPr wrap="square" lIns="0" tIns="0" rIns="0" bIns="0" rtlCol="0" anchor="t"/>
          <a:lstStyle/>
          <a:p>
            <a:pPr indent="0" marL="0">
              <a:buNone/>
            </a:pPr>
            <a:r>
              <a:rPr lang="en-US" sz="1300" b="1" dirty="0">
                <a:solidFill>
                  <a:srgbClr val="F2B880"/>
                </a:solidFill>
                <a:latin typeface="Calibri" pitchFamily="34" charset="0"/>
                <a:ea typeface="Calibri" pitchFamily="34" charset="-122"/>
                <a:cs typeface="Calibri" pitchFamily="34" charset="-120"/>
              </a:rPr>
              <a:t>CloudWatch → Logs Insights · log group /corso-aws/cloudtrail</a:t>
            </a:r>
            <a:endParaRPr lang="en-US" sz="1300" dirty="0"/>
          </a:p>
        </p:txBody>
      </p:sp>
      <p:sp>
        <p:nvSpPr>
          <p:cNvPr id="7" name="Text 4"/>
          <p:cNvSpPr txBox="1"/>
          <p:nvPr/>
        </p:nvSpPr>
        <p:spPr>
          <a:xfrm>
            <a:off x="731520" y="1737360"/>
            <a:ext cx="10728655" cy="1188720"/>
          </a:xfrm>
          <a:prstGeom prst="rect">
            <a:avLst/>
          </a:prstGeom>
          <a:noFill/>
          <a:ln/>
        </p:spPr>
        <p:txBody>
          <a:bodyPr wrap="square" lIns="0" tIns="0" rIns="0" bIns="0" rtlCol="0" anchor="t"/>
          <a:lstStyle/>
          <a:p>
            <a:pPr indent="0" marL="0">
              <a:buNone/>
            </a:pPr>
            <a:r>
              <a:rPr lang="en-US" sz="1600" dirty="0">
                <a:solidFill>
                  <a:srgbClr val="E6E6F0"/>
                </a:solidFill>
                <a:latin typeface="Courier New" pitchFamily="34" charset="0"/>
                <a:ea typeface="Courier New" pitchFamily="34" charset="-122"/>
                <a:cs typeface="Courier New" pitchFamily="34" charset="-120"/>
              </a:rPr>
              <a:t>fields @timestamp, eventName, userIdentity.arn, sourceIPAddress</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filter eventSource = "ec2.amazonaws.com" and eventName like /SecurityGroup/</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sort @timestamp desc</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limit 20</a:t>
            </a:r>
            <a:endParaRPr lang="en-US" sz="1600" dirty="0"/>
          </a:p>
        </p:txBody>
      </p:sp>
      <p:sp>
        <p:nvSpPr>
          <p:cNvPr id="8" name="Shape 5"/>
          <p:cNvSpPr/>
          <p:nvPr/>
        </p:nvSpPr>
        <p:spPr>
          <a:xfrm>
            <a:off x="548640" y="3291840"/>
            <a:ext cx="11094415" cy="868680"/>
          </a:xfrm>
          <a:prstGeom prst="roundRect">
            <a:avLst>
              <a:gd name="adj" fmla="val 10526"/>
            </a:avLst>
          </a:prstGeom>
          <a:solidFill>
            <a:srgbClr val="FDF0E3"/>
          </a:solidFill>
          <a:ln w="12700">
            <a:solidFill>
              <a:srgbClr val="FDF0E3"/>
            </a:solidFill>
            <a:prstDash val="solid"/>
          </a:ln>
        </p:spPr>
      </p:sp>
      <p:sp>
        <p:nvSpPr>
          <p:cNvPr id="9" name="Text 6"/>
          <p:cNvSpPr txBox="1"/>
          <p:nvPr/>
        </p:nvSpPr>
        <p:spPr>
          <a:xfrm>
            <a:off x="822960" y="3291840"/>
            <a:ext cx="10545775" cy="868680"/>
          </a:xfrm>
          <a:prstGeom prst="rect">
            <a:avLst/>
          </a:prstGeom>
          <a:noFill/>
          <a:ln/>
        </p:spPr>
        <p:txBody>
          <a:bodyPr wrap="square" lIns="0" tIns="0" rIns="0" bIns="0" rtlCol="0" anchor="ctr"/>
          <a:lstStyle/>
          <a:p>
            <a:pPr algn="l" indent="0" marL="0">
              <a:buNone/>
            </a:pPr>
            <a:r>
              <a:rPr lang="en-US" sz="1900" b="1" dirty="0">
                <a:solidFill>
                  <a:srgbClr val="22253A"/>
                </a:solidFill>
                <a:latin typeface="Calibri" pitchFamily="34" charset="0"/>
                <a:ea typeface="Calibri" pitchFamily="34" charset="-122"/>
                <a:cs typeface="Calibri" pitchFamily="34" charset="-120"/>
              </a:rPr>
              <a:t>"Mostrami ora, evento, chi e da dove, per le modifiche ai Security Group, dalla più recente."</a:t>
            </a:r>
            <a:endParaRPr lang="en-US" sz="1900" dirty="0"/>
          </a:p>
        </p:txBody>
      </p:sp>
      <p:sp>
        <p:nvSpPr>
          <p:cNvPr id="10" name="Shape 7"/>
          <p:cNvSpPr/>
          <p:nvPr/>
        </p:nvSpPr>
        <p:spPr>
          <a:xfrm>
            <a:off x="548640" y="4389120"/>
            <a:ext cx="5440680" cy="1645920"/>
          </a:xfrm>
          <a:prstGeom prst="roundRect">
            <a:avLst>
              <a:gd name="adj" fmla="val 6667"/>
            </a:avLst>
          </a:prstGeom>
          <a:solidFill>
            <a:srgbClr val="EEEAFB"/>
          </a:solidFill>
          <a:ln w="12700">
            <a:solidFill>
              <a:srgbClr val="EEEAFB"/>
            </a:solidFill>
            <a:prstDash val="solid"/>
          </a:ln>
        </p:spPr>
      </p:sp>
      <p:sp>
        <p:nvSpPr>
          <p:cNvPr id="11" name="Shape 8"/>
          <p:cNvSpPr/>
          <p:nvPr/>
        </p:nvSpPr>
        <p:spPr>
          <a:xfrm>
            <a:off x="777240" y="4617720"/>
            <a:ext cx="548640" cy="548640"/>
          </a:xfrm>
          <a:prstGeom prst="ellipse">
            <a:avLst/>
          </a:prstGeom>
          <a:solidFill>
            <a:srgbClr val="5B3FD0"/>
          </a:solidFill>
          <a:ln w="12700">
            <a:solidFill>
              <a:srgbClr val="5B3FD0"/>
            </a:solidFill>
            <a:prstDash val="solid"/>
          </a:ln>
        </p:spPr>
      </p:sp>
      <p:pic>
        <p:nvPicPr>
          <p:cNvPr id="12" name="Image 0" descr="preencoded.png">    </p:cNvPr>
          <p:cNvPicPr>
            <a:picLocks noChangeAspect="1"/>
          </p:cNvPicPr>
          <p:nvPr/>
        </p:nvPicPr>
        <p:blipFill>
          <a:blip r:embed="rId1"/>
          <a:stretch>
            <a:fillRect/>
          </a:stretch>
        </p:blipFill>
        <p:spPr>
          <a:xfrm>
            <a:off x="914400" y="4754880"/>
            <a:ext cx="274320" cy="274320"/>
          </a:xfrm>
          <a:prstGeom prst="rect">
            <a:avLst/>
          </a:prstGeom>
        </p:spPr>
      </p:pic>
      <p:sp>
        <p:nvSpPr>
          <p:cNvPr id="13" name="Text 9"/>
          <p:cNvSpPr txBox="1"/>
          <p:nvPr/>
        </p:nvSpPr>
        <p:spPr>
          <a:xfrm>
            <a:off x="1508760" y="4617720"/>
            <a:ext cx="425196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Prova anche</a:t>
            </a:r>
            <a:endParaRPr lang="en-US" sz="1800" dirty="0"/>
          </a:p>
        </p:txBody>
      </p:sp>
      <p:sp>
        <p:nvSpPr>
          <p:cNvPr id="14" name="Text 10"/>
          <p:cNvSpPr txBox="1"/>
          <p:nvPr/>
        </p:nvSpPr>
        <p:spPr>
          <a:xfrm>
            <a:off x="777240" y="5303520"/>
            <a:ext cx="4983480" cy="548640"/>
          </a:xfrm>
          <a:prstGeom prst="rect">
            <a:avLst/>
          </a:prstGeom>
          <a:noFill/>
          <a:ln/>
        </p:spPr>
        <p:txBody>
          <a:bodyPr wrap="square" lIns="0" tIns="0" rIns="0" bIns="0" rtlCol="0" anchor="t"/>
          <a:lstStyle/>
          <a:p>
            <a:pPr indent="0" marL="0">
              <a:spcAft>
                <a:spcPts val="600"/>
              </a:spcAft>
              <a:buNone/>
            </a:pPr>
            <a:r>
              <a:rPr lang="en-US" sz="1500" dirty="0">
                <a:solidFill>
                  <a:srgbClr val="22253A"/>
                </a:solidFill>
                <a:latin typeface="Calibri" pitchFamily="34" charset="0"/>
                <a:ea typeface="Calibri" pitchFamily="34" charset="-122"/>
                <a:cs typeface="Calibri" pitchFamily="34" charset="-120"/>
              </a:rPr>
              <a:t>filter errorCode = "AccessDenied": tutte le richieste negate</a:t>
            </a:r>
            <a:endParaRPr lang="en-US" sz="1500" dirty="0"/>
          </a:p>
        </p:txBody>
      </p:sp>
      <p:sp>
        <p:nvSpPr>
          <p:cNvPr id="15" name="Shape 11"/>
          <p:cNvSpPr/>
          <p:nvPr/>
        </p:nvSpPr>
        <p:spPr>
          <a:xfrm>
            <a:off x="6172200" y="4389120"/>
            <a:ext cx="5468112" cy="1645920"/>
          </a:xfrm>
          <a:prstGeom prst="roundRect">
            <a:avLst>
              <a:gd name="adj" fmla="val 6667"/>
            </a:avLst>
          </a:prstGeom>
          <a:solidFill>
            <a:srgbClr val="FDF0E3"/>
          </a:solidFill>
          <a:ln w="12700">
            <a:solidFill>
              <a:srgbClr val="FDF0E3"/>
            </a:solidFill>
            <a:prstDash val="solid"/>
          </a:ln>
        </p:spPr>
      </p:sp>
      <p:sp>
        <p:nvSpPr>
          <p:cNvPr id="16" name="Shape 12"/>
          <p:cNvSpPr/>
          <p:nvPr/>
        </p:nvSpPr>
        <p:spPr>
          <a:xfrm>
            <a:off x="6400800" y="4617720"/>
            <a:ext cx="548640" cy="548640"/>
          </a:xfrm>
          <a:prstGeom prst="ellipse">
            <a:avLst/>
          </a:prstGeom>
          <a:solidFill>
            <a:srgbClr val="F28C28"/>
          </a:solidFill>
          <a:ln w="12700">
            <a:solidFill>
              <a:srgbClr val="F28C28"/>
            </a:solidFill>
            <a:prstDash val="solid"/>
          </a:ln>
        </p:spPr>
      </p:sp>
      <p:pic>
        <p:nvPicPr>
          <p:cNvPr id="17" name="Image 1" descr="preencoded.png">    </p:cNvPr>
          <p:cNvPicPr>
            <a:picLocks noChangeAspect="1"/>
          </p:cNvPicPr>
          <p:nvPr/>
        </p:nvPicPr>
        <p:blipFill>
          <a:blip r:embed="rId2"/>
          <a:stretch>
            <a:fillRect/>
          </a:stretch>
        </p:blipFill>
        <p:spPr>
          <a:xfrm>
            <a:off x="6537960" y="4754880"/>
            <a:ext cx="274320" cy="274320"/>
          </a:xfrm>
          <a:prstGeom prst="rect">
            <a:avLst/>
          </a:prstGeom>
        </p:spPr>
      </p:pic>
      <p:sp>
        <p:nvSpPr>
          <p:cNvPr id="18" name="Text 13"/>
          <p:cNvSpPr txBox="1"/>
          <p:nvPr/>
        </p:nvSpPr>
        <p:spPr>
          <a:xfrm>
            <a:off x="7132320" y="4617720"/>
            <a:ext cx="4279392"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Per anni di log</a:t>
            </a:r>
            <a:endParaRPr lang="en-US" sz="1800" dirty="0"/>
          </a:p>
        </p:txBody>
      </p:sp>
      <p:sp>
        <p:nvSpPr>
          <p:cNvPr id="19" name="Text 14"/>
          <p:cNvSpPr txBox="1"/>
          <p:nvPr/>
        </p:nvSpPr>
        <p:spPr>
          <a:xfrm>
            <a:off x="6400800" y="5303520"/>
            <a:ext cx="5010912" cy="548640"/>
          </a:xfrm>
          <a:prstGeom prst="rect">
            <a:avLst/>
          </a:prstGeom>
          <a:noFill/>
          <a:ln/>
        </p:spPr>
        <p:txBody>
          <a:bodyPr wrap="square" lIns="0" tIns="0" rIns="0" bIns="0" rtlCol="0" anchor="t"/>
          <a:lstStyle/>
          <a:p>
            <a:pPr indent="0" marL="0">
              <a:spcAft>
                <a:spcPts val="600"/>
              </a:spcAft>
              <a:buNone/>
            </a:pPr>
            <a:r>
              <a:rPr lang="en-US" sz="1500" dirty="0">
                <a:solidFill>
                  <a:srgbClr val="22253A"/>
                </a:solidFill>
                <a:latin typeface="Calibri" pitchFamily="34" charset="0"/>
                <a:ea typeface="Calibri" pitchFamily="34" charset="-122"/>
                <a:cs typeface="Calibri" pitchFamily="34" charset="-120"/>
              </a:rPr>
              <a:t>Athena (SQL sui file in S3) o CloudTrail Lake: stesso principio</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Farsi avvisare: gli eventi pericolosi</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12 · CloudTrail: chi ha fatto cosa</a:t>
            </a:r>
            <a:endParaRPr lang="en-US" sz="1000" dirty="0"/>
          </a:p>
        </p:txBody>
      </p:sp>
      <p:sp>
        <p:nvSpPr>
          <p:cNvPr id="5" name="Shape 2"/>
          <p:cNvSpPr/>
          <p:nvPr/>
        </p:nvSpPr>
        <p:spPr>
          <a:xfrm>
            <a:off x="548640" y="1371600"/>
            <a:ext cx="2057400" cy="777240"/>
          </a:xfrm>
          <a:prstGeom prst="roundRect">
            <a:avLst>
              <a:gd name="adj" fmla="val 11765"/>
            </a:avLst>
          </a:prstGeom>
          <a:solidFill>
            <a:srgbClr val="EEEAFB"/>
          </a:solidFill>
          <a:ln w="12700">
            <a:solidFill>
              <a:srgbClr val="EEEAFB"/>
            </a:solidFill>
            <a:prstDash val="solid"/>
          </a:ln>
        </p:spPr>
      </p:sp>
      <p:sp>
        <p:nvSpPr>
          <p:cNvPr id="6" name="Text 3"/>
          <p:cNvSpPr txBox="1"/>
          <p:nvPr/>
        </p:nvSpPr>
        <p:spPr>
          <a:xfrm>
            <a:off x="548640" y="1371600"/>
            <a:ext cx="2057400" cy="777240"/>
          </a:xfrm>
          <a:prstGeom prst="rect">
            <a:avLst/>
          </a:prstGeom>
          <a:noFill/>
          <a:ln/>
        </p:spPr>
        <p:txBody>
          <a:bodyPr wrap="square" lIns="76200" tIns="76200" rIns="76200" bIns="76200" rtlCol="0" anchor="ctr"/>
          <a:lstStyle/>
          <a:p>
            <a:pPr algn="ctr" indent="0" marL="0">
              <a:buNone/>
            </a:pPr>
            <a:r>
              <a:rPr lang="en-US" sz="1600" b="1" dirty="0">
                <a:solidFill>
                  <a:srgbClr val="22253A"/>
                </a:solidFill>
                <a:latin typeface="Calibri" pitchFamily="34" charset="0"/>
                <a:ea typeface="Calibri" pitchFamily="34" charset="-122"/>
                <a:cs typeface="Calibri" pitchFamily="34" charset="-120"/>
              </a:rPr>
              <a:t>CloudTrail</a:t>
            </a:r>
            <a:endParaRPr lang="en-US" sz="1600" dirty="0"/>
          </a:p>
        </p:txBody>
      </p:sp>
      <p:sp>
        <p:nvSpPr>
          <p:cNvPr id="7" name="Shape 4"/>
          <p:cNvSpPr/>
          <p:nvPr/>
        </p:nvSpPr>
        <p:spPr>
          <a:xfrm>
            <a:off x="2624328" y="1755648"/>
            <a:ext cx="182880" cy="0"/>
          </a:xfrm>
          <a:prstGeom prst="line">
            <a:avLst/>
          </a:prstGeom>
          <a:noFill/>
          <a:ln w="25400">
            <a:solidFill>
              <a:srgbClr val="5B3FD0"/>
            </a:solidFill>
            <a:prstDash val="solid"/>
            <a:tailEnd type="triangle"/>
          </a:ln>
        </p:spPr>
      </p:sp>
      <p:sp>
        <p:nvSpPr>
          <p:cNvPr id="8" name="Shape 5"/>
          <p:cNvSpPr/>
          <p:nvPr/>
        </p:nvSpPr>
        <p:spPr>
          <a:xfrm>
            <a:off x="2816352" y="1371600"/>
            <a:ext cx="2057400" cy="777240"/>
          </a:xfrm>
          <a:prstGeom prst="roundRect">
            <a:avLst>
              <a:gd name="adj" fmla="val 11765"/>
            </a:avLst>
          </a:prstGeom>
          <a:solidFill>
            <a:srgbClr val="EEEAFB"/>
          </a:solidFill>
          <a:ln w="12700">
            <a:solidFill>
              <a:srgbClr val="EEEAFB"/>
            </a:solidFill>
            <a:prstDash val="solid"/>
          </a:ln>
        </p:spPr>
      </p:sp>
      <p:sp>
        <p:nvSpPr>
          <p:cNvPr id="9" name="Text 6"/>
          <p:cNvSpPr txBox="1"/>
          <p:nvPr/>
        </p:nvSpPr>
        <p:spPr>
          <a:xfrm>
            <a:off x="2816352" y="1371600"/>
            <a:ext cx="2057400" cy="777240"/>
          </a:xfrm>
          <a:prstGeom prst="rect">
            <a:avLst/>
          </a:prstGeom>
          <a:noFill/>
          <a:ln/>
        </p:spPr>
        <p:txBody>
          <a:bodyPr wrap="square" lIns="76200" tIns="76200" rIns="76200" bIns="76200" rtlCol="0" anchor="ctr"/>
          <a:lstStyle/>
          <a:p>
            <a:pPr algn="ctr" indent="0" marL="0">
              <a:buNone/>
            </a:pPr>
            <a:r>
              <a:rPr lang="en-US" sz="1600" b="1" dirty="0">
                <a:solidFill>
                  <a:srgbClr val="22253A"/>
                </a:solidFill>
                <a:latin typeface="Calibri" pitchFamily="34" charset="0"/>
                <a:ea typeface="Calibri" pitchFamily="34" charset="-122"/>
                <a:cs typeface="Calibri" pitchFamily="34" charset="-120"/>
              </a:rPr>
              <a:t>Log group</a:t>
            </a:r>
            <a:endParaRPr lang="en-US" sz="1600" dirty="0"/>
          </a:p>
        </p:txBody>
      </p:sp>
      <p:sp>
        <p:nvSpPr>
          <p:cNvPr id="10" name="Shape 7"/>
          <p:cNvSpPr/>
          <p:nvPr/>
        </p:nvSpPr>
        <p:spPr>
          <a:xfrm>
            <a:off x="4892040" y="1755648"/>
            <a:ext cx="182880" cy="0"/>
          </a:xfrm>
          <a:prstGeom prst="line">
            <a:avLst/>
          </a:prstGeom>
          <a:noFill/>
          <a:ln w="25400">
            <a:solidFill>
              <a:srgbClr val="5B3FD0"/>
            </a:solidFill>
            <a:prstDash val="solid"/>
            <a:tailEnd type="triangle"/>
          </a:ln>
        </p:spPr>
      </p:sp>
      <p:sp>
        <p:nvSpPr>
          <p:cNvPr id="11" name="Shape 8"/>
          <p:cNvSpPr/>
          <p:nvPr/>
        </p:nvSpPr>
        <p:spPr>
          <a:xfrm>
            <a:off x="5084064" y="1371600"/>
            <a:ext cx="2057400" cy="777240"/>
          </a:xfrm>
          <a:prstGeom prst="roundRect">
            <a:avLst>
              <a:gd name="adj" fmla="val 11765"/>
            </a:avLst>
          </a:prstGeom>
          <a:solidFill>
            <a:srgbClr val="FDF0E3"/>
          </a:solidFill>
          <a:ln w="12700">
            <a:solidFill>
              <a:srgbClr val="FDF0E3"/>
            </a:solidFill>
            <a:prstDash val="solid"/>
          </a:ln>
        </p:spPr>
      </p:sp>
      <p:sp>
        <p:nvSpPr>
          <p:cNvPr id="12" name="Text 9"/>
          <p:cNvSpPr txBox="1"/>
          <p:nvPr/>
        </p:nvSpPr>
        <p:spPr>
          <a:xfrm>
            <a:off x="5084064" y="1371600"/>
            <a:ext cx="2057400" cy="777240"/>
          </a:xfrm>
          <a:prstGeom prst="rect">
            <a:avLst/>
          </a:prstGeom>
          <a:noFill/>
          <a:ln/>
        </p:spPr>
        <p:txBody>
          <a:bodyPr wrap="square" lIns="76200" tIns="76200" rIns="76200" bIns="76200" rtlCol="0" anchor="ctr"/>
          <a:lstStyle/>
          <a:p>
            <a:pPr algn="ctr" indent="0" marL="0">
              <a:buNone/>
            </a:pPr>
            <a:r>
              <a:rPr lang="en-US" sz="1600" b="1" dirty="0">
                <a:solidFill>
                  <a:srgbClr val="22253A"/>
                </a:solidFill>
                <a:latin typeface="Calibri" pitchFamily="34" charset="0"/>
                <a:ea typeface="Calibri" pitchFamily="34" charset="-122"/>
                <a:cs typeface="Calibri" pitchFamily="34" charset="-120"/>
              </a:rPr>
              <a:t>Metric filter</a:t>
            </a:r>
            <a:endParaRPr lang="en-US" sz="1600" dirty="0"/>
          </a:p>
        </p:txBody>
      </p:sp>
      <p:sp>
        <p:nvSpPr>
          <p:cNvPr id="13" name="Shape 10"/>
          <p:cNvSpPr/>
          <p:nvPr/>
        </p:nvSpPr>
        <p:spPr>
          <a:xfrm>
            <a:off x="7159752" y="1755648"/>
            <a:ext cx="182880" cy="0"/>
          </a:xfrm>
          <a:prstGeom prst="line">
            <a:avLst/>
          </a:prstGeom>
          <a:noFill/>
          <a:ln w="25400">
            <a:solidFill>
              <a:srgbClr val="5B3FD0"/>
            </a:solidFill>
            <a:prstDash val="solid"/>
            <a:tailEnd type="triangle"/>
          </a:ln>
        </p:spPr>
      </p:sp>
      <p:sp>
        <p:nvSpPr>
          <p:cNvPr id="14" name="Shape 11"/>
          <p:cNvSpPr/>
          <p:nvPr/>
        </p:nvSpPr>
        <p:spPr>
          <a:xfrm>
            <a:off x="7351776" y="1371600"/>
            <a:ext cx="2057400" cy="777240"/>
          </a:xfrm>
          <a:prstGeom prst="roundRect">
            <a:avLst>
              <a:gd name="adj" fmla="val 11765"/>
            </a:avLst>
          </a:prstGeom>
          <a:solidFill>
            <a:srgbClr val="FDF0E3"/>
          </a:solidFill>
          <a:ln w="12700">
            <a:solidFill>
              <a:srgbClr val="FDF0E3"/>
            </a:solidFill>
            <a:prstDash val="solid"/>
          </a:ln>
        </p:spPr>
      </p:sp>
      <p:sp>
        <p:nvSpPr>
          <p:cNvPr id="15" name="Text 12"/>
          <p:cNvSpPr txBox="1"/>
          <p:nvPr/>
        </p:nvSpPr>
        <p:spPr>
          <a:xfrm>
            <a:off x="7351776" y="1371600"/>
            <a:ext cx="2057400" cy="777240"/>
          </a:xfrm>
          <a:prstGeom prst="rect">
            <a:avLst/>
          </a:prstGeom>
          <a:noFill/>
          <a:ln/>
        </p:spPr>
        <p:txBody>
          <a:bodyPr wrap="square" lIns="76200" tIns="76200" rIns="76200" bIns="76200" rtlCol="0" anchor="ctr"/>
          <a:lstStyle/>
          <a:p>
            <a:pPr algn="ctr" indent="0" marL="0">
              <a:buNone/>
            </a:pPr>
            <a:r>
              <a:rPr lang="en-US" sz="1600" b="1" dirty="0">
                <a:solidFill>
                  <a:srgbClr val="22253A"/>
                </a:solidFill>
                <a:latin typeface="Calibri" pitchFamily="34" charset="0"/>
                <a:ea typeface="Calibri" pitchFamily="34" charset="-122"/>
                <a:cs typeface="Calibri" pitchFamily="34" charset="-120"/>
              </a:rPr>
              <a:t>Allarme ≥ 1</a:t>
            </a:r>
            <a:endParaRPr lang="en-US" sz="1600" dirty="0"/>
          </a:p>
        </p:txBody>
      </p:sp>
      <p:sp>
        <p:nvSpPr>
          <p:cNvPr id="16" name="Shape 13"/>
          <p:cNvSpPr/>
          <p:nvPr/>
        </p:nvSpPr>
        <p:spPr>
          <a:xfrm>
            <a:off x="9427464" y="1755648"/>
            <a:ext cx="182880" cy="0"/>
          </a:xfrm>
          <a:prstGeom prst="line">
            <a:avLst/>
          </a:prstGeom>
          <a:noFill/>
          <a:ln w="25400">
            <a:solidFill>
              <a:srgbClr val="5B3FD0"/>
            </a:solidFill>
            <a:prstDash val="solid"/>
            <a:tailEnd type="triangle"/>
          </a:ln>
        </p:spPr>
      </p:sp>
      <p:sp>
        <p:nvSpPr>
          <p:cNvPr id="17" name="Shape 14"/>
          <p:cNvSpPr/>
          <p:nvPr/>
        </p:nvSpPr>
        <p:spPr>
          <a:xfrm>
            <a:off x="9619488" y="1371600"/>
            <a:ext cx="2057400" cy="777240"/>
          </a:xfrm>
          <a:prstGeom prst="roundRect">
            <a:avLst>
              <a:gd name="adj" fmla="val 11765"/>
            </a:avLst>
          </a:prstGeom>
          <a:solidFill>
            <a:srgbClr val="E5F4EC"/>
          </a:solidFill>
          <a:ln w="12700">
            <a:solidFill>
              <a:srgbClr val="E5F4EC"/>
            </a:solidFill>
            <a:prstDash val="solid"/>
          </a:ln>
        </p:spPr>
      </p:sp>
      <p:sp>
        <p:nvSpPr>
          <p:cNvPr id="18" name="Text 15"/>
          <p:cNvSpPr txBox="1"/>
          <p:nvPr/>
        </p:nvSpPr>
        <p:spPr>
          <a:xfrm>
            <a:off x="9619488" y="1371600"/>
            <a:ext cx="2057400" cy="777240"/>
          </a:xfrm>
          <a:prstGeom prst="rect">
            <a:avLst/>
          </a:prstGeom>
          <a:noFill/>
          <a:ln/>
        </p:spPr>
        <p:txBody>
          <a:bodyPr wrap="square" lIns="76200" tIns="76200" rIns="76200" bIns="76200" rtlCol="0" anchor="ctr"/>
          <a:lstStyle/>
          <a:p>
            <a:pPr algn="ctr" indent="0" marL="0">
              <a:buNone/>
            </a:pPr>
            <a:r>
              <a:rPr lang="en-US" sz="1600" b="1" dirty="0">
                <a:solidFill>
                  <a:srgbClr val="22253A"/>
                </a:solidFill>
                <a:latin typeface="Calibri" pitchFamily="34" charset="0"/>
                <a:ea typeface="Calibri" pitchFamily="34" charset="-122"/>
                <a:cs typeface="Calibri" pitchFamily="34" charset="-120"/>
              </a:rPr>
              <a:t>Email (SNS)</a:t>
            </a:r>
            <a:endParaRPr lang="en-US" sz="1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2377440"/>
          <a:ext cx="11094415" cy="914400"/>
        </p:xfrm>
        <a:graphic>
          <a:graphicData uri="http://schemas.openxmlformats.org/drawingml/2006/table">
            <a:tbl>
              <a:tblPr/>
              <a:tblGrid>
                <a:gridCol w="4023360"/>
                <a:gridCol w="7068312"/>
              </a:tblGrid>
              <a:tr h="50292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Evento sorvegliato</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Perché preoccupa</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r>
              <a:tr h="502920">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uso del root</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il root non si usa mai (lezione 0)</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502920">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login in console senza MFA</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entrato con la sola password (utenti IAM; l'SSO fa l'MFA a parte)</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r h="502920">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modifiche alle policy IAM</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chi cambia i permessi può darsene di nuovi</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502920">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modifiche ai Security Group</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una porta aperta a internet in un attimo</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r h="502920">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CloudTrail fermato o cancellato</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chi spegne il registro ha qualcosa da nascondere</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bl>
          </a:graphicData>
        </a:graphic>
      </p:graphicFrame>
      <p:sp>
        <p:nvSpPr>
          <p:cNvPr id="20" name="Shape 16"/>
          <p:cNvSpPr/>
          <p:nvPr/>
        </p:nvSpPr>
        <p:spPr>
          <a:xfrm>
            <a:off x="548640" y="5532120"/>
            <a:ext cx="11094415" cy="685800"/>
          </a:xfrm>
          <a:prstGeom prst="roundRect">
            <a:avLst>
              <a:gd name="adj" fmla="val 13333"/>
            </a:avLst>
          </a:prstGeom>
          <a:solidFill>
            <a:srgbClr val="FDF0E3"/>
          </a:solidFill>
          <a:ln w="12700">
            <a:solidFill>
              <a:srgbClr val="FDF0E3"/>
            </a:solidFill>
            <a:prstDash val="solid"/>
          </a:ln>
        </p:spPr>
      </p:sp>
      <p:sp>
        <p:nvSpPr>
          <p:cNvPr id="21" name="Text 17"/>
          <p:cNvSpPr txBox="1"/>
          <p:nvPr/>
        </p:nvSpPr>
        <p:spPr>
          <a:xfrm>
            <a:off x="822960" y="5532120"/>
            <a:ext cx="10545775" cy="685800"/>
          </a:xfrm>
          <a:prstGeom prst="rect">
            <a:avLst/>
          </a:prstGeom>
          <a:noFill/>
          <a:ln/>
        </p:spPr>
        <p:txBody>
          <a:bodyPr wrap="square" lIns="0" tIns="0" rIns="0" bIns="0" rtlCol="0" anchor="ctr"/>
          <a:lstStyle/>
          <a:p>
            <a:pPr algn="l" indent="0" marL="0">
              <a:buNone/>
            </a:pPr>
            <a:r>
              <a:rPr lang="en-US" sz="1600" b="1" dirty="0">
                <a:solidFill>
                  <a:srgbClr val="22253A"/>
                </a:solidFill>
                <a:latin typeface="Calibri" pitchFamily="34" charset="0"/>
                <a:ea typeface="Calibri" pitchFamily="34" charset="-122"/>
                <a:cs typeface="Calibri" pitchFamily="34" charset="-120"/>
              </a:rPr>
              <a:t>Anche i tuoi apply li fanno scattare: è voluto. Un avviso SENZA un apply è quello da guardare.</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Il codice: il trail</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12 · CloudTrail: chi ha fatto cosa</a:t>
            </a:r>
            <a:endParaRPr lang="en-US" sz="1000" dirty="0"/>
          </a:p>
        </p:txBody>
      </p:sp>
      <p:sp>
        <p:nvSpPr>
          <p:cNvPr id="5" name="Shape 2"/>
          <p:cNvSpPr/>
          <p:nvPr/>
        </p:nvSpPr>
        <p:spPr>
          <a:xfrm>
            <a:off x="548640" y="1325880"/>
            <a:ext cx="11094415" cy="4343400"/>
          </a:xfrm>
          <a:prstGeom prst="roundRect">
            <a:avLst>
              <a:gd name="adj" fmla="val 1684"/>
            </a:avLst>
          </a:prstGeom>
          <a:solidFill>
            <a:srgbClr val="1E1E2E"/>
          </a:solidFill>
          <a:ln w="12700">
            <a:solidFill>
              <a:srgbClr val="1E1E2E"/>
            </a:solidFill>
            <a:prstDash val="solid"/>
          </a:ln>
        </p:spPr>
      </p:sp>
      <p:sp>
        <p:nvSpPr>
          <p:cNvPr id="6" name="Text 3"/>
          <p:cNvSpPr txBox="1"/>
          <p:nvPr/>
        </p:nvSpPr>
        <p:spPr>
          <a:xfrm>
            <a:off x="731520" y="1399032"/>
            <a:ext cx="10728655" cy="274320"/>
          </a:xfrm>
          <a:prstGeom prst="rect">
            <a:avLst/>
          </a:prstGeom>
          <a:noFill/>
          <a:ln/>
        </p:spPr>
        <p:txBody>
          <a:bodyPr wrap="square" lIns="0" tIns="0" rIns="0" bIns="0" rtlCol="0" anchor="t"/>
          <a:lstStyle/>
          <a:p>
            <a:pPr indent="0" marL="0">
              <a:buNone/>
            </a:pPr>
            <a:r>
              <a:rPr lang="en-US" sz="1300" b="1" dirty="0">
                <a:solidFill>
                  <a:srgbClr val="F2B880"/>
                </a:solidFill>
                <a:latin typeface="Calibri" pitchFamily="34" charset="0"/>
                <a:ea typeface="Calibri" pitchFamily="34" charset="-122"/>
                <a:cs typeface="Calibri" pitchFamily="34" charset="-120"/>
              </a:rPr>
              <a:t>cloudtrail.tf (in breve)</a:t>
            </a:r>
            <a:endParaRPr lang="en-US" sz="1300" dirty="0"/>
          </a:p>
        </p:txBody>
      </p:sp>
      <p:sp>
        <p:nvSpPr>
          <p:cNvPr id="7" name="Text 4"/>
          <p:cNvSpPr txBox="1"/>
          <p:nvPr/>
        </p:nvSpPr>
        <p:spPr>
          <a:xfrm>
            <a:off x="731520" y="1737360"/>
            <a:ext cx="10728655" cy="3794760"/>
          </a:xfrm>
          <a:prstGeom prst="rect">
            <a:avLst/>
          </a:prstGeom>
          <a:noFill/>
          <a:ln/>
        </p:spPr>
        <p:txBody>
          <a:bodyPr wrap="square" lIns="0" tIns="0" rIns="0" bIns="0" rtlCol="0" anchor="t"/>
          <a:lstStyle/>
          <a:p>
            <a:pPr indent="0" marL="0">
              <a:buNone/>
            </a:pPr>
            <a:r>
              <a:rPr lang="en-US" sz="1600" dirty="0">
                <a:solidFill>
                  <a:srgbClr val="E6E6F0"/>
                </a:solidFill>
                <a:latin typeface="Courier New" pitchFamily="34" charset="0"/>
                <a:ea typeface="Courier New" pitchFamily="34" charset="-122"/>
                <a:cs typeface="Courier New" pitchFamily="34" charset="-120"/>
              </a:rPr>
              <a:t>resource "aws_cloudtrail" "main"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name                          = local.trail_name</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s3_bucket_name                = aws_s3_bucket.audit.id</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is_multi_region_trail         = true      </a:t>
            </a:r>
            <a:pPr indent="0" marL="0">
              <a:buNone/>
            </a:pPr>
            <a:r>
              <a:rPr lang="en-US" sz="1600" dirty="0">
                <a:solidFill>
                  <a:srgbClr val="8FD694"/>
                </a:solidFill>
                <a:latin typeface="Courier New" pitchFamily="34" charset="0"/>
                <a:ea typeface="Courier New" pitchFamily="34" charset="-122"/>
                <a:cs typeface="Courier New" pitchFamily="34" charset="-120"/>
              </a:rPr>
              <a:t># tutte le regioni</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include_global_service_events = true      </a:t>
            </a:r>
            <a:pPr indent="0" marL="0">
              <a:buNone/>
            </a:pPr>
            <a:r>
              <a:rPr lang="en-US" sz="1600" dirty="0">
                <a:solidFill>
                  <a:srgbClr val="8FD694"/>
                </a:solidFill>
                <a:latin typeface="Courier New" pitchFamily="34" charset="0"/>
                <a:ea typeface="Courier New" pitchFamily="34" charset="-122"/>
                <a:cs typeface="Courier New" pitchFamily="34" charset="-120"/>
              </a:rPr>
              <a:t># anche IAM</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enable_log_file_validation    = true      </a:t>
            </a:r>
            <a:pPr indent="0" marL="0">
              <a:buNone/>
            </a:pPr>
            <a:r>
              <a:rPr lang="en-US" sz="1600" dirty="0">
                <a:solidFill>
                  <a:srgbClr val="8FD694"/>
                </a:solidFill>
                <a:latin typeface="Courier New" pitchFamily="34" charset="0"/>
                <a:ea typeface="Courier New" pitchFamily="34" charset="-122"/>
                <a:cs typeface="Courier New" pitchFamily="34" charset="-120"/>
              </a:rPr>
              <a:t># le firme</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event_selector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include_management_events = true</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data_resource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type   = "AWS::S3::Object"</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values = ["${aws_s3_bucket.artifacts.arn}/"]   </a:t>
            </a:r>
            <a:pPr indent="0" marL="0">
              <a:buNone/>
            </a:pPr>
            <a:r>
              <a:rPr lang="en-US" sz="1600" dirty="0">
                <a:solidFill>
                  <a:srgbClr val="8FD694"/>
                </a:solidFill>
                <a:latin typeface="Courier New" pitchFamily="34" charset="0"/>
                <a:ea typeface="Courier New" pitchFamily="34" charset="-122"/>
                <a:cs typeface="Courier New" pitchFamily="34" charset="-120"/>
              </a:rPr>
              <a:t># solo gli artefatti</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cloud_watch_logs_group_arn = "${aws_cloudwatch_log_group.trail.arn}:*"</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cloud_watch_logs_role_arn  = aws_iam_role.trail_logs.arn</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a:t>
            </a:r>
            <a:endParaRPr lang="en-US" sz="1600" dirty="0"/>
          </a:p>
        </p:txBody>
      </p:sp>
      <p:sp>
        <p:nvSpPr>
          <p:cNvPr id="8" name="Text 5"/>
          <p:cNvSpPr txBox="1"/>
          <p:nvPr/>
        </p:nvSpPr>
        <p:spPr>
          <a:xfrm>
            <a:off x="548640" y="5806440"/>
            <a:ext cx="11094415" cy="457200"/>
          </a:xfrm>
          <a:prstGeom prst="rect">
            <a:avLst/>
          </a:prstGeom>
          <a:noFill/>
          <a:ln/>
        </p:spPr>
        <p:txBody>
          <a:bodyPr wrap="square" lIns="0" tIns="0" rIns="0" bIns="0" rtlCol="0" anchor="ctr"/>
          <a:lstStyle/>
          <a:p>
            <a:pPr algn="l" indent="0" marL="0">
              <a:buNone/>
            </a:pPr>
            <a:r>
              <a:rPr lang="en-US" sz="1500" i="1" dirty="0">
                <a:solidFill>
                  <a:srgbClr val="5F6478"/>
                </a:solidFill>
                <a:latin typeface="Calibri" pitchFamily="34" charset="0"/>
                <a:ea typeface="Calibri" pitchFamily="34" charset="-122"/>
                <a:cs typeface="Calibri" pitchFamily="34" charset="-120"/>
              </a:rPr>
              <a:t>Il bucket dei log: versioning, Block Public Access, bucket policy "solo il nostro trail" (aws:SourceArn).</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Il codice: filtri e allarmi</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12 · CloudTrail: chi ha fatto cosa</a:t>
            </a:r>
            <a:endParaRPr lang="en-US" sz="1000" dirty="0"/>
          </a:p>
        </p:txBody>
      </p:sp>
      <p:sp>
        <p:nvSpPr>
          <p:cNvPr id="5" name="Shape 2"/>
          <p:cNvSpPr/>
          <p:nvPr/>
        </p:nvSpPr>
        <p:spPr>
          <a:xfrm>
            <a:off x="548640" y="1325880"/>
            <a:ext cx="11094415" cy="4892040"/>
          </a:xfrm>
          <a:prstGeom prst="roundRect">
            <a:avLst>
              <a:gd name="adj" fmla="val 1495"/>
            </a:avLst>
          </a:prstGeom>
          <a:solidFill>
            <a:srgbClr val="1E1E2E"/>
          </a:solidFill>
          <a:ln w="12700">
            <a:solidFill>
              <a:srgbClr val="1E1E2E"/>
            </a:solidFill>
            <a:prstDash val="solid"/>
          </a:ln>
        </p:spPr>
      </p:sp>
      <p:sp>
        <p:nvSpPr>
          <p:cNvPr id="6" name="Text 3"/>
          <p:cNvSpPr txBox="1"/>
          <p:nvPr/>
        </p:nvSpPr>
        <p:spPr>
          <a:xfrm>
            <a:off x="731520" y="1399032"/>
            <a:ext cx="10728655" cy="274320"/>
          </a:xfrm>
          <a:prstGeom prst="rect">
            <a:avLst/>
          </a:prstGeom>
          <a:noFill/>
          <a:ln/>
        </p:spPr>
        <p:txBody>
          <a:bodyPr wrap="square" lIns="0" tIns="0" rIns="0" bIns="0" rtlCol="0" anchor="t"/>
          <a:lstStyle/>
          <a:p>
            <a:pPr indent="0" marL="0">
              <a:buNone/>
            </a:pPr>
            <a:r>
              <a:rPr lang="en-US" sz="1300" b="1" dirty="0">
                <a:solidFill>
                  <a:srgbClr val="F2B880"/>
                </a:solidFill>
                <a:latin typeface="Calibri" pitchFamily="34" charset="0"/>
                <a:ea typeface="Calibri" pitchFamily="34" charset="-122"/>
                <a:cs typeface="Calibri" pitchFamily="34" charset="-120"/>
              </a:rPr>
              <a:t>cloudtrail.tf (in breve)</a:t>
            </a:r>
            <a:endParaRPr lang="en-US" sz="1300" dirty="0"/>
          </a:p>
        </p:txBody>
      </p:sp>
      <p:sp>
        <p:nvSpPr>
          <p:cNvPr id="7" name="Text 4"/>
          <p:cNvSpPr txBox="1"/>
          <p:nvPr/>
        </p:nvSpPr>
        <p:spPr>
          <a:xfrm>
            <a:off x="731520" y="1737360"/>
            <a:ext cx="10728655" cy="4343400"/>
          </a:xfrm>
          <a:prstGeom prst="rect">
            <a:avLst/>
          </a:prstGeom>
          <a:noFill/>
          <a:ln/>
        </p:spPr>
        <p:txBody>
          <a:bodyPr wrap="square" lIns="0" tIns="0" rIns="0" bIns="0" rtlCol="0" anchor="t"/>
          <a:lstStyle/>
          <a:p>
            <a:pPr indent="0" marL="0">
              <a:buNone/>
            </a:pPr>
            <a:r>
              <a:rPr lang="en-US" sz="1600" dirty="0">
                <a:solidFill>
                  <a:srgbClr val="E6E6F0"/>
                </a:solidFill>
                <a:latin typeface="Courier New" pitchFamily="34" charset="0"/>
                <a:ea typeface="Courier New" pitchFamily="34" charset="-122"/>
                <a:cs typeface="Courier New" pitchFamily="34" charset="-120"/>
              </a:rPr>
              <a:t>locals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eventi_sorvegliati =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"uso-del-root"       = "{ $.userIdentity.type = \"Root\" &amp;&amp; …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"cloudtrail-toccato" = "{ ($.eventName = \"StopLogging\") || …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a:t>
            </a:r>
            <a:pPr indent="0" marL="0">
              <a:buNone/>
            </a:pPr>
            <a:r>
              <a:rPr lang="en-US" sz="1600" dirty="0">
                <a:solidFill>
                  <a:srgbClr val="8FD694"/>
                </a:solidFill>
                <a:latin typeface="Courier New" pitchFamily="34" charset="0"/>
                <a:ea typeface="Courier New" pitchFamily="34" charset="-122"/>
                <a:cs typeface="Courier New" pitchFamily="34" charset="-120"/>
              </a:rPr>
              <a:t># … login senza MFA, modifiche IAM, modifiche Security Group</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resource "aws_cloudwatch_log_metric_filter" "eventi"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for_each       = local.eventi_sorvegliati</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log_group_name = aws_cloudwatch_log_group.trail.name</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pattern        = each.value   </a:t>
            </a:r>
            <a:pPr indent="0" marL="0">
              <a:buNone/>
            </a:pPr>
            <a:r>
              <a:rPr lang="en-US" sz="1600" dirty="0">
                <a:solidFill>
                  <a:srgbClr val="8FD694"/>
                </a:solidFill>
                <a:latin typeface="Courier New" pitchFamily="34" charset="0"/>
                <a:ea typeface="Courier New" pitchFamily="34" charset="-122"/>
                <a:cs typeface="Courier New" pitchFamily="34" charset="-120"/>
              </a:rPr>
              <a:t># + la metrica da far salire</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resource "aws_cloudwatch_metric_alarm" "eventi"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for_each  = local.eventi_sorvegliati</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threshold = 1     </a:t>
            </a:r>
            <a:pPr indent="0" marL="0">
              <a:buNone/>
            </a:pPr>
            <a:r>
              <a:rPr lang="en-US" sz="1600" dirty="0">
                <a:solidFill>
                  <a:srgbClr val="8FD694"/>
                </a:solidFill>
                <a:latin typeface="Courier New" pitchFamily="34" charset="0"/>
                <a:ea typeface="Courier New" pitchFamily="34" charset="-122"/>
                <a:cs typeface="Courier New" pitchFamily="34" charset="-120"/>
              </a:rPr>
              <a:t># basta UN evento in 5 minuti</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Capire un AccessDenied in quattro passi</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12 · CloudTrail: chi ha fatto cosa</a:t>
            </a:r>
            <a:endParaRPr lang="en-US" sz="1000" dirty="0"/>
          </a:p>
        </p:txBody>
      </p:sp>
      <p:sp>
        <p:nvSpPr>
          <p:cNvPr id="5" name="Shape 2"/>
          <p:cNvSpPr/>
          <p:nvPr/>
        </p:nvSpPr>
        <p:spPr>
          <a:xfrm>
            <a:off x="548640" y="1508760"/>
            <a:ext cx="594360" cy="594360"/>
          </a:xfrm>
          <a:prstGeom prst="ellipse">
            <a:avLst/>
          </a:prstGeom>
          <a:solidFill>
            <a:srgbClr val="5B3FD0"/>
          </a:solidFill>
          <a:ln w="12700">
            <a:solidFill>
              <a:srgbClr val="5B3FD0"/>
            </a:solidFill>
            <a:prstDash val="solid"/>
          </a:ln>
        </p:spPr>
      </p:sp>
      <p:sp>
        <p:nvSpPr>
          <p:cNvPr id="6" name="Text 3"/>
          <p:cNvSpPr txBox="1"/>
          <p:nvPr/>
        </p:nvSpPr>
        <p:spPr>
          <a:xfrm>
            <a:off x="548640" y="150876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4"/>
          <p:cNvSpPr txBox="1"/>
          <p:nvPr/>
        </p:nvSpPr>
        <p:spPr>
          <a:xfrm>
            <a:off x="1325880" y="1371600"/>
            <a:ext cx="10225735" cy="86868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Leggi tutto il messaggio</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"no identity-based policy allows" · "explicit deny" · "service control policy" · "permissions boundary"</a:t>
            </a:r>
            <a:endParaRPr lang="en-US" sz="1700" dirty="0"/>
          </a:p>
        </p:txBody>
      </p:sp>
      <p:sp>
        <p:nvSpPr>
          <p:cNvPr id="8" name="Shape 5"/>
          <p:cNvSpPr/>
          <p:nvPr/>
        </p:nvSpPr>
        <p:spPr>
          <a:xfrm>
            <a:off x="548640" y="2560320"/>
            <a:ext cx="594360" cy="594360"/>
          </a:xfrm>
          <a:prstGeom prst="ellipse">
            <a:avLst/>
          </a:prstGeom>
          <a:solidFill>
            <a:srgbClr val="5B3FD0"/>
          </a:solidFill>
          <a:ln w="12700">
            <a:solidFill>
              <a:srgbClr val="5B3FD0"/>
            </a:solidFill>
            <a:prstDash val="solid"/>
          </a:ln>
        </p:spPr>
      </p:sp>
      <p:sp>
        <p:nvSpPr>
          <p:cNvPr id="9" name="Text 6"/>
          <p:cNvSpPr txBox="1"/>
          <p:nvPr/>
        </p:nvSpPr>
        <p:spPr>
          <a:xfrm>
            <a:off x="548640" y="256032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0" name="Text 7"/>
          <p:cNvSpPr txBox="1"/>
          <p:nvPr/>
        </p:nvSpPr>
        <p:spPr>
          <a:xfrm>
            <a:off x="1325880" y="2423160"/>
            <a:ext cx="10225735" cy="86868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Codificato? Decodificalo</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aws sts decode-authorization-message --encoded-message "…"</a:t>
            </a:r>
            <a:endParaRPr lang="en-US" sz="1700" dirty="0"/>
          </a:p>
        </p:txBody>
      </p:sp>
      <p:sp>
        <p:nvSpPr>
          <p:cNvPr id="11" name="Shape 8"/>
          <p:cNvSpPr/>
          <p:nvPr/>
        </p:nvSpPr>
        <p:spPr>
          <a:xfrm>
            <a:off x="548640" y="3611880"/>
            <a:ext cx="594360" cy="594360"/>
          </a:xfrm>
          <a:prstGeom prst="ellipse">
            <a:avLst/>
          </a:prstGeom>
          <a:solidFill>
            <a:srgbClr val="5B3FD0"/>
          </a:solidFill>
          <a:ln w="12700">
            <a:solidFill>
              <a:srgbClr val="5B3FD0"/>
            </a:solidFill>
            <a:prstDash val="solid"/>
          </a:ln>
        </p:spPr>
      </p:sp>
      <p:sp>
        <p:nvSpPr>
          <p:cNvPr id="12" name="Text 9"/>
          <p:cNvSpPr txBox="1"/>
          <p:nvPr/>
        </p:nvSpPr>
        <p:spPr>
          <a:xfrm>
            <a:off x="548640" y="361188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3" name="Text 10"/>
          <p:cNvSpPr txBox="1"/>
          <p:nvPr/>
        </p:nvSpPr>
        <p:spPr>
          <a:xfrm>
            <a:off x="1325880" y="3474720"/>
            <a:ext cx="10225735" cy="86868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Trovalo in CloudTrail</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errorCode: AccessDenied · chi, da dove, quando</a:t>
            </a:r>
            <a:endParaRPr lang="en-US" sz="1700" dirty="0"/>
          </a:p>
        </p:txBody>
      </p:sp>
      <p:sp>
        <p:nvSpPr>
          <p:cNvPr id="14" name="Shape 11"/>
          <p:cNvSpPr/>
          <p:nvPr/>
        </p:nvSpPr>
        <p:spPr>
          <a:xfrm>
            <a:off x="548640" y="4663440"/>
            <a:ext cx="594360" cy="594360"/>
          </a:xfrm>
          <a:prstGeom prst="ellipse">
            <a:avLst/>
          </a:prstGeom>
          <a:solidFill>
            <a:srgbClr val="5B3FD0"/>
          </a:solidFill>
          <a:ln w="12700">
            <a:solidFill>
              <a:srgbClr val="5B3FD0"/>
            </a:solidFill>
            <a:prstDash val="solid"/>
          </a:ln>
        </p:spPr>
      </p:sp>
      <p:sp>
        <p:nvSpPr>
          <p:cNvPr id="15" name="Text 12"/>
          <p:cNvSpPr txBox="1"/>
          <p:nvPr/>
        </p:nvSpPr>
        <p:spPr>
          <a:xfrm>
            <a:off x="548640" y="466344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6" name="Text 13"/>
          <p:cNvSpPr txBox="1"/>
          <p:nvPr/>
        </p:nvSpPr>
        <p:spPr>
          <a:xfrm>
            <a:off x="1325880" y="4526280"/>
            <a:ext cx="10225735" cy="86868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Prova la correzione</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IAM → Policy simulator: allowed o denied, e quale policy decide</a:t>
            </a:r>
            <a:endParaRPr lang="en-US" sz="1700" dirty="0"/>
          </a:p>
        </p:txBody>
      </p:sp>
      <p:sp>
        <p:nvSpPr>
          <p:cNvPr id="17" name="Text 14"/>
          <p:cNvSpPr txBox="1"/>
          <p:nvPr/>
        </p:nvSpPr>
        <p:spPr>
          <a:xfrm>
            <a:off x="548640" y="5715000"/>
            <a:ext cx="11094415" cy="457200"/>
          </a:xfrm>
          <a:prstGeom prst="rect">
            <a:avLst/>
          </a:prstGeom>
          <a:noFill/>
          <a:ln/>
        </p:spPr>
        <p:txBody>
          <a:bodyPr wrap="square" lIns="0" tIns="0" rIns="0" bIns="0" rtlCol="0" anchor="ctr"/>
          <a:lstStyle/>
          <a:p>
            <a:pPr algn="l" indent="0" marL="0">
              <a:buNone/>
            </a:pPr>
            <a:r>
              <a:rPr lang="en-US" sz="1500" i="1" dirty="0">
                <a:solidFill>
                  <a:srgbClr val="5F6478"/>
                </a:solidFill>
                <a:latin typeface="Calibri" pitchFamily="34" charset="0"/>
                <a:ea typeface="Calibri" pitchFamily="34" charset="-122"/>
                <a:cs typeface="Calibri" pitchFamily="34" charset="-120"/>
              </a:rPr>
              <a:t>SCP e permission boundary: li vediamo nell'appendice A.</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Esercizio (1/2): una modifica a mano</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12 · CloudTrail: chi ha fatto cosa</a:t>
            </a:r>
            <a:endParaRPr lang="en-US" sz="1000" dirty="0"/>
          </a:p>
        </p:txBody>
      </p:sp>
      <p:sp>
        <p:nvSpPr>
          <p:cNvPr id="5" name="Shape 2"/>
          <p:cNvSpPr/>
          <p:nvPr/>
        </p:nvSpPr>
        <p:spPr>
          <a:xfrm>
            <a:off x="548640" y="1463040"/>
            <a:ext cx="594360" cy="594360"/>
          </a:xfrm>
          <a:prstGeom prst="ellipse">
            <a:avLst/>
          </a:prstGeom>
          <a:solidFill>
            <a:srgbClr val="5B3FD0"/>
          </a:solidFill>
          <a:ln w="12700">
            <a:solidFill>
              <a:srgbClr val="5B3FD0"/>
            </a:solidFill>
            <a:prstDash val="solid"/>
          </a:ln>
        </p:spPr>
      </p:sp>
      <p:sp>
        <p:nvSpPr>
          <p:cNvPr id="6" name="Text 3"/>
          <p:cNvSpPr txBox="1"/>
          <p:nvPr/>
        </p:nvSpPr>
        <p:spPr>
          <a:xfrm>
            <a:off x="548640" y="146304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4"/>
          <p:cNvSpPr txBox="1"/>
          <p:nvPr/>
        </p:nvSpPr>
        <p:spPr>
          <a:xfrm>
            <a:off x="1325880" y="1325880"/>
            <a:ext cx="10225735" cy="86868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terraform apply</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bucket, trail, log group e role, cinque filtri e cinque allarmi</a:t>
            </a:r>
            <a:endParaRPr lang="en-US" sz="1700" dirty="0"/>
          </a:p>
        </p:txBody>
      </p:sp>
      <p:sp>
        <p:nvSpPr>
          <p:cNvPr id="8" name="Shape 5"/>
          <p:cNvSpPr/>
          <p:nvPr/>
        </p:nvSpPr>
        <p:spPr>
          <a:xfrm>
            <a:off x="548640" y="2377440"/>
            <a:ext cx="594360" cy="594360"/>
          </a:xfrm>
          <a:prstGeom prst="ellipse">
            <a:avLst/>
          </a:prstGeom>
          <a:solidFill>
            <a:srgbClr val="5B3FD0"/>
          </a:solidFill>
          <a:ln w="12700">
            <a:solidFill>
              <a:srgbClr val="5B3FD0"/>
            </a:solidFill>
            <a:prstDash val="solid"/>
          </a:ln>
        </p:spPr>
      </p:sp>
      <p:sp>
        <p:nvSpPr>
          <p:cNvPr id="9" name="Text 6"/>
          <p:cNvSpPr txBox="1"/>
          <p:nvPr/>
        </p:nvSpPr>
        <p:spPr>
          <a:xfrm>
            <a:off x="548640" y="237744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0" name="Text 7"/>
          <p:cNvSpPr txBox="1"/>
          <p:nvPr/>
        </p:nvSpPr>
        <p:spPr>
          <a:xfrm>
            <a:off x="1325880" y="2240280"/>
            <a:ext cx="10225735" cy="86868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Una regola a mano sul SG app</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TCP 8081 da 10.20.0.0/16 → entro 5-10 minuti, la mail</a:t>
            </a:r>
            <a:endParaRPr lang="en-US" sz="1700" dirty="0"/>
          </a:p>
        </p:txBody>
      </p:sp>
      <p:sp>
        <p:nvSpPr>
          <p:cNvPr id="11" name="Shape 8"/>
          <p:cNvSpPr/>
          <p:nvPr/>
        </p:nvSpPr>
        <p:spPr>
          <a:xfrm>
            <a:off x="548640" y="3291840"/>
            <a:ext cx="594360" cy="594360"/>
          </a:xfrm>
          <a:prstGeom prst="ellipse">
            <a:avLst/>
          </a:prstGeom>
          <a:solidFill>
            <a:srgbClr val="5B3FD0"/>
          </a:solidFill>
          <a:ln w="12700">
            <a:solidFill>
              <a:srgbClr val="5B3FD0"/>
            </a:solidFill>
            <a:prstDash val="solid"/>
          </a:ln>
        </p:spPr>
      </p:sp>
      <p:sp>
        <p:nvSpPr>
          <p:cNvPr id="12" name="Text 9"/>
          <p:cNvSpPr txBox="1"/>
          <p:nvPr/>
        </p:nvSpPr>
        <p:spPr>
          <a:xfrm>
            <a:off x="548640" y="329184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3" name="Text 10"/>
          <p:cNvSpPr txBox="1"/>
          <p:nvPr/>
        </p:nvSpPr>
        <p:spPr>
          <a:xfrm>
            <a:off x="1325880" y="3154680"/>
            <a:ext cx="10225735" cy="86868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Event history: chi è stato?</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il tuo nome nella sessione, il tuo indirizzo, la porta 8081</a:t>
            </a:r>
            <a:endParaRPr lang="en-US" sz="1700" dirty="0"/>
          </a:p>
        </p:txBody>
      </p:sp>
      <p:sp>
        <p:nvSpPr>
          <p:cNvPr id="14" name="Shape 11"/>
          <p:cNvSpPr/>
          <p:nvPr/>
        </p:nvSpPr>
        <p:spPr>
          <a:xfrm>
            <a:off x="548640" y="4206240"/>
            <a:ext cx="594360" cy="594360"/>
          </a:xfrm>
          <a:prstGeom prst="ellipse">
            <a:avLst/>
          </a:prstGeom>
          <a:solidFill>
            <a:srgbClr val="5B3FD0"/>
          </a:solidFill>
          <a:ln w="12700">
            <a:solidFill>
              <a:srgbClr val="5B3FD0"/>
            </a:solidFill>
            <a:prstDash val="solid"/>
          </a:ln>
        </p:spPr>
      </p:sp>
      <p:sp>
        <p:nvSpPr>
          <p:cNvPr id="15" name="Text 12"/>
          <p:cNvSpPr txBox="1"/>
          <p:nvPr/>
        </p:nvSpPr>
        <p:spPr>
          <a:xfrm>
            <a:off x="548640" y="420624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6" name="Text 13"/>
          <p:cNvSpPr txBox="1"/>
          <p:nvPr/>
        </p:nvSpPr>
        <p:spPr>
          <a:xfrm>
            <a:off x="1325880" y="4069080"/>
            <a:ext cx="10225735" cy="86868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terraform plan non vede niente</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gestisce solo le SUE regole: per questo serve l'allarme · togli la regola</a:t>
            </a:r>
            <a:endParaRPr lang="en-US" sz="1700" dirty="0"/>
          </a:p>
        </p:txBody>
      </p:sp>
      <p:sp>
        <p:nvSpPr>
          <p:cNvPr id="17" name="Shape 14"/>
          <p:cNvSpPr/>
          <p:nvPr/>
        </p:nvSpPr>
        <p:spPr>
          <a:xfrm>
            <a:off x="548640" y="5120640"/>
            <a:ext cx="594360" cy="594360"/>
          </a:xfrm>
          <a:prstGeom prst="ellipse">
            <a:avLst/>
          </a:prstGeom>
          <a:solidFill>
            <a:srgbClr val="5B3FD0"/>
          </a:solidFill>
          <a:ln w="12700">
            <a:solidFill>
              <a:srgbClr val="5B3FD0"/>
            </a:solidFill>
            <a:prstDash val="solid"/>
          </a:ln>
        </p:spPr>
      </p:sp>
      <p:sp>
        <p:nvSpPr>
          <p:cNvPr id="18" name="Text 15"/>
          <p:cNvSpPr txBox="1"/>
          <p:nvPr/>
        </p:nvSpPr>
        <p:spPr>
          <a:xfrm>
            <a:off x="548640" y="512064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9" name="Text 16"/>
          <p:cNvSpPr txBox="1"/>
          <p:nvPr/>
        </p:nvSpPr>
        <p:spPr>
          <a:xfrm>
            <a:off x="1325880" y="4983480"/>
            <a:ext cx="10225735" cy="86868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Logs Insights</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le due modifiche, con il tuo nome · poi errorCode = "AccessDenied"</a:t>
            </a:r>
            <a:endParaRPr lang="en-US" sz="17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Esercizio (2/2): AccessDenied e firme</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12 · CloudTrail: chi ha fatto cosa</a:t>
            </a:r>
            <a:endParaRPr lang="en-US" sz="1000" dirty="0"/>
          </a:p>
        </p:txBody>
      </p:sp>
      <p:sp>
        <p:nvSpPr>
          <p:cNvPr id="5" name="Shape 2"/>
          <p:cNvSpPr/>
          <p:nvPr/>
        </p:nvSpPr>
        <p:spPr>
          <a:xfrm>
            <a:off x="548640" y="1463040"/>
            <a:ext cx="594360" cy="594360"/>
          </a:xfrm>
          <a:prstGeom prst="ellipse">
            <a:avLst/>
          </a:prstGeom>
          <a:solidFill>
            <a:srgbClr val="5B3FD0"/>
          </a:solidFill>
          <a:ln w="12700">
            <a:solidFill>
              <a:srgbClr val="5B3FD0"/>
            </a:solidFill>
            <a:prstDash val="solid"/>
          </a:ln>
        </p:spPr>
      </p:sp>
      <p:sp>
        <p:nvSpPr>
          <p:cNvPr id="6" name="Text 3"/>
          <p:cNvSpPr txBox="1"/>
          <p:nvPr/>
        </p:nvSpPr>
        <p:spPr>
          <a:xfrm>
            <a:off x="548640" y="146304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7" name="Text 4"/>
          <p:cNvSpPr txBox="1"/>
          <p:nvPr/>
        </p:nvSpPr>
        <p:spPr>
          <a:xfrm>
            <a:off x="1325880" y="1325880"/>
            <a:ext cx="10225735" cy="86868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list-secrets dal server → Event history</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AccessDenied, il role del server, l'ID del server come sessione</a:t>
            </a:r>
            <a:endParaRPr lang="en-US" sz="1700" dirty="0"/>
          </a:p>
        </p:txBody>
      </p:sp>
      <p:sp>
        <p:nvSpPr>
          <p:cNvPr id="8" name="Shape 5"/>
          <p:cNvSpPr/>
          <p:nvPr/>
        </p:nvSpPr>
        <p:spPr>
          <a:xfrm>
            <a:off x="548640" y="2377440"/>
            <a:ext cx="594360" cy="594360"/>
          </a:xfrm>
          <a:prstGeom prst="ellipse">
            <a:avLst/>
          </a:prstGeom>
          <a:solidFill>
            <a:srgbClr val="5B3FD0"/>
          </a:solidFill>
          <a:ln w="12700">
            <a:solidFill>
              <a:srgbClr val="5B3FD0"/>
            </a:solidFill>
            <a:prstDash val="solid"/>
          </a:ln>
        </p:spPr>
      </p:sp>
      <p:sp>
        <p:nvSpPr>
          <p:cNvPr id="9" name="Text 6"/>
          <p:cNvSpPr txBox="1"/>
          <p:nvPr/>
        </p:nvSpPr>
        <p:spPr>
          <a:xfrm>
            <a:off x="548640" y="237744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7</a:t>
            </a:r>
            <a:endParaRPr lang="en-US" sz="1800" dirty="0"/>
          </a:p>
        </p:txBody>
      </p:sp>
      <p:sp>
        <p:nvSpPr>
          <p:cNvPr id="10" name="Text 7"/>
          <p:cNvSpPr txBox="1"/>
          <p:nvPr/>
        </p:nvSpPr>
        <p:spPr>
          <a:xfrm>
            <a:off x="1325880" y="2240280"/>
            <a:ext cx="10225735" cy="86868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stop-instances → decode-authorization-message</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il messaggio codificato, decodificato dal tuo computer</a:t>
            </a:r>
            <a:endParaRPr lang="en-US" sz="1700" dirty="0"/>
          </a:p>
        </p:txBody>
      </p:sp>
      <p:sp>
        <p:nvSpPr>
          <p:cNvPr id="11" name="Shape 8"/>
          <p:cNvSpPr/>
          <p:nvPr/>
        </p:nvSpPr>
        <p:spPr>
          <a:xfrm>
            <a:off x="548640" y="3291840"/>
            <a:ext cx="594360" cy="594360"/>
          </a:xfrm>
          <a:prstGeom prst="ellipse">
            <a:avLst/>
          </a:prstGeom>
          <a:solidFill>
            <a:srgbClr val="5B3FD0"/>
          </a:solidFill>
          <a:ln w="12700">
            <a:solidFill>
              <a:srgbClr val="5B3FD0"/>
            </a:solidFill>
            <a:prstDash val="solid"/>
          </a:ln>
        </p:spPr>
      </p:sp>
      <p:sp>
        <p:nvSpPr>
          <p:cNvPr id="12" name="Text 9"/>
          <p:cNvSpPr txBox="1"/>
          <p:nvPr/>
        </p:nvSpPr>
        <p:spPr>
          <a:xfrm>
            <a:off x="548640" y="329184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8</a:t>
            </a:r>
            <a:endParaRPr lang="en-US" sz="1800" dirty="0"/>
          </a:p>
        </p:txBody>
      </p:sp>
      <p:sp>
        <p:nvSpPr>
          <p:cNvPr id="13" name="Text 10"/>
          <p:cNvSpPr txBox="1"/>
          <p:nvPr/>
        </p:nvSpPr>
        <p:spPr>
          <a:xfrm>
            <a:off x="1325880" y="3154680"/>
            <a:ext cx="10225735" cy="86868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Policy simulator</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ListBucket: denied · GetObject su deploy/: allowed</a:t>
            </a:r>
            <a:endParaRPr lang="en-US" sz="1700" dirty="0"/>
          </a:p>
        </p:txBody>
      </p:sp>
      <p:sp>
        <p:nvSpPr>
          <p:cNvPr id="14" name="Shape 11"/>
          <p:cNvSpPr/>
          <p:nvPr/>
        </p:nvSpPr>
        <p:spPr>
          <a:xfrm>
            <a:off x="548640" y="4206240"/>
            <a:ext cx="594360" cy="594360"/>
          </a:xfrm>
          <a:prstGeom prst="ellipse">
            <a:avLst/>
          </a:prstGeom>
          <a:solidFill>
            <a:srgbClr val="5B3FD0"/>
          </a:solidFill>
          <a:ln w="12700">
            <a:solidFill>
              <a:srgbClr val="5B3FD0"/>
            </a:solidFill>
            <a:prstDash val="solid"/>
          </a:ln>
        </p:spPr>
      </p:sp>
      <p:sp>
        <p:nvSpPr>
          <p:cNvPr id="15" name="Text 12"/>
          <p:cNvSpPr txBox="1"/>
          <p:nvPr/>
        </p:nvSpPr>
        <p:spPr>
          <a:xfrm>
            <a:off x="548640" y="420624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9</a:t>
            </a:r>
            <a:endParaRPr lang="en-US" sz="1800" dirty="0"/>
          </a:p>
        </p:txBody>
      </p:sp>
      <p:sp>
        <p:nvSpPr>
          <p:cNvPr id="16" name="Text 13"/>
          <p:cNvSpPr txBox="1"/>
          <p:nvPr/>
        </p:nvSpPr>
        <p:spPr>
          <a:xfrm>
            <a:off x="1325880" y="4069080"/>
            <a:ext cx="10225735" cy="86868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validate-logs (dopo un'ora)</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tutti i file di log e di digest validi</a:t>
            </a:r>
            <a:endParaRPr lang="en-US" sz="1700" dirty="0"/>
          </a:p>
        </p:txBody>
      </p:sp>
      <p:sp>
        <p:nvSpPr>
          <p:cNvPr id="17" name="Shape 14"/>
          <p:cNvSpPr/>
          <p:nvPr/>
        </p:nvSpPr>
        <p:spPr>
          <a:xfrm>
            <a:off x="548640" y="5120640"/>
            <a:ext cx="594360" cy="594360"/>
          </a:xfrm>
          <a:prstGeom prst="ellipse">
            <a:avLst/>
          </a:prstGeom>
          <a:solidFill>
            <a:srgbClr val="D64545"/>
          </a:solidFill>
          <a:ln w="12700">
            <a:solidFill>
              <a:srgbClr val="D64545"/>
            </a:solidFill>
            <a:prstDash val="solid"/>
          </a:ln>
        </p:spPr>
      </p:sp>
      <p:sp>
        <p:nvSpPr>
          <p:cNvPr id="18" name="Text 15"/>
          <p:cNvSpPr txBox="1"/>
          <p:nvPr/>
        </p:nvSpPr>
        <p:spPr>
          <a:xfrm>
            <a:off x="548640" y="512064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10</a:t>
            </a:r>
            <a:endParaRPr lang="en-US" sz="1800" dirty="0"/>
          </a:p>
        </p:txBody>
      </p:sp>
      <p:sp>
        <p:nvSpPr>
          <p:cNvPr id="19" name="Text 16"/>
          <p:cNvSpPr txBox="1"/>
          <p:nvPr/>
        </p:nvSpPr>
        <p:spPr>
          <a:xfrm>
            <a:off x="1325880" y="4983480"/>
            <a:ext cx="10225735" cy="86868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Pulizia</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in un account vero, il trail non si cancella MAI</a:t>
            </a:r>
            <a:endParaRPr lang="en-US" sz="17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Le parole della lezione</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12 · CloudTrail: chi ha fatto cosa</a:t>
            </a:r>
            <a:endParaRPr lang="en-US" sz="1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377440"/>
                <a:gridCol w="3246120"/>
                <a:gridCol w="2560320"/>
                <a:gridCol w="2907792"/>
              </a:tblGrid>
              <a:tr h="68580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Parola</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Significato</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Parola</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Significato</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r>
              <a:tr h="685800">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evento</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una riga: una chiamata ad AWS</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trail</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tutto in un bucket, tutte le regioni</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685800">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eventi di gestione</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creare, cambiare, cancellare risorse</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digest · validate-logs</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le firme orarie · la verifica</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r h="685800">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data event</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operazioni sui dati (file in S3)</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Logs Insights</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le ricerche nel log group</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685800">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Insights</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anomalie: un'API molto più del solito</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metric filter</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una riga che corrisponde → metrica + 1</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r h="685800">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Event history</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90 giorni, eventi di gestione</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CIS</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l'elenco di buone pratiche di sicurezza</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685800">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nome della sessione</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la persona dietro il role (o l'ID del server)</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errorCode</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null = ok · AccessDenied = negata</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bl>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1F3B"/>
        </a:solidFill>
      </p:bgPr>
    </p:bg>
    <p:spTree>
      <p:nvGrpSpPr>
        <p:cNvPr id="1" name=""/>
        <p:cNvGrpSpPr/>
        <p:nvPr/>
      </p:nvGrpSpPr>
      <p:grpSpPr>
        <a:xfrm>
          <a:off x="0" y="0"/>
          <a:ext cx="0" cy="0"/>
          <a:chOff x="0" y="0"/>
          <a:chExt cx="0" cy="0"/>
        </a:xfrm>
      </p:grpSpPr>
      <p:sp>
        <p:nvSpPr>
          <p:cNvPr id="2" name="Text 0"/>
          <p:cNvSpPr txBox="1"/>
          <p:nvPr/>
        </p:nvSpPr>
        <p:spPr>
          <a:xfrm>
            <a:off x="548640" y="457200"/>
            <a:ext cx="10972800" cy="82296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Riepilogo</a:t>
            </a:r>
            <a:endParaRPr lang="en-US" sz="3600" dirty="0"/>
          </a:p>
        </p:txBody>
      </p:sp>
      <p:sp>
        <p:nvSpPr>
          <p:cNvPr id="3" name="Text 1"/>
          <p:cNvSpPr txBox="1"/>
          <p:nvPr/>
        </p:nvSpPr>
        <p:spPr>
          <a:xfrm>
            <a:off x="548640" y="1463040"/>
            <a:ext cx="6949440" cy="420624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E4E5F2"/>
                </a:solidFill>
                <a:latin typeface="Calibri" pitchFamily="34" charset="0"/>
                <a:ea typeface="Calibri" pitchFamily="34" charset="-122"/>
                <a:cs typeface="Calibri" pitchFamily="34" charset="-120"/>
              </a:rPr>
              <a:t>Un evento per ogni chiamata: gestione, data event, Insights</a:t>
            </a:r>
            <a:endParaRPr lang="en-US" sz="1800" dirty="0"/>
          </a:p>
          <a:p>
            <a:pPr marL="342900" indent="-342900">
              <a:spcAft>
                <a:spcPts val="1000"/>
              </a:spcAft>
              <a:buSzPct val="100000"/>
              <a:buChar char="•"/>
            </a:pPr>
            <a:r>
              <a:rPr lang="en-US" sz="1800" dirty="0">
                <a:solidFill>
                  <a:srgbClr val="E4E5F2"/>
                </a:solidFill>
                <a:latin typeface="Calibri" pitchFamily="34" charset="0"/>
                <a:ea typeface="Calibri" pitchFamily="34" charset="-122"/>
                <a:cs typeface="Calibri" pitchFamily="34" charset="-120"/>
              </a:rPr>
              <a:t>Chi è stato: il nome della sessione nell'ARN del role assunto</a:t>
            </a:r>
            <a:endParaRPr lang="en-US" sz="1800" dirty="0"/>
          </a:p>
          <a:p>
            <a:pPr marL="342900" indent="-342900">
              <a:spcAft>
                <a:spcPts val="1000"/>
              </a:spcAft>
              <a:buSzPct val="100000"/>
              <a:buChar char="•"/>
            </a:pPr>
            <a:r>
              <a:rPr lang="en-US" sz="1800" dirty="0">
                <a:solidFill>
                  <a:srgbClr val="E4E5F2"/>
                </a:solidFill>
                <a:latin typeface="Calibri" pitchFamily="34" charset="0"/>
                <a:ea typeface="Calibri" pitchFamily="34" charset="-122"/>
                <a:cs typeface="Calibri" pitchFamily="34" charset="-120"/>
              </a:rPr>
              <a:t>Event history: 90 giorni · trail: tutto, tutte le regioni, firmato</a:t>
            </a:r>
            <a:endParaRPr lang="en-US" sz="1800" dirty="0"/>
          </a:p>
          <a:p>
            <a:pPr marL="342900" indent="-342900">
              <a:spcAft>
                <a:spcPts val="1000"/>
              </a:spcAft>
              <a:buSzPct val="100000"/>
              <a:buChar char="•"/>
            </a:pPr>
            <a:r>
              <a:rPr lang="en-US" sz="1800" dirty="0">
                <a:solidFill>
                  <a:srgbClr val="E4E5F2"/>
                </a:solidFill>
                <a:latin typeface="Calibri" pitchFamily="34" charset="0"/>
                <a:ea typeface="Calibri" pitchFamily="34" charset="-122"/>
                <a:cs typeface="Calibri" pitchFamily="34" charset="-120"/>
              </a:rPr>
              <a:t>Logs Insights per cercare, metric filter per gli allarmi</a:t>
            </a:r>
            <a:endParaRPr lang="en-US" sz="1800" dirty="0"/>
          </a:p>
          <a:p>
            <a:pPr marL="342900" indent="-342900">
              <a:spcAft>
                <a:spcPts val="1000"/>
              </a:spcAft>
              <a:buSzPct val="100000"/>
              <a:buChar char="•"/>
            </a:pPr>
            <a:r>
              <a:rPr lang="en-US" sz="1800" dirty="0">
                <a:solidFill>
                  <a:srgbClr val="E4E5F2"/>
                </a:solidFill>
                <a:latin typeface="Calibri" pitchFamily="34" charset="0"/>
                <a:ea typeface="Calibri" pitchFamily="34" charset="-122"/>
                <a:cs typeface="Calibri" pitchFamily="34" charset="-120"/>
              </a:rPr>
              <a:t>Allarmi: root, login senza MFA, IAM, Security Group, CloudTrail</a:t>
            </a:r>
            <a:endParaRPr lang="en-US" sz="1800" dirty="0"/>
          </a:p>
          <a:p>
            <a:pPr marL="342900" indent="-342900">
              <a:spcAft>
                <a:spcPts val="1000"/>
              </a:spcAft>
              <a:buSzPct val="100000"/>
              <a:buChar char="•"/>
            </a:pPr>
            <a:r>
              <a:rPr lang="en-US" sz="1800" dirty="0">
                <a:solidFill>
                  <a:srgbClr val="E4E5F2"/>
                </a:solidFill>
                <a:latin typeface="Calibri" pitchFamily="34" charset="0"/>
                <a:ea typeface="Calibri" pitchFamily="34" charset="-122"/>
                <a:cs typeface="Calibri" pitchFamily="34" charset="-120"/>
              </a:rPr>
              <a:t>AccessDenied: messaggio, decodifica, CloudTrail, simulatore</a:t>
            </a:r>
            <a:endParaRPr lang="en-US" sz="1800" dirty="0"/>
          </a:p>
        </p:txBody>
      </p:sp>
      <p:sp>
        <p:nvSpPr>
          <p:cNvPr id="4" name="Shape 2"/>
          <p:cNvSpPr/>
          <p:nvPr/>
        </p:nvSpPr>
        <p:spPr>
          <a:xfrm>
            <a:off x="7955280" y="1463040"/>
            <a:ext cx="3685032" cy="2103120"/>
          </a:xfrm>
          <a:prstGeom prst="roundRect">
            <a:avLst>
              <a:gd name="adj" fmla="val 5217"/>
            </a:avLst>
          </a:prstGeom>
          <a:solidFill>
            <a:srgbClr val="2A2F55"/>
          </a:solidFill>
          <a:ln w="12700">
            <a:solidFill>
              <a:srgbClr val="2A2F55"/>
            </a:solidFill>
            <a:prstDash val="solid"/>
          </a:ln>
        </p:spPr>
      </p:sp>
      <p:sp>
        <p:nvSpPr>
          <p:cNvPr id="5" name="Text 3"/>
          <p:cNvSpPr txBox="1"/>
          <p:nvPr/>
        </p:nvSpPr>
        <p:spPr>
          <a:xfrm>
            <a:off x="8183880" y="1645920"/>
            <a:ext cx="3291840" cy="1737360"/>
          </a:xfrm>
          <a:prstGeom prst="rect">
            <a:avLst/>
          </a:prstGeom>
          <a:noFill/>
          <a:ln/>
        </p:spPr>
        <p:txBody>
          <a:bodyPr wrap="square" lIns="0" tIns="0" rIns="0" bIns="0" rtlCol="0" anchor="t"/>
          <a:lstStyle/>
          <a:p>
            <a:pPr indent="0" marL="0">
              <a:buNone/>
            </a:pPr>
            <a:r>
              <a:rPr lang="en-US" sz="1600" b="1" dirty="0">
                <a:solidFill>
                  <a:srgbClr val="F28C28"/>
                </a:solidFill>
                <a:latin typeface="Calibri" pitchFamily="34" charset="0"/>
                <a:ea typeface="Calibri" pitchFamily="34" charset="-122"/>
                <a:cs typeface="Calibri" pitchFamily="34" charset="-120"/>
              </a:rPr>
              <a:t>Materiale di studio</a:t>
            </a:r>
            <a:endParaRPr lang="en-US" sz="1600" dirty="0"/>
          </a:p>
          <a:p>
            <a:pPr indent="0" marL="0">
              <a:buNone/>
            </a:pPr>
            <a:r>
              <a:rPr lang="en-US" sz="1400" dirty="0">
                <a:solidFill>
                  <a:srgbClr val="FFFFFF"/>
                </a:solidFill>
                <a:latin typeface="Courier New" pitchFamily="34" charset="0"/>
                <a:ea typeface="Courier New" pitchFamily="34" charset="-122"/>
                <a:cs typeface="Courier New" pitchFamily="34" charset="-120"/>
              </a:rPr>
              <a:t>dispense/dispensa-12-cloudtrail.md</a:t>
            </a:r>
            <a:endParaRPr lang="en-US" sz="1600" dirty="0"/>
          </a:p>
        </p:txBody>
      </p:sp>
      <p:sp>
        <p:nvSpPr>
          <p:cNvPr id="6" name="Shape 4"/>
          <p:cNvSpPr/>
          <p:nvPr/>
        </p:nvSpPr>
        <p:spPr>
          <a:xfrm>
            <a:off x="7955280" y="3840480"/>
            <a:ext cx="3685032" cy="1463040"/>
          </a:xfrm>
          <a:prstGeom prst="roundRect">
            <a:avLst>
              <a:gd name="adj" fmla="val 7500"/>
            </a:avLst>
          </a:prstGeom>
          <a:solidFill>
            <a:srgbClr val="5B3FD0"/>
          </a:solidFill>
          <a:ln w="12700">
            <a:solidFill>
              <a:srgbClr val="5B3FD0"/>
            </a:solidFill>
            <a:prstDash val="solid"/>
          </a:ln>
        </p:spPr>
      </p:sp>
      <p:sp>
        <p:nvSpPr>
          <p:cNvPr id="7" name="Text 5"/>
          <p:cNvSpPr txBox="1"/>
          <p:nvPr/>
        </p:nvSpPr>
        <p:spPr>
          <a:xfrm>
            <a:off x="8183880" y="4023360"/>
            <a:ext cx="3291840" cy="1097280"/>
          </a:xfrm>
          <a:prstGeom prst="rect">
            <a:avLst/>
          </a:prstGeom>
          <a:noFill/>
          <a:ln/>
        </p:spPr>
        <p:txBody>
          <a:bodyPr wrap="square" lIns="0" tIns="0" rIns="0" bIns="0" rtlCol="0" anchor="t"/>
          <a:lstStyle/>
          <a:p>
            <a:pPr indent="0" marL="0">
              <a:buNone/>
            </a:pPr>
            <a:r>
              <a:rPr lang="en-US" sz="1400" b="1" dirty="0">
                <a:solidFill>
                  <a:srgbClr val="D9D2FF"/>
                </a:solidFill>
                <a:latin typeface="Calibri" pitchFamily="34" charset="0"/>
                <a:ea typeface="Calibri" pitchFamily="34" charset="-122"/>
                <a:cs typeface="Calibri" pitchFamily="34" charset="-120"/>
              </a:rPr>
              <a:t>Prossima lezione</a:t>
            </a:r>
            <a:endParaRPr lang="en-US" sz="1400" dirty="0"/>
          </a:p>
          <a:p>
            <a:pPr indent="0" marL="0">
              <a:buNone/>
            </a:pPr>
            <a:r>
              <a:rPr lang="en-US" sz="1800" b="1" dirty="0">
                <a:solidFill>
                  <a:srgbClr val="FFFFFF"/>
                </a:solidFill>
                <a:latin typeface="Calibri" pitchFamily="34" charset="0"/>
                <a:ea typeface="Calibri" pitchFamily="34" charset="-122"/>
                <a:cs typeface="Calibri" pitchFamily="34" charset="-120"/>
              </a:rPr>
              <a:t>GuardDuty: accorgersi degli attacchi</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cereZ23</dc:creator>
  <cp:lastModifiedBy>cereZ23</cp:lastModifiedBy>
  <cp:revision>1</cp:revision>
  <dcterms:created xsi:type="dcterms:W3CDTF">2026-10-09T10:15:53Z</dcterms:created>
  <dcterms:modified xsi:type="dcterms:W3CDTF">2026-10-09T10:15:53Z</dcterms:modified>
</cp:coreProperties>
</file>