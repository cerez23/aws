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In questa prima lezione non creiamo ancora niente di complicato: impariamo a leggere e scrivere un file Terraform, i quattro comandi del ciclo di lavoro e perché lo state è la cosa più delicata del progetto. Tutto quello che diciamo oggi è scritto nella dispensa 0, che vi lascio come materiale di studio, insieme ai prerequisiti: account AWS, Terraform, AWS CLI, attivazione della regione di Milano.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blocchi. Primo: perché descrivere l'infrastruttura in codice invece di cliccare. Secondo: il linguaggio, cioè come è fatto un file .tf. Terzo: il ciclo init, plan, apply, destroy. Quarto: lo state, il registro in cui Terraform si ricorda cosa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Creare risorse a mano in console funziona la prima volta. Il problema arriva dopo: nessuno ricorda cosa è stato cliccato, non si può rifare identico in un altro ambiente, nessuno rivede le modifiche prima che vengano fatte. Con l'Infrastructure as Code l'infrastruttura è descritta in file di testo: stanno in Git, hanno una storia, si rivedono, e lo stesso codice crea ambienti identici.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script elenca i passi: fai questo, poi quest'altro. Terraform invece riceve la descrizione del risultato finale: voglio che esista un bucket con questo nome. Poi confronta la descrizione con quello che esiste davvero e calcola da solo cosa creare, cambiare o cancellare. L'analogia: la ricetta contro la foto del piatto finito.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Tutto il codice Terraform è fatto di blocchi. Il primo rigo: la parola chiave resource e due etichette, il tipo, che decide il provider, e il nome locale, che scegliete voi e che serve solo dentro Terraform. Dentro ci sono argomenti, nella forma nome uguale valore. Attenzione alla differenza tra tags uguale graffa, che è un argomento con una mappa, e lifecycle graffa senza uguale, che è un blocco annidato. Se la sbagliate, Terraform dà errore.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faccio a sapere cosa scrivere dentro un blocco? Non si inventa: lo decide il provider. Per ogni risorsa c'è una pagina di documentazione con due sezioni. Argument Reference: cosa potete scrivere voi. Attribute Reference: cosa potete leggere dopo, perché lo calcola AWS, come l'ID o l'ARN. Per leggere un attributo si scrive tipo punto nome punto attributo.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destra dell'uguale ci sono valori, e ogni valore ha un tipo. Stringhe tra virgolette, numeri, vero o falso, liste tra parentesi quadre, mappe tra graffe. Nelle liste si conta da zero. null vuol dire: fai come se non avessi scritto l'argomento.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costrutti che ritroverete in ogni dispensa. I riferimenti leggono un valore da un'altra parte della configurazione: var per le variabili, local per i valori calcolati, tipo punto nome per le risorse. L'interpolazione inserisce un valore dentro una stringa con dollaro graffa. Le funzioni trasformano valori. Il condizionale sceglie tra due valori con punto di domanda e due punti. Tutto si può provare in terraform console, che non crea niente.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una risorsa usa un attributo di un'altra, Terraform capisce l'ordine da solo. Qui il bucket usa il numero casuale nel nome, quindi prima si genera il numero. Il versioning usa l'id del bucket, quindi prima il bucket. Da questi riferimenti Terraform costruisce un grafo e crea in parallelo tutto quello che non dipende da altro. depends_on esiste, ma serve raramente.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legge tutti i file .tf della cartella e li fonde in un'unica configurazione. L'ordine non conta e i nomi dei file sono una convenzione per noi umani. Ogni file risponde a una domanda. providers: con chi parlo. backend: dove salvo lo state. variables: cosa si può configurare. tfvars: con che valori gira questo ambiente. main e gli altri: cosa costruisco. outputs: cosa mi serve sapere alla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variables.tf è un questionario con i campi vuoti: dichiara nome, tipo, descrizione, eventuale default. terraform.tfvars è il questionario compilato: solo i valori. main.tf lavora sui valori con var punto nome, outputs.tf è la ricevuta finale. Differenza con locals: la variabile arriva da fuori, il local si calcola dentro e chi usa il progetto non lo tocca.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comandi. init si lancia una volta, e poi ogni volta che cambiano provider o backend: scarica i provider. plan mostra cosa farebbe, senza toccare niente: è il momento più importante. apply esegue e chiede conferma: bisogna scrivere yes. destroy cancella tutto quello che Terraform gestisce, anche questo con conferma.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plan ogni risorsa ha un simbolo. Più: la crea. Tilde: la modifica sul posto. Meno barra più: la distrugge e la ricrea, e su un database significa perdere i dati. Meno: la distrugge. In fondo c'è il riepilogo. Se compare un meno più dove non ve lo aspettate, vi fermate e capite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state è il file in cui Terraform collega ogni risorsa del codice a quella reale su AWS. Il plan confronta tre cose: il codice, lo state e la realtà. Quattro regole: lo state contiene segreti in chiaro quindi mai in Git; va tenuto remoto e non sul portatile; serve un lock perché due apply insieme lo corrompono; e non si modifica mai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backend.tf lo state è un file nella cartella: per imparare va bene, ed è così che parte l'esercizio. Per lavorare davvero va in un bucket S3, cifrato, con use_lockfile che crea un piccolo file di lock accanto allo state. Il bucket dello state si crea una volta sola a parte con la CLI, perché il codice che lo usa non può crearlo: è l'uovo e la gallina. Nel backend non si possono usare variabili.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non ha un login suo: usa le credenziali della AWS CLI. Si usa IAM Identity Center: un login nel browser con MFA, e la CLI riceve credenziali temporanee che scadono da sole. La configurazione si fa una volta con aws configure sso, la procedura passo passo è nella dispensa. Ogni giorno: aws sso login e export AWS_PROFILE. Mai access key nel codice, mai chiavi permanenti sul portatile, mai l'utente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con tutti i file da copiare e i risultati attesi, è nella sezione 7 della dispensa. Si crea un bucket, lo si modifica sul posto, si prova una modifica che lo ricreerebbe senza applicarla, si prova il drift cambiando un tag a mano in console, si sposta lo state su S3 e alla fine si distrugge tutto. L'obiettivo vero è leggere ogni volta il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 cinque punti. Il materiale di studio è la dispensa 0: contiene tutto quello che abbiamo visto, più i prerequisiti, la configurazione SSO passo passo e l'esercizio completo. Prima della prossima lezione fate l'esercizio: la prossima volta si riparte da quella cartella per parlare di 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0</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0 · Terraform in 20 minuti</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Terraform in 20 minuti</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Infrastructure as Code: il linguaggio, il ciclo di lavoro, lo state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impariamo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544068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Infrastructure as Code</a:t>
            </a:r>
            <a:endParaRPr lang="en-US" sz="1800" dirty="0"/>
          </a:p>
        </p:txBody>
      </p:sp>
      <p:sp>
        <p:nvSpPr>
          <p:cNvPr id="9" name="Text 5"/>
          <p:cNvSpPr txBox="1"/>
          <p:nvPr/>
        </p:nvSpPr>
        <p:spPr>
          <a:xfrm>
            <a:off x="777240" y="237744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Perché descrivere l'infrastruttura in file di testo</a:t>
            </a:r>
            <a:endParaRPr lang="en-US" sz="1600" dirty="0"/>
          </a:p>
        </p:txBody>
      </p:sp>
      <p:sp>
        <p:nvSpPr>
          <p:cNvPr id="10" name="Shape 6"/>
          <p:cNvSpPr/>
          <p:nvPr/>
        </p:nvSpPr>
        <p:spPr>
          <a:xfrm>
            <a:off x="6172200" y="1463040"/>
            <a:ext cx="5440680"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9164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linguaggio HCL</a:t>
            </a:r>
            <a:endParaRPr lang="en-US" sz="1800" dirty="0"/>
          </a:p>
        </p:txBody>
      </p:sp>
      <p:sp>
        <p:nvSpPr>
          <p:cNvPr id="14" name="Text 9"/>
          <p:cNvSpPr txBox="1"/>
          <p:nvPr/>
        </p:nvSpPr>
        <p:spPr>
          <a:xfrm>
            <a:off x="6400800" y="237744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Blocchi, argomenti, riferimenti, espressioni</a:t>
            </a:r>
            <a:endParaRPr lang="en-US" sz="1600" dirty="0"/>
          </a:p>
        </p:txBody>
      </p:sp>
      <p:sp>
        <p:nvSpPr>
          <p:cNvPr id="15" name="Shape 10"/>
          <p:cNvSpPr/>
          <p:nvPr/>
        </p:nvSpPr>
        <p:spPr>
          <a:xfrm>
            <a:off x="548640" y="3794760"/>
            <a:ext cx="544068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2336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160520"/>
            <a:ext cx="274320" cy="274320"/>
          </a:xfrm>
          <a:prstGeom prst="rect">
            <a:avLst/>
          </a:prstGeom>
        </p:spPr>
      </p:pic>
      <p:sp>
        <p:nvSpPr>
          <p:cNvPr id="18" name="Text 12"/>
          <p:cNvSpPr txBox="1"/>
          <p:nvPr/>
        </p:nvSpPr>
        <p:spPr>
          <a:xfrm>
            <a:off x="150876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ciclo di lavoro</a:t>
            </a:r>
            <a:endParaRPr lang="en-US" sz="1800" dirty="0"/>
          </a:p>
        </p:txBody>
      </p:sp>
      <p:sp>
        <p:nvSpPr>
          <p:cNvPr id="19" name="Text 13"/>
          <p:cNvSpPr txBox="1"/>
          <p:nvPr/>
        </p:nvSpPr>
        <p:spPr>
          <a:xfrm>
            <a:off x="777240" y="470916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init → plan → apply → destroy</a:t>
            </a:r>
            <a:endParaRPr lang="en-US" sz="1600" dirty="0"/>
          </a:p>
        </p:txBody>
      </p:sp>
      <p:sp>
        <p:nvSpPr>
          <p:cNvPr id="20" name="Shape 14"/>
          <p:cNvSpPr/>
          <p:nvPr/>
        </p:nvSpPr>
        <p:spPr>
          <a:xfrm>
            <a:off x="6172200" y="3794760"/>
            <a:ext cx="544068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6400800" y="40233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160520"/>
            <a:ext cx="274320" cy="274320"/>
          </a:xfrm>
          <a:prstGeom prst="rect">
            <a:avLst/>
          </a:prstGeom>
        </p:spPr>
      </p:pic>
      <p:sp>
        <p:nvSpPr>
          <p:cNvPr id="23" name="Text 16"/>
          <p:cNvSpPr txBox="1"/>
          <p:nvPr/>
        </p:nvSpPr>
        <p:spPr>
          <a:xfrm>
            <a:off x="713232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state</a:t>
            </a:r>
            <a:endParaRPr lang="en-US" sz="1800" dirty="0"/>
          </a:p>
        </p:txBody>
      </p:sp>
      <p:sp>
        <p:nvSpPr>
          <p:cNvPr id="24" name="Text 17"/>
          <p:cNvSpPr txBox="1"/>
          <p:nvPr/>
        </p:nvSpPr>
        <p:spPr>
          <a:xfrm>
            <a:off x="6400800" y="470916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registro di cosa Terraform ha creato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non si clicca in console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5440680" cy="3291840"/>
          </a:xfrm>
          <a:prstGeom prst="roundRect">
            <a:avLst>
              <a:gd name="adj" fmla="val 3333"/>
            </a:avLst>
          </a:prstGeom>
          <a:solidFill>
            <a:srgbClr val="FBE9E9"/>
          </a:solidFill>
          <a:ln w="12700">
            <a:solidFill>
              <a:srgbClr val="FBE9E9"/>
            </a:solidFill>
            <a:prstDash val="solid"/>
          </a:ln>
        </p:spPr>
      </p:sp>
      <p:sp>
        <p:nvSpPr>
          <p:cNvPr id="6" name="Shape 3"/>
          <p:cNvSpPr/>
          <p:nvPr/>
        </p:nvSpPr>
        <p:spPr>
          <a:xfrm>
            <a:off x="777240" y="169164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mano in console</a:t>
            </a:r>
            <a:endParaRPr lang="en-US" sz="1800" dirty="0"/>
          </a:p>
        </p:txBody>
      </p:sp>
      <p:sp>
        <p:nvSpPr>
          <p:cNvPr id="9" name="Text 5"/>
          <p:cNvSpPr txBox="1"/>
          <p:nvPr/>
        </p:nvSpPr>
        <p:spPr>
          <a:xfrm>
            <a:off x="77724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Nessuno ricorda cosa è stato cliccato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Non si rifà identico in un altro ambiente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Nessuna revisione prima di cambiare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Nessuna storia delle modifiche</a:t>
            </a:r>
            <a:endParaRPr lang="en-US" sz="1800" dirty="0"/>
          </a:p>
        </p:txBody>
      </p:sp>
      <p:sp>
        <p:nvSpPr>
          <p:cNvPr id="10" name="Shape 6"/>
          <p:cNvSpPr/>
          <p:nvPr/>
        </p:nvSpPr>
        <p:spPr>
          <a:xfrm>
            <a:off x="6172200" y="1463040"/>
            <a:ext cx="5440680" cy="3291840"/>
          </a:xfrm>
          <a:prstGeom prst="roundRect">
            <a:avLst>
              <a:gd name="adj" fmla="val 3333"/>
            </a:avLst>
          </a:prstGeom>
          <a:solidFill>
            <a:srgbClr val="E5F4EC"/>
          </a:solidFill>
          <a:ln w="12700">
            <a:solidFill>
              <a:srgbClr val="E5F4EC"/>
            </a:solidFill>
            <a:prstDash val="solid"/>
          </a:ln>
        </p:spPr>
      </p:sp>
      <p:sp>
        <p:nvSpPr>
          <p:cNvPr id="11" name="Shape 7"/>
          <p:cNvSpPr/>
          <p:nvPr/>
        </p:nvSpPr>
        <p:spPr>
          <a:xfrm>
            <a:off x="6400800" y="169164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Infrastructure as Code</a:t>
            </a:r>
            <a:endParaRPr lang="en-US" sz="1800" dirty="0"/>
          </a:p>
        </p:txBody>
      </p:sp>
      <p:sp>
        <p:nvSpPr>
          <p:cNvPr id="14" name="Text 9"/>
          <p:cNvSpPr txBox="1"/>
          <p:nvPr/>
        </p:nvSpPr>
        <p:spPr>
          <a:xfrm>
            <a:off x="640080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File di testo in Git: storia e confronto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Stesso codice → dev, test, prod identici</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Ogni modifica si rivede prima di applicarla</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Il codice documenta cosa esiste e perché</a:t>
            </a:r>
            <a:endParaRPr lang="en-US" sz="1800" dirty="0"/>
          </a:p>
        </p:txBody>
      </p:sp>
      <p:sp>
        <p:nvSpPr>
          <p:cNvPr id="15" name="Shape 10"/>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16" name="Text 11"/>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Regola: ciò che gestisce Terraform si modifica solo da Terraform.</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Terraform è dichiarativo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493776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37490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Uno script è una ricetta</a:t>
            </a:r>
            <a:endParaRPr lang="en-US" sz="1800" dirty="0"/>
          </a:p>
        </p:txBody>
      </p:sp>
      <p:sp>
        <p:nvSpPr>
          <p:cNvPr id="9" name="Text 5"/>
          <p:cNvSpPr txBox="1"/>
          <p:nvPr/>
        </p:nvSpPr>
        <p:spPr>
          <a:xfrm>
            <a:off x="777240" y="2377440"/>
            <a:ext cx="4480560" cy="201168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1. Rompi le uova</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2. Sbatti</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3. Cuoci</a:t>
            </a:r>
            <a:endParaRPr lang="en-US" sz="1800" dirty="0"/>
          </a:p>
        </p:txBody>
      </p:sp>
      <p:sp>
        <p:nvSpPr>
          <p:cNvPr id="10" name="Shape 6"/>
          <p:cNvSpPr/>
          <p:nvPr/>
        </p:nvSpPr>
        <p:spPr>
          <a:xfrm>
            <a:off x="5623560" y="3017520"/>
            <a:ext cx="914400" cy="0"/>
          </a:xfrm>
          <a:prstGeom prst="line">
            <a:avLst/>
          </a:prstGeom>
          <a:noFill/>
          <a:ln w="25400">
            <a:solidFill>
              <a:srgbClr val="5F6478"/>
            </a:solidFill>
            <a:prstDash val="solid"/>
            <a:tailEnd type="triangle"/>
          </a:ln>
        </p:spPr>
      </p:sp>
      <p:sp>
        <p:nvSpPr>
          <p:cNvPr id="11" name="Shape 7"/>
          <p:cNvSpPr/>
          <p:nvPr/>
        </p:nvSpPr>
        <p:spPr>
          <a:xfrm>
            <a:off x="6675120" y="1463040"/>
            <a:ext cx="4965192" cy="3108960"/>
          </a:xfrm>
          <a:prstGeom prst="roundRect">
            <a:avLst>
              <a:gd name="adj" fmla="val 3529"/>
            </a:avLst>
          </a:prstGeom>
          <a:solidFill>
            <a:srgbClr val="FDF0E3"/>
          </a:solidFill>
          <a:ln w="12700">
            <a:solidFill>
              <a:srgbClr val="FDF0E3"/>
            </a:solidFill>
            <a:prstDash val="solid"/>
          </a:ln>
        </p:spPr>
      </p:sp>
      <p:sp>
        <p:nvSpPr>
          <p:cNvPr id="12" name="Shape 8"/>
          <p:cNvSpPr/>
          <p:nvPr/>
        </p:nvSpPr>
        <p:spPr>
          <a:xfrm>
            <a:off x="6903720" y="169164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7040880" y="1828800"/>
            <a:ext cx="274320" cy="274320"/>
          </a:xfrm>
          <a:prstGeom prst="rect">
            <a:avLst/>
          </a:prstGeom>
        </p:spPr>
      </p:pic>
      <p:sp>
        <p:nvSpPr>
          <p:cNvPr id="14" name="Text 9"/>
          <p:cNvSpPr txBox="1"/>
          <p:nvPr/>
        </p:nvSpPr>
        <p:spPr>
          <a:xfrm>
            <a:off x="7635240" y="1691640"/>
            <a:ext cx="37764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è la foto del piatto</a:t>
            </a:r>
            <a:endParaRPr lang="en-US" sz="1800" dirty="0"/>
          </a:p>
        </p:txBody>
      </p:sp>
      <p:sp>
        <p:nvSpPr>
          <p:cNvPr id="15" name="Text 10"/>
          <p:cNvSpPr txBox="1"/>
          <p:nvPr/>
        </p:nvSpPr>
        <p:spPr>
          <a:xfrm>
            <a:off x="6903720" y="2377440"/>
            <a:ext cx="4507992" cy="201168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Gli dici cosa deve esistere. Lui guarda la cucina, vede cosa manca e lo prepara.</a:t>
            </a:r>
            <a:endParaRPr lang="en-US" sz="1800" dirty="0"/>
          </a:p>
        </p:txBody>
      </p:sp>
      <p:sp>
        <p:nvSpPr>
          <p:cNvPr id="16" name="Shape 11"/>
          <p:cNvSpPr/>
          <p:nvPr/>
        </p:nvSpPr>
        <p:spPr>
          <a:xfrm>
            <a:off x="548640" y="4937760"/>
            <a:ext cx="11094415" cy="1005840"/>
          </a:xfrm>
          <a:prstGeom prst="roundRect">
            <a:avLst>
              <a:gd name="adj" fmla="val 9091"/>
            </a:avLst>
          </a:prstGeom>
          <a:solidFill>
            <a:srgbClr val="FDF0E3"/>
          </a:solidFill>
          <a:ln w="12700">
            <a:solidFill>
              <a:srgbClr val="FDF0E3"/>
            </a:solidFill>
            <a:prstDash val="solid"/>
          </a:ln>
        </p:spPr>
      </p:sp>
      <p:sp>
        <p:nvSpPr>
          <p:cNvPr id="17" name="Text 12"/>
          <p:cNvSpPr txBox="1"/>
          <p:nvPr/>
        </p:nvSpPr>
        <p:spPr>
          <a:xfrm>
            <a:off x="822960" y="493776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Scrivi lo stato desiderato, non i passi. Il come lo calcola Terraform.</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Anatomia di un blocco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5760720" cy="4480560"/>
          </a:xfrm>
          <a:prstGeom prst="roundRect">
            <a:avLst>
              <a:gd name="adj" fmla="val 1633"/>
            </a:avLst>
          </a:prstGeom>
          <a:solidFill>
            <a:srgbClr val="1E1E2E"/>
          </a:solidFill>
          <a:ln w="12700">
            <a:solidFill>
              <a:srgbClr val="1E1E2E"/>
            </a:solidFill>
            <a:prstDash val="solid"/>
          </a:ln>
        </p:spPr>
      </p:sp>
      <p:sp>
        <p:nvSpPr>
          <p:cNvPr id="6" name="Text 3"/>
          <p:cNvSpPr txBox="1"/>
          <p:nvPr/>
        </p:nvSpPr>
        <p:spPr>
          <a:xfrm>
            <a:off x="731520" y="1600200"/>
            <a:ext cx="5394960" cy="420624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resource "aws_s3_bucket" "demo"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bucket = "corso-aws-demo-1234"</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tags =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Owner = "mario"</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lifecycle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prevent_destroy = true</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a:t>
            </a:r>
            <a:endParaRPr lang="en-US" sz="1800" dirty="0"/>
          </a:p>
        </p:txBody>
      </p:sp>
      <p:sp>
        <p:nvSpPr>
          <p:cNvPr id="7" name="Shape 4"/>
          <p:cNvSpPr/>
          <p:nvPr/>
        </p:nvSpPr>
        <p:spPr>
          <a:xfrm>
            <a:off x="6583680" y="1554480"/>
            <a:ext cx="548640" cy="548640"/>
          </a:xfrm>
          <a:prstGeom prst="ellipse">
            <a:avLst/>
          </a:prstGeom>
          <a:solidFill>
            <a:srgbClr val="F28C28"/>
          </a:solidFill>
          <a:ln w="12700">
            <a:solidFill>
              <a:srgbClr val="F28C28"/>
            </a:solidFill>
            <a:prstDash val="solid"/>
          </a:ln>
        </p:spPr>
      </p:sp>
      <p:sp>
        <p:nvSpPr>
          <p:cNvPr id="8" name="Text 5"/>
          <p:cNvSpPr txBox="1"/>
          <p:nvPr/>
        </p:nvSpPr>
        <p:spPr>
          <a:xfrm>
            <a:off x="658368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7315200" y="1463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Parola chiave + etichette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tipo (dal provider) e nome locale (scelto da te)</a:t>
            </a:r>
            <a:endParaRPr lang="en-US" sz="1800" dirty="0"/>
          </a:p>
        </p:txBody>
      </p:sp>
      <p:sp>
        <p:nvSpPr>
          <p:cNvPr id="10" name="Shape 7"/>
          <p:cNvSpPr/>
          <p:nvPr/>
        </p:nvSpPr>
        <p:spPr>
          <a:xfrm>
            <a:off x="6583680" y="2697480"/>
            <a:ext cx="548640" cy="548640"/>
          </a:xfrm>
          <a:prstGeom prst="ellipse">
            <a:avLst/>
          </a:prstGeom>
          <a:solidFill>
            <a:srgbClr val="F28C28"/>
          </a:solidFill>
          <a:ln w="12700">
            <a:solidFill>
              <a:srgbClr val="F28C28"/>
            </a:solidFill>
            <a:prstDash val="solid"/>
          </a:ln>
        </p:spPr>
      </p:sp>
      <p:sp>
        <p:nvSpPr>
          <p:cNvPr id="11" name="Text 8"/>
          <p:cNvSpPr txBox="1"/>
          <p:nvPr/>
        </p:nvSpPr>
        <p:spPr>
          <a:xfrm>
            <a:off x="6583680" y="2697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7315200" y="2606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Argomento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nome = valore: il nome reale del bucket</a:t>
            </a:r>
            <a:endParaRPr lang="en-US" sz="1800" dirty="0"/>
          </a:p>
        </p:txBody>
      </p:sp>
      <p:sp>
        <p:nvSpPr>
          <p:cNvPr id="13" name="Shape 10"/>
          <p:cNvSpPr/>
          <p:nvPr/>
        </p:nvSpPr>
        <p:spPr>
          <a:xfrm>
            <a:off x="6583680" y="3840480"/>
            <a:ext cx="548640" cy="548640"/>
          </a:xfrm>
          <a:prstGeom prst="ellipse">
            <a:avLst/>
          </a:prstGeom>
          <a:solidFill>
            <a:srgbClr val="F28C28"/>
          </a:solidFill>
          <a:ln w="12700">
            <a:solidFill>
              <a:srgbClr val="F28C28"/>
            </a:solidFill>
            <a:prstDash val="solid"/>
          </a:ln>
        </p:spPr>
      </p:sp>
      <p:sp>
        <p:nvSpPr>
          <p:cNvPr id="14" name="Text 11"/>
          <p:cNvSpPr txBox="1"/>
          <p:nvPr/>
        </p:nvSpPr>
        <p:spPr>
          <a:xfrm>
            <a:off x="6583680" y="3840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7315200" y="3749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Argomento con una mappa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tags = { … } ha l'uguale</a:t>
            </a:r>
            <a:endParaRPr lang="en-US" sz="1800" dirty="0"/>
          </a:p>
        </p:txBody>
      </p:sp>
      <p:sp>
        <p:nvSpPr>
          <p:cNvPr id="16" name="Shape 13"/>
          <p:cNvSpPr/>
          <p:nvPr/>
        </p:nvSpPr>
        <p:spPr>
          <a:xfrm>
            <a:off x="6583680" y="4983480"/>
            <a:ext cx="548640" cy="548640"/>
          </a:xfrm>
          <a:prstGeom prst="ellipse">
            <a:avLst/>
          </a:prstGeom>
          <a:solidFill>
            <a:srgbClr val="F28C28"/>
          </a:solidFill>
          <a:ln w="12700">
            <a:solidFill>
              <a:srgbClr val="F28C28"/>
            </a:solidFill>
            <a:prstDash val="solid"/>
          </a:ln>
        </p:spPr>
      </p:sp>
      <p:sp>
        <p:nvSpPr>
          <p:cNvPr id="17" name="Text 14"/>
          <p:cNvSpPr txBox="1"/>
          <p:nvPr/>
        </p:nvSpPr>
        <p:spPr>
          <a:xfrm>
            <a:off x="6583680" y="4983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5"/>
          <p:cNvSpPr txBox="1"/>
          <p:nvPr/>
        </p:nvSpPr>
        <p:spPr>
          <a:xfrm>
            <a:off x="7315200" y="4892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Blocco annidato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lifecycle { … } NON ha l'uguale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Argomenti e attributi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544068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Argomenti: li scrivi tu</a:t>
            </a:r>
            <a:endParaRPr lang="en-US" sz="1800" dirty="0"/>
          </a:p>
        </p:txBody>
      </p:sp>
      <p:sp>
        <p:nvSpPr>
          <p:cNvPr id="9" name="Text 5"/>
          <p:cNvSpPr txBox="1"/>
          <p:nvPr/>
        </p:nvSpPr>
        <p:spPr>
          <a:xfrm>
            <a:off x="777240" y="237744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Argument Reference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bucket, tags, force_destroy</a:t>
            </a:r>
            <a:endParaRPr lang="en-US" sz="1700" dirty="0"/>
          </a:p>
        </p:txBody>
      </p:sp>
      <p:sp>
        <p:nvSpPr>
          <p:cNvPr id="10" name="Shape 6"/>
          <p:cNvSpPr/>
          <p:nvPr/>
        </p:nvSpPr>
        <p:spPr>
          <a:xfrm>
            <a:off x="6172200" y="1463040"/>
            <a:ext cx="5440680" cy="3017520"/>
          </a:xfrm>
          <a:prstGeom prst="roundRect">
            <a:avLst>
              <a:gd name="adj" fmla="val 3636"/>
            </a:avLst>
          </a:prstGeom>
          <a:solidFill>
            <a:srgbClr val="FDF0E3"/>
          </a:solidFill>
          <a:ln w="12700">
            <a:solidFill>
              <a:srgbClr val="FDF0E3"/>
            </a:solidFill>
            <a:prstDash val="solid"/>
          </a:ln>
        </p:spPr>
      </p:sp>
      <p:sp>
        <p:nvSpPr>
          <p:cNvPr id="11" name="Shape 7"/>
          <p:cNvSpPr/>
          <p:nvPr/>
        </p:nvSpPr>
        <p:spPr>
          <a:xfrm>
            <a:off x="6400800" y="169164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Attributi: li calcola AWS</a:t>
            </a:r>
            <a:endParaRPr lang="en-US" sz="1800" dirty="0"/>
          </a:p>
        </p:txBody>
      </p:sp>
      <p:sp>
        <p:nvSpPr>
          <p:cNvPr id="14" name="Text 9"/>
          <p:cNvSpPr txBox="1"/>
          <p:nvPr/>
        </p:nvSpPr>
        <p:spPr>
          <a:xfrm>
            <a:off x="6400800" y="237744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Attribute Reference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id, arn</a:t>
            </a:r>
            <a:endParaRPr lang="en-US" sz="1700" dirty="0"/>
          </a:p>
        </p:txBody>
      </p:sp>
      <p:sp>
        <p:nvSpPr>
          <p:cNvPr id="15" name="Shape 10"/>
          <p:cNvSpPr/>
          <p:nvPr/>
        </p:nvSpPr>
        <p:spPr>
          <a:xfrm>
            <a:off x="2926080" y="4846320"/>
            <a:ext cx="6309360" cy="731520"/>
          </a:xfrm>
          <a:prstGeom prst="roundRect">
            <a:avLst>
              <a:gd name="adj" fmla="val 10000"/>
            </a:avLst>
          </a:prstGeom>
          <a:solidFill>
            <a:srgbClr val="1E1E2E"/>
          </a:solidFill>
          <a:ln w="12700">
            <a:solidFill>
              <a:srgbClr val="1E1E2E"/>
            </a:solidFill>
            <a:prstDash val="solid"/>
          </a:ln>
        </p:spPr>
      </p:sp>
      <p:sp>
        <p:nvSpPr>
          <p:cNvPr id="16" name="Text 11"/>
          <p:cNvSpPr txBox="1"/>
          <p:nvPr/>
        </p:nvSpPr>
        <p:spPr>
          <a:xfrm>
            <a:off x="3108960" y="4983480"/>
            <a:ext cx="5943600" cy="457200"/>
          </a:xfrm>
          <a:prstGeom prst="rect">
            <a:avLst/>
          </a:prstGeom>
          <a:noFill/>
          <a:ln/>
        </p:spPr>
        <p:txBody>
          <a:bodyPr wrap="square" lIns="0" tIns="0" rIns="0" bIns="0" rtlCol="0" anchor="t"/>
          <a:lstStyle/>
          <a:p>
            <a:pPr indent="0" marL="0">
              <a:buNone/>
            </a:pPr>
            <a:r>
              <a:rPr lang="en-US" sz="2400" dirty="0">
                <a:solidFill>
                  <a:srgbClr val="E6E6F0"/>
                </a:solidFill>
                <a:latin typeface="Courier New" pitchFamily="34" charset="0"/>
                <a:ea typeface="Courier New" pitchFamily="34" charset="-122"/>
                <a:cs typeface="Courier New" pitchFamily="34" charset="-120"/>
              </a:rPr>
              <a:t>aws_s3_bucket.demo.arn</a:t>
            </a:r>
            <a:endParaRPr lang="en-US" sz="2400" dirty="0"/>
          </a:p>
        </p:txBody>
      </p:sp>
      <p:sp>
        <p:nvSpPr>
          <p:cNvPr id="17" name="Text 12"/>
          <p:cNvSpPr txBox="1"/>
          <p:nvPr/>
        </p:nvSpPr>
        <p:spPr>
          <a:xfrm>
            <a:off x="2926080" y="5623560"/>
            <a:ext cx="6309360" cy="365760"/>
          </a:xfrm>
          <a:prstGeom prst="rect">
            <a:avLst/>
          </a:prstGeom>
          <a:noFill/>
          <a:ln/>
        </p:spPr>
        <p:txBody>
          <a:bodyPr wrap="square" lIns="0" tIns="0" rIns="0" bIns="0" rtlCol="0" anchor="ctr"/>
          <a:lstStyle/>
          <a:p>
            <a:pPr algn="ctr" indent="0" marL="0">
              <a:buNone/>
            </a:pPr>
            <a:r>
              <a:rPr lang="en-US" sz="1500" i="1" dirty="0">
                <a:solidFill>
                  <a:srgbClr val="5F6478"/>
                </a:solidFill>
                <a:latin typeface="Calibri" pitchFamily="34" charset="0"/>
                <a:ea typeface="Calibri" pitchFamily="34" charset="-122"/>
                <a:cs typeface="Calibri" pitchFamily="34" charset="-120"/>
              </a:rPr>
              <a:t>tipo . nome . attributo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tipi di valore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11680"/>
                <a:gridCol w="4937760"/>
                <a:gridCol w="4142232"/>
              </a:tblGrid>
              <a:tr h="56692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Tipo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Come si scrive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Come si legge un elemento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string</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"testo"</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number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3</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bool</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true / false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list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["a", "b", "c"]</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lista[0]  →  "a"</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map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 nome = "web", porta = 443 }</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mappa.nome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null</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null</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come se l'argomento non ci fosse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espressioni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Text 2"/>
          <p:cNvSpPr txBox="1"/>
          <p:nvPr/>
        </p:nvSpPr>
        <p:spPr>
          <a:xfrm>
            <a:off x="548640" y="1417320"/>
            <a:ext cx="5440680"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Riferimenti</a:t>
            </a:r>
            <a:endParaRPr lang="en-US" sz="1800" dirty="0"/>
          </a:p>
        </p:txBody>
      </p:sp>
      <p:sp>
        <p:nvSpPr>
          <p:cNvPr id="6" name="Shape 3"/>
          <p:cNvSpPr/>
          <p:nvPr/>
        </p:nvSpPr>
        <p:spPr>
          <a:xfrm>
            <a:off x="548640" y="1874520"/>
            <a:ext cx="5440680" cy="1554480"/>
          </a:xfrm>
          <a:prstGeom prst="roundRect">
            <a:avLst>
              <a:gd name="adj" fmla="val 4706"/>
            </a:avLst>
          </a:prstGeom>
          <a:solidFill>
            <a:srgbClr val="1E1E2E"/>
          </a:solidFill>
          <a:ln w="12700">
            <a:solidFill>
              <a:srgbClr val="1E1E2E"/>
            </a:solidFill>
            <a:prstDash val="solid"/>
          </a:ln>
        </p:spPr>
      </p:sp>
      <p:sp>
        <p:nvSpPr>
          <p:cNvPr id="7" name="Text 4"/>
          <p:cNvSpPr txBox="1"/>
          <p:nvPr/>
        </p:nvSpPr>
        <p:spPr>
          <a:xfrm>
            <a:off x="731520" y="2011680"/>
            <a:ext cx="5074920" cy="128016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var.region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local.name_prefix</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aws_s3_bucket.demo.arn</a:t>
            </a:r>
            <a:endParaRPr lang="en-US" sz="1500" dirty="0"/>
          </a:p>
        </p:txBody>
      </p:sp>
      <p:sp>
        <p:nvSpPr>
          <p:cNvPr id="8" name="Text 5"/>
          <p:cNvSpPr txBox="1"/>
          <p:nvPr/>
        </p:nvSpPr>
        <p:spPr>
          <a:xfrm>
            <a:off x="6172200" y="1417320"/>
            <a:ext cx="5440680"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Interpolazione</a:t>
            </a:r>
            <a:endParaRPr lang="en-US" sz="1800" dirty="0"/>
          </a:p>
        </p:txBody>
      </p:sp>
      <p:sp>
        <p:nvSpPr>
          <p:cNvPr id="9" name="Shape 6"/>
          <p:cNvSpPr/>
          <p:nvPr/>
        </p:nvSpPr>
        <p:spPr>
          <a:xfrm>
            <a:off x="6172200" y="1874520"/>
            <a:ext cx="5440680" cy="1554480"/>
          </a:xfrm>
          <a:prstGeom prst="roundRect">
            <a:avLst>
              <a:gd name="adj" fmla="val 4706"/>
            </a:avLst>
          </a:prstGeom>
          <a:solidFill>
            <a:srgbClr val="1E1E2E"/>
          </a:solidFill>
          <a:ln w="12700">
            <a:solidFill>
              <a:srgbClr val="1E1E2E"/>
            </a:solidFill>
            <a:prstDash val="solid"/>
          </a:ln>
        </p:spPr>
      </p:sp>
      <p:sp>
        <p:nvSpPr>
          <p:cNvPr id="10" name="Text 7"/>
          <p:cNvSpPr txBox="1"/>
          <p:nvPr/>
        </p:nvSpPr>
        <p:spPr>
          <a:xfrm>
            <a:off x="6355080" y="2011680"/>
            <a:ext cx="5074920" cy="128016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"${var.project}-demo"</a:t>
            </a:r>
            <a:endParaRPr lang="en-US" sz="1500" dirty="0"/>
          </a:p>
          <a:p>
            <a:pPr indent="0" marL="0">
              <a:buNone/>
            </a:pPr>
            <a:r>
              <a:rPr lang="en-US" sz="1500" dirty="0">
                <a:solidFill>
                  <a:srgbClr val="8FD694"/>
                </a:solidFill>
                <a:latin typeface="Courier New" pitchFamily="34" charset="0"/>
                <a:ea typeface="Courier New" pitchFamily="34" charset="-122"/>
                <a:cs typeface="Courier New" pitchFamily="34" charset="-120"/>
              </a:rPr>
              <a:t># → "corso-aws-demo"</a:t>
            </a:r>
            <a:endParaRPr lang="en-US" sz="1500" dirty="0"/>
          </a:p>
        </p:txBody>
      </p:sp>
      <p:sp>
        <p:nvSpPr>
          <p:cNvPr id="11" name="Text 8"/>
          <p:cNvSpPr txBox="1"/>
          <p:nvPr/>
        </p:nvSpPr>
        <p:spPr>
          <a:xfrm>
            <a:off x="548640" y="3657600"/>
            <a:ext cx="5440680"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Funzioni</a:t>
            </a:r>
            <a:endParaRPr lang="en-US" sz="1800" dirty="0"/>
          </a:p>
        </p:txBody>
      </p:sp>
      <p:sp>
        <p:nvSpPr>
          <p:cNvPr id="12" name="Shape 9"/>
          <p:cNvSpPr/>
          <p:nvPr/>
        </p:nvSpPr>
        <p:spPr>
          <a:xfrm>
            <a:off x="548640" y="4114800"/>
            <a:ext cx="5440680" cy="1554480"/>
          </a:xfrm>
          <a:prstGeom prst="roundRect">
            <a:avLst>
              <a:gd name="adj" fmla="val 4706"/>
            </a:avLst>
          </a:prstGeom>
          <a:solidFill>
            <a:srgbClr val="1E1E2E"/>
          </a:solidFill>
          <a:ln w="12700">
            <a:solidFill>
              <a:srgbClr val="1E1E2E"/>
            </a:solidFill>
            <a:prstDash val="solid"/>
          </a:ln>
        </p:spPr>
      </p:sp>
      <p:sp>
        <p:nvSpPr>
          <p:cNvPr id="13" name="Text 10"/>
          <p:cNvSpPr txBox="1"/>
          <p:nvPr/>
        </p:nvSpPr>
        <p:spPr>
          <a:xfrm>
            <a:off x="731520" y="4251960"/>
            <a:ext cx="5074920" cy="128016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upper("ciao")        </a:t>
            </a:r>
            <a:pPr indent="0" marL="0">
              <a:buNone/>
            </a:pPr>
            <a:r>
              <a:rPr lang="en-US" sz="1500" dirty="0">
                <a:solidFill>
                  <a:srgbClr val="8FD694"/>
                </a:solidFill>
                <a:latin typeface="Courier New" pitchFamily="34" charset="0"/>
                <a:ea typeface="Courier New" pitchFamily="34" charset="-122"/>
                <a:cs typeface="Courier New" pitchFamily="34" charset="-120"/>
              </a:rPr>
              <a:t># "CIAO"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length(["a", "b"])   </a:t>
            </a:r>
            <a:pPr indent="0" marL="0">
              <a:buNone/>
            </a:pPr>
            <a:r>
              <a:rPr lang="en-US" sz="1500" dirty="0">
                <a:solidFill>
                  <a:srgbClr val="8FD694"/>
                </a:solidFill>
                <a:latin typeface="Courier New" pitchFamily="34" charset="0"/>
                <a:ea typeface="Courier New" pitchFamily="34" charset="-122"/>
                <a:cs typeface="Courier New" pitchFamily="34" charset="-120"/>
              </a:rPr>
              <a:t># 2</a:t>
            </a:r>
            <a:endParaRPr lang="en-US" sz="1500" dirty="0"/>
          </a:p>
        </p:txBody>
      </p:sp>
      <p:sp>
        <p:nvSpPr>
          <p:cNvPr id="14" name="Text 11"/>
          <p:cNvSpPr txBox="1"/>
          <p:nvPr/>
        </p:nvSpPr>
        <p:spPr>
          <a:xfrm>
            <a:off x="6172200" y="3657600"/>
            <a:ext cx="5440680"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Condizionale</a:t>
            </a:r>
            <a:endParaRPr lang="en-US" sz="1800" dirty="0"/>
          </a:p>
        </p:txBody>
      </p:sp>
      <p:sp>
        <p:nvSpPr>
          <p:cNvPr id="15" name="Shape 12"/>
          <p:cNvSpPr/>
          <p:nvPr/>
        </p:nvSpPr>
        <p:spPr>
          <a:xfrm>
            <a:off x="6172200" y="4114800"/>
            <a:ext cx="5440680" cy="1554480"/>
          </a:xfrm>
          <a:prstGeom prst="roundRect">
            <a:avLst>
              <a:gd name="adj" fmla="val 4706"/>
            </a:avLst>
          </a:prstGeom>
          <a:solidFill>
            <a:srgbClr val="1E1E2E"/>
          </a:solidFill>
          <a:ln w="12700">
            <a:solidFill>
              <a:srgbClr val="1E1E2E"/>
            </a:solidFill>
            <a:prstDash val="solid"/>
          </a:ln>
        </p:spPr>
      </p:sp>
      <p:sp>
        <p:nvSpPr>
          <p:cNvPr id="16" name="Text 13"/>
          <p:cNvSpPr txBox="1"/>
          <p:nvPr/>
        </p:nvSpPr>
        <p:spPr>
          <a:xfrm>
            <a:off x="6355080" y="4251960"/>
            <a:ext cx="5074920" cy="128016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var.env == "prod" ? "grande" : "piccola"</a:t>
            </a:r>
            <a:endParaRPr lang="en-US" sz="1500" dirty="0"/>
          </a:p>
        </p:txBody>
      </p:sp>
      <p:sp>
        <p:nvSpPr>
          <p:cNvPr id="17" name="Text 14"/>
          <p:cNvSpPr txBox="1"/>
          <p:nvPr/>
        </p:nvSpPr>
        <p:spPr>
          <a:xfrm>
            <a:off x="548640" y="589788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Prova tutto in terraform console: valuta le espressioni senza creare niente.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dipendenze si capiscono da 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737360"/>
            <a:ext cx="3108960" cy="1188720"/>
          </a:xfrm>
          <a:prstGeom prst="roundRect">
            <a:avLst>
              <a:gd name="adj" fmla="val 7692"/>
            </a:avLst>
          </a:prstGeom>
          <a:solidFill>
            <a:srgbClr val="EEEAFB"/>
          </a:solidFill>
          <a:ln w="12700">
            <a:solidFill>
              <a:srgbClr val="EEEAFB"/>
            </a:solidFill>
            <a:prstDash val="solid"/>
          </a:ln>
        </p:spPr>
      </p:sp>
      <p:sp>
        <p:nvSpPr>
          <p:cNvPr id="6" name="Text 3"/>
          <p:cNvSpPr txBox="1"/>
          <p:nvPr/>
        </p:nvSpPr>
        <p:spPr>
          <a:xfrm>
            <a:off x="548640" y="1737360"/>
            <a:ext cx="3108960" cy="118872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random_id.suffix</a:t>
            </a:r>
            <a:endParaRPr lang="en-US" sz="1500" dirty="0"/>
          </a:p>
          <a:p>
            <a:pPr algn="ctr" indent="0" marL="0">
              <a:buNone/>
            </a:pPr>
            <a:r>
              <a:rPr lang="en-US" sz="1500" dirty="0">
                <a:solidFill>
                  <a:srgbClr val="22253A"/>
                </a:solidFill>
                <a:latin typeface="Courier New" pitchFamily="34" charset="0"/>
                <a:ea typeface="Courier New" pitchFamily="34" charset="-122"/>
                <a:cs typeface="Courier New" pitchFamily="34" charset="-120"/>
              </a:rPr>
              <a:t>genera a1b2c3d4</a:t>
            </a:r>
            <a:endParaRPr lang="en-US" sz="1500" dirty="0"/>
          </a:p>
        </p:txBody>
      </p:sp>
      <p:sp>
        <p:nvSpPr>
          <p:cNvPr id="7" name="Shape 4"/>
          <p:cNvSpPr/>
          <p:nvPr/>
        </p:nvSpPr>
        <p:spPr>
          <a:xfrm>
            <a:off x="3703320" y="2331720"/>
            <a:ext cx="868680" cy="0"/>
          </a:xfrm>
          <a:prstGeom prst="line">
            <a:avLst/>
          </a:prstGeom>
          <a:noFill/>
          <a:ln w="25400">
            <a:solidFill>
              <a:srgbClr val="5F6478"/>
            </a:solidFill>
            <a:prstDash val="solid"/>
            <a:tailEnd type="triangle"/>
          </a:ln>
        </p:spPr>
      </p:sp>
      <p:sp>
        <p:nvSpPr>
          <p:cNvPr id="8" name="Text 5"/>
          <p:cNvSpPr txBox="1"/>
          <p:nvPr/>
        </p:nvSpPr>
        <p:spPr>
          <a:xfrm>
            <a:off x="3703320" y="1874520"/>
            <a:ext cx="8686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ourier New" pitchFamily="34" charset="0"/>
                <a:ea typeface="Courier New" pitchFamily="34" charset="-122"/>
                <a:cs typeface="Courier New" pitchFamily="34" charset="-120"/>
              </a:rPr>
              <a:t>.hex</a:t>
            </a:r>
            <a:endParaRPr lang="en-US" sz="1400" dirty="0"/>
          </a:p>
        </p:txBody>
      </p:sp>
      <p:sp>
        <p:nvSpPr>
          <p:cNvPr id="9" name="Shape 6"/>
          <p:cNvSpPr/>
          <p:nvPr/>
        </p:nvSpPr>
        <p:spPr>
          <a:xfrm>
            <a:off x="4572000" y="1737360"/>
            <a:ext cx="3108960" cy="1188720"/>
          </a:xfrm>
          <a:prstGeom prst="roundRect">
            <a:avLst>
              <a:gd name="adj" fmla="val 7692"/>
            </a:avLst>
          </a:prstGeom>
          <a:solidFill>
            <a:srgbClr val="EEEAFB"/>
          </a:solidFill>
          <a:ln w="12700">
            <a:solidFill>
              <a:srgbClr val="EEEAFB"/>
            </a:solidFill>
            <a:prstDash val="solid"/>
          </a:ln>
        </p:spPr>
      </p:sp>
      <p:sp>
        <p:nvSpPr>
          <p:cNvPr id="10" name="Text 7"/>
          <p:cNvSpPr txBox="1"/>
          <p:nvPr/>
        </p:nvSpPr>
        <p:spPr>
          <a:xfrm>
            <a:off x="4572000" y="1737360"/>
            <a:ext cx="3108960" cy="118872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aws_s3_bucket.demo</a:t>
            </a:r>
            <a:endParaRPr lang="en-US" sz="1500" dirty="0"/>
          </a:p>
          <a:p>
            <a:pPr algn="ctr" indent="0" marL="0">
              <a:buNone/>
            </a:pPr>
            <a:r>
              <a:rPr lang="en-US" sz="1500" dirty="0">
                <a:solidFill>
                  <a:srgbClr val="22253A"/>
                </a:solidFill>
                <a:latin typeface="Courier New" pitchFamily="34" charset="0"/>
                <a:ea typeface="Courier New" pitchFamily="34" charset="-122"/>
                <a:cs typeface="Courier New" pitchFamily="34" charset="-120"/>
              </a:rPr>
              <a:t>crea il bucket</a:t>
            </a:r>
            <a:endParaRPr lang="en-US" sz="1500" dirty="0"/>
          </a:p>
        </p:txBody>
      </p:sp>
      <p:sp>
        <p:nvSpPr>
          <p:cNvPr id="11" name="Shape 8"/>
          <p:cNvSpPr/>
          <p:nvPr/>
        </p:nvSpPr>
        <p:spPr>
          <a:xfrm>
            <a:off x="7726680" y="2331720"/>
            <a:ext cx="868680" cy="0"/>
          </a:xfrm>
          <a:prstGeom prst="line">
            <a:avLst/>
          </a:prstGeom>
          <a:noFill/>
          <a:ln w="25400">
            <a:solidFill>
              <a:srgbClr val="5F6478"/>
            </a:solidFill>
            <a:prstDash val="solid"/>
            <a:tailEnd type="triangle"/>
          </a:ln>
        </p:spPr>
      </p:sp>
      <p:sp>
        <p:nvSpPr>
          <p:cNvPr id="12" name="Text 9"/>
          <p:cNvSpPr txBox="1"/>
          <p:nvPr/>
        </p:nvSpPr>
        <p:spPr>
          <a:xfrm>
            <a:off x="7726680" y="1874520"/>
            <a:ext cx="8686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ourier New" pitchFamily="34" charset="0"/>
                <a:ea typeface="Courier New" pitchFamily="34" charset="-122"/>
                <a:cs typeface="Courier New" pitchFamily="34" charset="-120"/>
              </a:rPr>
              <a:t>.id</a:t>
            </a:r>
            <a:endParaRPr lang="en-US" sz="1400" dirty="0"/>
          </a:p>
        </p:txBody>
      </p:sp>
      <p:sp>
        <p:nvSpPr>
          <p:cNvPr id="13" name="Shape 10"/>
          <p:cNvSpPr/>
          <p:nvPr/>
        </p:nvSpPr>
        <p:spPr>
          <a:xfrm>
            <a:off x="8641080" y="1737360"/>
            <a:ext cx="2999232" cy="1188720"/>
          </a:xfrm>
          <a:prstGeom prst="roundRect">
            <a:avLst>
              <a:gd name="adj" fmla="val 7692"/>
            </a:avLst>
          </a:prstGeom>
          <a:solidFill>
            <a:srgbClr val="EEEAFB"/>
          </a:solidFill>
          <a:ln w="12700">
            <a:solidFill>
              <a:srgbClr val="EEEAFB"/>
            </a:solidFill>
            <a:prstDash val="solid"/>
          </a:ln>
        </p:spPr>
      </p:sp>
      <p:sp>
        <p:nvSpPr>
          <p:cNvPr id="14" name="Text 11"/>
          <p:cNvSpPr txBox="1"/>
          <p:nvPr/>
        </p:nvSpPr>
        <p:spPr>
          <a:xfrm>
            <a:off x="8641080" y="1737360"/>
            <a:ext cx="2999232" cy="118872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ourier New" pitchFamily="34" charset="0"/>
                <a:ea typeface="Courier New" pitchFamily="34" charset="-122"/>
                <a:cs typeface="Courier New" pitchFamily="34" charset="-120"/>
              </a:rPr>
              <a:t>aws_s3_bucket_versioning</a:t>
            </a:r>
            <a:endParaRPr lang="en-US" sz="1400" dirty="0"/>
          </a:p>
          <a:p>
            <a:pPr algn="ctr" indent="0" marL="0">
              <a:buNone/>
            </a:pPr>
            <a:r>
              <a:rPr lang="en-US" sz="1400" dirty="0">
                <a:solidFill>
                  <a:srgbClr val="22253A"/>
                </a:solidFill>
                <a:latin typeface="Courier New" pitchFamily="34" charset="0"/>
                <a:ea typeface="Courier New" pitchFamily="34" charset="-122"/>
                <a:cs typeface="Courier New" pitchFamily="34" charset="-120"/>
              </a:rPr>
              <a:t>attiva il versioning</a:t>
            </a:r>
            <a:endParaRPr lang="en-US" sz="1400" dirty="0"/>
          </a:p>
        </p:txBody>
      </p:sp>
      <p:sp>
        <p:nvSpPr>
          <p:cNvPr id="15" name="Shape 12"/>
          <p:cNvSpPr/>
          <p:nvPr/>
        </p:nvSpPr>
        <p:spPr>
          <a:xfrm>
            <a:off x="548640" y="3291840"/>
            <a:ext cx="6949440" cy="2560320"/>
          </a:xfrm>
          <a:prstGeom prst="roundRect">
            <a:avLst>
              <a:gd name="adj" fmla="val 2857"/>
            </a:avLst>
          </a:prstGeom>
          <a:solidFill>
            <a:srgbClr val="1E1E2E"/>
          </a:solidFill>
          <a:ln w="12700">
            <a:solidFill>
              <a:srgbClr val="1E1E2E"/>
            </a:solidFill>
            <a:prstDash val="solid"/>
          </a:ln>
        </p:spPr>
      </p:sp>
      <p:sp>
        <p:nvSpPr>
          <p:cNvPr id="16" name="Text 13"/>
          <p:cNvSpPr txBox="1"/>
          <p:nvPr/>
        </p:nvSpPr>
        <p:spPr>
          <a:xfrm>
            <a:off x="731520" y="3429000"/>
            <a:ext cx="6583680" cy="22860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"aws_s3_bucket_versioning" "demo"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bucket = aws_s3_bucket.demo.id   </a:t>
            </a:r>
            <a:pPr indent="0" marL="0">
              <a:buNone/>
            </a:pPr>
            <a:r>
              <a:rPr lang="en-US" sz="1500" dirty="0">
                <a:solidFill>
                  <a:srgbClr val="8FD694"/>
                </a:solidFill>
                <a:latin typeface="Courier New" pitchFamily="34" charset="0"/>
                <a:ea typeface="Courier New" pitchFamily="34" charset="-122"/>
                <a:cs typeface="Courier New" pitchFamily="34" charset="-120"/>
              </a:rPr>
              <a:t># dipendenza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versioning_configuration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status = "Enabled"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17" name="Shape 14"/>
          <p:cNvSpPr/>
          <p:nvPr/>
        </p:nvSpPr>
        <p:spPr>
          <a:xfrm>
            <a:off x="7772400" y="3291840"/>
            <a:ext cx="3867912" cy="2560320"/>
          </a:xfrm>
          <a:prstGeom prst="roundRect">
            <a:avLst>
              <a:gd name="adj" fmla="val 3571"/>
            </a:avLst>
          </a:prstGeom>
          <a:solidFill>
            <a:srgbClr val="FDF0E3"/>
          </a:solidFill>
          <a:ln w="12700">
            <a:solidFill>
              <a:srgbClr val="FDF0E3"/>
            </a:solidFill>
            <a:prstDash val="solid"/>
          </a:ln>
        </p:spPr>
      </p:sp>
      <p:sp>
        <p:nvSpPr>
          <p:cNvPr id="18" name="Text 15"/>
          <p:cNvSpPr txBox="1"/>
          <p:nvPr/>
        </p:nvSpPr>
        <p:spPr>
          <a:xfrm>
            <a:off x="8046720" y="3291840"/>
            <a:ext cx="3319272" cy="25603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riferimento è una dipendenza. Non serve dire a Terraform l'ordine.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file di un progetto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17320"/>
            <a:ext cx="3566160" cy="1965960"/>
          </a:xfrm>
          <a:prstGeom prst="roundRect">
            <a:avLst>
              <a:gd name="adj" fmla="val 5581"/>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providers.tf</a:t>
            </a:r>
            <a:endParaRPr lang="en-US" sz="1700" dirty="0"/>
          </a:p>
        </p:txBody>
      </p:sp>
      <p:sp>
        <p:nvSpPr>
          <p:cNvPr id="9" name="Text 5"/>
          <p:cNvSpPr txBox="1"/>
          <p:nvPr/>
        </p:nvSpPr>
        <p:spPr>
          <a:xfrm>
            <a:off x="77724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chi parlo?</a:t>
            </a:r>
            <a:endParaRPr lang="en-US" sz="1600" dirty="0"/>
          </a:p>
        </p:txBody>
      </p:sp>
      <p:sp>
        <p:nvSpPr>
          <p:cNvPr id="10" name="Shape 6"/>
          <p:cNvSpPr/>
          <p:nvPr/>
        </p:nvSpPr>
        <p:spPr>
          <a:xfrm>
            <a:off x="4297680" y="1417320"/>
            <a:ext cx="3566160" cy="1965960"/>
          </a:xfrm>
          <a:prstGeom prst="roundRect">
            <a:avLst>
              <a:gd name="adj" fmla="val 5581"/>
            </a:avLst>
          </a:prstGeom>
          <a:solidFill>
            <a:srgbClr val="EEEAFB"/>
          </a:solidFill>
          <a:ln w="12700">
            <a:solidFill>
              <a:srgbClr val="EEEAFB"/>
            </a:solidFill>
            <a:prstDash val="solid"/>
          </a:ln>
        </p:spPr>
      </p:sp>
      <p:sp>
        <p:nvSpPr>
          <p:cNvPr id="11" name="Shape 7"/>
          <p:cNvSpPr/>
          <p:nvPr/>
        </p:nvSpPr>
        <p:spPr>
          <a:xfrm>
            <a:off x="452628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4663440" y="1783080"/>
            <a:ext cx="274320" cy="274320"/>
          </a:xfrm>
          <a:prstGeom prst="rect">
            <a:avLst/>
          </a:prstGeom>
        </p:spPr>
      </p:pic>
      <p:sp>
        <p:nvSpPr>
          <p:cNvPr id="13" name="Text 8"/>
          <p:cNvSpPr txBox="1"/>
          <p:nvPr/>
        </p:nvSpPr>
        <p:spPr>
          <a:xfrm>
            <a:off x="525780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backend.tf</a:t>
            </a:r>
            <a:endParaRPr lang="en-US" sz="1700" dirty="0"/>
          </a:p>
        </p:txBody>
      </p:sp>
      <p:sp>
        <p:nvSpPr>
          <p:cNvPr id="14" name="Text 9"/>
          <p:cNvSpPr txBox="1"/>
          <p:nvPr/>
        </p:nvSpPr>
        <p:spPr>
          <a:xfrm>
            <a:off x="452628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Dove salvo lo state?</a:t>
            </a:r>
            <a:endParaRPr lang="en-US" sz="1600" dirty="0"/>
          </a:p>
        </p:txBody>
      </p:sp>
      <p:sp>
        <p:nvSpPr>
          <p:cNvPr id="15" name="Shape 10"/>
          <p:cNvSpPr/>
          <p:nvPr/>
        </p:nvSpPr>
        <p:spPr>
          <a:xfrm>
            <a:off x="8046720" y="1417320"/>
            <a:ext cx="3566160" cy="1965960"/>
          </a:xfrm>
          <a:prstGeom prst="roundRect">
            <a:avLst>
              <a:gd name="adj" fmla="val 5581"/>
            </a:avLst>
          </a:prstGeom>
          <a:solidFill>
            <a:srgbClr val="EEEAFB"/>
          </a:solidFill>
          <a:ln w="12700">
            <a:solidFill>
              <a:srgbClr val="EEEAFB"/>
            </a:solidFill>
            <a:prstDash val="solid"/>
          </a:ln>
        </p:spPr>
      </p:sp>
      <p:sp>
        <p:nvSpPr>
          <p:cNvPr id="16" name="Shape 11"/>
          <p:cNvSpPr/>
          <p:nvPr/>
        </p:nvSpPr>
        <p:spPr>
          <a:xfrm>
            <a:off x="8275320" y="164592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8412480" y="1783080"/>
            <a:ext cx="274320" cy="274320"/>
          </a:xfrm>
          <a:prstGeom prst="rect">
            <a:avLst/>
          </a:prstGeom>
        </p:spPr>
      </p:pic>
      <p:sp>
        <p:nvSpPr>
          <p:cNvPr id="18" name="Text 12"/>
          <p:cNvSpPr txBox="1"/>
          <p:nvPr/>
        </p:nvSpPr>
        <p:spPr>
          <a:xfrm>
            <a:off x="900684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variables.tf</a:t>
            </a:r>
            <a:endParaRPr lang="en-US" sz="1700" dirty="0"/>
          </a:p>
        </p:txBody>
      </p:sp>
      <p:sp>
        <p:nvSpPr>
          <p:cNvPr id="19" name="Text 13"/>
          <p:cNvSpPr txBox="1"/>
          <p:nvPr/>
        </p:nvSpPr>
        <p:spPr>
          <a:xfrm>
            <a:off x="827532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si può configurare?</a:t>
            </a:r>
            <a:endParaRPr lang="en-US" sz="1600" dirty="0"/>
          </a:p>
        </p:txBody>
      </p:sp>
      <p:sp>
        <p:nvSpPr>
          <p:cNvPr id="20" name="Shape 14"/>
          <p:cNvSpPr/>
          <p:nvPr/>
        </p:nvSpPr>
        <p:spPr>
          <a:xfrm>
            <a:off x="548640" y="3566160"/>
            <a:ext cx="3566160" cy="1965960"/>
          </a:xfrm>
          <a:prstGeom prst="roundRect">
            <a:avLst>
              <a:gd name="adj" fmla="val 5581"/>
            </a:avLst>
          </a:prstGeom>
          <a:solidFill>
            <a:srgbClr val="EEEAFB"/>
          </a:solidFill>
          <a:ln w="12700">
            <a:solidFill>
              <a:srgbClr val="EEEAFB"/>
            </a:solidFill>
            <a:prstDash val="solid"/>
          </a:ln>
        </p:spPr>
      </p:sp>
      <p:sp>
        <p:nvSpPr>
          <p:cNvPr id="21" name="Shape 15"/>
          <p:cNvSpPr/>
          <p:nvPr/>
        </p:nvSpPr>
        <p:spPr>
          <a:xfrm>
            <a:off x="777240" y="37947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914400" y="3931920"/>
            <a:ext cx="274320" cy="274320"/>
          </a:xfrm>
          <a:prstGeom prst="rect">
            <a:avLst/>
          </a:prstGeom>
        </p:spPr>
      </p:pic>
      <p:sp>
        <p:nvSpPr>
          <p:cNvPr id="23" name="Text 16"/>
          <p:cNvSpPr txBox="1"/>
          <p:nvPr/>
        </p:nvSpPr>
        <p:spPr>
          <a:xfrm>
            <a:off x="150876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terraform.tfvars</a:t>
            </a:r>
            <a:endParaRPr lang="en-US" sz="1700" dirty="0"/>
          </a:p>
        </p:txBody>
      </p:sp>
      <p:sp>
        <p:nvSpPr>
          <p:cNvPr id="24" name="Text 17"/>
          <p:cNvSpPr txBox="1"/>
          <p:nvPr/>
        </p:nvSpPr>
        <p:spPr>
          <a:xfrm>
            <a:off x="77724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che valori gira questo ambiente?</a:t>
            </a:r>
            <a:endParaRPr lang="en-US" sz="1600" dirty="0"/>
          </a:p>
        </p:txBody>
      </p:sp>
      <p:sp>
        <p:nvSpPr>
          <p:cNvPr id="25" name="Shape 18"/>
          <p:cNvSpPr/>
          <p:nvPr/>
        </p:nvSpPr>
        <p:spPr>
          <a:xfrm>
            <a:off x="4297680" y="3566160"/>
            <a:ext cx="3566160" cy="1965960"/>
          </a:xfrm>
          <a:prstGeom prst="roundRect">
            <a:avLst>
              <a:gd name="adj" fmla="val 5581"/>
            </a:avLst>
          </a:prstGeom>
          <a:solidFill>
            <a:srgbClr val="EEEAFB"/>
          </a:solidFill>
          <a:ln w="12700">
            <a:solidFill>
              <a:srgbClr val="EEEAFB"/>
            </a:solidFill>
            <a:prstDash val="solid"/>
          </a:ln>
        </p:spPr>
      </p:sp>
      <p:sp>
        <p:nvSpPr>
          <p:cNvPr id="26" name="Shape 19"/>
          <p:cNvSpPr/>
          <p:nvPr/>
        </p:nvSpPr>
        <p:spPr>
          <a:xfrm>
            <a:off x="4526280" y="379476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4663440" y="3931920"/>
            <a:ext cx="274320" cy="274320"/>
          </a:xfrm>
          <a:prstGeom prst="rect">
            <a:avLst/>
          </a:prstGeom>
        </p:spPr>
      </p:pic>
      <p:sp>
        <p:nvSpPr>
          <p:cNvPr id="28" name="Text 20"/>
          <p:cNvSpPr txBox="1"/>
          <p:nvPr/>
        </p:nvSpPr>
        <p:spPr>
          <a:xfrm>
            <a:off x="525780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main.tf e altri .tf</a:t>
            </a:r>
            <a:endParaRPr lang="en-US" sz="1700" dirty="0"/>
          </a:p>
        </p:txBody>
      </p:sp>
      <p:sp>
        <p:nvSpPr>
          <p:cNvPr id="29" name="Text 21"/>
          <p:cNvSpPr txBox="1"/>
          <p:nvPr/>
        </p:nvSpPr>
        <p:spPr>
          <a:xfrm>
            <a:off x="452628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costruisco?</a:t>
            </a:r>
            <a:endParaRPr lang="en-US" sz="1600" dirty="0"/>
          </a:p>
        </p:txBody>
      </p:sp>
      <p:sp>
        <p:nvSpPr>
          <p:cNvPr id="30" name="Shape 22"/>
          <p:cNvSpPr/>
          <p:nvPr/>
        </p:nvSpPr>
        <p:spPr>
          <a:xfrm>
            <a:off x="8046720" y="3566160"/>
            <a:ext cx="3566160" cy="1965960"/>
          </a:xfrm>
          <a:prstGeom prst="roundRect">
            <a:avLst>
              <a:gd name="adj" fmla="val 5581"/>
            </a:avLst>
          </a:prstGeom>
          <a:solidFill>
            <a:srgbClr val="EEEAFB"/>
          </a:solidFill>
          <a:ln w="12700">
            <a:solidFill>
              <a:srgbClr val="EEEAFB"/>
            </a:solidFill>
            <a:prstDash val="solid"/>
          </a:ln>
        </p:spPr>
      </p:sp>
      <p:sp>
        <p:nvSpPr>
          <p:cNvPr id="31" name="Shape 23"/>
          <p:cNvSpPr/>
          <p:nvPr/>
        </p:nvSpPr>
        <p:spPr>
          <a:xfrm>
            <a:off x="8275320" y="379476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8412480" y="3931920"/>
            <a:ext cx="274320" cy="274320"/>
          </a:xfrm>
          <a:prstGeom prst="rect">
            <a:avLst/>
          </a:prstGeom>
        </p:spPr>
      </p:pic>
      <p:sp>
        <p:nvSpPr>
          <p:cNvPr id="33" name="Text 24"/>
          <p:cNvSpPr txBox="1"/>
          <p:nvPr/>
        </p:nvSpPr>
        <p:spPr>
          <a:xfrm>
            <a:off x="900684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outputs.tf</a:t>
            </a:r>
            <a:endParaRPr lang="en-US" sz="1700" dirty="0"/>
          </a:p>
        </p:txBody>
      </p:sp>
      <p:sp>
        <p:nvSpPr>
          <p:cNvPr id="34" name="Text 25"/>
          <p:cNvSpPr txBox="1"/>
          <p:nvPr/>
        </p:nvSpPr>
        <p:spPr>
          <a:xfrm>
            <a:off x="827532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mi serve sapere alla fine?</a:t>
            </a:r>
            <a:endParaRPr lang="en-US" sz="1600" dirty="0"/>
          </a:p>
        </p:txBody>
      </p:sp>
      <p:sp>
        <p:nvSpPr>
          <p:cNvPr id="35" name="Text 26"/>
          <p:cNvSpPr txBox="1"/>
          <p:nvPr/>
        </p:nvSpPr>
        <p:spPr>
          <a:xfrm>
            <a:off x="548640" y="580644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Terraform legge tutti i .tf della cartella insieme: l'ordine e i nomi dei file non contano.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Variabili: il questionario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2468880" cy="1005840"/>
          </a:xfrm>
          <a:prstGeom prst="roundRect">
            <a:avLst>
              <a:gd name="adj" fmla="val 9091"/>
            </a:avLst>
          </a:prstGeom>
          <a:solidFill>
            <a:srgbClr val="FDF0E3"/>
          </a:solidFill>
          <a:ln w="12700">
            <a:solidFill>
              <a:srgbClr val="FDF0E3"/>
            </a:solidFill>
            <a:prstDash val="solid"/>
          </a:ln>
        </p:spPr>
      </p:sp>
      <p:sp>
        <p:nvSpPr>
          <p:cNvPr id="6" name="Text 3"/>
          <p:cNvSpPr txBox="1"/>
          <p:nvPr/>
        </p:nvSpPr>
        <p:spPr>
          <a:xfrm>
            <a:off x="54864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terraform.tfvars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 valori</a:t>
            </a:r>
            <a:endParaRPr lang="en-US" sz="1500" dirty="0"/>
          </a:p>
        </p:txBody>
      </p:sp>
      <p:sp>
        <p:nvSpPr>
          <p:cNvPr id="7" name="Shape 4"/>
          <p:cNvSpPr/>
          <p:nvPr/>
        </p:nvSpPr>
        <p:spPr>
          <a:xfrm>
            <a:off x="3035808" y="1965960"/>
            <a:ext cx="329184" cy="0"/>
          </a:xfrm>
          <a:prstGeom prst="line">
            <a:avLst/>
          </a:prstGeom>
          <a:noFill/>
          <a:ln w="25400">
            <a:solidFill>
              <a:srgbClr val="5F6478"/>
            </a:solidFill>
            <a:prstDash val="solid"/>
            <a:tailEnd type="triangle"/>
          </a:ln>
        </p:spPr>
      </p:sp>
      <p:sp>
        <p:nvSpPr>
          <p:cNvPr id="8" name="Shape 5"/>
          <p:cNvSpPr/>
          <p:nvPr/>
        </p:nvSpPr>
        <p:spPr>
          <a:xfrm>
            <a:off x="3383280" y="1463040"/>
            <a:ext cx="2468880" cy="1005840"/>
          </a:xfrm>
          <a:prstGeom prst="roundRect">
            <a:avLst>
              <a:gd name="adj" fmla="val 9091"/>
            </a:avLst>
          </a:prstGeom>
          <a:solidFill>
            <a:srgbClr val="EEEAFB"/>
          </a:solidFill>
          <a:ln w="12700">
            <a:solidFill>
              <a:srgbClr val="EEEAFB"/>
            </a:solidFill>
            <a:prstDash val="solid"/>
          </a:ln>
        </p:spPr>
      </p:sp>
      <p:sp>
        <p:nvSpPr>
          <p:cNvPr id="9" name="Text 6"/>
          <p:cNvSpPr txBox="1"/>
          <p:nvPr/>
        </p:nvSpPr>
        <p:spPr>
          <a:xfrm>
            <a:off x="338328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variables.tf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 campi vuoti</a:t>
            </a:r>
            <a:endParaRPr lang="en-US" sz="1500" dirty="0"/>
          </a:p>
        </p:txBody>
      </p:sp>
      <p:sp>
        <p:nvSpPr>
          <p:cNvPr id="10" name="Shape 7"/>
          <p:cNvSpPr/>
          <p:nvPr/>
        </p:nvSpPr>
        <p:spPr>
          <a:xfrm>
            <a:off x="5870448" y="1965960"/>
            <a:ext cx="329184" cy="0"/>
          </a:xfrm>
          <a:prstGeom prst="line">
            <a:avLst/>
          </a:prstGeom>
          <a:noFill/>
          <a:ln w="25400">
            <a:solidFill>
              <a:srgbClr val="5F6478"/>
            </a:solidFill>
            <a:prstDash val="solid"/>
            <a:tailEnd type="triangle"/>
          </a:ln>
        </p:spPr>
      </p:sp>
      <p:sp>
        <p:nvSpPr>
          <p:cNvPr id="11" name="Shape 8"/>
          <p:cNvSpPr/>
          <p:nvPr/>
        </p:nvSpPr>
        <p:spPr>
          <a:xfrm>
            <a:off x="6217920" y="1463040"/>
            <a:ext cx="2468880" cy="1005840"/>
          </a:xfrm>
          <a:prstGeom prst="roundRect">
            <a:avLst>
              <a:gd name="adj" fmla="val 9091"/>
            </a:avLst>
          </a:prstGeom>
          <a:solidFill>
            <a:srgbClr val="EEEAFB"/>
          </a:solidFill>
          <a:ln w="12700">
            <a:solidFill>
              <a:srgbClr val="EEEAFB"/>
            </a:solidFill>
            <a:prstDash val="solid"/>
          </a:ln>
        </p:spPr>
      </p:sp>
      <p:sp>
        <p:nvSpPr>
          <p:cNvPr id="12" name="Text 9"/>
          <p:cNvSpPr txBox="1"/>
          <p:nvPr/>
        </p:nvSpPr>
        <p:spPr>
          <a:xfrm>
            <a:off x="621792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main.tf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usa var.project</a:t>
            </a:r>
            <a:endParaRPr lang="en-US" sz="1500" dirty="0"/>
          </a:p>
        </p:txBody>
      </p:sp>
      <p:sp>
        <p:nvSpPr>
          <p:cNvPr id="13" name="Shape 10"/>
          <p:cNvSpPr/>
          <p:nvPr/>
        </p:nvSpPr>
        <p:spPr>
          <a:xfrm>
            <a:off x="8705088" y="1965960"/>
            <a:ext cx="329184" cy="0"/>
          </a:xfrm>
          <a:prstGeom prst="line">
            <a:avLst/>
          </a:prstGeom>
          <a:noFill/>
          <a:ln w="25400">
            <a:solidFill>
              <a:srgbClr val="5F6478"/>
            </a:solidFill>
            <a:prstDash val="solid"/>
            <a:tailEnd type="triangle"/>
          </a:ln>
        </p:spPr>
      </p:sp>
      <p:sp>
        <p:nvSpPr>
          <p:cNvPr id="14" name="Shape 11"/>
          <p:cNvSpPr/>
          <p:nvPr/>
        </p:nvSpPr>
        <p:spPr>
          <a:xfrm>
            <a:off x="9052560" y="1463040"/>
            <a:ext cx="2468880" cy="1005840"/>
          </a:xfrm>
          <a:prstGeom prst="roundRect">
            <a:avLst>
              <a:gd name="adj" fmla="val 9091"/>
            </a:avLst>
          </a:prstGeom>
          <a:solidFill>
            <a:srgbClr val="EEEAFB"/>
          </a:solidFill>
          <a:ln w="12700">
            <a:solidFill>
              <a:srgbClr val="EEEAFB"/>
            </a:solidFill>
            <a:prstDash val="solid"/>
          </a:ln>
        </p:spPr>
      </p:sp>
      <p:sp>
        <p:nvSpPr>
          <p:cNvPr id="15" name="Text 12"/>
          <p:cNvSpPr txBox="1"/>
          <p:nvPr/>
        </p:nvSpPr>
        <p:spPr>
          <a:xfrm>
            <a:off x="905256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outputs.tf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la ricevuta</a:t>
            </a:r>
            <a:endParaRPr lang="en-US" sz="1500" dirty="0"/>
          </a:p>
        </p:txBody>
      </p:sp>
      <p:sp>
        <p:nvSpPr>
          <p:cNvPr id="16" name="Shape 13"/>
          <p:cNvSpPr/>
          <p:nvPr/>
        </p:nvSpPr>
        <p:spPr>
          <a:xfrm>
            <a:off x="548640" y="2834640"/>
            <a:ext cx="5486400" cy="2103120"/>
          </a:xfrm>
          <a:prstGeom prst="roundRect">
            <a:avLst>
              <a:gd name="adj" fmla="val 3478"/>
            </a:avLst>
          </a:prstGeom>
          <a:solidFill>
            <a:srgbClr val="1E1E2E"/>
          </a:solidFill>
          <a:ln w="12700">
            <a:solidFill>
              <a:srgbClr val="1E1E2E"/>
            </a:solidFill>
            <a:prstDash val="solid"/>
          </a:ln>
        </p:spPr>
      </p:sp>
      <p:sp>
        <p:nvSpPr>
          <p:cNvPr id="17" name="Text 14"/>
          <p:cNvSpPr txBox="1"/>
          <p:nvPr/>
        </p:nvSpPr>
        <p:spPr>
          <a:xfrm>
            <a:off x="731520" y="2971800"/>
            <a:ext cx="5120640" cy="1828800"/>
          </a:xfrm>
          <a:prstGeom prst="rect">
            <a:avLst/>
          </a:prstGeom>
          <a:noFill/>
          <a:ln/>
        </p:spPr>
        <p:txBody>
          <a:bodyPr wrap="square" lIns="0" tIns="0" rIns="0" bIns="0" rtlCol="0" anchor="t"/>
          <a:lstStyle/>
          <a:p>
            <a:pPr indent="0" marL="0">
              <a:buNone/>
            </a:pPr>
            <a:r>
              <a:rPr lang="en-US" sz="1500" dirty="0">
                <a:solidFill>
                  <a:srgbClr val="8FD694"/>
                </a:solidFill>
                <a:latin typeface="Courier New" pitchFamily="34" charset="0"/>
                <a:ea typeface="Courier New" pitchFamily="34" charset="-122"/>
                <a:cs typeface="Courier New" pitchFamily="34" charset="-120"/>
              </a:rPr>
              <a:t># variables.tf: il campo vuoto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variable "project"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type        = string</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description = "Prefisso dei nomi"</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18" name="Shape 15"/>
          <p:cNvSpPr/>
          <p:nvPr/>
        </p:nvSpPr>
        <p:spPr>
          <a:xfrm>
            <a:off x="6217920" y="2834640"/>
            <a:ext cx="5422392" cy="2103120"/>
          </a:xfrm>
          <a:prstGeom prst="roundRect">
            <a:avLst>
              <a:gd name="adj" fmla="val 3478"/>
            </a:avLst>
          </a:prstGeom>
          <a:solidFill>
            <a:srgbClr val="1E1E2E"/>
          </a:solidFill>
          <a:ln w="12700">
            <a:solidFill>
              <a:srgbClr val="1E1E2E"/>
            </a:solidFill>
            <a:prstDash val="solid"/>
          </a:ln>
        </p:spPr>
      </p:sp>
      <p:sp>
        <p:nvSpPr>
          <p:cNvPr id="19" name="Text 16"/>
          <p:cNvSpPr txBox="1"/>
          <p:nvPr/>
        </p:nvSpPr>
        <p:spPr>
          <a:xfrm>
            <a:off x="6400800" y="2971800"/>
            <a:ext cx="5056632" cy="1828800"/>
          </a:xfrm>
          <a:prstGeom prst="rect">
            <a:avLst/>
          </a:prstGeom>
          <a:noFill/>
          <a:ln/>
        </p:spPr>
        <p:txBody>
          <a:bodyPr wrap="square" lIns="0" tIns="0" rIns="0" bIns="0" rtlCol="0" anchor="t"/>
          <a:lstStyle/>
          <a:p>
            <a:pPr indent="0" marL="0">
              <a:buNone/>
            </a:pPr>
            <a:r>
              <a:rPr lang="en-US" sz="1500" dirty="0">
                <a:solidFill>
                  <a:srgbClr val="8FD694"/>
                </a:solidFill>
                <a:latin typeface="Courier New" pitchFamily="34" charset="0"/>
                <a:ea typeface="Courier New" pitchFamily="34" charset="-122"/>
                <a:cs typeface="Courier New" pitchFamily="34" charset="-120"/>
              </a:rPr>
              <a:t># terraform.tfvars: il campo compilato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project = "corso-aws"</a:t>
            </a:r>
            <a:endParaRPr lang="en-US" sz="1500" dirty="0"/>
          </a:p>
        </p:txBody>
      </p:sp>
      <p:sp>
        <p:nvSpPr>
          <p:cNvPr id="20" name="Shape 17"/>
          <p:cNvSpPr/>
          <p:nvPr/>
        </p:nvSpPr>
        <p:spPr>
          <a:xfrm>
            <a:off x="548640" y="5212080"/>
            <a:ext cx="11094415" cy="777240"/>
          </a:xfrm>
          <a:prstGeom prst="roundRect">
            <a:avLst>
              <a:gd name="adj" fmla="val 11765"/>
            </a:avLst>
          </a:prstGeom>
          <a:solidFill>
            <a:srgbClr val="FDF0E3"/>
          </a:solidFill>
          <a:ln w="12700">
            <a:solidFill>
              <a:srgbClr val="FDF0E3"/>
            </a:solidFill>
            <a:prstDash val="solid"/>
          </a:ln>
        </p:spPr>
      </p:sp>
      <p:sp>
        <p:nvSpPr>
          <p:cNvPr id="21" name="Text 18"/>
          <p:cNvSpPr txBox="1"/>
          <p:nvPr/>
        </p:nvSpPr>
        <p:spPr>
          <a:xfrm>
            <a:off x="822960" y="52120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variable = arriva da fuori        locals = calcolato dentro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ciclo di lavoro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1325880" y="1645920"/>
            <a:ext cx="1005840" cy="100584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577340" y="1897380"/>
            <a:ext cx="502920" cy="502920"/>
          </a:xfrm>
          <a:prstGeom prst="rect">
            <a:avLst/>
          </a:prstGeom>
        </p:spPr>
      </p:pic>
      <p:sp>
        <p:nvSpPr>
          <p:cNvPr id="7" name="Text 3"/>
          <p:cNvSpPr txBox="1"/>
          <p:nvPr/>
        </p:nvSpPr>
        <p:spPr>
          <a:xfrm>
            <a:off x="54864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init</a:t>
            </a:r>
            <a:endParaRPr lang="en-US" sz="1800" dirty="0"/>
          </a:p>
        </p:txBody>
      </p:sp>
      <p:sp>
        <p:nvSpPr>
          <p:cNvPr id="8" name="Text 4"/>
          <p:cNvSpPr txBox="1"/>
          <p:nvPr/>
        </p:nvSpPr>
        <p:spPr>
          <a:xfrm>
            <a:off x="54864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Scarica i provider e prepara il backend</a:t>
            </a:r>
            <a:endParaRPr lang="en-US" sz="1600" dirty="0"/>
          </a:p>
        </p:txBody>
      </p:sp>
      <p:sp>
        <p:nvSpPr>
          <p:cNvPr id="9" name="Shape 5"/>
          <p:cNvSpPr/>
          <p:nvPr/>
        </p:nvSpPr>
        <p:spPr>
          <a:xfrm>
            <a:off x="2423160" y="2148840"/>
            <a:ext cx="1645920" cy="0"/>
          </a:xfrm>
          <a:prstGeom prst="line">
            <a:avLst/>
          </a:prstGeom>
          <a:noFill/>
          <a:ln w="25400">
            <a:solidFill>
              <a:srgbClr val="D9D6EC"/>
            </a:solidFill>
            <a:prstDash val="solid"/>
            <a:tailEnd type="triangle"/>
          </a:ln>
        </p:spPr>
      </p:sp>
      <p:sp>
        <p:nvSpPr>
          <p:cNvPr id="10" name="Shape 6"/>
          <p:cNvSpPr/>
          <p:nvPr/>
        </p:nvSpPr>
        <p:spPr>
          <a:xfrm>
            <a:off x="4160520" y="1645920"/>
            <a:ext cx="1005840" cy="100584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4411980" y="1897380"/>
            <a:ext cx="502920" cy="502920"/>
          </a:xfrm>
          <a:prstGeom prst="rect">
            <a:avLst/>
          </a:prstGeom>
        </p:spPr>
      </p:pic>
      <p:sp>
        <p:nvSpPr>
          <p:cNvPr id="12" name="Text 7"/>
          <p:cNvSpPr txBox="1"/>
          <p:nvPr/>
        </p:nvSpPr>
        <p:spPr>
          <a:xfrm>
            <a:off x="338328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plan</a:t>
            </a:r>
            <a:endParaRPr lang="en-US" sz="1800" dirty="0"/>
          </a:p>
        </p:txBody>
      </p:sp>
      <p:sp>
        <p:nvSpPr>
          <p:cNvPr id="13" name="Text 8"/>
          <p:cNvSpPr txBox="1"/>
          <p:nvPr/>
        </p:nvSpPr>
        <p:spPr>
          <a:xfrm>
            <a:off x="338328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Mostra cosa farebbe. Non tocca niente</a:t>
            </a:r>
            <a:endParaRPr lang="en-US" sz="1600" dirty="0"/>
          </a:p>
        </p:txBody>
      </p:sp>
      <p:sp>
        <p:nvSpPr>
          <p:cNvPr id="14" name="Shape 9"/>
          <p:cNvSpPr/>
          <p:nvPr/>
        </p:nvSpPr>
        <p:spPr>
          <a:xfrm>
            <a:off x="5257800" y="2148840"/>
            <a:ext cx="1645920" cy="0"/>
          </a:xfrm>
          <a:prstGeom prst="line">
            <a:avLst/>
          </a:prstGeom>
          <a:noFill/>
          <a:ln w="25400">
            <a:solidFill>
              <a:srgbClr val="D9D6EC"/>
            </a:solidFill>
            <a:prstDash val="solid"/>
            <a:tailEnd type="triangle"/>
          </a:ln>
        </p:spPr>
      </p:sp>
      <p:sp>
        <p:nvSpPr>
          <p:cNvPr id="15" name="Shape 10"/>
          <p:cNvSpPr/>
          <p:nvPr/>
        </p:nvSpPr>
        <p:spPr>
          <a:xfrm>
            <a:off x="6995160" y="1645920"/>
            <a:ext cx="1005840" cy="100584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7246620" y="1897380"/>
            <a:ext cx="502920" cy="502920"/>
          </a:xfrm>
          <a:prstGeom prst="rect">
            <a:avLst/>
          </a:prstGeom>
        </p:spPr>
      </p:pic>
      <p:sp>
        <p:nvSpPr>
          <p:cNvPr id="17" name="Text 11"/>
          <p:cNvSpPr txBox="1"/>
          <p:nvPr/>
        </p:nvSpPr>
        <p:spPr>
          <a:xfrm>
            <a:off x="621792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apply</a:t>
            </a:r>
            <a:endParaRPr lang="en-US" sz="1800" dirty="0"/>
          </a:p>
        </p:txBody>
      </p:sp>
      <p:sp>
        <p:nvSpPr>
          <p:cNvPr id="18" name="Text 12"/>
          <p:cNvSpPr txBox="1"/>
          <p:nvPr/>
        </p:nvSpPr>
        <p:spPr>
          <a:xfrm>
            <a:off x="621792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Esegue le modifiche. Conferma con yes</a:t>
            </a:r>
            <a:endParaRPr lang="en-US" sz="1600" dirty="0"/>
          </a:p>
        </p:txBody>
      </p:sp>
      <p:sp>
        <p:nvSpPr>
          <p:cNvPr id="19" name="Shape 13"/>
          <p:cNvSpPr/>
          <p:nvPr/>
        </p:nvSpPr>
        <p:spPr>
          <a:xfrm>
            <a:off x="8092440" y="2148840"/>
            <a:ext cx="1645920" cy="0"/>
          </a:xfrm>
          <a:prstGeom prst="line">
            <a:avLst/>
          </a:prstGeom>
          <a:noFill/>
          <a:ln w="25400">
            <a:solidFill>
              <a:srgbClr val="D9D6EC"/>
            </a:solidFill>
            <a:prstDash val="solid"/>
            <a:tailEnd type="triangle"/>
          </a:ln>
        </p:spPr>
      </p:sp>
      <p:sp>
        <p:nvSpPr>
          <p:cNvPr id="20" name="Shape 14"/>
          <p:cNvSpPr/>
          <p:nvPr/>
        </p:nvSpPr>
        <p:spPr>
          <a:xfrm>
            <a:off x="9829800" y="1645920"/>
            <a:ext cx="1005840" cy="1005840"/>
          </a:xfrm>
          <a:prstGeom prst="ellipse">
            <a:avLst/>
          </a:prstGeom>
          <a:solidFill>
            <a:srgbClr val="D64545"/>
          </a:solidFill>
          <a:ln w="12700">
            <a:solidFill>
              <a:srgbClr val="D64545"/>
            </a:solidFill>
            <a:prstDash val="solid"/>
          </a:ln>
        </p:spPr>
      </p:sp>
      <p:pic>
        <p:nvPicPr>
          <p:cNvPr id="21" name="Image 3" descr="preencoded.png">    </p:cNvPr>
          <p:cNvPicPr>
            <a:picLocks noChangeAspect="1"/>
          </p:cNvPicPr>
          <p:nvPr/>
        </p:nvPicPr>
        <p:blipFill>
          <a:blip r:embed="rId4"/>
          <a:stretch>
            <a:fillRect/>
          </a:stretch>
        </p:blipFill>
        <p:spPr>
          <a:xfrm>
            <a:off x="10081260" y="1897380"/>
            <a:ext cx="502920" cy="502920"/>
          </a:xfrm>
          <a:prstGeom prst="rect">
            <a:avLst/>
          </a:prstGeom>
        </p:spPr>
      </p:pic>
      <p:sp>
        <p:nvSpPr>
          <p:cNvPr id="22" name="Text 15"/>
          <p:cNvSpPr txBox="1"/>
          <p:nvPr/>
        </p:nvSpPr>
        <p:spPr>
          <a:xfrm>
            <a:off x="905256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destroy</a:t>
            </a:r>
            <a:endParaRPr lang="en-US" sz="1800" dirty="0"/>
          </a:p>
        </p:txBody>
      </p:sp>
      <p:sp>
        <p:nvSpPr>
          <p:cNvPr id="23" name="Text 16"/>
          <p:cNvSpPr txBox="1"/>
          <p:nvPr/>
        </p:nvSpPr>
        <p:spPr>
          <a:xfrm>
            <a:off x="905256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Cancella tutto ciò che gestisce</a:t>
            </a:r>
            <a:endParaRPr lang="en-US" sz="1600" dirty="0"/>
          </a:p>
        </p:txBody>
      </p:sp>
      <p:sp>
        <p:nvSpPr>
          <p:cNvPr id="24" name="Shape 17"/>
          <p:cNvSpPr/>
          <p:nvPr/>
        </p:nvSpPr>
        <p:spPr>
          <a:xfrm>
            <a:off x="548640" y="4754880"/>
            <a:ext cx="11094415" cy="914400"/>
          </a:xfrm>
          <a:prstGeom prst="roundRect">
            <a:avLst>
              <a:gd name="adj" fmla="val 10000"/>
            </a:avLst>
          </a:prstGeom>
          <a:solidFill>
            <a:srgbClr val="FDF0E3"/>
          </a:solidFill>
          <a:ln w="12700">
            <a:solidFill>
              <a:srgbClr val="FDF0E3"/>
            </a:solidFill>
            <a:prstDash val="solid"/>
          </a:ln>
        </p:spPr>
      </p:sp>
      <p:sp>
        <p:nvSpPr>
          <p:cNvPr id="25" name="Text 18"/>
          <p:cNvSpPr txBox="1"/>
          <p:nvPr/>
        </p:nvSpPr>
        <p:spPr>
          <a:xfrm>
            <a:off x="822960" y="475488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Si legge SEMPRE il plan prima di applicare.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 plan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2651760" cy="2377440"/>
          </a:xfrm>
          <a:prstGeom prst="roundRect">
            <a:avLst>
              <a:gd name="adj" fmla="val 4615"/>
            </a:avLst>
          </a:prstGeom>
          <a:solidFill>
            <a:srgbClr val="E5F4EC"/>
          </a:solidFill>
          <a:ln w="12700">
            <a:solidFill>
              <a:srgbClr val="E5F4EC"/>
            </a:solidFill>
            <a:prstDash val="solid"/>
          </a:ln>
        </p:spPr>
      </p:sp>
      <p:sp>
        <p:nvSpPr>
          <p:cNvPr id="6" name="Text 3"/>
          <p:cNvSpPr txBox="1"/>
          <p:nvPr/>
        </p:nvSpPr>
        <p:spPr>
          <a:xfrm>
            <a:off x="548640" y="1554480"/>
            <a:ext cx="2651760" cy="1371600"/>
          </a:xfrm>
          <a:prstGeom prst="rect">
            <a:avLst/>
          </a:prstGeom>
          <a:noFill/>
          <a:ln/>
        </p:spPr>
        <p:txBody>
          <a:bodyPr wrap="square" lIns="0" tIns="0" rIns="0" bIns="0" rtlCol="0" anchor="ctr"/>
          <a:lstStyle/>
          <a:p>
            <a:pPr algn="ctr" indent="0" marL="0">
              <a:buNone/>
            </a:pPr>
            <a:r>
              <a:rPr lang="en-US" sz="6400" b="1" dirty="0">
                <a:solidFill>
                  <a:srgbClr val="2E9E6B"/>
                </a:solidFill>
                <a:latin typeface="Courier New" pitchFamily="34" charset="0"/>
                <a:ea typeface="Courier New" pitchFamily="34" charset="-122"/>
                <a:cs typeface="Courier New" pitchFamily="34" charset="-120"/>
              </a:rPr>
              <a:t>+</a:t>
            </a:r>
            <a:endParaRPr lang="en-US" sz="6400" dirty="0"/>
          </a:p>
        </p:txBody>
      </p:sp>
      <p:sp>
        <p:nvSpPr>
          <p:cNvPr id="7" name="Text 4"/>
          <p:cNvSpPr txBox="1"/>
          <p:nvPr/>
        </p:nvSpPr>
        <p:spPr>
          <a:xfrm>
            <a:off x="54864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crea</a:t>
            </a:r>
            <a:endParaRPr lang="en-US" sz="1800" dirty="0"/>
          </a:p>
        </p:txBody>
      </p:sp>
      <p:sp>
        <p:nvSpPr>
          <p:cNvPr id="8" name="Shape 5"/>
          <p:cNvSpPr/>
          <p:nvPr/>
        </p:nvSpPr>
        <p:spPr>
          <a:xfrm>
            <a:off x="3383280" y="1463040"/>
            <a:ext cx="2651760" cy="2377440"/>
          </a:xfrm>
          <a:prstGeom prst="roundRect">
            <a:avLst>
              <a:gd name="adj" fmla="val 4615"/>
            </a:avLst>
          </a:prstGeom>
          <a:solidFill>
            <a:srgbClr val="FDF0E3"/>
          </a:solidFill>
          <a:ln w="12700">
            <a:solidFill>
              <a:srgbClr val="FDF0E3"/>
            </a:solidFill>
            <a:prstDash val="solid"/>
          </a:ln>
        </p:spPr>
      </p:sp>
      <p:sp>
        <p:nvSpPr>
          <p:cNvPr id="9" name="Text 6"/>
          <p:cNvSpPr txBox="1"/>
          <p:nvPr/>
        </p:nvSpPr>
        <p:spPr>
          <a:xfrm>
            <a:off x="3383280" y="1554480"/>
            <a:ext cx="2651760" cy="1371600"/>
          </a:xfrm>
          <a:prstGeom prst="rect">
            <a:avLst/>
          </a:prstGeom>
          <a:noFill/>
          <a:ln/>
        </p:spPr>
        <p:txBody>
          <a:bodyPr wrap="square" lIns="0" tIns="0" rIns="0" bIns="0" rtlCol="0" anchor="ctr"/>
          <a:lstStyle/>
          <a:p>
            <a:pPr algn="ctr" indent="0" marL="0">
              <a:buNone/>
            </a:pPr>
            <a:r>
              <a:rPr lang="en-US" sz="6400" b="1" dirty="0">
                <a:solidFill>
                  <a:srgbClr val="F28C28"/>
                </a:solidFill>
                <a:latin typeface="Courier New" pitchFamily="34" charset="0"/>
                <a:ea typeface="Courier New" pitchFamily="34" charset="-122"/>
                <a:cs typeface="Courier New" pitchFamily="34" charset="-120"/>
              </a:rPr>
              <a:t>~</a:t>
            </a:r>
            <a:endParaRPr lang="en-US" sz="6400" dirty="0"/>
          </a:p>
        </p:txBody>
      </p:sp>
      <p:sp>
        <p:nvSpPr>
          <p:cNvPr id="10" name="Text 7"/>
          <p:cNvSpPr txBox="1"/>
          <p:nvPr/>
        </p:nvSpPr>
        <p:spPr>
          <a:xfrm>
            <a:off x="338328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modifica sul posto</a:t>
            </a:r>
            <a:endParaRPr lang="en-US" sz="1800" dirty="0"/>
          </a:p>
        </p:txBody>
      </p:sp>
      <p:sp>
        <p:nvSpPr>
          <p:cNvPr id="11" name="Shape 8"/>
          <p:cNvSpPr/>
          <p:nvPr/>
        </p:nvSpPr>
        <p:spPr>
          <a:xfrm>
            <a:off x="6217920" y="1463040"/>
            <a:ext cx="2651760" cy="2377440"/>
          </a:xfrm>
          <a:prstGeom prst="roundRect">
            <a:avLst>
              <a:gd name="adj" fmla="val 4615"/>
            </a:avLst>
          </a:prstGeom>
          <a:solidFill>
            <a:srgbClr val="FBE9E9"/>
          </a:solidFill>
          <a:ln w="12700">
            <a:solidFill>
              <a:srgbClr val="FBE9E9"/>
            </a:solidFill>
            <a:prstDash val="solid"/>
          </a:ln>
        </p:spPr>
      </p:sp>
      <p:sp>
        <p:nvSpPr>
          <p:cNvPr id="12" name="Text 9"/>
          <p:cNvSpPr txBox="1"/>
          <p:nvPr/>
        </p:nvSpPr>
        <p:spPr>
          <a:xfrm>
            <a:off x="6217920" y="1554480"/>
            <a:ext cx="2651760" cy="1371600"/>
          </a:xfrm>
          <a:prstGeom prst="rect">
            <a:avLst/>
          </a:prstGeom>
          <a:noFill/>
          <a:ln/>
        </p:spPr>
        <p:txBody>
          <a:bodyPr wrap="square" lIns="0" tIns="0" rIns="0" bIns="0" rtlCol="0" anchor="ctr"/>
          <a:lstStyle/>
          <a:p>
            <a:pPr algn="ctr" indent="0" marL="0">
              <a:buNone/>
            </a:pPr>
            <a:r>
              <a:rPr lang="en-US" sz="6400" b="1" dirty="0">
                <a:solidFill>
                  <a:srgbClr val="D64545"/>
                </a:solidFill>
                <a:latin typeface="Courier New" pitchFamily="34" charset="0"/>
                <a:ea typeface="Courier New" pitchFamily="34" charset="-122"/>
                <a:cs typeface="Courier New" pitchFamily="34" charset="-120"/>
              </a:rPr>
              <a:t>-/+</a:t>
            </a:r>
            <a:endParaRPr lang="en-US" sz="6400" dirty="0"/>
          </a:p>
        </p:txBody>
      </p:sp>
      <p:sp>
        <p:nvSpPr>
          <p:cNvPr id="13" name="Text 10"/>
          <p:cNvSpPr txBox="1"/>
          <p:nvPr/>
        </p:nvSpPr>
        <p:spPr>
          <a:xfrm>
            <a:off x="621792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distrugge e ricrea</a:t>
            </a:r>
            <a:endParaRPr lang="en-US" sz="1800" dirty="0"/>
          </a:p>
        </p:txBody>
      </p:sp>
      <p:sp>
        <p:nvSpPr>
          <p:cNvPr id="14" name="Shape 11"/>
          <p:cNvSpPr/>
          <p:nvPr/>
        </p:nvSpPr>
        <p:spPr>
          <a:xfrm>
            <a:off x="9052560" y="1463040"/>
            <a:ext cx="2651760" cy="2377440"/>
          </a:xfrm>
          <a:prstGeom prst="roundRect">
            <a:avLst>
              <a:gd name="adj" fmla="val 4615"/>
            </a:avLst>
          </a:prstGeom>
          <a:solidFill>
            <a:srgbClr val="FBE9E9"/>
          </a:solidFill>
          <a:ln w="12700">
            <a:solidFill>
              <a:srgbClr val="FBE9E9"/>
            </a:solidFill>
            <a:prstDash val="solid"/>
          </a:ln>
        </p:spPr>
      </p:sp>
      <p:sp>
        <p:nvSpPr>
          <p:cNvPr id="15" name="Text 12"/>
          <p:cNvSpPr txBox="1"/>
          <p:nvPr/>
        </p:nvSpPr>
        <p:spPr>
          <a:xfrm>
            <a:off x="9052560" y="1554480"/>
            <a:ext cx="2651760" cy="1371600"/>
          </a:xfrm>
          <a:prstGeom prst="rect">
            <a:avLst/>
          </a:prstGeom>
          <a:noFill/>
          <a:ln/>
        </p:spPr>
        <p:txBody>
          <a:bodyPr wrap="square" lIns="0" tIns="0" rIns="0" bIns="0" rtlCol="0" anchor="ctr"/>
          <a:lstStyle/>
          <a:p>
            <a:pPr algn="ctr" indent="0" marL="0">
              <a:buNone/>
            </a:pPr>
            <a:r>
              <a:rPr lang="en-US" sz="6400" b="1" dirty="0">
                <a:solidFill>
                  <a:srgbClr val="D64545"/>
                </a:solidFill>
                <a:latin typeface="Courier New" pitchFamily="34" charset="0"/>
                <a:ea typeface="Courier New" pitchFamily="34" charset="-122"/>
                <a:cs typeface="Courier New" pitchFamily="34" charset="-120"/>
              </a:rPr>
              <a:t>-</a:t>
            </a:r>
            <a:endParaRPr lang="en-US" sz="6400" dirty="0"/>
          </a:p>
        </p:txBody>
      </p:sp>
      <p:sp>
        <p:nvSpPr>
          <p:cNvPr id="16" name="Text 13"/>
          <p:cNvSpPr txBox="1"/>
          <p:nvPr/>
        </p:nvSpPr>
        <p:spPr>
          <a:xfrm>
            <a:off x="905256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distrugge</a:t>
            </a:r>
            <a:endParaRPr lang="en-US" sz="1800" dirty="0"/>
          </a:p>
        </p:txBody>
      </p:sp>
      <p:sp>
        <p:nvSpPr>
          <p:cNvPr id="17" name="Shape 14"/>
          <p:cNvSpPr/>
          <p:nvPr/>
        </p:nvSpPr>
        <p:spPr>
          <a:xfrm>
            <a:off x="548640" y="4206240"/>
            <a:ext cx="11094415" cy="731520"/>
          </a:xfrm>
          <a:prstGeom prst="roundRect">
            <a:avLst>
              <a:gd name="adj" fmla="val 10000"/>
            </a:avLst>
          </a:prstGeom>
          <a:solidFill>
            <a:srgbClr val="1E1E2E"/>
          </a:solidFill>
          <a:ln w="12700">
            <a:solidFill>
              <a:srgbClr val="1E1E2E"/>
            </a:solidFill>
            <a:prstDash val="solid"/>
          </a:ln>
        </p:spPr>
      </p:sp>
      <p:sp>
        <p:nvSpPr>
          <p:cNvPr id="18" name="Text 15"/>
          <p:cNvSpPr txBox="1"/>
          <p:nvPr/>
        </p:nvSpPr>
        <p:spPr>
          <a:xfrm>
            <a:off x="731520" y="4343400"/>
            <a:ext cx="10728655" cy="457200"/>
          </a:xfrm>
          <a:prstGeom prst="rect">
            <a:avLst/>
          </a:prstGeom>
          <a:noFill/>
          <a:ln/>
        </p:spPr>
        <p:txBody>
          <a:bodyPr wrap="square" lIns="0" tIns="0" rIns="0" bIns="0" rtlCol="0" anchor="t"/>
          <a:lstStyle/>
          <a:p>
            <a:pPr indent="0" marL="0">
              <a:buNone/>
            </a:pPr>
            <a:r>
              <a:rPr lang="en-US" sz="2000" dirty="0">
                <a:solidFill>
                  <a:srgbClr val="E6E6F0"/>
                </a:solidFill>
                <a:latin typeface="Courier New" pitchFamily="34" charset="0"/>
                <a:ea typeface="Courier New" pitchFamily="34" charset="-122"/>
                <a:cs typeface="Courier New" pitchFamily="34" charset="-120"/>
              </a:rPr>
              <a:t>Plan: 2 to add, 0 to change, 0 to destroy.</a:t>
            </a:r>
            <a:endParaRPr lang="en-US" sz="2000" dirty="0"/>
          </a:p>
        </p:txBody>
      </p:sp>
      <p:sp>
        <p:nvSpPr>
          <p:cNvPr id="19" name="Shape 16"/>
          <p:cNvSpPr/>
          <p:nvPr/>
        </p:nvSpPr>
        <p:spPr>
          <a:xfrm>
            <a:off x="548640" y="5212080"/>
            <a:ext cx="11094415" cy="777240"/>
          </a:xfrm>
          <a:prstGeom prst="roundRect">
            <a:avLst>
              <a:gd name="adj" fmla="val 11765"/>
            </a:avLst>
          </a:prstGeom>
          <a:solidFill>
            <a:srgbClr val="FBE9E9"/>
          </a:solidFill>
          <a:ln w="12700">
            <a:solidFill>
              <a:srgbClr val="FBE9E9"/>
            </a:solidFill>
            <a:prstDash val="solid"/>
          </a:ln>
        </p:spPr>
      </p:sp>
      <p:sp>
        <p:nvSpPr>
          <p:cNvPr id="20" name="Text 17"/>
          <p:cNvSpPr txBox="1"/>
          <p:nvPr/>
        </p:nvSpPr>
        <p:spPr>
          <a:xfrm>
            <a:off x="822960" y="52120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 inatteso? Fermati. Su un database vuol dire perdere i dati.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 state: il punto più delicato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2651760" cy="914400"/>
          </a:xfrm>
          <a:prstGeom prst="roundRect">
            <a:avLst>
              <a:gd name="adj" fmla="val 10000"/>
            </a:avLst>
          </a:prstGeom>
          <a:solidFill>
            <a:srgbClr val="EEEAFB"/>
          </a:solidFill>
          <a:ln w="12700">
            <a:solidFill>
              <a:srgbClr val="EEEAFB"/>
            </a:solidFill>
            <a:prstDash val="solid"/>
          </a:ln>
        </p:spPr>
      </p:sp>
      <p:sp>
        <p:nvSpPr>
          <p:cNvPr id="6" name="Text 3"/>
          <p:cNvSpPr txBox="1"/>
          <p:nvPr/>
        </p:nvSpPr>
        <p:spPr>
          <a:xfrm>
            <a:off x="548640" y="1463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Codice .tf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voglio</a:t>
            </a:r>
            <a:endParaRPr lang="en-US" sz="1500" dirty="0"/>
          </a:p>
        </p:txBody>
      </p:sp>
      <p:sp>
        <p:nvSpPr>
          <p:cNvPr id="7" name="Shape 4"/>
          <p:cNvSpPr/>
          <p:nvPr/>
        </p:nvSpPr>
        <p:spPr>
          <a:xfrm>
            <a:off x="548640" y="2606040"/>
            <a:ext cx="2651760" cy="914400"/>
          </a:xfrm>
          <a:prstGeom prst="roundRect">
            <a:avLst>
              <a:gd name="adj" fmla="val 10000"/>
            </a:avLst>
          </a:prstGeom>
          <a:solidFill>
            <a:srgbClr val="FDF0E3"/>
          </a:solidFill>
          <a:ln w="12700">
            <a:solidFill>
              <a:srgbClr val="FDF0E3"/>
            </a:solidFill>
            <a:prstDash val="solid"/>
          </a:ln>
        </p:spPr>
      </p:sp>
      <p:sp>
        <p:nvSpPr>
          <p:cNvPr id="8" name="Text 5"/>
          <p:cNvSpPr txBox="1"/>
          <p:nvPr/>
        </p:nvSpPr>
        <p:spPr>
          <a:xfrm>
            <a:off x="548640" y="2606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State</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ho creato</a:t>
            </a:r>
            <a:endParaRPr lang="en-US" sz="1500" dirty="0"/>
          </a:p>
        </p:txBody>
      </p:sp>
      <p:sp>
        <p:nvSpPr>
          <p:cNvPr id="9" name="Shape 6"/>
          <p:cNvSpPr/>
          <p:nvPr/>
        </p:nvSpPr>
        <p:spPr>
          <a:xfrm>
            <a:off x="548640" y="3749040"/>
            <a:ext cx="2651760" cy="914400"/>
          </a:xfrm>
          <a:prstGeom prst="roundRect">
            <a:avLst>
              <a:gd name="adj" fmla="val 10000"/>
            </a:avLst>
          </a:prstGeom>
          <a:solidFill>
            <a:srgbClr val="EEEAFB"/>
          </a:solidFill>
          <a:ln w="12700">
            <a:solidFill>
              <a:srgbClr val="EEEAFB"/>
            </a:solidFill>
            <a:prstDash val="solid"/>
          </a:ln>
        </p:spPr>
      </p:sp>
      <p:sp>
        <p:nvSpPr>
          <p:cNvPr id="10" name="Text 7"/>
          <p:cNvSpPr txBox="1"/>
          <p:nvPr/>
        </p:nvSpPr>
        <p:spPr>
          <a:xfrm>
            <a:off x="548640" y="3749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AWS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esiste davvero</a:t>
            </a:r>
            <a:endParaRPr lang="en-US" sz="1500" dirty="0"/>
          </a:p>
        </p:txBody>
      </p:sp>
      <p:sp>
        <p:nvSpPr>
          <p:cNvPr id="11" name="Shape 8"/>
          <p:cNvSpPr/>
          <p:nvPr/>
        </p:nvSpPr>
        <p:spPr>
          <a:xfrm>
            <a:off x="3246120" y="1920240"/>
            <a:ext cx="731520" cy="1097280"/>
          </a:xfrm>
          <a:prstGeom prst="line">
            <a:avLst/>
          </a:prstGeom>
          <a:noFill/>
          <a:ln w="25400">
            <a:solidFill>
              <a:srgbClr val="5F6478"/>
            </a:solidFill>
            <a:prstDash val="solid"/>
            <a:tailEnd type="triangle"/>
          </a:ln>
        </p:spPr>
      </p:sp>
      <p:sp>
        <p:nvSpPr>
          <p:cNvPr id="12" name="Shape 9"/>
          <p:cNvSpPr/>
          <p:nvPr/>
        </p:nvSpPr>
        <p:spPr>
          <a:xfrm>
            <a:off x="3246120" y="3063240"/>
            <a:ext cx="731520" cy="0"/>
          </a:xfrm>
          <a:prstGeom prst="line">
            <a:avLst/>
          </a:prstGeom>
          <a:noFill/>
          <a:ln w="25400">
            <a:solidFill>
              <a:srgbClr val="5F6478"/>
            </a:solidFill>
            <a:prstDash val="solid"/>
            <a:tailEnd type="triangle"/>
          </a:ln>
        </p:spPr>
      </p:sp>
      <p:sp>
        <p:nvSpPr>
          <p:cNvPr id="13" name="Shape 10"/>
          <p:cNvSpPr/>
          <p:nvPr/>
        </p:nvSpPr>
        <p:spPr>
          <a:xfrm>
            <a:off x="3246120" y="4206240"/>
            <a:ext cx="731520" cy="-1097280"/>
          </a:xfrm>
          <a:prstGeom prst="line">
            <a:avLst/>
          </a:prstGeom>
          <a:noFill/>
          <a:ln w="25400">
            <a:solidFill>
              <a:srgbClr val="5F6478"/>
            </a:solidFill>
            <a:prstDash val="solid"/>
            <a:tailEnd type="triangle"/>
          </a:ln>
        </p:spPr>
      </p:sp>
      <p:sp>
        <p:nvSpPr>
          <p:cNvPr id="14" name="Shape 11"/>
          <p:cNvSpPr/>
          <p:nvPr/>
        </p:nvSpPr>
        <p:spPr>
          <a:xfrm>
            <a:off x="4023360" y="2514600"/>
            <a:ext cx="2011680" cy="1097280"/>
          </a:xfrm>
          <a:prstGeom prst="roundRect">
            <a:avLst>
              <a:gd name="adj" fmla="val 8333"/>
            </a:avLst>
          </a:prstGeom>
          <a:solidFill>
            <a:srgbClr val="5B3FD0"/>
          </a:solidFill>
          <a:ln w="12700">
            <a:solidFill>
              <a:srgbClr val="5B3FD0"/>
            </a:solidFill>
            <a:prstDash val="solid"/>
          </a:ln>
        </p:spPr>
      </p:sp>
      <p:sp>
        <p:nvSpPr>
          <p:cNvPr id="15" name="Text 12"/>
          <p:cNvSpPr txBox="1"/>
          <p:nvPr/>
        </p:nvSpPr>
        <p:spPr>
          <a:xfrm>
            <a:off x="4023360" y="2514600"/>
            <a:ext cx="2011680" cy="1097280"/>
          </a:xfrm>
          <a:prstGeom prst="rect">
            <a:avLst/>
          </a:prstGeom>
          <a:noFill/>
          <a:ln/>
        </p:spPr>
        <p:txBody>
          <a:bodyPr wrap="square" lIns="76200" tIns="76200" rIns="76200" bIns="7620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terraform plan</a:t>
            </a:r>
            <a:endParaRPr lang="en-US" sz="1500" dirty="0"/>
          </a:p>
          <a:p>
            <a:pPr algn="ctr" indent="0" marL="0">
              <a:buNone/>
            </a:pPr>
            <a:r>
              <a:rPr lang="en-US" sz="1500" b="1" dirty="0">
                <a:solidFill>
                  <a:srgbClr val="FFFFFF"/>
                </a:solidFill>
                <a:latin typeface="Courier New" pitchFamily="34" charset="0"/>
                <a:ea typeface="Courier New" pitchFamily="34" charset="-122"/>
                <a:cs typeface="Courier New" pitchFamily="34" charset="-120"/>
              </a:rPr>
              <a:t>confronta</a:t>
            </a:r>
            <a:endParaRPr lang="en-US" sz="1500" dirty="0"/>
          </a:p>
        </p:txBody>
      </p:sp>
      <p:sp>
        <p:nvSpPr>
          <p:cNvPr id="16" name="Shape 13"/>
          <p:cNvSpPr/>
          <p:nvPr/>
        </p:nvSpPr>
        <p:spPr>
          <a:xfrm>
            <a:off x="6492240" y="1417320"/>
            <a:ext cx="685800" cy="685800"/>
          </a:xfrm>
          <a:prstGeom prst="ellipse">
            <a:avLst/>
          </a:prstGeom>
          <a:solidFill>
            <a:srgbClr val="D64545"/>
          </a:solidFill>
          <a:ln w="12700">
            <a:solidFill>
              <a:srgbClr val="D64545"/>
            </a:solidFill>
            <a:prstDash val="solid"/>
          </a:ln>
        </p:spPr>
      </p:sp>
      <p:pic>
        <p:nvPicPr>
          <p:cNvPr id="17" name="Image 0" descr="preencoded.png">    </p:cNvPr>
          <p:cNvPicPr>
            <a:picLocks noChangeAspect="1"/>
          </p:cNvPicPr>
          <p:nvPr/>
        </p:nvPicPr>
        <p:blipFill>
          <a:blip r:embed="rId1"/>
          <a:stretch>
            <a:fillRect/>
          </a:stretch>
        </p:blipFill>
        <p:spPr>
          <a:xfrm>
            <a:off x="6663690" y="1588770"/>
            <a:ext cx="342900" cy="342900"/>
          </a:xfrm>
          <a:prstGeom prst="rect">
            <a:avLst/>
          </a:prstGeom>
        </p:spPr>
      </p:pic>
      <p:sp>
        <p:nvSpPr>
          <p:cNvPr id="18" name="Text 14"/>
          <p:cNvSpPr txBox="1"/>
          <p:nvPr/>
        </p:nvSpPr>
        <p:spPr>
          <a:xfrm>
            <a:off x="7360920" y="137160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 in Git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contiene password e chiavi in chiaro</a:t>
            </a:r>
            <a:endParaRPr lang="en-US" sz="1800" dirty="0"/>
          </a:p>
        </p:txBody>
      </p:sp>
      <p:sp>
        <p:nvSpPr>
          <p:cNvPr id="19" name="Shape 15"/>
          <p:cNvSpPr/>
          <p:nvPr/>
        </p:nvSpPr>
        <p:spPr>
          <a:xfrm>
            <a:off x="6492240" y="2514600"/>
            <a:ext cx="685800" cy="685800"/>
          </a:xfrm>
          <a:prstGeom prst="ellipse">
            <a:avLst/>
          </a:prstGeom>
          <a:solidFill>
            <a:srgbClr val="5B3FD0"/>
          </a:solidFill>
          <a:ln w="12700">
            <a:solidFill>
              <a:srgbClr val="5B3FD0"/>
            </a:solidFill>
            <a:prstDash val="solid"/>
          </a:ln>
        </p:spPr>
      </p:sp>
      <p:pic>
        <p:nvPicPr>
          <p:cNvPr id="20" name="Image 1" descr="preencoded.png">    </p:cNvPr>
          <p:cNvPicPr>
            <a:picLocks noChangeAspect="1"/>
          </p:cNvPicPr>
          <p:nvPr/>
        </p:nvPicPr>
        <p:blipFill>
          <a:blip r:embed="rId2"/>
          <a:stretch>
            <a:fillRect/>
          </a:stretch>
        </p:blipFill>
        <p:spPr>
          <a:xfrm>
            <a:off x="6663690" y="2686050"/>
            <a:ext cx="342900" cy="342900"/>
          </a:xfrm>
          <a:prstGeom prst="rect">
            <a:avLst/>
          </a:prstGeom>
        </p:spPr>
      </p:pic>
      <p:sp>
        <p:nvSpPr>
          <p:cNvPr id="21" name="Text 16"/>
          <p:cNvSpPr txBox="1"/>
          <p:nvPr/>
        </p:nvSpPr>
        <p:spPr>
          <a:xfrm>
            <a:off x="7360920" y="246888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Remoto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 un bucket S3, non sul portatile</a:t>
            </a:r>
            <a:endParaRPr lang="en-US" sz="1800" dirty="0"/>
          </a:p>
        </p:txBody>
      </p:sp>
      <p:sp>
        <p:nvSpPr>
          <p:cNvPr id="22" name="Shape 17"/>
          <p:cNvSpPr/>
          <p:nvPr/>
        </p:nvSpPr>
        <p:spPr>
          <a:xfrm>
            <a:off x="6492240" y="3611880"/>
            <a:ext cx="685800" cy="685800"/>
          </a:xfrm>
          <a:prstGeom prst="ellipse">
            <a:avLst/>
          </a:prstGeom>
          <a:solidFill>
            <a:srgbClr val="5B3FD0"/>
          </a:solidFill>
          <a:ln w="12700">
            <a:solidFill>
              <a:srgbClr val="5B3FD0"/>
            </a:solidFill>
            <a:prstDash val="solid"/>
          </a:ln>
        </p:spPr>
      </p:sp>
      <p:pic>
        <p:nvPicPr>
          <p:cNvPr id="23" name="Image 2" descr="preencoded.png">    </p:cNvPr>
          <p:cNvPicPr>
            <a:picLocks noChangeAspect="1"/>
          </p:cNvPicPr>
          <p:nvPr/>
        </p:nvPicPr>
        <p:blipFill>
          <a:blip r:embed="rId3"/>
          <a:stretch>
            <a:fillRect/>
          </a:stretch>
        </p:blipFill>
        <p:spPr>
          <a:xfrm>
            <a:off x="6663690" y="3783330"/>
            <a:ext cx="342900" cy="342900"/>
          </a:xfrm>
          <a:prstGeom prst="rect">
            <a:avLst/>
          </a:prstGeom>
        </p:spPr>
      </p:pic>
      <p:sp>
        <p:nvSpPr>
          <p:cNvPr id="24" name="Text 18"/>
          <p:cNvSpPr txBox="1"/>
          <p:nvPr/>
        </p:nvSpPr>
        <p:spPr>
          <a:xfrm>
            <a:off x="7360920" y="356616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lock</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uno alla volta: due apply insieme lo rovinano</a:t>
            </a:r>
            <a:endParaRPr lang="en-US" sz="1800" dirty="0"/>
          </a:p>
        </p:txBody>
      </p:sp>
      <p:sp>
        <p:nvSpPr>
          <p:cNvPr id="25" name="Shape 19"/>
          <p:cNvSpPr/>
          <p:nvPr/>
        </p:nvSpPr>
        <p:spPr>
          <a:xfrm>
            <a:off x="6492240" y="4709160"/>
            <a:ext cx="685800" cy="685800"/>
          </a:xfrm>
          <a:prstGeom prst="ellipse">
            <a:avLst/>
          </a:prstGeom>
          <a:solidFill>
            <a:srgbClr val="5B3FD0"/>
          </a:solidFill>
          <a:ln w="12700">
            <a:solidFill>
              <a:srgbClr val="5B3FD0"/>
            </a:solidFill>
            <a:prstDash val="solid"/>
          </a:ln>
        </p:spPr>
      </p:sp>
      <p:pic>
        <p:nvPicPr>
          <p:cNvPr id="26" name="Image 3" descr="preencoded.png">    </p:cNvPr>
          <p:cNvPicPr>
            <a:picLocks noChangeAspect="1"/>
          </p:cNvPicPr>
          <p:nvPr/>
        </p:nvPicPr>
        <p:blipFill>
          <a:blip r:embed="rId4"/>
          <a:stretch>
            <a:fillRect/>
          </a:stretch>
        </p:blipFill>
        <p:spPr>
          <a:xfrm>
            <a:off x="6663690" y="4880610"/>
            <a:ext cx="342900" cy="342900"/>
          </a:xfrm>
          <a:prstGeom prst="rect">
            <a:avLst/>
          </a:prstGeom>
        </p:spPr>
      </p:pic>
      <p:sp>
        <p:nvSpPr>
          <p:cNvPr id="27" name="Text 20"/>
          <p:cNvSpPr txBox="1"/>
          <p:nvPr/>
        </p:nvSpPr>
        <p:spPr>
          <a:xfrm>
            <a:off x="7360920" y="466344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 a mano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si usano i comandi terraform state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State locale o remoto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463040"/>
            <a:ext cx="4206240" cy="4480560"/>
          </a:xfrm>
          <a:prstGeom prst="roundRect">
            <a:avLst>
              <a:gd name="adj" fmla="val 2609"/>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301752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Locale</a:t>
            </a:r>
            <a:endParaRPr lang="en-US" sz="1800" dirty="0"/>
          </a:p>
        </p:txBody>
      </p:sp>
      <p:sp>
        <p:nvSpPr>
          <p:cNvPr id="9" name="Text 5"/>
          <p:cNvSpPr txBox="1"/>
          <p:nvPr/>
        </p:nvSpPr>
        <p:spPr>
          <a:xfrm>
            <a:off x="777240" y="2377440"/>
            <a:ext cx="3749040" cy="33832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File terraform.tfstate nella cartella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 backend.tf</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Va bene per imparare</a:t>
            </a:r>
            <a:endParaRPr lang="en-US" sz="1700" dirty="0"/>
          </a:p>
        </p:txBody>
      </p:sp>
      <p:sp>
        <p:nvSpPr>
          <p:cNvPr id="10" name="Shape 6"/>
          <p:cNvSpPr/>
          <p:nvPr/>
        </p:nvSpPr>
        <p:spPr>
          <a:xfrm>
            <a:off x="4937760" y="1463040"/>
            <a:ext cx="6702552" cy="1554480"/>
          </a:xfrm>
          <a:prstGeom prst="roundRect">
            <a:avLst>
              <a:gd name="adj" fmla="val 7059"/>
            </a:avLst>
          </a:prstGeom>
          <a:solidFill>
            <a:srgbClr val="FDF0E3"/>
          </a:solidFill>
          <a:ln w="12700">
            <a:solidFill>
              <a:srgbClr val="FDF0E3"/>
            </a:solidFill>
            <a:prstDash val="solid"/>
          </a:ln>
        </p:spPr>
      </p:sp>
      <p:sp>
        <p:nvSpPr>
          <p:cNvPr id="11" name="Shape 7"/>
          <p:cNvSpPr/>
          <p:nvPr/>
        </p:nvSpPr>
        <p:spPr>
          <a:xfrm>
            <a:off x="5166360" y="169164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5303520" y="1828800"/>
            <a:ext cx="274320" cy="274320"/>
          </a:xfrm>
          <a:prstGeom prst="rect">
            <a:avLst/>
          </a:prstGeom>
        </p:spPr>
      </p:pic>
      <p:sp>
        <p:nvSpPr>
          <p:cNvPr id="13" name="Text 8"/>
          <p:cNvSpPr txBox="1"/>
          <p:nvPr/>
        </p:nvSpPr>
        <p:spPr>
          <a:xfrm>
            <a:off x="5897880" y="1691640"/>
            <a:ext cx="55138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Remoto: bucket S3 + lock</a:t>
            </a:r>
            <a:endParaRPr lang="en-US" sz="1800" dirty="0"/>
          </a:p>
        </p:txBody>
      </p:sp>
      <p:sp>
        <p:nvSpPr>
          <p:cNvPr id="14" name="Text 9"/>
          <p:cNvSpPr txBox="1"/>
          <p:nvPr/>
        </p:nvSpPr>
        <p:spPr>
          <a:xfrm>
            <a:off x="5166360" y="2377440"/>
            <a:ext cx="6245352" cy="4572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 lavorare davvero, da soli o in squadra</a:t>
            </a:r>
            <a:endParaRPr lang="en-US" sz="1600" dirty="0"/>
          </a:p>
        </p:txBody>
      </p:sp>
      <p:sp>
        <p:nvSpPr>
          <p:cNvPr id="15" name="Shape 10"/>
          <p:cNvSpPr/>
          <p:nvPr/>
        </p:nvSpPr>
        <p:spPr>
          <a:xfrm>
            <a:off x="4937760" y="3200400"/>
            <a:ext cx="6702552" cy="2743200"/>
          </a:xfrm>
          <a:prstGeom prst="roundRect">
            <a:avLst>
              <a:gd name="adj" fmla="val 2667"/>
            </a:avLst>
          </a:prstGeom>
          <a:solidFill>
            <a:srgbClr val="1E1E2E"/>
          </a:solidFill>
          <a:ln w="12700">
            <a:solidFill>
              <a:srgbClr val="1E1E2E"/>
            </a:solidFill>
            <a:prstDash val="solid"/>
          </a:ln>
        </p:spPr>
      </p:sp>
      <p:sp>
        <p:nvSpPr>
          <p:cNvPr id="16" name="Text 11"/>
          <p:cNvSpPr txBox="1"/>
          <p:nvPr/>
        </p:nvSpPr>
        <p:spPr>
          <a:xfrm>
            <a:off x="5120640" y="3337560"/>
            <a:ext cx="6336792" cy="2468880"/>
          </a:xfrm>
          <a:prstGeom prst="rect">
            <a:avLst/>
          </a:prstGeom>
          <a:noFill/>
          <a:ln/>
        </p:spPr>
        <p:txBody>
          <a:bodyPr wrap="square" lIns="0" tIns="0" rIns="0" bIns="0" rtlCol="0" anchor="t"/>
          <a:lstStyle/>
          <a:p>
            <a:pPr indent="0" marL="0">
              <a:buNone/>
            </a:pPr>
            <a:r>
              <a:rPr lang="en-US" sz="1400" dirty="0">
                <a:solidFill>
                  <a:srgbClr val="E6E6F0"/>
                </a:solidFill>
                <a:latin typeface="Courier New" pitchFamily="34" charset="0"/>
                <a:ea typeface="Courier New" pitchFamily="34" charset="-122"/>
                <a:cs typeface="Courier New" pitchFamily="34" charset="-120"/>
              </a:rPr>
              <a:t>terraform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backend "s3"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bucket       = "corso-aws-tfstate-&lt;account&gt;"</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key          = "corso/terraform.tfstate"</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region       = "eu-south-1"</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encrypt      = true   </a:t>
            </a:r>
            <a:pPr indent="0" marL="0">
              <a:buNone/>
            </a:pPr>
            <a:r>
              <a:rPr lang="en-US" sz="1400" dirty="0">
                <a:solidFill>
                  <a:srgbClr val="8FD694"/>
                </a:solidFill>
                <a:latin typeface="Courier New" pitchFamily="34" charset="0"/>
                <a:ea typeface="Courier New" pitchFamily="34" charset="-122"/>
                <a:cs typeface="Courier New" pitchFamily="34" charset="-120"/>
              </a:rPr>
              <a:t># state cifrato</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use_lockfile = true   </a:t>
            </a:r>
            <a:pPr indent="0" marL="0">
              <a:buNone/>
            </a:pPr>
            <a:r>
              <a:rPr lang="en-US" sz="1400" dirty="0">
                <a:solidFill>
                  <a:srgbClr val="8FD694"/>
                </a:solidFill>
                <a:latin typeface="Courier New" pitchFamily="34" charset="0"/>
                <a:ea typeface="Courier New" pitchFamily="34" charset="-122"/>
                <a:cs typeface="Courier New" pitchFamily="34" charset="-120"/>
              </a:rPr>
              <a:t># lock su S3</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si autentica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1234440" y="1463040"/>
            <a:ext cx="822960" cy="82296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440180" y="1668780"/>
            <a:ext cx="411480" cy="411480"/>
          </a:xfrm>
          <a:prstGeom prst="rect">
            <a:avLst/>
          </a:prstGeom>
        </p:spPr>
      </p:pic>
      <p:sp>
        <p:nvSpPr>
          <p:cNvPr id="7" name="Text 3"/>
          <p:cNvSpPr txBox="1"/>
          <p:nvPr/>
        </p:nvSpPr>
        <p:spPr>
          <a:xfrm>
            <a:off x="5486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aws sso login</a:t>
            </a:r>
            <a:endParaRPr lang="en-US" sz="1600" dirty="0"/>
          </a:p>
        </p:txBody>
      </p:sp>
      <p:sp>
        <p:nvSpPr>
          <p:cNvPr id="8" name="Text 4"/>
          <p:cNvSpPr txBox="1"/>
          <p:nvPr/>
        </p:nvSpPr>
        <p:spPr>
          <a:xfrm>
            <a:off x="5486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login nel browser, con MFA</a:t>
            </a:r>
            <a:endParaRPr lang="en-US" sz="1400" dirty="0"/>
          </a:p>
        </p:txBody>
      </p:sp>
      <p:sp>
        <p:nvSpPr>
          <p:cNvPr id="9" name="Shape 5"/>
          <p:cNvSpPr/>
          <p:nvPr/>
        </p:nvSpPr>
        <p:spPr>
          <a:xfrm>
            <a:off x="2194560" y="1874520"/>
            <a:ext cx="1463040" cy="0"/>
          </a:xfrm>
          <a:prstGeom prst="line">
            <a:avLst/>
          </a:prstGeom>
          <a:noFill/>
          <a:ln w="25400">
            <a:solidFill>
              <a:srgbClr val="D9D6EC"/>
            </a:solidFill>
            <a:prstDash val="solid"/>
            <a:tailEnd type="triangle"/>
          </a:ln>
        </p:spPr>
      </p:sp>
      <p:sp>
        <p:nvSpPr>
          <p:cNvPr id="10" name="Shape 6"/>
          <p:cNvSpPr/>
          <p:nvPr/>
        </p:nvSpPr>
        <p:spPr>
          <a:xfrm>
            <a:off x="3749040" y="1463040"/>
            <a:ext cx="822960" cy="82296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3954780" y="1668780"/>
            <a:ext cx="411480" cy="411480"/>
          </a:xfrm>
          <a:prstGeom prst="rect">
            <a:avLst/>
          </a:prstGeom>
        </p:spPr>
      </p:pic>
      <p:sp>
        <p:nvSpPr>
          <p:cNvPr id="12" name="Text 7"/>
          <p:cNvSpPr txBox="1"/>
          <p:nvPr/>
        </p:nvSpPr>
        <p:spPr>
          <a:xfrm>
            <a:off x="30632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Credenziali temporanee</a:t>
            </a:r>
            <a:endParaRPr lang="en-US" sz="1600" dirty="0"/>
          </a:p>
        </p:txBody>
      </p:sp>
      <p:sp>
        <p:nvSpPr>
          <p:cNvPr id="13" name="Text 8"/>
          <p:cNvSpPr txBox="1"/>
          <p:nvPr/>
        </p:nvSpPr>
        <p:spPr>
          <a:xfrm>
            <a:off x="30632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scadono da sole</a:t>
            </a:r>
            <a:endParaRPr lang="en-US" sz="1400" dirty="0"/>
          </a:p>
        </p:txBody>
      </p:sp>
      <p:sp>
        <p:nvSpPr>
          <p:cNvPr id="14" name="Shape 9"/>
          <p:cNvSpPr/>
          <p:nvPr/>
        </p:nvSpPr>
        <p:spPr>
          <a:xfrm>
            <a:off x="4709160" y="1874520"/>
            <a:ext cx="1463040" cy="0"/>
          </a:xfrm>
          <a:prstGeom prst="line">
            <a:avLst/>
          </a:prstGeom>
          <a:noFill/>
          <a:ln w="25400">
            <a:solidFill>
              <a:srgbClr val="D9D6EC"/>
            </a:solidFill>
            <a:prstDash val="solid"/>
            <a:tailEnd type="triangle"/>
          </a:ln>
        </p:spPr>
      </p:sp>
      <p:sp>
        <p:nvSpPr>
          <p:cNvPr id="15" name="Shape 10"/>
          <p:cNvSpPr/>
          <p:nvPr/>
        </p:nvSpPr>
        <p:spPr>
          <a:xfrm>
            <a:off x="6263640" y="1463040"/>
            <a:ext cx="822960" cy="82296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6469380" y="1668780"/>
            <a:ext cx="411480" cy="411480"/>
          </a:xfrm>
          <a:prstGeom prst="rect">
            <a:avLst/>
          </a:prstGeom>
        </p:spPr>
      </p:pic>
      <p:sp>
        <p:nvSpPr>
          <p:cNvPr id="17" name="Text 11"/>
          <p:cNvSpPr txBox="1"/>
          <p:nvPr/>
        </p:nvSpPr>
        <p:spPr>
          <a:xfrm>
            <a:off x="55778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Terraform e CLI</a:t>
            </a:r>
            <a:endParaRPr lang="en-US" sz="1600" dirty="0"/>
          </a:p>
        </p:txBody>
      </p:sp>
      <p:sp>
        <p:nvSpPr>
          <p:cNvPr id="18" name="Text 12"/>
          <p:cNvSpPr txBox="1"/>
          <p:nvPr/>
        </p:nvSpPr>
        <p:spPr>
          <a:xfrm>
            <a:off x="55778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le usano dal profilo corso</a:t>
            </a:r>
            <a:endParaRPr lang="en-US" sz="1400" dirty="0"/>
          </a:p>
        </p:txBody>
      </p:sp>
      <p:sp>
        <p:nvSpPr>
          <p:cNvPr id="19" name="Shape 13"/>
          <p:cNvSpPr/>
          <p:nvPr/>
        </p:nvSpPr>
        <p:spPr>
          <a:xfrm>
            <a:off x="548640" y="3657600"/>
            <a:ext cx="7223760" cy="1737360"/>
          </a:xfrm>
          <a:prstGeom prst="roundRect">
            <a:avLst>
              <a:gd name="adj" fmla="val 4211"/>
            </a:avLst>
          </a:prstGeom>
          <a:solidFill>
            <a:srgbClr val="1E1E2E"/>
          </a:solidFill>
          <a:ln w="12700">
            <a:solidFill>
              <a:srgbClr val="1E1E2E"/>
            </a:solidFill>
            <a:prstDash val="solid"/>
          </a:ln>
        </p:spPr>
      </p:sp>
      <p:sp>
        <p:nvSpPr>
          <p:cNvPr id="20" name="Text 14"/>
          <p:cNvSpPr txBox="1"/>
          <p:nvPr/>
        </p:nvSpPr>
        <p:spPr>
          <a:xfrm>
            <a:off x="731520" y="3794760"/>
            <a:ext cx="6858000" cy="14630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sso login --profile corso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export AWS_PROFILE=corso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aws sts get-caller-identity   </a:t>
            </a:r>
            <a:pPr indent="0" marL="0">
              <a:buNone/>
            </a:pPr>
            <a:r>
              <a:rPr lang="en-US" sz="1600" dirty="0">
                <a:solidFill>
                  <a:srgbClr val="8FD694"/>
                </a:solidFill>
                <a:latin typeface="Courier New" pitchFamily="34" charset="0"/>
                <a:ea typeface="Courier New" pitchFamily="34" charset="-122"/>
                <a:cs typeface="Courier New" pitchFamily="34" charset="-120"/>
              </a:rPr>
              <a:t># chi sono?</a:t>
            </a:r>
            <a:endParaRPr lang="en-US" sz="1600" dirty="0"/>
          </a:p>
        </p:txBody>
      </p:sp>
      <p:sp>
        <p:nvSpPr>
          <p:cNvPr id="21" name="Shape 15"/>
          <p:cNvSpPr/>
          <p:nvPr/>
        </p:nvSpPr>
        <p:spPr>
          <a:xfrm>
            <a:off x="8138160" y="1463040"/>
            <a:ext cx="3502152" cy="3931920"/>
          </a:xfrm>
          <a:prstGeom prst="roundRect">
            <a:avLst>
              <a:gd name="adj" fmla="val 3133"/>
            </a:avLst>
          </a:prstGeom>
          <a:solidFill>
            <a:srgbClr val="FBE9E9"/>
          </a:solidFill>
          <a:ln w="12700">
            <a:solidFill>
              <a:srgbClr val="FBE9E9"/>
            </a:solidFill>
            <a:prstDash val="solid"/>
          </a:ln>
        </p:spPr>
      </p:sp>
      <p:sp>
        <p:nvSpPr>
          <p:cNvPr id="22" name="Shape 16"/>
          <p:cNvSpPr/>
          <p:nvPr/>
        </p:nvSpPr>
        <p:spPr>
          <a:xfrm>
            <a:off x="8366760" y="1691640"/>
            <a:ext cx="548640" cy="548640"/>
          </a:xfrm>
          <a:prstGeom prst="ellipse">
            <a:avLst/>
          </a:prstGeom>
          <a:solidFill>
            <a:srgbClr val="D64545"/>
          </a:solidFill>
          <a:ln w="12700">
            <a:solidFill>
              <a:srgbClr val="D64545"/>
            </a:solidFill>
            <a:prstDash val="solid"/>
          </a:ln>
        </p:spPr>
      </p:sp>
      <p:pic>
        <p:nvPicPr>
          <p:cNvPr id="23" name="Image 3" descr="preencoded.png">    </p:cNvPr>
          <p:cNvPicPr>
            <a:picLocks noChangeAspect="1"/>
          </p:cNvPicPr>
          <p:nvPr/>
        </p:nvPicPr>
        <p:blipFill>
          <a:blip r:embed="rId4"/>
          <a:stretch>
            <a:fillRect/>
          </a:stretch>
        </p:blipFill>
        <p:spPr>
          <a:xfrm>
            <a:off x="8503920" y="1828800"/>
            <a:ext cx="274320" cy="274320"/>
          </a:xfrm>
          <a:prstGeom prst="rect">
            <a:avLst/>
          </a:prstGeom>
        </p:spPr>
      </p:pic>
      <p:sp>
        <p:nvSpPr>
          <p:cNvPr id="24" name="Text 17"/>
          <p:cNvSpPr txBox="1"/>
          <p:nvPr/>
        </p:nvSpPr>
        <p:spPr>
          <a:xfrm>
            <a:off x="9098280" y="1691640"/>
            <a:ext cx="23134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a:t>
            </a:r>
            <a:endParaRPr lang="en-US" sz="1800" dirty="0"/>
          </a:p>
        </p:txBody>
      </p:sp>
      <p:sp>
        <p:nvSpPr>
          <p:cNvPr id="25" name="Text 18"/>
          <p:cNvSpPr txBox="1"/>
          <p:nvPr/>
        </p:nvSpPr>
        <p:spPr>
          <a:xfrm>
            <a:off x="8366760" y="2377440"/>
            <a:ext cx="3044952" cy="28346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Access key nel codice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Chiavi permanenti sul portatile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L'utente root</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in 20 minuti</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371600" y="1417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init e plan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quante risorse? perché tre?</a:t>
            </a:r>
            <a:endParaRPr lang="en-US" sz="1800" dirty="0"/>
          </a:p>
        </p:txBody>
      </p:sp>
      <p:sp>
        <p:nvSpPr>
          <p:cNvPr id="8" name="Shape 5"/>
          <p:cNvSpPr/>
          <p:nvPr/>
        </p:nvSpPr>
        <p:spPr>
          <a:xfrm>
            <a:off x="548640" y="265176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651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7"/>
          <p:cNvSpPr txBox="1"/>
          <p:nvPr/>
        </p:nvSpPr>
        <p:spPr>
          <a:xfrm>
            <a:off x="1371600" y="2560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controlla i tag in console</a:t>
            </a:r>
            <a:endParaRPr lang="en-US" sz="1800" dirty="0"/>
          </a:p>
        </p:txBody>
      </p:sp>
      <p:sp>
        <p:nvSpPr>
          <p:cNvPr id="11" name="Shape 8"/>
          <p:cNvSpPr/>
          <p:nvPr/>
        </p:nvSpPr>
        <p:spPr>
          <a:xfrm>
            <a:off x="548640" y="379476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794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Text 10"/>
          <p:cNvSpPr txBox="1"/>
          <p:nvPr/>
        </p:nvSpPr>
        <p:spPr>
          <a:xfrm>
            <a:off x="1371600" y="3703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aggiungi un tag</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a:t>
            </a:r>
            <a:endParaRPr lang="en-US" sz="1800" dirty="0"/>
          </a:p>
        </p:txBody>
      </p:sp>
      <p:sp>
        <p:nvSpPr>
          <p:cNvPr id="14" name="Shape 11"/>
          <p:cNvSpPr/>
          <p:nvPr/>
        </p:nvSpPr>
        <p:spPr>
          <a:xfrm>
            <a:off x="548640" y="493776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937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6" name="Text 13"/>
          <p:cNvSpPr txBox="1"/>
          <p:nvPr/>
        </p:nvSpPr>
        <p:spPr>
          <a:xfrm>
            <a:off x="1371600" y="4846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cambia il nome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 (non applicare)</a:t>
            </a:r>
            <a:endParaRPr lang="en-US" sz="1800" dirty="0"/>
          </a:p>
        </p:txBody>
      </p:sp>
      <p:sp>
        <p:nvSpPr>
          <p:cNvPr id="17" name="Shape 14"/>
          <p:cNvSpPr/>
          <p:nvPr/>
        </p:nvSpPr>
        <p:spPr>
          <a:xfrm>
            <a:off x="6172200" y="1508760"/>
            <a:ext cx="640080" cy="640080"/>
          </a:xfrm>
          <a:prstGeom prst="ellipse">
            <a:avLst/>
          </a:prstGeom>
          <a:solidFill>
            <a:srgbClr val="5B3FD0"/>
          </a:solidFill>
          <a:ln w="12700">
            <a:solidFill>
              <a:srgbClr val="5B3FD0"/>
            </a:solidFill>
            <a:prstDash val="solid"/>
          </a:ln>
        </p:spPr>
      </p:sp>
      <p:sp>
        <p:nvSpPr>
          <p:cNvPr id="18" name="Text 15"/>
          <p:cNvSpPr txBox="1"/>
          <p:nvPr/>
        </p:nvSpPr>
        <p:spPr>
          <a:xfrm>
            <a:off x="6172200" y="1508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9" name="Text 16"/>
          <p:cNvSpPr txBox="1"/>
          <p:nvPr/>
        </p:nvSpPr>
        <p:spPr>
          <a:xfrm>
            <a:off x="6995160" y="1417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tag a mano in console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Terraform vede il drift?</a:t>
            </a:r>
            <a:endParaRPr lang="en-US" sz="1800" dirty="0"/>
          </a:p>
        </p:txBody>
      </p:sp>
      <p:sp>
        <p:nvSpPr>
          <p:cNvPr id="20" name="Shape 17"/>
          <p:cNvSpPr/>
          <p:nvPr/>
        </p:nvSpPr>
        <p:spPr>
          <a:xfrm>
            <a:off x="6172200" y="2651760"/>
            <a:ext cx="640080" cy="640080"/>
          </a:xfrm>
          <a:prstGeom prst="ellipse">
            <a:avLst/>
          </a:prstGeom>
          <a:solidFill>
            <a:srgbClr val="5B3FD0"/>
          </a:solidFill>
          <a:ln w="12700">
            <a:solidFill>
              <a:srgbClr val="5B3FD0"/>
            </a:solidFill>
            <a:prstDash val="solid"/>
          </a:ln>
        </p:spPr>
      </p:sp>
      <p:sp>
        <p:nvSpPr>
          <p:cNvPr id="21" name="Text 18"/>
          <p:cNvSpPr txBox="1"/>
          <p:nvPr/>
        </p:nvSpPr>
        <p:spPr>
          <a:xfrm>
            <a:off x="6172200" y="2651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2" name="Text 19"/>
          <p:cNvSpPr txBox="1"/>
          <p:nvPr/>
        </p:nvSpPr>
        <p:spPr>
          <a:xfrm>
            <a:off x="6995160" y="2560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state list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cosa conosce Terraform?</a:t>
            </a:r>
            <a:endParaRPr lang="en-US" sz="1800" dirty="0"/>
          </a:p>
        </p:txBody>
      </p:sp>
      <p:sp>
        <p:nvSpPr>
          <p:cNvPr id="23" name="Shape 20"/>
          <p:cNvSpPr/>
          <p:nvPr/>
        </p:nvSpPr>
        <p:spPr>
          <a:xfrm>
            <a:off x="6172200" y="3794760"/>
            <a:ext cx="640080" cy="640080"/>
          </a:xfrm>
          <a:prstGeom prst="ellipse">
            <a:avLst/>
          </a:prstGeom>
          <a:solidFill>
            <a:srgbClr val="5B3FD0"/>
          </a:solidFill>
          <a:ln w="12700">
            <a:solidFill>
              <a:srgbClr val="5B3FD0"/>
            </a:solidFill>
            <a:prstDash val="solid"/>
          </a:ln>
        </p:spPr>
      </p:sp>
      <p:sp>
        <p:nvSpPr>
          <p:cNvPr id="24" name="Text 21"/>
          <p:cNvSpPr txBox="1"/>
          <p:nvPr/>
        </p:nvSpPr>
        <p:spPr>
          <a:xfrm>
            <a:off x="6172200" y="3794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25" name="Text 22"/>
          <p:cNvSpPr txBox="1"/>
          <p:nvPr/>
        </p:nvSpPr>
        <p:spPr>
          <a:xfrm>
            <a:off x="6995160" y="3703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sposta lo state su S3</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init -migrate-state</a:t>
            </a:r>
            <a:endParaRPr lang="en-US" sz="1800" dirty="0"/>
          </a:p>
        </p:txBody>
      </p:sp>
      <p:sp>
        <p:nvSpPr>
          <p:cNvPr id="26" name="Shape 23"/>
          <p:cNvSpPr/>
          <p:nvPr/>
        </p:nvSpPr>
        <p:spPr>
          <a:xfrm>
            <a:off x="6172200" y="4937760"/>
            <a:ext cx="640080" cy="640080"/>
          </a:xfrm>
          <a:prstGeom prst="ellipse">
            <a:avLst/>
          </a:prstGeom>
          <a:solidFill>
            <a:srgbClr val="5B3FD0"/>
          </a:solidFill>
          <a:ln w="12700">
            <a:solidFill>
              <a:srgbClr val="5B3FD0"/>
            </a:solidFill>
            <a:prstDash val="solid"/>
          </a:ln>
        </p:spPr>
      </p:sp>
      <p:sp>
        <p:nvSpPr>
          <p:cNvPr id="27" name="Text 24"/>
          <p:cNvSpPr txBox="1"/>
          <p:nvPr/>
        </p:nvSpPr>
        <p:spPr>
          <a:xfrm>
            <a:off x="6172200" y="4937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28" name="Text 25"/>
          <p:cNvSpPr txBox="1"/>
          <p:nvPr/>
        </p:nvSpPr>
        <p:spPr>
          <a:xfrm>
            <a:off x="6995160" y="4846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destroy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si chiude sempre così</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Terraform descrive lo stato desiderato, non i passi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Le dipendenze nascono dai riferimenti tra risorse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plan si legge sempre: un -/+ inatteso è un allarme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Lo state è remoto, cifrato, con lock, fuori da Git</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Credenziali temporanee via SSO, mai nel codice</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dispense/dispensa-0-terraform.md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IAM: chi può fare cosa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2026-09-30T12:05:34Z</dcterms:created>
  <dcterms:modified xsi:type="dcterms:W3CDTF">2026-09-30T12:05:34Z</dcterms:modified>
</cp:coreProperties>
</file>