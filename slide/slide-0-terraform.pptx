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Oggi partiamo da zero: cos'è il cloud, cos'è Terraform, come si scrive un file Terraform, come si usa e perché bisogna stare attenti al suo registro, lo state. Tutto quello che diciamo è nella dispensa 0, che resta come materiale di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cos'è Terraform e perché si usa invece di cliccare. Secondo: come si scrive un file Terraform. Terzo: come si usa, con quattro comandi.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cloud: server, dischi e reti che si affittano da un fornitore invece di comprarli e metterli in una stanza. Si paga per quello che si usa e si crea tutto in pochi minuti. AWS, Amazon Web Services, è il fornitore che usiamo nel corso. Ogni pezzo che si crea, un server, un database, un contenitore di file, si chiama risorsa.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è un programma che si lancia dal terminale. Legge dei file di testo con estensione .tf, in cui descriviamo le risorse che vogliamo, e le crea in AWS al posto nostro. Per parlare con AWS usa un componente chiamato provider, una specie di traduttore. Voi descrivete cosa volete, Terraform lo costruisce.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console è il sito web di AWS, dove si può creare tutto a mano, cliccando. Funziona la prima volta. Il problema arriva dopo: nessuno ricorda cosa è stato cliccato, non si può rifare identico l'ambiente di prova e quello reale, nessuno rivede le modifiche. Con Terraform l'infrastruttura è descritta in file di testo, salvati in Git, un archivio che ricorda ogni modifica.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è un elenco di comandi da eseguire in ordine: è una ricetta. Terraform funziona in modo diverso: gli si descrive il risultato finale, come la foto del piatto pronto. Lui guarda cosa c'è già, confronta con la foto e calcola da solo cosa manca da creare, cambiare o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creare qualsiasi cosa, AWS deve sapere chi siete. Si fa un login nel browser, con il codice dal telefono, e si ottiene un permesso temporaneo che dura qualche ora. Terraform e la CLI, cioè i comandi AWS nel terminale, usano quel permesso. Il profilo corso è l'insieme delle impostazioni salvate per questo corso. Mai usare chiavi fisse o l'utente padrone dell'account. La configurazione passo passo è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primo pezzo di codice. Questo blocco crea in AWS un bucket S3, cioè un contenitore di file online, un po' come una cartella di Dropbox. La prima riga dice: crea una risorsa di tipo aws_s3_bucket, che nel codice chiamo demo. Dentro, le righe nome uguale valore sono gli argomenti: le caratteristiche della risorsa. tags sono etichette libere. lifecycle è un blocco dentro il blocco, che qui dice: non lasciarlo cancellare per sbaglio. Nota: tags ha l'uguale, lifecycle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passa dal file a una risorsa vera? Con quattro comandi, scritti nel terminale dentro la cartella del progetto. init prepara la cartella e scarica il provider, il pezzo che parla con AWS. plan controlla e mostra cosa farebbe, senza toccare niente: qui direbbe 1 to add, una risorsa da creare. apply crea davvero, dopo aver chiesto conferma: si scrive yes. A quel punto il bucket compare nella console AWS. destroy cancella tutto quello che Terraform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plan mostra ogni risorsa con un simbolo. Più: la crea. Tilde: la modifica. Meno barra più: la cancella e la ricrea. Meno: la cancella. Perché si arriva a un meno più? Esempio: cambiate il nome di un bucket. AWS non sa rinominare un bucket, quindi Terraform lo cancella e ne crea uno nuovo, e i file dentro spariscono. Per questo il plan si legge sempre prima di dare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Per ogni tipo di risorsa c'è una pagina di documentazione sul sito di Terraform, con due elenchi. Gli argomenti sono quello che scrivete voi, per esempio il nome. Gli attributi sono quello che AWS calcola dopo aver creato la risorsa, per esempio l'arn, l'indirizzo univoco del bucket dentro AWS. Gli attributi servono per collegare una risorsa all'altra, come vedremo.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accetta un certo tipo di valore. Testo tra virgolette, numeri, vero o falso, liste tra parentesi quadre, mappe tra graffe. Nelle liste si conta da zero: lista quadra zero è il primo elemento.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progetto Terraform è una cartella con alcuni file. Terraform li legge tutti insieme, quindi ordine e nomi dei file non contano: si dividono solo per ritrovare le cose. providers dice quale cloud e quale regione usiamo. variables elenca i valori che si possono scegliere. terraform.tfvars contiene i valori scelti per questo ambiente. main e gli altri file descrivono le risorse. outputs dice cosa stampare alla fine. backend dice dove salvare il registro di Terraform, lo state, che vediamo più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che esiste un campo project, di tipo testo. terraform.tfvars è il questionario compilato: project uguale corso-aws. Il valore riempie il campo; main lo usa scrivendo var.project; outputs mostra il risultato. Differenza con locals: una variabile la scegliete voi da fuori, nel tfvars; un local è un valore che Terraform calcola dentro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concreto. Vogliamo un bucket per i log sia nell'ambiente di prova, dev, sia in produzione, prod. Scrivendo il nome a mano, per prod bisogna copiare il file e cambiare tutto. Vogliamo invece scrivere il codice una volta sola e cambiare un solo valore nel tfvars: environment uguale dev oppure prod. Per farlo, il codice deve calcolare i nomi da quel valore. Gli strumenti per calcolare si chiamano espressioni.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Obiettivo: un bucket per i log con un nome diverso in dev e in prod. Nel tfvars ci sono project uguale corso-aws ed environment uguale dev. Nel blocco locals, cioè i valori calcolati una volta e riusati, costruiamo il prefisso: dollaro graffa var.project, trattino, dollaro graffa var.environment. Risultato: corso-aws-dev. Il bucket usa local.prefix, aggiunge -logs e passa tutto a lower, che rende il testo minuscolo, perché i nomi dei bucket non ammettono maiuscole. Risultato: corso-aws-dev-logs.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obiettivo: il versioning, cioè conservare le vecchie copie dei file quando vengono sovrascritti, lo vogliamo solo in produzione. È una risorsa a parte, aws_s3_bucket_versioning. Con bucket uguale aws_s3_bucket.logs.id diciamo su quale bucket: quello appena creato. Siccome lo usa, Terraform crea prima il bucket. status usa il condizionale: se environment è uguale a prod, Enabled; altrimenti Suspended. Con dev la condizione è falsa, quindi Suspended.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vantaggio: il codice è sempre lo stesso, cambia solo environment nel tfvars. Con dev: prefisso corso-aws-dev, bucket corso-aws-dev-logs, versioning sospeso. Con prod: corso-aws-prod, corso-aws-prod-logs, versioning attivo. Nessuna riga copiata. Ora vediamo i quattro tipi di espressione uno per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riferimenti leggono un valore definito da un'altra parte del progetto. La parola prima del punto dice dove cercarlo. var: una variabile, il cui valore arriva dal tfvars. local: un valore calcolato nel blocco locals. Il tipo di una risorsa: un attributo di una risorsa creata da noi. data: qualcosa che esiste già in AWS e che leggiamo senza crearlo, per esempio il numero del nostro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L'interpolazione costruisce un testo che contiene dei valori. Dentro le virgolette, dollaro graffa qualcosa graffa viene calcolato e sostituito; il resto del testo resta com'è. Se invece il valore è solo un riferimento, senza testo intorno, non servono né virgolette né dollaro graffa. Attenzione all'errore tipico: se scrivete il riferimento tra virgolette senza dollaro graffa, Terraform lo prende come testo normale, parola per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funzioni prendono dei valori e ne restituiscono uno nuovo. Si scrivono con il nome e i valori tra parentesi. Non se ne inventano: si usano quelle di Terraform. Due esempi del corso. lower rende minuscolo un testo: la usiamo per il nome del bucket. contains dice se un valore è in una lista: la usiamo per controllare che l'ambiente sia uno di quelli ammessi, e bloccare un valore sbagliato prima di creare qualcosa. Altre funzioni le incontriamo quando servono.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condizionale sceglie tra due valori: se la condizione è vera usa il primo, altrimenti il secondo. Il punto di domanda separa la condizione, i due punti separano i due valori. Due uguali significa è uguale a. Tutte queste espressioni si possono provare con terraform console: una calcolatrice nel terminale, dove si scrive un'espressione e si vede il risultato. Non c'entra niente con la console web di AWS e non tocca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decide da solo in che ordine creare le risorse, guardando chi usa chi. Esempio dell'esercizio. I nomi dei bucket devono essere unici in tutto il mondo, quindi aggiungiamo un suffisso casuale generato da random_id, per esempio a1b2c3d4. Il nome del bucket usa il suffisso: quindi prima il suffisso, poi il bucket. Il versioning usa il bucket: quindi prima il bucket, poi il versioning. Nessuno deve dirlo a Terraform: lo capisce dai riferimenti.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 Terraform a sapere cosa ha già creato? Tiene un registro, il file terraform.tfstate, come l'inventario di un magazzino: per ogni risorsa del codice, qual è la risorsa vera in AWS. Senza, non saprebbe cosa è suo. Il plan confronta tre cose: il codice, il registro e AWS. Se qualcuno ha cambiato qualcosa a mano in console, AWS non corrisponde più al registro: si chiama drift, e il plan lo segnala.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regole per lo state. Mai in Git, perché contiene password e chiavi in chiaro. Va tenuto in un posto sicuro e condiviso, non sul portatile: se il portatile si rompe, Terraform dimentica cosa ha creato. Serve un lucchetto, il lock: mentre uno lavora, gli altri aspettano, altrimenti due apply insieme lo rovinano.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configurare niente, lo state è un file nella cartella del progetto: va bene per imparare, ed è così che parte l'esercizio. Per lavorare davvero va in un bucket S3: non si perde se il portatile si rompe ed è condiviso con i colleghi. Si configura nel file backend.tf. Il bucket dello state si crea una volta sola, a parte, con un comando: lo facciamo nell'esercizio.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con tutti i file da copiare, è nella sezione 7 della dispensa. Prima parte. Uno: lanciate init e poi plan, e contate i più: sono tre, il suffisso casuale, il bucket e il versioning. Due: apply, conferma con yes, e controllate il bucket nella console AWS. Tre: aggiungete un'etichetta nel codice e lanciate plan: vedrete una tilde, una modifica. Quattro: cambiate il nome del bucket e lanciate plan: vedrete meno più, ricreazione. Non applicate.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aggiungete un'etichetta a mano, dalla console AWS, e lanciate plan: Terraform se ne accorge, è il drift. Sei: terraform state list mostra l'inventario, cioè cosa conosce Terraform. Sette: spostate lo state in un bucket S3, con i comandi della dispensa e terraform init meno migrate-state. Otto: destroy, per cancellare tutto: si chiude sempre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i prerequisiti, la configurazione del login passo passo e l'esercizio completo con i file da copiare.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Cos'è Terraform, come si scrive un file, come si usa e cosa ricorda</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Cos'è Terraform</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e perché si usa invece di cliccare</a:t>
            </a:r>
            <a:endParaRPr lang="en-US" sz="18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scrive</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linguaggio dei file .tf (si chiama HCL)</a:t>
            </a:r>
            <a:endParaRPr lang="en-US" sz="18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usa</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prepara → controlla → crea → cancella</a:t>
            </a:r>
            <a:endParaRPr lang="en-US" sz="18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registro di cosa Terraform ha creato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cloud e AWS in un minuto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cloud: computer, dischi e reti che affitti da un fornitore invece di comprarli.</a:t>
            </a:r>
            <a:endParaRPr lang="en-US" sz="1900" dirty="0"/>
          </a:p>
        </p:txBody>
      </p:sp>
      <p:sp>
        <p:nvSpPr>
          <p:cNvPr id="7" name="Shape 4"/>
          <p:cNvSpPr/>
          <p:nvPr/>
        </p:nvSpPr>
        <p:spPr>
          <a:xfrm>
            <a:off x="548640" y="2743200"/>
            <a:ext cx="2377440" cy="1280160"/>
          </a:xfrm>
          <a:prstGeom prst="roundRect">
            <a:avLst>
              <a:gd name="adj" fmla="val 7143"/>
            </a:avLst>
          </a:prstGeom>
          <a:solidFill>
            <a:srgbClr val="EEEAFB"/>
          </a:solidFill>
          <a:ln w="12700">
            <a:solidFill>
              <a:srgbClr val="EEEAFB"/>
            </a:solidFill>
            <a:prstDash val="solid"/>
          </a:ln>
        </p:spPr>
      </p:sp>
      <p:sp>
        <p:nvSpPr>
          <p:cNvPr id="8" name="Text 5"/>
          <p:cNvSpPr txBox="1"/>
          <p:nvPr/>
        </p:nvSpPr>
        <p:spPr>
          <a:xfrm>
            <a:off x="548640" y="2743200"/>
            <a:ext cx="2377440" cy="128016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a:t>
            </a:r>
            <a:endParaRPr lang="en-US" sz="1800" dirty="0"/>
          </a:p>
          <a:p>
            <a:pPr algn="ctr" indent="0" marL="0">
              <a:buNone/>
            </a:pPr>
            <a:r>
              <a:rPr lang="en-US" sz="1800" dirty="0">
                <a:solidFill>
                  <a:srgbClr val="5F6478"/>
                </a:solidFill>
                <a:latin typeface="Calibri" pitchFamily="34" charset="0"/>
                <a:ea typeface="Calibri" pitchFamily="34" charset="-122"/>
                <a:cs typeface="Calibri" pitchFamily="34" charset="-120"/>
              </a:rPr>
              <a:t>dal tuo PC</a:t>
            </a:r>
            <a:endParaRPr lang="en-US" sz="1800" dirty="0"/>
          </a:p>
        </p:txBody>
      </p:sp>
      <p:sp>
        <p:nvSpPr>
          <p:cNvPr id="9" name="Shape 6"/>
          <p:cNvSpPr/>
          <p:nvPr/>
        </p:nvSpPr>
        <p:spPr>
          <a:xfrm>
            <a:off x="2971800" y="3383280"/>
            <a:ext cx="1005840" cy="0"/>
          </a:xfrm>
          <a:prstGeom prst="line">
            <a:avLst/>
          </a:prstGeom>
          <a:noFill/>
          <a:ln w="25400">
            <a:solidFill>
              <a:srgbClr val="5B3FD0"/>
            </a:solidFill>
            <a:prstDash val="solid"/>
            <a:tailEnd type="triangle"/>
          </a:ln>
        </p:spPr>
      </p:sp>
      <p:sp>
        <p:nvSpPr>
          <p:cNvPr id="10" name="Text 7"/>
          <p:cNvSpPr txBox="1"/>
          <p:nvPr/>
        </p:nvSpPr>
        <p:spPr>
          <a:xfrm>
            <a:off x="2971800" y="2926080"/>
            <a:ext cx="1005840" cy="41148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internet</a:t>
            </a:r>
            <a:endParaRPr lang="en-US" sz="1400" dirty="0"/>
          </a:p>
        </p:txBody>
      </p:sp>
      <p:sp>
        <p:nvSpPr>
          <p:cNvPr id="11" name="Shape 8"/>
          <p:cNvSpPr/>
          <p:nvPr/>
        </p:nvSpPr>
        <p:spPr>
          <a:xfrm>
            <a:off x="4069080" y="2286000"/>
            <a:ext cx="7571232" cy="2286000"/>
          </a:xfrm>
          <a:prstGeom prst="roundRect">
            <a:avLst>
              <a:gd name="adj" fmla="val 4800"/>
            </a:avLst>
          </a:prstGeom>
          <a:solidFill>
            <a:srgbClr val="FDF0E3"/>
          </a:solidFill>
          <a:ln w="19050">
            <a:solidFill>
              <a:srgbClr val="F28C28"/>
            </a:solidFill>
            <a:prstDash val="solid"/>
          </a:ln>
        </p:spPr>
      </p:sp>
      <p:sp>
        <p:nvSpPr>
          <p:cNvPr id="12" name="Text 9"/>
          <p:cNvSpPr txBox="1"/>
          <p:nvPr/>
        </p:nvSpPr>
        <p:spPr>
          <a:xfrm>
            <a:off x="4251960" y="2331720"/>
            <a:ext cx="3657600" cy="411480"/>
          </a:xfrm>
          <a:prstGeom prst="rect">
            <a:avLst/>
          </a:prstGeom>
          <a:noFill/>
          <a:ln/>
        </p:spPr>
        <p:txBody>
          <a:bodyPr wrap="square" lIns="0" tIns="0" rIns="0" bIns="0" rtlCol="0" anchor="ctr"/>
          <a:lstStyle/>
          <a:p>
            <a:pPr algn="l" indent="0" marL="0">
              <a:buNone/>
            </a:pPr>
            <a:r>
              <a:rPr lang="en-US" sz="1500" b="1" dirty="0">
                <a:solidFill>
                  <a:srgbClr val="F28C28"/>
                </a:solidFill>
                <a:latin typeface="Calibri" pitchFamily="34" charset="0"/>
                <a:ea typeface="Calibri" pitchFamily="34" charset="-122"/>
                <a:cs typeface="Calibri" pitchFamily="34" charset="-120"/>
              </a:rPr>
              <a:t>AWS (Amazon Web Services)</a:t>
            </a:r>
            <a:endParaRPr lang="en-US" sz="1500" dirty="0"/>
          </a:p>
        </p:txBody>
      </p:sp>
      <p:sp>
        <p:nvSpPr>
          <p:cNvPr id="13" name="Shape 10"/>
          <p:cNvSpPr/>
          <p:nvPr/>
        </p:nvSpPr>
        <p:spPr>
          <a:xfrm>
            <a:off x="5166360" y="2788920"/>
            <a:ext cx="822960" cy="822960"/>
          </a:xfrm>
          <a:prstGeom prst="ellipse">
            <a:avLst/>
          </a:prstGeom>
          <a:solidFill>
            <a:srgbClr val="F28C28"/>
          </a:solidFill>
          <a:ln w="12700">
            <a:solidFill>
              <a:srgbClr val="F28C28"/>
            </a:solidFill>
            <a:prstDash val="solid"/>
          </a:ln>
        </p:spPr>
      </p:sp>
      <p:pic>
        <p:nvPicPr>
          <p:cNvPr id="14" name="Image 0" descr="preencoded.png">    </p:cNvPr>
          <p:cNvPicPr>
            <a:picLocks noChangeAspect="1"/>
          </p:cNvPicPr>
          <p:nvPr/>
        </p:nvPicPr>
        <p:blipFill>
          <a:blip r:embed="rId1"/>
          <a:stretch>
            <a:fillRect/>
          </a:stretch>
        </p:blipFill>
        <p:spPr>
          <a:xfrm>
            <a:off x="5372100" y="2994660"/>
            <a:ext cx="411480" cy="411480"/>
          </a:xfrm>
          <a:prstGeom prst="rect">
            <a:avLst/>
          </a:prstGeom>
        </p:spPr>
      </p:pic>
      <p:sp>
        <p:nvSpPr>
          <p:cNvPr id="15" name="Text 11"/>
          <p:cNvSpPr txBox="1"/>
          <p:nvPr/>
        </p:nvSpPr>
        <p:spPr>
          <a:xfrm>
            <a:off x="448056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server</a:t>
            </a:r>
            <a:endParaRPr lang="en-US" sz="1600" dirty="0"/>
          </a:p>
        </p:txBody>
      </p:sp>
      <p:sp>
        <p:nvSpPr>
          <p:cNvPr id="16" name="Shape 12"/>
          <p:cNvSpPr/>
          <p:nvPr/>
        </p:nvSpPr>
        <p:spPr>
          <a:xfrm>
            <a:off x="7589520" y="2788920"/>
            <a:ext cx="822960" cy="822960"/>
          </a:xfrm>
          <a:prstGeom prst="ellipse">
            <a:avLst/>
          </a:prstGeom>
          <a:solidFill>
            <a:srgbClr val="F28C28"/>
          </a:solidFill>
          <a:ln w="12700">
            <a:solidFill>
              <a:srgbClr val="F28C28"/>
            </a:solidFill>
            <a:prstDash val="solid"/>
          </a:ln>
        </p:spPr>
      </p:sp>
      <p:pic>
        <p:nvPicPr>
          <p:cNvPr id="17" name="Image 1" descr="preencoded.png">    </p:cNvPr>
          <p:cNvPicPr>
            <a:picLocks noChangeAspect="1"/>
          </p:cNvPicPr>
          <p:nvPr/>
        </p:nvPicPr>
        <p:blipFill>
          <a:blip r:embed="rId2"/>
          <a:stretch>
            <a:fillRect/>
          </a:stretch>
        </p:blipFill>
        <p:spPr>
          <a:xfrm>
            <a:off x="7795260" y="2994660"/>
            <a:ext cx="411480" cy="411480"/>
          </a:xfrm>
          <a:prstGeom prst="rect">
            <a:avLst/>
          </a:prstGeom>
        </p:spPr>
      </p:pic>
      <p:sp>
        <p:nvSpPr>
          <p:cNvPr id="18" name="Text 13"/>
          <p:cNvSpPr txBox="1"/>
          <p:nvPr/>
        </p:nvSpPr>
        <p:spPr>
          <a:xfrm>
            <a:off x="690372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database</a:t>
            </a:r>
            <a:endParaRPr lang="en-US" sz="1600" dirty="0"/>
          </a:p>
        </p:txBody>
      </p:sp>
      <p:sp>
        <p:nvSpPr>
          <p:cNvPr id="19" name="Shape 14"/>
          <p:cNvSpPr/>
          <p:nvPr/>
        </p:nvSpPr>
        <p:spPr>
          <a:xfrm>
            <a:off x="10012680" y="2788920"/>
            <a:ext cx="822960" cy="822960"/>
          </a:xfrm>
          <a:prstGeom prst="ellipse">
            <a:avLst/>
          </a:prstGeom>
          <a:solidFill>
            <a:srgbClr val="F28C28"/>
          </a:solidFill>
          <a:ln w="12700">
            <a:solidFill>
              <a:srgbClr val="F28C28"/>
            </a:solidFill>
            <a:prstDash val="solid"/>
          </a:ln>
        </p:spPr>
      </p:sp>
      <p:pic>
        <p:nvPicPr>
          <p:cNvPr id="20" name="Image 2" descr="preencoded.png">    </p:cNvPr>
          <p:cNvPicPr>
            <a:picLocks noChangeAspect="1"/>
          </p:cNvPicPr>
          <p:nvPr/>
        </p:nvPicPr>
        <p:blipFill>
          <a:blip r:embed="rId3"/>
          <a:stretch>
            <a:fillRect/>
          </a:stretch>
        </p:blipFill>
        <p:spPr>
          <a:xfrm>
            <a:off x="10218420" y="2994660"/>
            <a:ext cx="411480" cy="411480"/>
          </a:xfrm>
          <a:prstGeom prst="rect">
            <a:avLst/>
          </a:prstGeom>
        </p:spPr>
      </p:pic>
      <p:sp>
        <p:nvSpPr>
          <p:cNvPr id="21" name="Text 15"/>
          <p:cNvSpPr txBox="1"/>
          <p:nvPr/>
        </p:nvSpPr>
        <p:spPr>
          <a:xfrm>
            <a:off x="932688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contenitore di file</a:t>
            </a:r>
            <a:endParaRPr lang="en-US" sz="1600" dirty="0"/>
          </a:p>
        </p:txBody>
      </p:sp>
      <p:sp>
        <p:nvSpPr>
          <p:cNvPr id="22" name="Shape 16"/>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Ogni pezzo che crei in AWS (server, database, contenitore di file…) si chiama RISORSA.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programma che legge file di testo (.tf) e crea le risorse in AWS al posto tuo.</a:t>
            </a:r>
            <a:endParaRPr lang="en-US" sz="1900" dirty="0"/>
          </a:p>
        </p:txBody>
      </p:sp>
      <p:sp>
        <p:nvSpPr>
          <p:cNvPr id="7" name="Shape 4"/>
          <p:cNvSpPr/>
          <p:nvPr/>
        </p:nvSpPr>
        <p:spPr>
          <a:xfrm>
            <a:off x="1371600" y="2331720"/>
            <a:ext cx="960120" cy="96012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611630" y="2571750"/>
            <a:ext cx="480060" cy="480060"/>
          </a:xfrm>
          <a:prstGeom prst="rect">
            <a:avLst/>
          </a:prstGeom>
        </p:spPr>
      </p:pic>
      <p:sp>
        <p:nvSpPr>
          <p:cNvPr id="9" name="Text 5"/>
          <p:cNvSpPr txBox="1"/>
          <p:nvPr/>
        </p:nvSpPr>
        <p:spPr>
          <a:xfrm>
            <a:off x="54864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File .tf</a:t>
            </a:r>
            <a:endParaRPr lang="en-US" sz="1900" dirty="0"/>
          </a:p>
        </p:txBody>
      </p:sp>
      <p:sp>
        <p:nvSpPr>
          <p:cNvPr id="10" name="Text 6"/>
          <p:cNvSpPr txBox="1"/>
          <p:nvPr/>
        </p:nvSpPr>
        <p:spPr>
          <a:xfrm>
            <a:off x="54864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descrivi cosa vuoi</a:t>
            </a:r>
            <a:endParaRPr lang="en-US" sz="1600" dirty="0"/>
          </a:p>
        </p:txBody>
      </p:sp>
      <p:sp>
        <p:nvSpPr>
          <p:cNvPr id="11" name="Shape 7"/>
          <p:cNvSpPr/>
          <p:nvPr/>
        </p:nvSpPr>
        <p:spPr>
          <a:xfrm>
            <a:off x="2423160" y="2807208"/>
            <a:ext cx="1783080" cy="0"/>
          </a:xfrm>
          <a:prstGeom prst="line">
            <a:avLst/>
          </a:prstGeom>
          <a:noFill/>
          <a:ln w="25400">
            <a:solidFill>
              <a:srgbClr val="D9D6EC"/>
            </a:solidFill>
            <a:prstDash val="solid"/>
            <a:tailEnd type="triangle"/>
          </a:ln>
        </p:spPr>
      </p:sp>
      <p:sp>
        <p:nvSpPr>
          <p:cNvPr id="12" name="Shape 8"/>
          <p:cNvSpPr/>
          <p:nvPr/>
        </p:nvSpPr>
        <p:spPr>
          <a:xfrm>
            <a:off x="4206240" y="2331720"/>
            <a:ext cx="960120" cy="96012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46270" y="2571750"/>
            <a:ext cx="480060" cy="480060"/>
          </a:xfrm>
          <a:prstGeom prst="rect">
            <a:avLst/>
          </a:prstGeom>
        </p:spPr>
      </p:pic>
      <p:sp>
        <p:nvSpPr>
          <p:cNvPr id="14" name="Text 9"/>
          <p:cNvSpPr txBox="1"/>
          <p:nvPr/>
        </p:nvSpPr>
        <p:spPr>
          <a:xfrm>
            <a:off x="338328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Terraform</a:t>
            </a:r>
            <a:endParaRPr lang="en-US" sz="1900" dirty="0"/>
          </a:p>
        </p:txBody>
      </p:sp>
      <p:sp>
        <p:nvSpPr>
          <p:cNvPr id="15" name="Text 10"/>
          <p:cNvSpPr txBox="1"/>
          <p:nvPr/>
        </p:nvSpPr>
        <p:spPr>
          <a:xfrm>
            <a:off x="338328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programma, dal terminale</a:t>
            </a:r>
            <a:endParaRPr lang="en-US" sz="1600" dirty="0"/>
          </a:p>
        </p:txBody>
      </p:sp>
      <p:sp>
        <p:nvSpPr>
          <p:cNvPr id="16" name="Shape 11"/>
          <p:cNvSpPr/>
          <p:nvPr/>
        </p:nvSpPr>
        <p:spPr>
          <a:xfrm>
            <a:off x="5257800" y="2807208"/>
            <a:ext cx="1783080" cy="0"/>
          </a:xfrm>
          <a:prstGeom prst="line">
            <a:avLst/>
          </a:prstGeom>
          <a:noFill/>
          <a:ln w="25400">
            <a:solidFill>
              <a:srgbClr val="D9D6EC"/>
            </a:solidFill>
            <a:prstDash val="solid"/>
            <a:tailEnd type="triangle"/>
          </a:ln>
        </p:spPr>
      </p:sp>
      <p:sp>
        <p:nvSpPr>
          <p:cNvPr id="17" name="Shape 12"/>
          <p:cNvSpPr/>
          <p:nvPr/>
        </p:nvSpPr>
        <p:spPr>
          <a:xfrm>
            <a:off x="7040880" y="2331720"/>
            <a:ext cx="960120" cy="96012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80910" y="2571750"/>
            <a:ext cx="480060" cy="480060"/>
          </a:xfrm>
          <a:prstGeom prst="rect">
            <a:avLst/>
          </a:prstGeom>
        </p:spPr>
      </p:pic>
      <p:sp>
        <p:nvSpPr>
          <p:cNvPr id="19" name="Text 13"/>
          <p:cNvSpPr txBox="1"/>
          <p:nvPr/>
        </p:nvSpPr>
        <p:spPr>
          <a:xfrm>
            <a:off x="621792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Provider AWS</a:t>
            </a:r>
            <a:endParaRPr lang="en-US" sz="1900" dirty="0"/>
          </a:p>
        </p:txBody>
      </p:sp>
      <p:sp>
        <p:nvSpPr>
          <p:cNvPr id="20" name="Text 14"/>
          <p:cNvSpPr txBox="1"/>
          <p:nvPr/>
        </p:nvSpPr>
        <p:spPr>
          <a:xfrm>
            <a:off x="621792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"traduttore" verso AWS</a:t>
            </a:r>
            <a:endParaRPr lang="en-US" sz="1600" dirty="0"/>
          </a:p>
        </p:txBody>
      </p:sp>
      <p:sp>
        <p:nvSpPr>
          <p:cNvPr id="21" name="Shape 15"/>
          <p:cNvSpPr/>
          <p:nvPr/>
        </p:nvSpPr>
        <p:spPr>
          <a:xfrm>
            <a:off x="8092440" y="2807208"/>
            <a:ext cx="1783080" cy="0"/>
          </a:xfrm>
          <a:prstGeom prst="line">
            <a:avLst/>
          </a:prstGeom>
          <a:noFill/>
          <a:ln w="25400">
            <a:solidFill>
              <a:srgbClr val="D9D6EC"/>
            </a:solidFill>
            <a:prstDash val="solid"/>
            <a:tailEnd type="triangle"/>
          </a:ln>
        </p:spPr>
      </p:sp>
      <p:sp>
        <p:nvSpPr>
          <p:cNvPr id="22" name="Shape 16"/>
          <p:cNvSpPr/>
          <p:nvPr/>
        </p:nvSpPr>
        <p:spPr>
          <a:xfrm>
            <a:off x="9875520" y="2331720"/>
            <a:ext cx="960120" cy="960120"/>
          </a:xfrm>
          <a:prstGeom prst="ellipse">
            <a:avLst/>
          </a:prstGeom>
          <a:solidFill>
            <a:srgbClr val="F28C28"/>
          </a:solidFill>
          <a:ln w="12700">
            <a:solidFill>
              <a:srgbClr val="F28C28"/>
            </a:solidFill>
            <a:prstDash val="solid"/>
          </a:ln>
        </p:spPr>
      </p:sp>
      <p:pic>
        <p:nvPicPr>
          <p:cNvPr id="23" name="Image 3" descr="preencoded.png">    </p:cNvPr>
          <p:cNvPicPr>
            <a:picLocks noChangeAspect="1"/>
          </p:cNvPicPr>
          <p:nvPr/>
        </p:nvPicPr>
        <p:blipFill>
          <a:blip r:embed="rId4"/>
          <a:stretch>
            <a:fillRect/>
          </a:stretch>
        </p:blipFill>
        <p:spPr>
          <a:xfrm>
            <a:off x="10115550" y="2571750"/>
            <a:ext cx="480060" cy="480060"/>
          </a:xfrm>
          <a:prstGeom prst="rect">
            <a:avLst/>
          </a:prstGeom>
        </p:spPr>
      </p:pic>
      <p:sp>
        <p:nvSpPr>
          <p:cNvPr id="24" name="Text 17"/>
          <p:cNvSpPr txBox="1"/>
          <p:nvPr/>
        </p:nvSpPr>
        <p:spPr>
          <a:xfrm>
            <a:off x="905256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Risorse in AWS</a:t>
            </a:r>
            <a:endParaRPr lang="en-US" sz="1900" dirty="0"/>
          </a:p>
        </p:txBody>
      </p:sp>
      <p:sp>
        <p:nvSpPr>
          <p:cNvPr id="25" name="Text 18"/>
          <p:cNvSpPr txBox="1"/>
          <p:nvPr/>
        </p:nvSpPr>
        <p:spPr>
          <a:xfrm>
            <a:off x="905256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create davvero</a:t>
            </a:r>
            <a:endParaRPr lang="en-US" sz="1600" dirty="0"/>
          </a:p>
        </p:txBody>
      </p:sp>
      <p:sp>
        <p:nvSpPr>
          <p:cNvPr id="26" name="Shape 19"/>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7" name="Text 20"/>
          <p:cNvSpPr txBox="1"/>
          <p:nvPr/>
        </p:nvSpPr>
        <p:spPr>
          <a:xfrm>
            <a:off x="822960" y="4846320"/>
            <a:ext cx="10545775" cy="91440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Tu descrivi cosa vuoi. Terraform lo costruisce.</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Console = il sito web di AWS, dove si crea tutto a mano, cliccando.</a:t>
            </a:r>
            <a:endParaRPr lang="en-US" sz="1900" dirty="0"/>
          </a:p>
        </p:txBody>
      </p:sp>
      <p:sp>
        <p:nvSpPr>
          <p:cNvPr id="7" name="Shape 4"/>
          <p:cNvSpPr/>
          <p:nvPr/>
        </p:nvSpPr>
        <p:spPr>
          <a:xfrm>
            <a:off x="548640" y="2286000"/>
            <a:ext cx="5440680" cy="2834640"/>
          </a:xfrm>
          <a:prstGeom prst="roundRect">
            <a:avLst>
              <a:gd name="adj" fmla="val 3871"/>
            </a:avLst>
          </a:prstGeom>
          <a:solidFill>
            <a:srgbClr val="FBE9E9"/>
          </a:solidFill>
          <a:ln w="12700">
            <a:solidFill>
              <a:srgbClr val="FBE9E9"/>
            </a:solidFill>
            <a:prstDash val="solid"/>
          </a:ln>
        </p:spPr>
      </p:sp>
      <p:sp>
        <p:nvSpPr>
          <p:cNvPr id="8" name="Shape 5"/>
          <p:cNvSpPr/>
          <p:nvPr/>
        </p:nvSpPr>
        <p:spPr>
          <a:xfrm>
            <a:off x="777240" y="2514600"/>
            <a:ext cx="548640" cy="548640"/>
          </a:xfrm>
          <a:prstGeom prst="ellipse">
            <a:avLst/>
          </a:prstGeom>
          <a:solidFill>
            <a:srgbClr val="D64545"/>
          </a:solidFill>
          <a:ln w="12700">
            <a:solidFill>
              <a:srgbClr val="D64545"/>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11" name="Text 7"/>
          <p:cNvSpPr txBox="1"/>
          <p:nvPr/>
        </p:nvSpPr>
        <p:spPr>
          <a:xfrm>
            <a:off x="77724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ricorda cosa è stato cliccato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Non si rifà identico in prova e in produzione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rivede le modifiche prima</a:t>
            </a:r>
            <a:endParaRPr lang="en-US" sz="1700" dirty="0"/>
          </a:p>
        </p:txBody>
      </p:sp>
      <p:sp>
        <p:nvSpPr>
          <p:cNvPr id="12" name="Shape 8"/>
          <p:cNvSpPr/>
          <p:nvPr/>
        </p:nvSpPr>
        <p:spPr>
          <a:xfrm>
            <a:off x="6172200" y="2286000"/>
            <a:ext cx="5440680" cy="2834640"/>
          </a:xfrm>
          <a:prstGeom prst="roundRect">
            <a:avLst>
              <a:gd name="adj" fmla="val 3871"/>
            </a:avLst>
          </a:prstGeom>
          <a:solidFill>
            <a:srgbClr val="E5F4EC"/>
          </a:solidFill>
          <a:ln w="12700">
            <a:solidFill>
              <a:srgbClr val="E5F4EC"/>
            </a:solidFill>
            <a:prstDash val="solid"/>
          </a:ln>
        </p:spPr>
      </p:sp>
      <p:sp>
        <p:nvSpPr>
          <p:cNvPr id="13" name="Shape 9"/>
          <p:cNvSpPr/>
          <p:nvPr/>
        </p:nvSpPr>
        <p:spPr>
          <a:xfrm>
            <a:off x="6400800" y="251460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Terraform</a:t>
            </a:r>
            <a:endParaRPr lang="en-US" sz="1800" dirty="0"/>
          </a:p>
        </p:txBody>
      </p:sp>
      <p:sp>
        <p:nvSpPr>
          <p:cNvPr id="16" name="Text 11"/>
          <p:cNvSpPr txBox="1"/>
          <p:nvPr/>
        </p:nvSpPr>
        <p:spPr>
          <a:xfrm>
            <a:off x="640080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di testo salvati in Git (archivio delle modifiche)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Stesso codice → prova (dev) e produzione (prod) identici</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Ogni modifica si rivede prima di applicarla</a:t>
            </a:r>
            <a:endParaRPr lang="en-US" sz="1700" dirty="0"/>
          </a:p>
        </p:txBody>
      </p:sp>
      <p:sp>
        <p:nvSpPr>
          <p:cNvPr id="17" name="Shape 12"/>
          <p:cNvSpPr/>
          <p:nvPr/>
        </p:nvSpPr>
        <p:spPr>
          <a:xfrm>
            <a:off x="548640" y="5349240"/>
            <a:ext cx="11094415" cy="731520"/>
          </a:xfrm>
          <a:prstGeom prst="roundRect">
            <a:avLst>
              <a:gd name="adj" fmla="val 12500"/>
            </a:avLst>
          </a:prstGeom>
          <a:solidFill>
            <a:srgbClr val="FDF0E3"/>
          </a:solidFill>
          <a:ln w="12700">
            <a:solidFill>
              <a:srgbClr val="FDF0E3"/>
            </a:solidFill>
            <a:prstDash val="solid"/>
          </a:ln>
        </p:spPr>
      </p:sp>
      <p:sp>
        <p:nvSpPr>
          <p:cNvPr id="18" name="Text 13"/>
          <p:cNvSpPr txBox="1"/>
          <p:nvPr/>
        </p:nvSpPr>
        <p:spPr>
          <a:xfrm>
            <a:off x="822960" y="5349240"/>
            <a:ext cx="10545775" cy="7315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Regola: ciò che crea Terraform si modifica solo con Terraform.</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Descrivi il risultato, non i passi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93776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(elenco di comandi) è una ricetta</a:t>
            </a:r>
            <a:endParaRPr lang="en-US" sz="1800" dirty="0"/>
          </a:p>
        </p:txBody>
      </p:sp>
      <p:sp>
        <p:nvSpPr>
          <p:cNvPr id="9" name="Text 5"/>
          <p:cNvSpPr txBox="1"/>
          <p:nvPr/>
        </p:nvSpPr>
        <p:spPr>
          <a:xfrm>
            <a:off x="777240" y="2331720"/>
            <a:ext cx="4480560"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Text 6"/>
          <p:cNvSpPr txBox="1"/>
          <p:nvPr/>
        </p:nvSpPr>
        <p:spPr>
          <a:xfrm>
            <a:off x="5577840" y="2606040"/>
            <a:ext cx="1005840" cy="548640"/>
          </a:xfrm>
          <a:prstGeom prst="rect">
            <a:avLst/>
          </a:prstGeom>
          <a:noFill/>
          <a:ln/>
        </p:spPr>
        <p:txBody>
          <a:bodyPr wrap="square" lIns="0" tIns="0" rIns="0" bIns="0" rtlCol="0" anchor="ctr"/>
          <a:lstStyle/>
          <a:p>
            <a:pPr algn="ctr" indent="0" marL="0">
              <a:buNone/>
            </a:pPr>
            <a:r>
              <a:rPr lang="en-US" sz="1800" b="1" i="1" dirty="0">
                <a:solidFill>
                  <a:srgbClr val="5B3FD0"/>
                </a:solidFill>
                <a:latin typeface="Calibri" pitchFamily="34" charset="0"/>
                <a:ea typeface="Calibri" pitchFamily="34" charset="-122"/>
                <a:cs typeface="Calibri" pitchFamily="34" charset="-120"/>
              </a:rPr>
              <a:t>invece</a:t>
            </a:r>
            <a:endParaRPr lang="en-US" sz="1800" dirty="0"/>
          </a:p>
        </p:txBody>
      </p:sp>
      <p:sp>
        <p:nvSpPr>
          <p:cNvPr id="11" name="Shape 7"/>
          <p:cNvSpPr/>
          <p:nvPr/>
        </p:nvSpPr>
        <p:spPr>
          <a:xfrm>
            <a:off x="6675120" y="1417320"/>
            <a:ext cx="4965192" cy="3017520"/>
          </a:xfrm>
          <a:prstGeom prst="roundRect">
            <a:avLst>
              <a:gd name="adj" fmla="val 3636"/>
            </a:avLst>
          </a:prstGeom>
          <a:solidFill>
            <a:srgbClr val="FDF0E3"/>
          </a:solidFill>
          <a:ln w="12700">
            <a:solidFill>
              <a:srgbClr val="FDF0E3"/>
            </a:solidFill>
            <a:prstDash val="solid"/>
          </a:ln>
        </p:spPr>
      </p:sp>
      <p:sp>
        <p:nvSpPr>
          <p:cNvPr id="12" name="Shape 8"/>
          <p:cNvSpPr/>
          <p:nvPr/>
        </p:nvSpPr>
        <p:spPr>
          <a:xfrm>
            <a:off x="690372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783080"/>
            <a:ext cx="274320" cy="274320"/>
          </a:xfrm>
          <a:prstGeom prst="rect">
            <a:avLst/>
          </a:prstGeom>
        </p:spPr>
      </p:pic>
      <p:sp>
        <p:nvSpPr>
          <p:cNvPr id="14" name="Text 9"/>
          <p:cNvSpPr txBox="1"/>
          <p:nvPr/>
        </p:nvSpPr>
        <p:spPr>
          <a:xfrm>
            <a:off x="7635240" y="164592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31720"/>
            <a:ext cx="4507992"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cosa c'è già e prepara solo quello che manca.</a:t>
            </a:r>
            <a:endParaRPr lang="en-US" sz="1800" dirty="0"/>
          </a:p>
        </p:txBody>
      </p:sp>
      <p:sp>
        <p:nvSpPr>
          <p:cNvPr id="16" name="Shape 11"/>
          <p:cNvSpPr/>
          <p:nvPr/>
        </p:nvSpPr>
        <p:spPr>
          <a:xfrm>
            <a:off x="548640" y="475488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754880"/>
            <a:ext cx="10545775" cy="100584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Scrivi COSA vuoi che esista. Il COME lo calcola Terraform.</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Prima di tutto: AWS deve sapere chi sei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Login nel browser (come prendere un badge), che dura qualche ora. Terraform usa quel badge.</a:t>
            </a:r>
            <a:endParaRPr lang="en-US" sz="1900" dirty="0"/>
          </a:p>
        </p:txBody>
      </p:sp>
      <p:sp>
        <p:nvSpPr>
          <p:cNvPr id="7" name="Shape 4"/>
          <p:cNvSpPr/>
          <p:nvPr/>
        </p:nvSpPr>
        <p:spPr>
          <a:xfrm>
            <a:off x="1234440" y="2240280"/>
            <a:ext cx="822960" cy="82296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440180" y="2446020"/>
            <a:ext cx="411480" cy="411480"/>
          </a:xfrm>
          <a:prstGeom prst="rect">
            <a:avLst/>
          </a:prstGeom>
        </p:spPr>
      </p:pic>
      <p:sp>
        <p:nvSpPr>
          <p:cNvPr id="9" name="Text 5"/>
          <p:cNvSpPr txBox="1"/>
          <p:nvPr/>
        </p:nvSpPr>
        <p:spPr>
          <a:xfrm>
            <a:off x="5486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Login nel browser</a:t>
            </a:r>
            <a:endParaRPr lang="en-US" sz="1600" dirty="0"/>
          </a:p>
        </p:txBody>
      </p:sp>
      <p:sp>
        <p:nvSpPr>
          <p:cNvPr id="10" name="Text 6"/>
          <p:cNvSpPr txBox="1"/>
          <p:nvPr/>
        </p:nvSpPr>
        <p:spPr>
          <a:xfrm>
            <a:off x="5486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con il codice dal telefono (MFA)</a:t>
            </a:r>
            <a:endParaRPr lang="en-US" sz="1400" dirty="0"/>
          </a:p>
        </p:txBody>
      </p:sp>
      <p:sp>
        <p:nvSpPr>
          <p:cNvPr id="11" name="Shape 7"/>
          <p:cNvSpPr/>
          <p:nvPr/>
        </p:nvSpPr>
        <p:spPr>
          <a:xfrm>
            <a:off x="2194560" y="2651760"/>
            <a:ext cx="1463040" cy="0"/>
          </a:xfrm>
          <a:prstGeom prst="line">
            <a:avLst/>
          </a:prstGeom>
          <a:noFill/>
          <a:ln w="25400">
            <a:solidFill>
              <a:srgbClr val="D9D6EC"/>
            </a:solidFill>
            <a:prstDash val="solid"/>
            <a:tailEnd type="triangle"/>
          </a:ln>
        </p:spPr>
      </p:sp>
      <p:sp>
        <p:nvSpPr>
          <p:cNvPr id="12" name="Shape 8"/>
          <p:cNvSpPr/>
          <p:nvPr/>
        </p:nvSpPr>
        <p:spPr>
          <a:xfrm>
            <a:off x="3749040" y="2240280"/>
            <a:ext cx="822960" cy="82296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3954780" y="2446020"/>
            <a:ext cx="411480" cy="411480"/>
          </a:xfrm>
          <a:prstGeom prst="rect">
            <a:avLst/>
          </a:prstGeom>
        </p:spPr>
      </p:pic>
      <p:sp>
        <p:nvSpPr>
          <p:cNvPr id="14" name="Text 9"/>
          <p:cNvSpPr txBox="1"/>
          <p:nvPr/>
        </p:nvSpPr>
        <p:spPr>
          <a:xfrm>
            <a:off x="30632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Permesso temporaneo</a:t>
            </a:r>
            <a:endParaRPr lang="en-US" sz="1600" dirty="0"/>
          </a:p>
        </p:txBody>
      </p:sp>
      <p:sp>
        <p:nvSpPr>
          <p:cNvPr id="15" name="Text 10"/>
          <p:cNvSpPr txBox="1"/>
          <p:nvPr/>
        </p:nvSpPr>
        <p:spPr>
          <a:xfrm>
            <a:off x="30632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scade da solo dopo qualche ora</a:t>
            </a:r>
            <a:endParaRPr lang="en-US" sz="1400" dirty="0"/>
          </a:p>
        </p:txBody>
      </p:sp>
      <p:sp>
        <p:nvSpPr>
          <p:cNvPr id="16" name="Shape 11"/>
          <p:cNvSpPr/>
          <p:nvPr/>
        </p:nvSpPr>
        <p:spPr>
          <a:xfrm>
            <a:off x="4709160" y="2651760"/>
            <a:ext cx="1463040" cy="0"/>
          </a:xfrm>
          <a:prstGeom prst="line">
            <a:avLst/>
          </a:prstGeom>
          <a:noFill/>
          <a:ln w="25400">
            <a:solidFill>
              <a:srgbClr val="D9D6EC"/>
            </a:solidFill>
            <a:prstDash val="solid"/>
            <a:tailEnd type="triangle"/>
          </a:ln>
        </p:spPr>
      </p:sp>
      <p:sp>
        <p:nvSpPr>
          <p:cNvPr id="17" name="Shape 12"/>
          <p:cNvSpPr/>
          <p:nvPr/>
        </p:nvSpPr>
        <p:spPr>
          <a:xfrm>
            <a:off x="6263640" y="2240280"/>
            <a:ext cx="822960" cy="82296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6469380" y="2446020"/>
            <a:ext cx="411480" cy="411480"/>
          </a:xfrm>
          <a:prstGeom prst="rect">
            <a:avLst/>
          </a:prstGeom>
        </p:spPr>
      </p:pic>
      <p:sp>
        <p:nvSpPr>
          <p:cNvPr id="19" name="Text 13"/>
          <p:cNvSpPr txBox="1"/>
          <p:nvPr/>
        </p:nvSpPr>
        <p:spPr>
          <a:xfrm>
            <a:off x="55778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20" name="Text 14"/>
          <p:cNvSpPr txBox="1"/>
          <p:nvPr/>
        </p:nvSpPr>
        <p:spPr>
          <a:xfrm>
            <a:off x="55778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 usano, dal profilo "corso"</a:t>
            </a:r>
            <a:endParaRPr lang="en-US" sz="1400" dirty="0"/>
          </a:p>
        </p:txBody>
      </p:sp>
      <p:sp>
        <p:nvSpPr>
          <p:cNvPr id="21" name="Shape 15"/>
          <p:cNvSpPr/>
          <p:nvPr/>
        </p:nvSpPr>
        <p:spPr>
          <a:xfrm>
            <a:off x="548640" y="4389120"/>
            <a:ext cx="7223760" cy="1143000"/>
          </a:xfrm>
          <a:prstGeom prst="roundRect">
            <a:avLst>
              <a:gd name="adj" fmla="val 6400"/>
            </a:avLst>
          </a:prstGeom>
          <a:solidFill>
            <a:srgbClr val="1E1E2E"/>
          </a:solidFill>
          <a:ln w="12700">
            <a:solidFill>
              <a:srgbClr val="1E1E2E"/>
            </a:solidFill>
            <a:prstDash val="solid"/>
          </a:ln>
        </p:spPr>
      </p:sp>
      <p:sp>
        <p:nvSpPr>
          <p:cNvPr id="22" name="Text 16"/>
          <p:cNvSpPr txBox="1"/>
          <p:nvPr/>
        </p:nvSpPr>
        <p:spPr>
          <a:xfrm>
            <a:off x="731520" y="4526280"/>
            <a:ext cx="6858000" cy="8686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   </a:t>
            </a:r>
            <a:pPr indent="0" marL="0">
              <a:buNone/>
            </a:pPr>
            <a:r>
              <a:rPr lang="en-US" sz="1600" dirty="0">
                <a:solidFill>
                  <a:srgbClr val="8FD694"/>
                </a:solidFill>
                <a:latin typeface="Courier New" pitchFamily="34" charset="0"/>
                <a:ea typeface="Courier New" pitchFamily="34" charset="-122"/>
                <a:cs typeface="Courier New" pitchFamily="34" charset="-120"/>
              </a:rPr>
              <a:t># login nel browser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        </a:t>
            </a:r>
            <a:pPr indent="0" marL="0">
              <a:buNone/>
            </a:pPr>
            <a:r>
              <a:rPr lang="en-US" sz="1600" dirty="0">
                <a:solidFill>
                  <a:srgbClr val="8FD694"/>
                </a:solidFill>
                <a:latin typeface="Courier New" pitchFamily="34" charset="0"/>
                <a:ea typeface="Courier New" pitchFamily="34" charset="-122"/>
                <a:cs typeface="Courier New" pitchFamily="34" charset="-120"/>
              </a:rPr>
              <a:t># usa il profilo "corso"</a:t>
            </a:r>
            <a:endParaRPr lang="en-US" sz="1600" dirty="0"/>
          </a:p>
        </p:txBody>
      </p:sp>
      <p:sp>
        <p:nvSpPr>
          <p:cNvPr id="23" name="Shape 17"/>
          <p:cNvSpPr/>
          <p:nvPr/>
        </p:nvSpPr>
        <p:spPr>
          <a:xfrm>
            <a:off x="8138160" y="2194560"/>
            <a:ext cx="3502152" cy="3337560"/>
          </a:xfrm>
          <a:prstGeom prst="roundRect">
            <a:avLst>
              <a:gd name="adj" fmla="val 3288"/>
            </a:avLst>
          </a:prstGeom>
          <a:solidFill>
            <a:srgbClr val="FBE9E9"/>
          </a:solidFill>
          <a:ln w="12700">
            <a:solidFill>
              <a:srgbClr val="FBE9E9"/>
            </a:solidFill>
            <a:prstDash val="solid"/>
          </a:ln>
        </p:spPr>
      </p:sp>
      <p:sp>
        <p:nvSpPr>
          <p:cNvPr id="24" name="Shape 18"/>
          <p:cNvSpPr/>
          <p:nvPr/>
        </p:nvSpPr>
        <p:spPr>
          <a:xfrm>
            <a:off x="8366760" y="2423160"/>
            <a:ext cx="548640" cy="548640"/>
          </a:xfrm>
          <a:prstGeom prst="ellipse">
            <a:avLst/>
          </a:prstGeom>
          <a:solidFill>
            <a:srgbClr val="D64545"/>
          </a:solidFill>
          <a:ln w="12700">
            <a:solidFill>
              <a:srgbClr val="D64545"/>
            </a:solidFill>
            <a:prstDash val="solid"/>
          </a:ln>
        </p:spPr>
      </p:sp>
      <p:pic>
        <p:nvPicPr>
          <p:cNvPr id="25" name="Image 3" descr="preencoded.png">    </p:cNvPr>
          <p:cNvPicPr>
            <a:picLocks noChangeAspect="1"/>
          </p:cNvPicPr>
          <p:nvPr/>
        </p:nvPicPr>
        <p:blipFill>
          <a:blip r:embed="rId4"/>
          <a:stretch>
            <a:fillRect/>
          </a:stretch>
        </p:blipFill>
        <p:spPr>
          <a:xfrm>
            <a:off x="8503920" y="2560320"/>
            <a:ext cx="274320" cy="274320"/>
          </a:xfrm>
          <a:prstGeom prst="rect">
            <a:avLst/>
          </a:prstGeom>
        </p:spPr>
      </p:pic>
      <p:sp>
        <p:nvSpPr>
          <p:cNvPr id="26" name="Text 19"/>
          <p:cNvSpPr txBox="1"/>
          <p:nvPr/>
        </p:nvSpPr>
        <p:spPr>
          <a:xfrm>
            <a:off x="9098280" y="242316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7" name="Text 20"/>
          <p:cNvSpPr txBox="1"/>
          <p:nvPr/>
        </p:nvSpPr>
        <p:spPr>
          <a:xfrm>
            <a:off x="8366760" y="3108960"/>
            <a:ext cx="3044952" cy="2240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Chiavi fisse (password permanenti di AWS)</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L'utente root, il padrone dell'account</a:t>
            </a:r>
            <a:endParaRPr lang="en-US" sz="1600" dirty="0"/>
          </a:p>
        </p:txBody>
      </p:sp>
      <p:sp>
        <p:nvSpPr>
          <p:cNvPr id="28" name="Text 21"/>
          <p:cNvSpPr txBox="1"/>
          <p:nvPr/>
        </p:nvSpPr>
        <p:spPr>
          <a:xfrm>
            <a:off x="548640" y="5669280"/>
            <a:ext cx="11094415" cy="411480"/>
          </a:xfrm>
          <a:prstGeom prst="rect">
            <a:avLst/>
          </a:prstGeom>
          <a:noFill/>
          <a:ln/>
        </p:spPr>
        <p:txBody>
          <a:bodyPr wrap="square" lIns="0" tIns="0" rIns="0" bIns="0" rtlCol="0" anchor="ctr"/>
          <a:lstStyle/>
          <a:p>
            <a:pPr algn="l" indent="0" marL="0">
              <a:buNone/>
            </a:pPr>
            <a:r>
              <a:rPr lang="en-US" sz="1400" i="1" dirty="0">
                <a:solidFill>
                  <a:srgbClr val="5F6478"/>
                </a:solidFill>
                <a:latin typeface="Calibri" pitchFamily="34" charset="0"/>
                <a:ea typeface="Calibri" pitchFamily="34" charset="-122"/>
                <a:cs typeface="Calibri" pitchFamily="34" charset="-120"/>
              </a:rPr>
              <a:t>CLI = i comandi AWS nel terminale · Configurazione passo passo: dispensa 0, sezione 6</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file: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Questo blocco crea in AWS un bucket S3: un contenitore di file online, come una cartella di Dropbox.</a:t>
            </a:r>
            <a:endParaRPr lang="en-US" sz="1700" dirty="0"/>
          </a:p>
        </p:txBody>
      </p:sp>
      <p:sp>
        <p:nvSpPr>
          <p:cNvPr id="7" name="Shape 4"/>
          <p:cNvSpPr/>
          <p:nvPr/>
        </p:nvSpPr>
        <p:spPr>
          <a:xfrm>
            <a:off x="548640" y="2194560"/>
            <a:ext cx="5760720" cy="3931920"/>
          </a:xfrm>
          <a:prstGeom prst="roundRect">
            <a:avLst>
              <a:gd name="adj" fmla="val 1860"/>
            </a:avLst>
          </a:prstGeom>
          <a:solidFill>
            <a:srgbClr val="1E1E2E"/>
          </a:solidFill>
          <a:ln w="12700">
            <a:solidFill>
              <a:srgbClr val="1E1E2E"/>
            </a:solidFill>
            <a:prstDash val="solid"/>
          </a:ln>
        </p:spPr>
      </p:sp>
      <p:sp>
        <p:nvSpPr>
          <p:cNvPr id="8" name="Text 5"/>
          <p:cNvSpPr txBox="1"/>
          <p:nvPr/>
        </p:nvSpPr>
        <p:spPr>
          <a:xfrm>
            <a:off x="731520" y="2331720"/>
            <a:ext cx="5394960" cy="365760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resource "aws_s3_bucket" "demo"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bucket = "corso-aws-demo-1234"</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tags =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Owner = "mario"</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lifecycle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prevent_destroy = true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p:txBody>
      </p:sp>
      <p:sp>
        <p:nvSpPr>
          <p:cNvPr id="9" name="Shape 6"/>
          <p:cNvSpPr/>
          <p:nvPr/>
        </p:nvSpPr>
        <p:spPr>
          <a:xfrm>
            <a:off x="6583680" y="2304288"/>
            <a:ext cx="548640" cy="548640"/>
          </a:xfrm>
          <a:prstGeom prst="ellipse">
            <a:avLst/>
          </a:prstGeom>
          <a:solidFill>
            <a:srgbClr val="F28C28"/>
          </a:solidFill>
          <a:ln w="12700">
            <a:solidFill>
              <a:srgbClr val="F28C28"/>
            </a:solidFill>
            <a:prstDash val="solid"/>
          </a:ln>
        </p:spPr>
      </p:sp>
      <p:sp>
        <p:nvSpPr>
          <p:cNvPr id="10" name="Text 7"/>
          <p:cNvSpPr txBox="1"/>
          <p:nvPr/>
        </p:nvSpPr>
        <p:spPr>
          <a:xfrm>
            <a:off x="6583680" y="2304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7315200" y="2194560"/>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resource = "crea questa cosa"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aws_s3_bucket = che cosa · demo = il soprannome nel codice</a:t>
            </a:r>
            <a:endParaRPr lang="en-US" sz="1700" dirty="0"/>
          </a:p>
        </p:txBody>
      </p:sp>
      <p:sp>
        <p:nvSpPr>
          <p:cNvPr id="12" name="Shape 9"/>
          <p:cNvSpPr/>
          <p:nvPr/>
        </p:nvSpPr>
        <p:spPr>
          <a:xfrm>
            <a:off x="6583680" y="3291840"/>
            <a:ext cx="548640" cy="548640"/>
          </a:xfrm>
          <a:prstGeom prst="ellipse">
            <a:avLst/>
          </a:prstGeom>
          <a:solidFill>
            <a:srgbClr val="F28C28"/>
          </a:solidFill>
          <a:ln w="12700">
            <a:solidFill>
              <a:srgbClr val="F28C28"/>
            </a:solidFill>
            <a:prstDash val="solid"/>
          </a:ln>
        </p:spPr>
      </p:sp>
      <p:sp>
        <p:nvSpPr>
          <p:cNvPr id="13" name="Text 10"/>
          <p:cNvSpPr txBox="1"/>
          <p:nvPr/>
        </p:nvSpPr>
        <p:spPr>
          <a:xfrm>
            <a:off x="658368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7315200" y="3182112"/>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Argomento: nome = valore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bucket = il nome vero in AWS</a:t>
            </a:r>
            <a:endParaRPr lang="en-US" sz="1700" dirty="0"/>
          </a:p>
        </p:txBody>
      </p:sp>
      <p:sp>
        <p:nvSpPr>
          <p:cNvPr id="15" name="Shape 12"/>
          <p:cNvSpPr/>
          <p:nvPr/>
        </p:nvSpPr>
        <p:spPr>
          <a:xfrm>
            <a:off x="6583680" y="4279392"/>
            <a:ext cx="548640" cy="548640"/>
          </a:xfrm>
          <a:prstGeom prst="ellipse">
            <a:avLst/>
          </a:prstGeom>
          <a:solidFill>
            <a:srgbClr val="F28C28"/>
          </a:solidFill>
          <a:ln w="12700">
            <a:solidFill>
              <a:srgbClr val="F28C28"/>
            </a:solidFill>
            <a:prstDash val="solid"/>
          </a:ln>
        </p:spPr>
      </p:sp>
      <p:sp>
        <p:nvSpPr>
          <p:cNvPr id="16" name="Text 13"/>
          <p:cNvSpPr txBox="1"/>
          <p:nvPr/>
        </p:nvSpPr>
        <p:spPr>
          <a:xfrm>
            <a:off x="6583680" y="42793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4"/>
          <p:cNvSpPr txBox="1"/>
          <p:nvPr/>
        </p:nvSpPr>
        <p:spPr>
          <a:xfrm>
            <a:off x="7315200" y="4169664"/>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tags = etichette libere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chiave = valore: ha l'uguale</a:t>
            </a:r>
            <a:endParaRPr lang="en-US" sz="1700" dirty="0"/>
          </a:p>
        </p:txBody>
      </p:sp>
      <p:sp>
        <p:nvSpPr>
          <p:cNvPr id="18" name="Shape 15"/>
          <p:cNvSpPr/>
          <p:nvPr/>
        </p:nvSpPr>
        <p:spPr>
          <a:xfrm>
            <a:off x="6583680" y="5266944"/>
            <a:ext cx="548640" cy="548640"/>
          </a:xfrm>
          <a:prstGeom prst="ellipse">
            <a:avLst/>
          </a:prstGeom>
          <a:solidFill>
            <a:srgbClr val="F28C28"/>
          </a:solidFill>
          <a:ln w="12700">
            <a:solidFill>
              <a:srgbClr val="F28C28"/>
            </a:solidFill>
            <a:prstDash val="solid"/>
          </a:ln>
        </p:spPr>
      </p:sp>
      <p:sp>
        <p:nvSpPr>
          <p:cNvPr id="19" name="Text 16"/>
          <p:cNvSpPr txBox="1"/>
          <p:nvPr/>
        </p:nvSpPr>
        <p:spPr>
          <a:xfrm>
            <a:off x="658368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Text 17"/>
          <p:cNvSpPr txBox="1"/>
          <p:nvPr/>
        </p:nvSpPr>
        <p:spPr>
          <a:xfrm>
            <a:off x="7315200" y="5157216"/>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Blocco dentro il blocco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lifecycle { … } senza uguale: "non cancellarlo per sbaglio"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giro completo: dal file ad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Comandi da scrivere nel terminale, dentro la cartella del progetto.</a:t>
            </a:r>
            <a:endParaRPr lang="en-US" sz="1900" dirty="0"/>
          </a:p>
        </p:txBody>
      </p:sp>
      <p:sp>
        <p:nvSpPr>
          <p:cNvPr id="7" name="Shape 4"/>
          <p:cNvSpPr/>
          <p:nvPr/>
        </p:nvSpPr>
        <p:spPr>
          <a:xfrm>
            <a:off x="1325880" y="2286000"/>
            <a:ext cx="1005840" cy="10058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577340" y="2537460"/>
            <a:ext cx="502920" cy="502920"/>
          </a:xfrm>
          <a:prstGeom prst="rect">
            <a:avLst/>
          </a:prstGeom>
        </p:spPr>
      </p:pic>
      <p:sp>
        <p:nvSpPr>
          <p:cNvPr id="9" name="Text 5"/>
          <p:cNvSpPr txBox="1"/>
          <p:nvPr/>
        </p:nvSpPr>
        <p:spPr>
          <a:xfrm>
            <a:off x="54864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10" name="Text 6"/>
          <p:cNvSpPr txBox="1"/>
          <p:nvPr/>
        </p:nvSpPr>
        <p:spPr>
          <a:xfrm>
            <a:off x="54864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prepara la cartella: scarica il pezzo che parla con AWS</a:t>
            </a:r>
            <a:endParaRPr lang="en-US" sz="1500" dirty="0"/>
          </a:p>
        </p:txBody>
      </p:sp>
      <p:sp>
        <p:nvSpPr>
          <p:cNvPr id="11" name="Shape 7"/>
          <p:cNvSpPr/>
          <p:nvPr/>
        </p:nvSpPr>
        <p:spPr>
          <a:xfrm>
            <a:off x="2423160" y="2788920"/>
            <a:ext cx="1645920" cy="0"/>
          </a:xfrm>
          <a:prstGeom prst="line">
            <a:avLst/>
          </a:prstGeom>
          <a:noFill/>
          <a:ln w="25400">
            <a:solidFill>
              <a:srgbClr val="D9D6EC"/>
            </a:solidFill>
            <a:prstDash val="solid"/>
            <a:tailEnd type="triangle"/>
          </a:ln>
        </p:spPr>
      </p:sp>
      <p:sp>
        <p:nvSpPr>
          <p:cNvPr id="12" name="Shape 8"/>
          <p:cNvSpPr/>
          <p:nvPr/>
        </p:nvSpPr>
        <p:spPr>
          <a:xfrm>
            <a:off x="4160520" y="2286000"/>
            <a:ext cx="1005840" cy="10058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11980" y="2537460"/>
            <a:ext cx="502920" cy="502920"/>
          </a:xfrm>
          <a:prstGeom prst="rect">
            <a:avLst/>
          </a:prstGeom>
        </p:spPr>
      </p:pic>
      <p:sp>
        <p:nvSpPr>
          <p:cNvPr id="14" name="Text 9"/>
          <p:cNvSpPr txBox="1"/>
          <p:nvPr/>
        </p:nvSpPr>
        <p:spPr>
          <a:xfrm>
            <a:off x="338328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5" name="Text 10"/>
          <p:cNvSpPr txBox="1"/>
          <p:nvPr/>
        </p:nvSpPr>
        <p:spPr>
          <a:xfrm>
            <a:off x="338328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mostra cosa farebbe: "1 to add". Non tocca niente</a:t>
            </a:r>
            <a:endParaRPr lang="en-US" sz="1500" dirty="0"/>
          </a:p>
        </p:txBody>
      </p:sp>
      <p:sp>
        <p:nvSpPr>
          <p:cNvPr id="16" name="Shape 11"/>
          <p:cNvSpPr/>
          <p:nvPr/>
        </p:nvSpPr>
        <p:spPr>
          <a:xfrm>
            <a:off x="5257800" y="2788920"/>
            <a:ext cx="1645920" cy="0"/>
          </a:xfrm>
          <a:prstGeom prst="line">
            <a:avLst/>
          </a:prstGeom>
          <a:noFill/>
          <a:ln w="25400">
            <a:solidFill>
              <a:srgbClr val="D9D6EC"/>
            </a:solidFill>
            <a:prstDash val="solid"/>
            <a:tailEnd type="triangle"/>
          </a:ln>
        </p:spPr>
      </p:sp>
      <p:sp>
        <p:nvSpPr>
          <p:cNvPr id="17" name="Shape 12"/>
          <p:cNvSpPr/>
          <p:nvPr/>
        </p:nvSpPr>
        <p:spPr>
          <a:xfrm>
            <a:off x="6995160" y="2286000"/>
            <a:ext cx="1005840" cy="100584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46620" y="2537460"/>
            <a:ext cx="502920" cy="502920"/>
          </a:xfrm>
          <a:prstGeom prst="rect">
            <a:avLst/>
          </a:prstGeom>
        </p:spPr>
      </p:pic>
      <p:sp>
        <p:nvSpPr>
          <p:cNvPr id="19" name="Text 13"/>
          <p:cNvSpPr txBox="1"/>
          <p:nvPr/>
        </p:nvSpPr>
        <p:spPr>
          <a:xfrm>
            <a:off x="621792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20" name="Text 14"/>
          <p:cNvSpPr txBox="1"/>
          <p:nvPr/>
        </p:nvSpPr>
        <p:spPr>
          <a:xfrm>
            <a:off x="621792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crea davvero in AWS. Chiede conferma: scrivi yes</a:t>
            </a:r>
            <a:endParaRPr lang="en-US" sz="1500" dirty="0"/>
          </a:p>
        </p:txBody>
      </p:sp>
      <p:sp>
        <p:nvSpPr>
          <p:cNvPr id="21" name="Shape 15"/>
          <p:cNvSpPr/>
          <p:nvPr/>
        </p:nvSpPr>
        <p:spPr>
          <a:xfrm>
            <a:off x="8092440" y="2788920"/>
            <a:ext cx="1645920" cy="0"/>
          </a:xfrm>
          <a:prstGeom prst="line">
            <a:avLst/>
          </a:prstGeom>
          <a:noFill/>
          <a:ln w="25400">
            <a:solidFill>
              <a:srgbClr val="D9D6EC"/>
            </a:solidFill>
            <a:prstDash val="solid"/>
            <a:tailEnd type="triangle"/>
          </a:ln>
        </p:spPr>
      </p:sp>
      <p:sp>
        <p:nvSpPr>
          <p:cNvPr id="22" name="Shape 16"/>
          <p:cNvSpPr/>
          <p:nvPr/>
        </p:nvSpPr>
        <p:spPr>
          <a:xfrm>
            <a:off x="9829800" y="2286000"/>
            <a:ext cx="1005840" cy="10058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10081260" y="2537460"/>
            <a:ext cx="502920" cy="502920"/>
          </a:xfrm>
          <a:prstGeom prst="rect">
            <a:avLst/>
          </a:prstGeom>
        </p:spPr>
      </p:pic>
      <p:sp>
        <p:nvSpPr>
          <p:cNvPr id="24" name="Text 17"/>
          <p:cNvSpPr txBox="1"/>
          <p:nvPr/>
        </p:nvSpPr>
        <p:spPr>
          <a:xfrm>
            <a:off x="905256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5" name="Text 18"/>
          <p:cNvSpPr txBox="1"/>
          <p:nvPr/>
        </p:nvSpPr>
        <p:spPr>
          <a:xfrm>
            <a:off x="905256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cancella tutto ciò che ha creato</a:t>
            </a:r>
            <a:endParaRPr lang="en-US" sz="1500" dirty="0"/>
          </a:p>
        </p:txBody>
      </p:sp>
      <p:sp>
        <p:nvSpPr>
          <p:cNvPr id="26" name="Shape 19"/>
          <p:cNvSpPr/>
          <p:nvPr/>
        </p:nvSpPr>
        <p:spPr>
          <a:xfrm>
            <a:off x="548640" y="5120640"/>
            <a:ext cx="11094415" cy="822960"/>
          </a:xfrm>
          <a:prstGeom prst="roundRect">
            <a:avLst>
              <a:gd name="adj" fmla="val 11111"/>
            </a:avLst>
          </a:prstGeom>
          <a:solidFill>
            <a:srgbClr val="FDF0E3"/>
          </a:solidFill>
          <a:ln w="12700">
            <a:solidFill>
              <a:srgbClr val="FDF0E3"/>
            </a:solidFill>
            <a:prstDash val="solid"/>
          </a:ln>
        </p:spPr>
      </p:sp>
      <p:sp>
        <p:nvSpPr>
          <p:cNvPr id="27" name="Text 20"/>
          <p:cNvSpPr txBox="1"/>
          <p:nvPr/>
        </p:nvSpPr>
        <p:spPr>
          <a:xfrm>
            <a:off x="822960" y="5120640"/>
            <a:ext cx="10545775" cy="82296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Dopo apply, apri la console AWS: il bucket c'è davvero.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2651760" cy="2103120"/>
          </a:xfrm>
          <a:prstGeom prst="roundRect">
            <a:avLst>
              <a:gd name="adj" fmla="val 5217"/>
            </a:avLst>
          </a:prstGeom>
          <a:solidFill>
            <a:srgbClr val="E5F4EC"/>
          </a:solidFill>
          <a:ln w="12700">
            <a:solidFill>
              <a:srgbClr val="E5F4EC"/>
            </a:solidFill>
            <a:prstDash val="solid"/>
          </a:ln>
        </p:spPr>
      </p:sp>
      <p:sp>
        <p:nvSpPr>
          <p:cNvPr id="6" name="Text 3"/>
          <p:cNvSpPr txBox="1"/>
          <p:nvPr/>
        </p:nvSpPr>
        <p:spPr>
          <a:xfrm>
            <a:off x="548640" y="1417320"/>
            <a:ext cx="2651760" cy="1280160"/>
          </a:xfrm>
          <a:prstGeom prst="rect">
            <a:avLst/>
          </a:prstGeom>
          <a:noFill/>
          <a:ln/>
        </p:spPr>
        <p:txBody>
          <a:bodyPr wrap="square" lIns="0" tIns="0" rIns="0" bIns="0" rtlCol="0" anchor="ctr"/>
          <a:lstStyle/>
          <a:p>
            <a:pPr algn="ctr" indent="0" marL="0">
              <a:buNone/>
            </a:pPr>
            <a:r>
              <a:rPr lang="en-US" sz="6000" b="1" dirty="0">
                <a:solidFill>
                  <a:srgbClr val="2E9E6B"/>
                </a:solidFill>
                <a:latin typeface="Courier New" pitchFamily="34" charset="0"/>
                <a:ea typeface="Courier New" pitchFamily="34" charset="-122"/>
                <a:cs typeface="Courier New" pitchFamily="34" charset="-120"/>
              </a:rPr>
              <a:t>+</a:t>
            </a:r>
            <a:endParaRPr lang="en-US" sz="6000" dirty="0"/>
          </a:p>
        </p:txBody>
      </p:sp>
      <p:sp>
        <p:nvSpPr>
          <p:cNvPr id="7" name="Text 4"/>
          <p:cNvSpPr txBox="1"/>
          <p:nvPr/>
        </p:nvSpPr>
        <p:spPr>
          <a:xfrm>
            <a:off x="54864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crea</a:t>
            </a:r>
            <a:endParaRPr lang="en-US" sz="1900" dirty="0"/>
          </a:p>
        </p:txBody>
      </p:sp>
      <p:sp>
        <p:nvSpPr>
          <p:cNvPr id="8" name="Shape 5"/>
          <p:cNvSpPr/>
          <p:nvPr/>
        </p:nvSpPr>
        <p:spPr>
          <a:xfrm>
            <a:off x="3383280" y="1371600"/>
            <a:ext cx="2651760" cy="2103120"/>
          </a:xfrm>
          <a:prstGeom prst="roundRect">
            <a:avLst>
              <a:gd name="adj" fmla="val 5217"/>
            </a:avLst>
          </a:prstGeom>
          <a:solidFill>
            <a:srgbClr val="FDF0E3"/>
          </a:solidFill>
          <a:ln w="12700">
            <a:solidFill>
              <a:srgbClr val="FDF0E3"/>
            </a:solidFill>
            <a:prstDash val="solid"/>
          </a:ln>
        </p:spPr>
      </p:sp>
      <p:sp>
        <p:nvSpPr>
          <p:cNvPr id="9" name="Text 6"/>
          <p:cNvSpPr txBox="1"/>
          <p:nvPr/>
        </p:nvSpPr>
        <p:spPr>
          <a:xfrm>
            <a:off x="3383280" y="1417320"/>
            <a:ext cx="2651760" cy="1280160"/>
          </a:xfrm>
          <a:prstGeom prst="rect">
            <a:avLst/>
          </a:prstGeom>
          <a:noFill/>
          <a:ln/>
        </p:spPr>
        <p:txBody>
          <a:bodyPr wrap="square" lIns="0" tIns="0" rIns="0" bIns="0" rtlCol="0" anchor="ctr"/>
          <a:lstStyle/>
          <a:p>
            <a:pPr algn="ctr" indent="0" marL="0">
              <a:buNone/>
            </a:pPr>
            <a:r>
              <a:rPr lang="en-US" sz="6000" b="1" dirty="0">
                <a:solidFill>
                  <a:srgbClr val="F28C28"/>
                </a:solidFill>
                <a:latin typeface="Courier New" pitchFamily="34" charset="0"/>
                <a:ea typeface="Courier New" pitchFamily="34" charset="-122"/>
                <a:cs typeface="Courier New" pitchFamily="34" charset="-120"/>
              </a:rPr>
              <a:t>~</a:t>
            </a:r>
            <a:endParaRPr lang="en-US" sz="6000" dirty="0"/>
          </a:p>
        </p:txBody>
      </p:sp>
      <p:sp>
        <p:nvSpPr>
          <p:cNvPr id="10" name="Text 7"/>
          <p:cNvSpPr txBox="1"/>
          <p:nvPr/>
        </p:nvSpPr>
        <p:spPr>
          <a:xfrm>
            <a:off x="338328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modifica</a:t>
            </a:r>
            <a:endParaRPr lang="en-US" sz="1900" dirty="0"/>
          </a:p>
        </p:txBody>
      </p:sp>
      <p:sp>
        <p:nvSpPr>
          <p:cNvPr id="11" name="Shape 8"/>
          <p:cNvSpPr/>
          <p:nvPr/>
        </p:nvSpPr>
        <p:spPr>
          <a:xfrm>
            <a:off x="6217920" y="1371600"/>
            <a:ext cx="2651760" cy="2103120"/>
          </a:xfrm>
          <a:prstGeom prst="roundRect">
            <a:avLst>
              <a:gd name="adj" fmla="val 5217"/>
            </a:avLst>
          </a:prstGeom>
          <a:solidFill>
            <a:srgbClr val="FBE9E9"/>
          </a:solidFill>
          <a:ln w="12700">
            <a:solidFill>
              <a:srgbClr val="FBE9E9"/>
            </a:solidFill>
            <a:prstDash val="solid"/>
          </a:ln>
        </p:spPr>
      </p:sp>
      <p:sp>
        <p:nvSpPr>
          <p:cNvPr id="12" name="Text 9"/>
          <p:cNvSpPr txBox="1"/>
          <p:nvPr/>
        </p:nvSpPr>
        <p:spPr>
          <a:xfrm>
            <a:off x="621792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3" name="Text 10"/>
          <p:cNvSpPr txBox="1"/>
          <p:nvPr/>
        </p:nvSpPr>
        <p:spPr>
          <a:xfrm>
            <a:off x="621792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 e ricrea</a:t>
            </a:r>
            <a:endParaRPr lang="en-US" sz="1900" dirty="0"/>
          </a:p>
        </p:txBody>
      </p:sp>
      <p:sp>
        <p:nvSpPr>
          <p:cNvPr id="14" name="Shape 11"/>
          <p:cNvSpPr/>
          <p:nvPr/>
        </p:nvSpPr>
        <p:spPr>
          <a:xfrm>
            <a:off x="9052560" y="1371600"/>
            <a:ext cx="2651760" cy="2103120"/>
          </a:xfrm>
          <a:prstGeom prst="roundRect">
            <a:avLst>
              <a:gd name="adj" fmla="val 5217"/>
            </a:avLst>
          </a:prstGeom>
          <a:solidFill>
            <a:srgbClr val="FBE9E9"/>
          </a:solidFill>
          <a:ln w="12700">
            <a:solidFill>
              <a:srgbClr val="FBE9E9"/>
            </a:solidFill>
            <a:prstDash val="solid"/>
          </a:ln>
        </p:spPr>
      </p:sp>
      <p:sp>
        <p:nvSpPr>
          <p:cNvPr id="15" name="Text 12"/>
          <p:cNvSpPr txBox="1"/>
          <p:nvPr/>
        </p:nvSpPr>
        <p:spPr>
          <a:xfrm>
            <a:off x="905256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6" name="Text 13"/>
          <p:cNvSpPr txBox="1"/>
          <p:nvPr/>
        </p:nvSpPr>
        <p:spPr>
          <a:xfrm>
            <a:off x="905256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a:t>
            </a:r>
            <a:endParaRPr lang="en-US" sz="1900" dirty="0"/>
          </a:p>
        </p:txBody>
      </p:sp>
      <p:sp>
        <p:nvSpPr>
          <p:cNvPr id="17" name="Shape 14"/>
          <p:cNvSpPr/>
          <p:nvPr/>
        </p:nvSpPr>
        <p:spPr>
          <a:xfrm>
            <a:off x="548640" y="3703320"/>
            <a:ext cx="6949440" cy="685800"/>
          </a:xfrm>
          <a:prstGeom prst="roundRect">
            <a:avLst>
              <a:gd name="adj" fmla="val 10667"/>
            </a:avLst>
          </a:prstGeom>
          <a:solidFill>
            <a:srgbClr val="1E1E2E"/>
          </a:solidFill>
          <a:ln w="12700">
            <a:solidFill>
              <a:srgbClr val="1E1E2E"/>
            </a:solidFill>
            <a:prstDash val="solid"/>
          </a:ln>
        </p:spPr>
      </p:sp>
      <p:sp>
        <p:nvSpPr>
          <p:cNvPr id="18" name="Text 15"/>
          <p:cNvSpPr txBox="1"/>
          <p:nvPr/>
        </p:nvSpPr>
        <p:spPr>
          <a:xfrm>
            <a:off x="731520" y="3840480"/>
            <a:ext cx="6583680" cy="41148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Plan: 2 to add, 0 to change, 0 to destroy.</a:t>
            </a:r>
            <a:endParaRPr lang="en-US" sz="1800" dirty="0"/>
          </a:p>
        </p:txBody>
      </p:sp>
      <p:sp>
        <p:nvSpPr>
          <p:cNvPr id="19" name="Text 16"/>
          <p:cNvSpPr txBox="1"/>
          <p:nvPr/>
        </p:nvSpPr>
        <p:spPr>
          <a:xfrm>
            <a:off x="7635240" y="3703320"/>
            <a:ext cx="4005072" cy="685800"/>
          </a:xfrm>
          <a:prstGeom prst="rect">
            <a:avLst/>
          </a:prstGeom>
          <a:noFill/>
          <a:ln/>
        </p:spPr>
        <p:txBody>
          <a:bodyPr wrap="square" lIns="0" tIns="0" rIns="0" bIns="0" rtlCol="0" anchor="ctr"/>
          <a:lstStyle/>
          <a:p>
            <a:pPr algn="l" indent="0" marL="0">
              <a:buNone/>
            </a:pPr>
            <a:r>
              <a:rPr lang="en-US" sz="1500" dirty="0">
                <a:solidFill>
                  <a:srgbClr val="5F6478"/>
                </a:solidFill>
                <a:latin typeface="Calibri" pitchFamily="34" charset="0"/>
                <a:ea typeface="Calibri" pitchFamily="34" charset="-122"/>
                <a:cs typeface="Calibri" pitchFamily="34" charset="-120"/>
              </a:rPr>
              <a:t>= 2 da creare, 0 da modificare, 0 da cancellare</a:t>
            </a:r>
            <a:endParaRPr lang="en-US" sz="1500" dirty="0"/>
          </a:p>
        </p:txBody>
      </p:sp>
      <p:sp>
        <p:nvSpPr>
          <p:cNvPr id="20" name="Shape 17"/>
          <p:cNvSpPr/>
          <p:nvPr/>
        </p:nvSpPr>
        <p:spPr>
          <a:xfrm>
            <a:off x="548640" y="4663440"/>
            <a:ext cx="11094415" cy="1188720"/>
          </a:xfrm>
          <a:prstGeom prst="roundRect">
            <a:avLst>
              <a:gd name="adj" fmla="val 7692"/>
            </a:avLst>
          </a:prstGeom>
          <a:solidFill>
            <a:srgbClr val="FBE9E9"/>
          </a:solidFill>
          <a:ln w="12700">
            <a:solidFill>
              <a:srgbClr val="FBE9E9"/>
            </a:solidFill>
            <a:prstDash val="solid"/>
          </a:ln>
        </p:spPr>
      </p:sp>
      <p:sp>
        <p:nvSpPr>
          <p:cNvPr id="21" name="Text 18"/>
          <p:cNvSpPr txBox="1"/>
          <p:nvPr/>
        </p:nvSpPr>
        <p:spPr>
          <a:xfrm>
            <a:off x="822960" y="4663440"/>
            <a:ext cx="10545775" cy="11887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Esempio di -/+: cambi il nome di un bucket. AWS non sa rinominarlo: Terraform lo cancella e lo ricrea, con i file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scrivi e cosa leggi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926080"/>
          </a:xfrm>
          <a:prstGeom prst="roundRect">
            <a:avLst>
              <a:gd name="adj" fmla="val 375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bucket (il nome), tags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p:txBody>
      </p:sp>
      <p:sp>
        <p:nvSpPr>
          <p:cNvPr id="10" name="Shape 6"/>
          <p:cNvSpPr/>
          <p:nvPr/>
        </p:nvSpPr>
        <p:spPr>
          <a:xfrm>
            <a:off x="6172200" y="1417320"/>
            <a:ext cx="5440680" cy="2926080"/>
          </a:xfrm>
          <a:prstGeom prst="roundRect">
            <a:avLst>
              <a:gd name="adj" fmla="val 3750"/>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arn = l'indirizzo univoco del bucket in AWS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Li conosci solo dopo averlo creato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p:txBody>
      </p:sp>
      <p:sp>
        <p:nvSpPr>
          <p:cNvPr id="15" name="Shape 10"/>
          <p:cNvSpPr/>
          <p:nvPr/>
        </p:nvSpPr>
        <p:spPr>
          <a:xfrm>
            <a:off x="2926080" y="457200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70916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349240"/>
            <a:ext cx="6309360" cy="41148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soprannome . attributo  →  serve a collegare una risorsa all'altra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Ogni argomento accetta un certo tipo di valore.</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2377440"/>
                <a:gridCol w="4572000"/>
                <a:gridCol w="41422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legge un elemento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testo (string)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numero (number)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vero/falso (bool)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true / 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lista (list)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 "b", "c"]</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lista[0] → "a"  (si conta da 0)</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mappa (map)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 nome = "web", porta = 443 }</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mappa.nome → "web"</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nessun valore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null</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come se l'argomento non ci fosse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3566160" cy="1920240"/>
          </a:xfrm>
          <a:prstGeom prst="roundRect">
            <a:avLst>
              <a:gd name="adj" fmla="val 5714"/>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quale cloud: AWS, regione Milano</a:t>
            </a:r>
            <a:endParaRPr lang="en-US" sz="1600" dirty="0"/>
          </a:p>
        </p:txBody>
      </p:sp>
      <p:sp>
        <p:nvSpPr>
          <p:cNvPr id="10" name="Shape 6"/>
          <p:cNvSpPr/>
          <p:nvPr/>
        </p:nvSpPr>
        <p:spPr>
          <a:xfrm>
            <a:off x="4297680" y="1371600"/>
            <a:ext cx="3566160" cy="1920240"/>
          </a:xfrm>
          <a:prstGeom prst="roundRect">
            <a:avLst>
              <a:gd name="adj" fmla="val 5714"/>
            </a:avLst>
          </a:prstGeom>
          <a:solidFill>
            <a:srgbClr val="EEEAFB"/>
          </a:solidFill>
          <a:ln w="12700">
            <a:solidFill>
              <a:srgbClr val="EEEAFB"/>
            </a:solidFill>
            <a:prstDash val="solid"/>
          </a:ln>
        </p:spPr>
      </p:sp>
      <p:sp>
        <p:nvSpPr>
          <p:cNvPr id="11" name="Shape 7"/>
          <p:cNvSpPr/>
          <p:nvPr/>
        </p:nvSpPr>
        <p:spPr>
          <a:xfrm>
            <a:off x="452628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4" name="Text 9"/>
          <p:cNvSpPr txBox="1"/>
          <p:nvPr/>
        </p:nvSpPr>
        <p:spPr>
          <a:xfrm>
            <a:off x="452628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che si possono scegliere</a:t>
            </a:r>
            <a:endParaRPr lang="en-US" sz="1600" dirty="0"/>
          </a:p>
        </p:txBody>
      </p:sp>
      <p:sp>
        <p:nvSpPr>
          <p:cNvPr id="15" name="Shape 10"/>
          <p:cNvSpPr/>
          <p:nvPr/>
        </p:nvSpPr>
        <p:spPr>
          <a:xfrm>
            <a:off x="8046720" y="1371600"/>
            <a:ext cx="3566160" cy="1920240"/>
          </a:xfrm>
          <a:prstGeom prst="roundRect">
            <a:avLst>
              <a:gd name="adj" fmla="val 5714"/>
            </a:avLst>
          </a:prstGeom>
          <a:solidFill>
            <a:srgbClr val="EEEAFB"/>
          </a:solidFill>
          <a:ln w="12700">
            <a:solidFill>
              <a:srgbClr val="EEEAFB"/>
            </a:solidFill>
            <a:prstDash val="solid"/>
          </a:ln>
        </p:spPr>
      </p:sp>
      <p:sp>
        <p:nvSpPr>
          <p:cNvPr id="16" name="Shape 11"/>
          <p:cNvSpPr/>
          <p:nvPr/>
        </p:nvSpPr>
        <p:spPr>
          <a:xfrm>
            <a:off x="8275320" y="16002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19" name="Text 13"/>
          <p:cNvSpPr txBox="1"/>
          <p:nvPr/>
        </p:nvSpPr>
        <p:spPr>
          <a:xfrm>
            <a:off x="827532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scelti per questo ambiente</a:t>
            </a:r>
            <a:endParaRPr lang="en-US" sz="1600" dirty="0"/>
          </a:p>
        </p:txBody>
      </p:sp>
      <p:sp>
        <p:nvSpPr>
          <p:cNvPr id="20" name="Shape 14"/>
          <p:cNvSpPr/>
          <p:nvPr/>
        </p:nvSpPr>
        <p:spPr>
          <a:xfrm>
            <a:off x="548640" y="3474720"/>
            <a:ext cx="3566160" cy="1920240"/>
          </a:xfrm>
          <a:prstGeom prst="roundRect">
            <a:avLst>
              <a:gd name="adj" fmla="val 5714"/>
            </a:avLst>
          </a:prstGeom>
          <a:solidFill>
            <a:srgbClr val="EEEAFB"/>
          </a:solidFill>
          <a:ln w="12700">
            <a:solidFill>
              <a:srgbClr val="EEEAFB"/>
            </a:solidFill>
            <a:prstDash val="solid"/>
          </a:ln>
        </p:spPr>
      </p:sp>
      <p:sp>
        <p:nvSpPr>
          <p:cNvPr id="21" name="Shape 15"/>
          <p:cNvSpPr/>
          <p:nvPr/>
        </p:nvSpPr>
        <p:spPr>
          <a:xfrm>
            <a:off x="777240" y="37033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840480"/>
            <a:ext cx="274320" cy="274320"/>
          </a:xfrm>
          <a:prstGeom prst="rect">
            <a:avLst/>
          </a:prstGeom>
        </p:spPr>
      </p:pic>
      <p:sp>
        <p:nvSpPr>
          <p:cNvPr id="23" name="Text 16"/>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4" name="Text 17"/>
          <p:cNvSpPr txBox="1"/>
          <p:nvPr/>
        </p:nvSpPr>
        <p:spPr>
          <a:xfrm>
            <a:off x="77724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le risorse da creare</a:t>
            </a:r>
            <a:endParaRPr lang="en-US" sz="1600" dirty="0"/>
          </a:p>
        </p:txBody>
      </p:sp>
      <p:sp>
        <p:nvSpPr>
          <p:cNvPr id="25" name="Shape 18"/>
          <p:cNvSpPr/>
          <p:nvPr/>
        </p:nvSpPr>
        <p:spPr>
          <a:xfrm>
            <a:off x="4297680" y="3474720"/>
            <a:ext cx="3566160" cy="1920240"/>
          </a:xfrm>
          <a:prstGeom prst="roundRect">
            <a:avLst>
              <a:gd name="adj" fmla="val 5714"/>
            </a:avLst>
          </a:prstGeom>
          <a:solidFill>
            <a:srgbClr val="EEEAFB"/>
          </a:solidFill>
          <a:ln w="12700">
            <a:solidFill>
              <a:srgbClr val="EEEAFB"/>
            </a:solidFill>
            <a:prstDash val="solid"/>
          </a:ln>
        </p:spPr>
      </p:sp>
      <p:sp>
        <p:nvSpPr>
          <p:cNvPr id="26" name="Shape 19"/>
          <p:cNvSpPr/>
          <p:nvPr/>
        </p:nvSpPr>
        <p:spPr>
          <a:xfrm>
            <a:off x="4526280" y="370332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840480"/>
            <a:ext cx="274320" cy="274320"/>
          </a:xfrm>
          <a:prstGeom prst="rect">
            <a:avLst/>
          </a:prstGeom>
        </p:spPr>
      </p:pic>
      <p:sp>
        <p:nvSpPr>
          <p:cNvPr id="28" name="Text 20"/>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29" name="Text 21"/>
          <p:cNvSpPr txBox="1"/>
          <p:nvPr/>
        </p:nvSpPr>
        <p:spPr>
          <a:xfrm>
            <a:off x="452628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stampare alla fine (es. il nome del bucket)</a:t>
            </a:r>
            <a:endParaRPr lang="en-US" sz="1600" dirty="0"/>
          </a:p>
        </p:txBody>
      </p:sp>
      <p:sp>
        <p:nvSpPr>
          <p:cNvPr id="30" name="Shape 22"/>
          <p:cNvSpPr/>
          <p:nvPr/>
        </p:nvSpPr>
        <p:spPr>
          <a:xfrm>
            <a:off x="8046720" y="3474720"/>
            <a:ext cx="3566160" cy="1920240"/>
          </a:xfrm>
          <a:prstGeom prst="roundRect">
            <a:avLst>
              <a:gd name="adj" fmla="val 5714"/>
            </a:avLst>
          </a:prstGeom>
          <a:solidFill>
            <a:srgbClr val="EEEAFB"/>
          </a:solidFill>
          <a:ln w="12700">
            <a:solidFill>
              <a:srgbClr val="EEEAFB"/>
            </a:solidFill>
            <a:prstDash val="solid"/>
          </a:ln>
        </p:spPr>
      </p:sp>
      <p:sp>
        <p:nvSpPr>
          <p:cNvPr id="31" name="Shape 23"/>
          <p:cNvSpPr/>
          <p:nvPr/>
        </p:nvSpPr>
        <p:spPr>
          <a:xfrm>
            <a:off x="8275320" y="370332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840480"/>
            <a:ext cx="274320" cy="274320"/>
          </a:xfrm>
          <a:prstGeom prst="rect">
            <a:avLst/>
          </a:prstGeom>
        </p:spPr>
      </p:pic>
      <p:sp>
        <p:nvSpPr>
          <p:cNvPr id="33" name="Text 24"/>
          <p:cNvSpPr txBox="1"/>
          <p:nvPr/>
        </p:nvSpPr>
        <p:spPr>
          <a:xfrm>
            <a:off x="900684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34" name="Text 25"/>
          <p:cNvSpPr txBox="1"/>
          <p:nvPr/>
        </p:nvSpPr>
        <p:spPr>
          <a:xfrm>
            <a:off x="827532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salvare il registro (state): più avanti</a:t>
            </a:r>
            <a:endParaRPr lang="en-US" sz="1600" dirty="0"/>
          </a:p>
        </p:txBody>
      </p:sp>
      <p:sp>
        <p:nvSpPr>
          <p:cNvPr id="35" name="Shape 26"/>
          <p:cNvSpPr/>
          <p:nvPr/>
        </p:nvSpPr>
        <p:spPr>
          <a:xfrm>
            <a:off x="548640" y="5577840"/>
            <a:ext cx="11094415" cy="640080"/>
          </a:xfrm>
          <a:prstGeom prst="roundRect">
            <a:avLst>
              <a:gd name="adj" fmla="val 14286"/>
            </a:avLst>
          </a:prstGeom>
          <a:solidFill>
            <a:srgbClr val="FDF0E3"/>
          </a:solidFill>
          <a:ln w="12700">
            <a:solidFill>
              <a:srgbClr val="FDF0E3"/>
            </a:solidFill>
            <a:prstDash val="solid"/>
          </a:ln>
        </p:spPr>
      </p:sp>
      <p:sp>
        <p:nvSpPr>
          <p:cNvPr id="36" name="Text 27"/>
          <p:cNvSpPr txBox="1"/>
          <p:nvPr/>
        </p:nvSpPr>
        <p:spPr>
          <a:xfrm>
            <a:off x="822960" y="5577840"/>
            <a:ext cx="10545775"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Terraform legge tutti i .tf della cartella insieme: ordine e nomi dei file non contano.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5440680" cy="1737360"/>
          </a:xfrm>
          <a:prstGeom prst="roundRect">
            <a:avLst>
              <a:gd name="adj" fmla="val 4211"/>
            </a:avLst>
          </a:prstGeom>
          <a:solidFill>
            <a:srgbClr val="1E1E2E"/>
          </a:solidFill>
          <a:ln w="12700">
            <a:solidFill>
              <a:srgbClr val="1E1E2E"/>
            </a:solidFill>
            <a:prstDash val="solid"/>
          </a:ln>
        </p:spPr>
      </p:sp>
      <p:sp>
        <p:nvSpPr>
          <p:cNvPr id="6" name="Text 3"/>
          <p:cNvSpPr txBox="1"/>
          <p:nvPr/>
        </p:nvSpPr>
        <p:spPr>
          <a:xfrm>
            <a:off x="731520" y="1508760"/>
            <a:ext cx="5074920" cy="146304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variables.tf: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7" name="Shape 4"/>
          <p:cNvSpPr/>
          <p:nvPr/>
        </p:nvSpPr>
        <p:spPr>
          <a:xfrm>
            <a:off x="6172200" y="1371600"/>
            <a:ext cx="5468112" cy="1737360"/>
          </a:xfrm>
          <a:prstGeom prst="roundRect">
            <a:avLst>
              <a:gd name="adj" fmla="val 4211"/>
            </a:avLst>
          </a:prstGeom>
          <a:solidFill>
            <a:srgbClr val="1E1E2E"/>
          </a:solidFill>
          <a:ln w="12700">
            <a:solidFill>
              <a:srgbClr val="1E1E2E"/>
            </a:solidFill>
            <a:prstDash val="solid"/>
          </a:ln>
        </p:spPr>
      </p:sp>
      <p:sp>
        <p:nvSpPr>
          <p:cNvPr id="8" name="Text 5"/>
          <p:cNvSpPr txBox="1"/>
          <p:nvPr/>
        </p:nvSpPr>
        <p:spPr>
          <a:xfrm>
            <a:off x="6355080" y="1508760"/>
            <a:ext cx="5102352" cy="146304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terraform.tfvars: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9" name="Shape 6"/>
          <p:cNvSpPr/>
          <p:nvPr/>
        </p:nvSpPr>
        <p:spPr>
          <a:xfrm>
            <a:off x="548640" y="3429000"/>
            <a:ext cx="2377440" cy="914400"/>
          </a:xfrm>
          <a:prstGeom prst="roundRect">
            <a:avLst>
              <a:gd name="adj" fmla="val 10000"/>
            </a:avLst>
          </a:prstGeom>
          <a:solidFill>
            <a:srgbClr val="FDF0E3"/>
          </a:solidFill>
          <a:ln w="12700">
            <a:solidFill>
              <a:srgbClr val="FDF0E3"/>
            </a:solidFill>
            <a:prstDash val="solid"/>
          </a:ln>
        </p:spPr>
      </p:sp>
      <p:sp>
        <p:nvSpPr>
          <p:cNvPr id="10" name="Text 7"/>
          <p:cNvSpPr txBox="1"/>
          <p:nvPr/>
        </p:nvSpPr>
        <p:spPr>
          <a:xfrm>
            <a:off x="54864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valore</a:t>
            </a:r>
            <a:endParaRPr lang="en-US" sz="1500" dirty="0"/>
          </a:p>
        </p:txBody>
      </p:sp>
      <p:sp>
        <p:nvSpPr>
          <p:cNvPr id="11" name="Shape 8"/>
          <p:cNvSpPr/>
          <p:nvPr/>
        </p:nvSpPr>
        <p:spPr>
          <a:xfrm>
            <a:off x="2944368" y="3886200"/>
            <a:ext cx="457200" cy="0"/>
          </a:xfrm>
          <a:prstGeom prst="line">
            <a:avLst/>
          </a:prstGeom>
          <a:noFill/>
          <a:ln w="25400">
            <a:solidFill>
              <a:srgbClr val="5F6478"/>
            </a:solidFill>
            <a:prstDash val="solid"/>
            <a:tailEnd type="triangle"/>
          </a:ln>
        </p:spPr>
      </p:sp>
      <p:sp>
        <p:nvSpPr>
          <p:cNvPr id="12" name="Text 9"/>
          <p:cNvSpPr txBox="1"/>
          <p:nvPr/>
        </p:nvSpPr>
        <p:spPr>
          <a:xfrm>
            <a:off x="278892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riempie</a:t>
            </a:r>
            <a:endParaRPr lang="en-US" sz="1200" dirty="0"/>
          </a:p>
        </p:txBody>
      </p:sp>
      <p:sp>
        <p:nvSpPr>
          <p:cNvPr id="13" name="Shape 10"/>
          <p:cNvSpPr/>
          <p:nvPr/>
        </p:nvSpPr>
        <p:spPr>
          <a:xfrm>
            <a:off x="3429000" y="3429000"/>
            <a:ext cx="2377440" cy="914400"/>
          </a:xfrm>
          <a:prstGeom prst="roundRect">
            <a:avLst>
              <a:gd name="adj" fmla="val 10000"/>
            </a:avLst>
          </a:prstGeom>
          <a:solidFill>
            <a:srgbClr val="EEEAFB"/>
          </a:solidFill>
          <a:ln w="12700">
            <a:solidFill>
              <a:srgbClr val="EEEAFB"/>
            </a:solidFill>
            <a:prstDash val="solid"/>
          </a:ln>
        </p:spPr>
      </p:sp>
      <p:sp>
        <p:nvSpPr>
          <p:cNvPr id="14" name="Text 11"/>
          <p:cNvSpPr txBox="1"/>
          <p:nvPr/>
        </p:nvSpPr>
        <p:spPr>
          <a:xfrm>
            <a:off x="342900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campo</a:t>
            </a:r>
            <a:endParaRPr lang="en-US" sz="1500" dirty="0"/>
          </a:p>
        </p:txBody>
      </p:sp>
      <p:sp>
        <p:nvSpPr>
          <p:cNvPr id="15" name="Shape 12"/>
          <p:cNvSpPr/>
          <p:nvPr/>
        </p:nvSpPr>
        <p:spPr>
          <a:xfrm>
            <a:off x="5824728" y="3886200"/>
            <a:ext cx="457200" cy="0"/>
          </a:xfrm>
          <a:prstGeom prst="line">
            <a:avLst/>
          </a:prstGeom>
          <a:noFill/>
          <a:ln w="25400">
            <a:solidFill>
              <a:srgbClr val="5F6478"/>
            </a:solidFill>
            <a:prstDash val="solid"/>
            <a:tailEnd type="triangle"/>
          </a:ln>
        </p:spPr>
      </p:sp>
      <p:sp>
        <p:nvSpPr>
          <p:cNvPr id="16" name="Text 13"/>
          <p:cNvSpPr txBox="1"/>
          <p:nvPr/>
        </p:nvSpPr>
        <p:spPr>
          <a:xfrm>
            <a:off x="566928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usa come</a:t>
            </a:r>
            <a:endParaRPr lang="en-US" sz="1200" dirty="0"/>
          </a:p>
        </p:txBody>
      </p:sp>
      <p:sp>
        <p:nvSpPr>
          <p:cNvPr id="17" name="Shape 14"/>
          <p:cNvSpPr/>
          <p:nvPr/>
        </p:nvSpPr>
        <p:spPr>
          <a:xfrm>
            <a:off x="6309360" y="3429000"/>
            <a:ext cx="2377440" cy="914400"/>
          </a:xfrm>
          <a:prstGeom prst="roundRect">
            <a:avLst>
              <a:gd name="adj" fmla="val 10000"/>
            </a:avLst>
          </a:prstGeom>
          <a:solidFill>
            <a:srgbClr val="EEEAFB"/>
          </a:solidFill>
          <a:ln w="12700">
            <a:solidFill>
              <a:srgbClr val="EEEAFB"/>
            </a:solidFill>
            <a:prstDash val="solid"/>
          </a:ln>
        </p:spPr>
      </p:sp>
      <p:sp>
        <p:nvSpPr>
          <p:cNvPr id="18" name="Text 15"/>
          <p:cNvSpPr txBox="1"/>
          <p:nvPr/>
        </p:nvSpPr>
        <p:spPr>
          <a:xfrm>
            <a:off x="630936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var.project</a:t>
            </a:r>
            <a:endParaRPr lang="en-US" sz="1500" dirty="0"/>
          </a:p>
        </p:txBody>
      </p:sp>
      <p:sp>
        <p:nvSpPr>
          <p:cNvPr id="19" name="Shape 16"/>
          <p:cNvSpPr/>
          <p:nvPr/>
        </p:nvSpPr>
        <p:spPr>
          <a:xfrm>
            <a:off x="8705088" y="3886200"/>
            <a:ext cx="457200" cy="0"/>
          </a:xfrm>
          <a:prstGeom prst="line">
            <a:avLst/>
          </a:prstGeom>
          <a:noFill/>
          <a:ln w="25400">
            <a:solidFill>
              <a:srgbClr val="5F6478"/>
            </a:solidFill>
            <a:prstDash val="solid"/>
            <a:tailEnd type="triangle"/>
          </a:ln>
        </p:spPr>
      </p:sp>
      <p:sp>
        <p:nvSpPr>
          <p:cNvPr id="20" name="Text 17"/>
          <p:cNvSpPr txBox="1"/>
          <p:nvPr/>
        </p:nvSpPr>
        <p:spPr>
          <a:xfrm>
            <a:off x="854964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mostra</a:t>
            </a:r>
            <a:endParaRPr lang="en-US" sz="1200" dirty="0"/>
          </a:p>
        </p:txBody>
      </p:sp>
      <p:sp>
        <p:nvSpPr>
          <p:cNvPr id="21" name="Shape 18"/>
          <p:cNvSpPr/>
          <p:nvPr/>
        </p:nvSpPr>
        <p:spPr>
          <a:xfrm>
            <a:off x="9189720" y="3429000"/>
            <a:ext cx="2377440" cy="914400"/>
          </a:xfrm>
          <a:prstGeom prst="roundRect">
            <a:avLst>
              <a:gd name="adj" fmla="val 10000"/>
            </a:avLst>
          </a:prstGeom>
          <a:solidFill>
            <a:srgbClr val="EEEAFB"/>
          </a:solidFill>
          <a:ln w="12700">
            <a:solidFill>
              <a:srgbClr val="EEEAFB"/>
            </a:solidFill>
            <a:prstDash val="solid"/>
          </a:ln>
        </p:spPr>
      </p:sp>
      <p:sp>
        <p:nvSpPr>
          <p:cNvPr id="22" name="Text 19"/>
          <p:cNvSpPr txBox="1"/>
          <p:nvPr/>
        </p:nvSpPr>
        <p:spPr>
          <a:xfrm>
            <a:off x="918972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risultato</a:t>
            </a:r>
            <a:endParaRPr lang="en-US" sz="1500" dirty="0"/>
          </a:p>
        </p:txBody>
      </p:sp>
      <p:sp>
        <p:nvSpPr>
          <p:cNvPr id="23" name="Shape 20"/>
          <p:cNvSpPr/>
          <p:nvPr/>
        </p:nvSpPr>
        <p:spPr>
          <a:xfrm>
            <a:off x="548640" y="4663440"/>
            <a:ext cx="11094415" cy="1097280"/>
          </a:xfrm>
          <a:prstGeom prst="roundRect">
            <a:avLst>
              <a:gd name="adj" fmla="val 8333"/>
            </a:avLst>
          </a:prstGeom>
          <a:solidFill>
            <a:srgbClr val="FDF0E3"/>
          </a:solidFill>
          <a:ln w="12700">
            <a:solidFill>
              <a:srgbClr val="FDF0E3"/>
            </a:solidFill>
            <a:prstDash val="solid"/>
          </a:ln>
        </p:spPr>
      </p:sp>
      <p:sp>
        <p:nvSpPr>
          <p:cNvPr id="24" name="Text 21"/>
          <p:cNvSpPr txBox="1"/>
          <p:nvPr/>
        </p:nvSpPr>
        <p:spPr>
          <a:xfrm>
            <a:off x="822960" y="4663440"/>
            <a:ext cx="10545775" cy="10972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un valore che scegli tu, da fuori (nel tfvars).  locals = un valore che Terraform calcola dentro il codice.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servono 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834640"/>
          </a:xfrm>
          <a:prstGeom prst="roundRect">
            <a:avLst>
              <a:gd name="adj" fmla="val 3871"/>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Senza espressioni</a:t>
            </a:r>
            <a:endParaRPr lang="en-US" sz="1800" dirty="0"/>
          </a:p>
        </p:txBody>
      </p:sp>
      <p:sp>
        <p:nvSpPr>
          <p:cNvPr id="9" name="Text 5"/>
          <p:cNvSpPr txBox="1"/>
          <p:nvPr/>
        </p:nvSpPr>
        <p:spPr>
          <a:xfrm>
            <a:off x="77724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bucket = "corso-aws-dev-logs"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Per prod: copi il file e cambi tutto a mano</a:t>
            </a:r>
            <a:endParaRPr lang="en-US" sz="1700" dirty="0"/>
          </a:p>
        </p:txBody>
      </p:sp>
      <p:sp>
        <p:nvSpPr>
          <p:cNvPr id="10" name="Shape 6"/>
          <p:cNvSpPr/>
          <p:nvPr/>
        </p:nvSpPr>
        <p:spPr>
          <a:xfrm>
            <a:off x="6172200" y="1417320"/>
            <a:ext cx="5440680" cy="2834640"/>
          </a:xfrm>
          <a:prstGeom prst="roundRect">
            <a:avLst>
              <a:gd name="adj" fmla="val 3871"/>
            </a:avLst>
          </a:prstGeom>
          <a:solidFill>
            <a:srgbClr val="E5F4EC"/>
          </a:solidFill>
          <a:ln w="12700">
            <a:solidFill>
              <a:srgbClr val="E5F4EC"/>
            </a:solidFill>
            <a:prstDash val="solid"/>
          </a:ln>
        </p:spPr>
      </p:sp>
      <p:sp>
        <p:nvSpPr>
          <p:cNvPr id="11" name="Shape 7"/>
          <p:cNvSpPr/>
          <p:nvPr/>
        </p:nvSpPr>
        <p:spPr>
          <a:xfrm>
            <a:off x="6400800" y="164592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le espressioni</a:t>
            </a:r>
            <a:endParaRPr lang="en-US" sz="1800" dirty="0"/>
          </a:p>
        </p:txBody>
      </p:sp>
      <p:sp>
        <p:nvSpPr>
          <p:cNvPr id="14" name="Text 9"/>
          <p:cNvSpPr txBox="1"/>
          <p:nvPr/>
        </p:nvSpPr>
        <p:spPr>
          <a:xfrm>
            <a:off x="640080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Scrivi il codice una volta sola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 tfvars cambi solo environment = "dev" o "prod"</a:t>
            </a:r>
            <a:endParaRPr lang="en-US" sz="1700" dirty="0"/>
          </a:p>
        </p:txBody>
      </p:sp>
      <p:sp>
        <p:nvSpPr>
          <p:cNvPr id="15" name="Shape 10"/>
          <p:cNvSpPr/>
          <p:nvPr/>
        </p:nvSpPr>
        <p:spPr>
          <a:xfrm>
            <a:off x="548640" y="4572000"/>
            <a:ext cx="11094415" cy="1097280"/>
          </a:xfrm>
          <a:prstGeom prst="roundRect">
            <a:avLst>
              <a:gd name="adj" fmla="val 8333"/>
            </a:avLst>
          </a:prstGeom>
          <a:solidFill>
            <a:srgbClr val="5B3FD0"/>
          </a:solidFill>
          <a:ln w="12700">
            <a:solidFill>
              <a:srgbClr val="5B3FD0"/>
            </a:solidFill>
            <a:prstDash val="solid"/>
          </a:ln>
        </p:spPr>
      </p:sp>
      <p:sp>
        <p:nvSpPr>
          <p:cNvPr id="16" name="Text 11"/>
          <p:cNvSpPr txBox="1"/>
          <p:nvPr/>
        </p:nvSpPr>
        <p:spPr>
          <a:xfrm>
            <a:off x="822960" y="4572000"/>
            <a:ext cx="10545775" cy="10972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Un'espressione è un pezzo di codice che Terraform calcola, invece di un valore scritto fisso.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L'esempio, parte 1: il nome del bucket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548640"/>
          </a:xfrm>
          <a:prstGeom prst="roundRect">
            <a:avLst>
              <a:gd name="adj" fmla="val 16667"/>
            </a:avLst>
          </a:prstGeom>
          <a:solidFill>
            <a:srgbClr val="FDF0E3"/>
          </a:solidFill>
          <a:ln w="12700">
            <a:solidFill>
              <a:srgbClr val="FDF0E3"/>
            </a:solidFill>
            <a:prstDash val="solid"/>
          </a:ln>
        </p:spPr>
      </p:sp>
      <p:sp>
        <p:nvSpPr>
          <p:cNvPr id="6" name="Text 3"/>
          <p:cNvSpPr txBox="1"/>
          <p:nvPr/>
        </p:nvSpPr>
        <p:spPr>
          <a:xfrm>
            <a:off x="548640" y="1325880"/>
            <a:ext cx="11094415" cy="548640"/>
          </a:xfrm>
          <a:prstGeom prst="rect">
            <a:avLst/>
          </a:prstGeom>
          <a:noFill/>
          <a:ln/>
        </p:spPr>
        <p:txBody>
          <a:bodyPr wrap="square" lIns="177800" tIns="177800" rIns="177800" bIns="17780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Nel terraform.tfvars:   </a:t>
            </a:r>
            <a:pPr algn="l" indent="0" marL="0">
              <a:buNone/>
            </a:pPr>
            <a:r>
              <a:rPr lang="en-US" sz="1700" dirty="0">
                <a:solidFill>
                  <a:srgbClr val="22253A"/>
                </a:solidFill>
                <a:latin typeface="Courier New" pitchFamily="34" charset="0"/>
                <a:ea typeface="Courier New" pitchFamily="34" charset="-122"/>
                <a:cs typeface="Courier New" pitchFamily="34" charset="-120"/>
              </a:rPr>
              <a:t>project = "corso-aws"     environment = "dev"</a:t>
            </a:r>
            <a:endParaRPr lang="en-US" sz="1700" dirty="0"/>
          </a:p>
        </p:txBody>
      </p:sp>
      <p:sp>
        <p:nvSpPr>
          <p:cNvPr id="7" name="Shape 4"/>
          <p:cNvSpPr/>
          <p:nvPr/>
        </p:nvSpPr>
        <p:spPr>
          <a:xfrm>
            <a:off x="548640" y="2057400"/>
            <a:ext cx="6675120" cy="2194560"/>
          </a:xfrm>
          <a:prstGeom prst="roundRect">
            <a:avLst>
              <a:gd name="adj" fmla="val 3333"/>
            </a:avLst>
          </a:prstGeom>
          <a:solidFill>
            <a:srgbClr val="1E1E2E"/>
          </a:solidFill>
          <a:ln w="12700">
            <a:solidFill>
              <a:srgbClr val="1E1E2E"/>
            </a:solidFill>
            <a:prstDash val="solid"/>
          </a:ln>
        </p:spPr>
      </p:sp>
      <p:sp>
        <p:nvSpPr>
          <p:cNvPr id="8" name="Text 5"/>
          <p:cNvSpPr txBox="1"/>
          <p:nvPr/>
        </p:nvSpPr>
        <p:spPr>
          <a:xfrm>
            <a:off x="731520" y="2194560"/>
            <a:ext cx="6309360" cy="19202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locals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prefix = "${var.project}-${var.environment}"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lower("${local.prefix}-logs")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9" name="Text 6"/>
          <p:cNvSpPr txBox="1"/>
          <p:nvPr/>
        </p:nvSpPr>
        <p:spPr>
          <a:xfrm>
            <a:off x="7406640" y="2057400"/>
            <a:ext cx="4233672" cy="365760"/>
          </a:xfrm>
          <a:prstGeom prst="rect">
            <a:avLst/>
          </a:prstGeom>
          <a:noFill/>
          <a:ln/>
        </p:spPr>
        <p:txBody>
          <a:bodyPr wrap="square" lIns="0" tIns="0" rIns="0" bIns="0" rtlCol="0" anchor="ctr"/>
          <a:lstStyle/>
          <a:p>
            <a:pPr algn="l" indent="0" marL="0">
              <a:buNone/>
            </a:pPr>
            <a:r>
              <a:rPr lang="en-US" sz="1500" b="1" dirty="0">
                <a:solidFill>
                  <a:srgbClr val="5B3FD0"/>
                </a:solidFill>
                <a:latin typeface="Calibri" pitchFamily="34" charset="0"/>
                <a:ea typeface="Calibri" pitchFamily="34" charset="-122"/>
                <a:cs typeface="Calibri" pitchFamily="34" charset="-120"/>
              </a:rPr>
              <a:t>locals = valori calcolati e riusati</a:t>
            </a:r>
            <a:endParaRPr lang="en-US" sz="1500" dirty="0"/>
          </a:p>
        </p:txBody>
      </p:sp>
      <p:sp>
        <p:nvSpPr>
          <p:cNvPr id="10" name="Shape 7"/>
          <p:cNvSpPr/>
          <p:nvPr/>
        </p:nvSpPr>
        <p:spPr>
          <a:xfrm>
            <a:off x="7406640" y="2514600"/>
            <a:ext cx="4233672" cy="868680"/>
          </a:xfrm>
          <a:prstGeom prst="roundRect">
            <a:avLst>
              <a:gd name="adj" fmla="val 10526"/>
            </a:avLst>
          </a:prstGeom>
          <a:solidFill>
            <a:srgbClr val="E5F4EC"/>
          </a:solidFill>
          <a:ln w="12700">
            <a:solidFill>
              <a:srgbClr val="E5F4EC"/>
            </a:solidFill>
            <a:prstDash val="solid"/>
          </a:ln>
        </p:spPr>
      </p:sp>
      <p:sp>
        <p:nvSpPr>
          <p:cNvPr id="11" name="Text 8"/>
          <p:cNvSpPr txBox="1"/>
          <p:nvPr/>
        </p:nvSpPr>
        <p:spPr>
          <a:xfrm>
            <a:off x="7406640" y="2514600"/>
            <a:ext cx="4233672" cy="86868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local.prefix = </a:t>
            </a:r>
            <a:pPr algn="ctr" indent="0" marL="0">
              <a:buNone/>
            </a:pPr>
            <a:r>
              <a:rPr lang="en-US" sz="1500" b="1" dirty="0">
                <a:solidFill>
                  <a:srgbClr val="22253A"/>
                </a:solidFill>
                <a:latin typeface="Courier New" pitchFamily="34" charset="0"/>
                <a:ea typeface="Courier New" pitchFamily="34" charset="-122"/>
                <a:cs typeface="Courier New" pitchFamily="34" charset="-120"/>
              </a:rPr>
              <a:t>"corso-aws-dev"</a:t>
            </a:r>
            <a:endParaRPr lang="en-US" sz="1500" dirty="0"/>
          </a:p>
        </p:txBody>
      </p:sp>
      <p:sp>
        <p:nvSpPr>
          <p:cNvPr id="12" name="Shape 9"/>
          <p:cNvSpPr/>
          <p:nvPr/>
        </p:nvSpPr>
        <p:spPr>
          <a:xfrm>
            <a:off x="7406640" y="3520440"/>
            <a:ext cx="4233672" cy="868680"/>
          </a:xfrm>
          <a:prstGeom prst="roundRect">
            <a:avLst>
              <a:gd name="adj" fmla="val 10526"/>
            </a:avLst>
          </a:prstGeom>
          <a:solidFill>
            <a:srgbClr val="E5F4EC"/>
          </a:solidFill>
          <a:ln w="12700">
            <a:solidFill>
              <a:srgbClr val="E5F4EC"/>
            </a:solidFill>
            <a:prstDash val="solid"/>
          </a:ln>
        </p:spPr>
      </p:sp>
      <p:sp>
        <p:nvSpPr>
          <p:cNvPr id="13" name="Text 10"/>
          <p:cNvSpPr txBox="1"/>
          <p:nvPr/>
        </p:nvSpPr>
        <p:spPr>
          <a:xfrm>
            <a:off x="7406640" y="3520440"/>
            <a:ext cx="4233672" cy="86868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bucket = </a:t>
            </a:r>
            <a:pPr algn="ctr" indent="0" marL="0">
              <a:buNone/>
            </a:pPr>
            <a:r>
              <a:rPr lang="en-US" sz="1500" b="1" dirty="0">
                <a:solidFill>
                  <a:srgbClr val="22253A"/>
                </a:solidFill>
                <a:latin typeface="Courier New" pitchFamily="34" charset="0"/>
                <a:ea typeface="Courier New" pitchFamily="34" charset="-122"/>
                <a:cs typeface="Courier New" pitchFamily="34" charset="-120"/>
              </a:rPr>
              <a:t>"corso-aws-dev-logs"</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11094415" cy="914400"/>
        </p:xfrm>
        <a:graphic>
          <a:graphicData uri="http://schemas.openxmlformats.org/drawingml/2006/table">
            <a:tbl>
              <a:tblPr/>
              <a:tblGrid>
                <a:gridCol w="4206240"/>
                <a:gridCol w="6885432"/>
              </a:tblGrid>
              <a:tr h="42976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Nel codice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Cosa fa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429768">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 … }</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dentro le virgolette, viene sostituito dal valore (interpolazione)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29768">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var.environment · local.prefix</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leggono un valore definito altrove (riferimenti)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429768">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lower( … )</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rende il testo minuscolo: i nomi dei bucket non ammettono maiuscole (funzione)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L'esempio, parte 2: il versioning solo in prod</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Versioning = conservare le vecchie copie dei file. Lo vogliamo solo in produzione.</a:t>
            </a:r>
            <a:endParaRPr lang="en-US" sz="1800" dirty="0"/>
          </a:p>
        </p:txBody>
      </p:sp>
      <p:sp>
        <p:nvSpPr>
          <p:cNvPr id="7" name="Shape 4"/>
          <p:cNvSpPr/>
          <p:nvPr/>
        </p:nvSpPr>
        <p:spPr>
          <a:xfrm>
            <a:off x="548640" y="2194560"/>
            <a:ext cx="11094415" cy="1920240"/>
          </a:xfrm>
          <a:prstGeom prst="roundRect">
            <a:avLst>
              <a:gd name="adj" fmla="val 3810"/>
            </a:avLst>
          </a:prstGeom>
          <a:solidFill>
            <a:srgbClr val="1E1E2E"/>
          </a:solidFill>
          <a:ln w="12700">
            <a:solidFill>
              <a:srgbClr val="1E1E2E"/>
            </a:solidFill>
            <a:prstDash val="solid"/>
          </a:ln>
        </p:spPr>
      </p:sp>
      <p:sp>
        <p:nvSpPr>
          <p:cNvPr id="8" name="Text 5"/>
          <p:cNvSpPr txBox="1"/>
          <p:nvPr/>
        </p:nvSpPr>
        <p:spPr>
          <a:xfrm>
            <a:off x="731520" y="2331720"/>
            <a:ext cx="10728655" cy="16459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aws_s3_bucket.logs.id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var.environment == "prod" ? "Enabled" : "Suspended"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9" name="Shape 6"/>
          <p:cNvSpPr/>
          <p:nvPr/>
        </p:nvSpPr>
        <p:spPr>
          <a:xfrm>
            <a:off x="548640" y="4389120"/>
            <a:ext cx="5440680" cy="1691640"/>
          </a:xfrm>
          <a:prstGeom prst="roundRect">
            <a:avLst>
              <a:gd name="adj" fmla="val 6486"/>
            </a:avLst>
          </a:prstGeom>
          <a:solidFill>
            <a:srgbClr val="EEEAFB"/>
          </a:solidFill>
          <a:ln w="12700">
            <a:solidFill>
              <a:srgbClr val="EEEAFB"/>
            </a:solidFill>
            <a:prstDash val="solid"/>
          </a:ln>
        </p:spPr>
      </p:sp>
      <p:sp>
        <p:nvSpPr>
          <p:cNvPr id="10" name="Shape 7"/>
          <p:cNvSpPr/>
          <p:nvPr/>
        </p:nvSpPr>
        <p:spPr>
          <a:xfrm>
            <a:off x="777240" y="4617720"/>
            <a:ext cx="548640" cy="548640"/>
          </a:xfrm>
          <a:prstGeom prst="ellipse">
            <a:avLst/>
          </a:prstGeom>
          <a:solidFill>
            <a:srgbClr val="5B3FD0"/>
          </a:solidFill>
          <a:ln w="12700">
            <a:solidFill>
              <a:srgbClr val="5B3FD0"/>
            </a:solidFill>
            <a:prstDash val="solid"/>
          </a:ln>
        </p:spPr>
      </p:sp>
      <p:pic>
        <p:nvPicPr>
          <p:cNvPr id="11" name="Image 0" descr="preencoded.png">    </p:cNvPr>
          <p:cNvPicPr>
            <a:picLocks noChangeAspect="1"/>
          </p:cNvPicPr>
          <p:nvPr/>
        </p:nvPicPr>
        <p:blipFill>
          <a:blip r:embed="rId1"/>
          <a:stretch>
            <a:fillRect/>
          </a:stretch>
        </p:blipFill>
        <p:spPr>
          <a:xfrm>
            <a:off x="914400" y="4754880"/>
            <a:ext cx="274320" cy="274320"/>
          </a:xfrm>
          <a:prstGeom prst="rect">
            <a:avLst/>
          </a:prstGeom>
        </p:spPr>
      </p:pic>
      <p:sp>
        <p:nvSpPr>
          <p:cNvPr id="12" name="Text 8"/>
          <p:cNvSpPr txBox="1"/>
          <p:nvPr/>
        </p:nvSpPr>
        <p:spPr>
          <a:xfrm>
            <a:off x="150876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aws_s3_bucket.logs.id</a:t>
            </a:r>
            <a:endParaRPr lang="en-US" sz="1800" dirty="0"/>
          </a:p>
        </p:txBody>
      </p:sp>
      <p:sp>
        <p:nvSpPr>
          <p:cNvPr id="13" name="Text 9"/>
          <p:cNvSpPr txBox="1"/>
          <p:nvPr/>
        </p:nvSpPr>
        <p:spPr>
          <a:xfrm>
            <a:off x="77724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"sul bucket appena creato": Terraform crea prima il bucket, poi il versioning</a:t>
            </a:r>
            <a:endParaRPr lang="en-US" sz="1500" dirty="0"/>
          </a:p>
        </p:txBody>
      </p:sp>
      <p:sp>
        <p:nvSpPr>
          <p:cNvPr id="14" name="Shape 10"/>
          <p:cNvSpPr/>
          <p:nvPr/>
        </p:nvSpPr>
        <p:spPr>
          <a:xfrm>
            <a:off x="6172200" y="4389120"/>
            <a:ext cx="5440680" cy="1691640"/>
          </a:xfrm>
          <a:prstGeom prst="roundRect">
            <a:avLst>
              <a:gd name="adj" fmla="val 6486"/>
            </a:avLst>
          </a:prstGeom>
          <a:solidFill>
            <a:srgbClr val="FDF0E3"/>
          </a:solidFill>
          <a:ln w="12700">
            <a:solidFill>
              <a:srgbClr val="FDF0E3"/>
            </a:solidFill>
            <a:prstDash val="solid"/>
          </a:ln>
        </p:spPr>
      </p:sp>
      <p:sp>
        <p:nvSpPr>
          <p:cNvPr id="15" name="Shape 11"/>
          <p:cNvSpPr/>
          <p:nvPr/>
        </p:nvSpPr>
        <p:spPr>
          <a:xfrm>
            <a:off x="6400800" y="4617720"/>
            <a:ext cx="548640" cy="548640"/>
          </a:xfrm>
          <a:prstGeom prst="ellipse">
            <a:avLst/>
          </a:prstGeom>
          <a:solidFill>
            <a:srgbClr val="F28C28"/>
          </a:solidFill>
          <a:ln w="12700">
            <a:solidFill>
              <a:srgbClr val="F28C28"/>
            </a:solidFill>
            <a:prstDash val="solid"/>
          </a:ln>
        </p:spPr>
      </p:sp>
      <p:pic>
        <p:nvPicPr>
          <p:cNvPr id="16" name="Image 1" descr="preencoded.png">    </p:cNvPr>
          <p:cNvPicPr>
            <a:picLocks noChangeAspect="1"/>
          </p:cNvPicPr>
          <p:nvPr/>
        </p:nvPicPr>
        <p:blipFill>
          <a:blip r:embed="rId2"/>
          <a:stretch>
            <a:fillRect/>
          </a:stretch>
        </p:blipFill>
        <p:spPr>
          <a:xfrm>
            <a:off x="6537960" y="4754880"/>
            <a:ext cx="274320" cy="274320"/>
          </a:xfrm>
          <a:prstGeom prst="rect">
            <a:avLst/>
          </a:prstGeom>
        </p:spPr>
      </p:pic>
      <p:sp>
        <p:nvSpPr>
          <p:cNvPr id="17" name="Text 12"/>
          <p:cNvSpPr txBox="1"/>
          <p:nvPr/>
        </p:nvSpPr>
        <p:spPr>
          <a:xfrm>
            <a:off x="713232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 == "prod" ? A : B</a:t>
            </a:r>
            <a:endParaRPr lang="en-US" sz="1800" dirty="0"/>
          </a:p>
        </p:txBody>
      </p:sp>
      <p:sp>
        <p:nvSpPr>
          <p:cNvPr id="18" name="Text 13"/>
          <p:cNvSpPr txBox="1"/>
          <p:nvPr/>
        </p:nvSpPr>
        <p:spPr>
          <a:xfrm>
            <a:off x="640080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se è prod usa A, altrimenti B. Con "dev" → "Suspended"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Stesso codice, due ambienti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108960"/>
                <a:gridCol w="3986784"/>
                <a:gridCol w="3995928"/>
              </a:tblGrid>
              <a:tr h="7772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Valore calcolato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"dev"</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"prod"</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800" b="1" dirty="0">
                          <a:solidFill>
                            <a:srgbClr val="22253A"/>
                          </a:solidFill>
                          <a:latin typeface="Courier New" pitchFamily="34" charset="0"/>
                          <a:ea typeface="Courier New" pitchFamily="34" charset="-122"/>
                          <a:cs typeface="Courier New" pitchFamily="34" charset="-120"/>
                        </a:rPr>
                        <a:t>local.prefix</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versioning</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ourier New" pitchFamily="34" charset="0"/>
                          <a:ea typeface="Courier New" pitchFamily="34" charset="-122"/>
                          <a:cs typeface="Courier New" pitchFamily="34" charset="-120"/>
                        </a:rPr>
                        <a:t>"Suspended"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ourier New" pitchFamily="34" charset="0"/>
                          <a:ea typeface="Courier New" pitchFamily="34" charset="-122"/>
                          <a:cs typeface="Courier New" pitchFamily="34" charset="-120"/>
                        </a:rPr>
                        <a:t>"Enabled"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7" name="Text 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Il codice non cambia: cambia un solo valore nel tfvars, e Terraform ricalcola tutto il resto.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(1): i riferimenti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riferimento dice: "prendi il valore che sta là". La parola prima del punto dice dove.</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3383280"/>
                <a:gridCol w="4572000"/>
                <a:gridCol w="3136392"/>
              </a:tblGrid>
              <a:tr h="6858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Dove lo cerca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Nell'esempio vale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var.environment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variabile: il valore arriva dal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local.prefix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calcolato nel blocco 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aws_s3_bucket.logs.id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attributo di una risorsa creata da noi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"corso-aws-dev-logs"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data.…</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qualcosa che esiste già in AWS: lo leggo, non lo creo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es. il numero del tuo account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(2): l'interpolazione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Dentro le virgolette, ${ … } viene sostituito dal suo valore. Il resto del testo resta uguale.</a:t>
            </a:r>
            <a:endParaRPr lang="en-US" sz="1900" dirty="0"/>
          </a:p>
        </p:txBody>
      </p:sp>
      <p:sp>
        <p:nvSpPr>
          <p:cNvPr id="7" name="Shape 4"/>
          <p:cNvSpPr/>
          <p:nvPr/>
        </p:nvSpPr>
        <p:spPr>
          <a:xfrm>
            <a:off x="548640" y="2240280"/>
            <a:ext cx="4754880" cy="868680"/>
          </a:xfrm>
          <a:prstGeom prst="roundRect">
            <a:avLst>
              <a:gd name="adj" fmla="val 8421"/>
            </a:avLst>
          </a:prstGeom>
          <a:solidFill>
            <a:srgbClr val="1E1E2E"/>
          </a:solidFill>
          <a:ln w="12700">
            <a:solidFill>
              <a:srgbClr val="1E1E2E"/>
            </a:solidFill>
            <a:prstDash val="solid"/>
          </a:ln>
        </p:spPr>
      </p:sp>
      <p:sp>
        <p:nvSpPr>
          <p:cNvPr id="8" name="Text 5"/>
          <p:cNvSpPr txBox="1"/>
          <p:nvPr/>
        </p:nvSpPr>
        <p:spPr>
          <a:xfrm>
            <a:off x="731520" y="2377440"/>
            <a:ext cx="4389120" cy="5943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"${var.project}-${var.environment}"</a:t>
            </a:r>
            <a:endParaRPr lang="en-US" sz="1600" dirty="0"/>
          </a:p>
        </p:txBody>
      </p:sp>
      <p:sp>
        <p:nvSpPr>
          <p:cNvPr id="9" name="Shape 6"/>
          <p:cNvSpPr/>
          <p:nvPr/>
        </p:nvSpPr>
        <p:spPr>
          <a:xfrm>
            <a:off x="5349240" y="2670048"/>
            <a:ext cx="320040" cy="0"/>
          </a:xfrm>
          <a:prstGeom prst="line">
            <a:avLst/>
          </a:prstGeom>
          <a:noFill/>
          <a:ln w="25400">
            <a:solidFill>
              <a:srgbClr val="5B3FD0"/>
            </a:solidFill>
            <a:prstDash val="solid"/>
            <a:tailEnd type="triangle"/>
          </a:ln>
        </p:spPr>
      </p:sp>
      <p:sp>
        <p:nvSpPr>
          <p:cNvPr id="10" name="Shape 7"/>
          <p:cNvSpPr/>
          <p:nvPr/>
        </p:nvSpPr>
        <p:spPr>
          <a:xfrm>
            <a:off x="5715000" y="2240280"/>
            <a:ext cx="2788920" cy="868680"/>
          </a:xfrm>
          <a:prstGeom prst="roundRect">
            <a:avLst>
              <a:gd name="adj" fmla="val 10526"/>
            </a:avLst>
          </a:prstGeom>
          <a:solidFill>
            <a:srgbClr val="FDF0E3"/>
          </a:solidFill>
          <a:ln w="12700">
            <a:solidFill>
              <a:srgbClr val="FDF0E3"/>
            </a:solidFill>
            <a:prstDash val="solid"/>
          </a:ln>
        </p:spPr>
      </p:sp>
      <p:sp>
        <p:nvSpPr>
          <p:cNvPr id="11" name="Text 8"/>
          <p:cNvSpPr txBox="1"/>
          <p:nvPr/>
        </p:nvSpPr>
        <p:spPr>
          <a:xfrm>
            <a:off x="5715000" y="2240280"/>
            <a:ext cx="2788920" cy="868680"/>
          </a:xfrm>
          <a:prstGeom prst="rect">
            <a:avLst/>
          </a:prstGeom>
          <a:noFill/>
          <a:ln/>
        </p:spPr>
        <p:txBody>
          <a:bodyPr wrap="square" lIns="76200" tIns="76200" rIns="76200" bIns="76200" rtlCol="0" anchor="ctr"/>
          <a:lstStyle/>
          <a:p>
            <a:pPr algn="ctr" indent="0" marL="0">
              <a:buNone/>
            </a:pPr>
            <a:r>
              <a:rPr lang="en-US" sz="1300" dirty="0">
                <a:solidFill>
                  <a:srgbClr val="22253A"/>
                </a:solidFill>
                <a:latin typeface="Courier New" pitchFamily="34" charset="0"/>
                <a:ea typeface="Courier New" pitchFamily="34" charset="-122"/>
                <a:cs typeface="Courier New" pitchFamily="34" charset="-120"/>
              </a:rPr>
              <a:t>project → "corso-aws"</a:t>
            </a:r>
            <a:endParaRPr lang="en-US" sz="1300" dirty="0"/>
          </a:p>
          <a:p>
            <a:pPr algn="ctr" indent="0" marL="0">
              <a:buNone/>
            </a:pPr>
            <a:r>
              <a:rPr lang="en-US" sz="1300" dirty="0">
                <a:solidFill>
                  <a:srgbClr val="22253A"/>
                </a:solidFill>
                <a:latin typeface="Courier New" pitchFamily="34" charset="0"/>
                <a:ea typeface="Courier New" pitchFamily="34" charset="-122"/>
                <a:cs typeface="Courier New" pitchFamily="34" charset="-120"/>
              </a:rPr>
              <a:t>environment → "dev"</a:t>
            </a:r>
            <a:endParaRPr lang="en-US" sz="1300" dirty="0"/>
          </a:p>
        </p:txBody>
      </p:sp>
      <p:sp>
        <p:nvSpPr>
          <p:cNvPr id="12" name="Shape 9"/>
          <p:cNvSpPr/>
          <p:nvPr/>
        </p:nvSpPr>
        <p:spPr>
          <a:xfrm>
            <a:off x="8549640" y="2670048"/>
            <a:ext cx="274320" cy="0"/>
          </a:xfrm>
          <a:prstGeom prst="line">
            <a:avLst/>
          </a:prstGeom>
          <a:noFill/>
          <a:ln w="25400">
            <a:solidFill>
              <a:srgbClr val="5B3FD0"/>
            </a:solidFill>
            <a:prstDash val="solid"/>
            <a:tailEnd type="triangle"/>
          </a:ln>
        </p:spPr>
      </p:sp>
      <p:sp>
        <p:nvSpPr>
          <p:cNvPr id="13" name="Shape 10"/>
          <p:cNvSpPr/>
          <p:nvPr/>
        </p:nvSpPr>
        <p:spPr>
          <a:xfrm>
            <a:off x="8869680" y="2240280"/>
            <a:ext cx="2770632" cy="868680"/>
          </a:xfrm>
          <a:prstGeom prst="roundRect">
            <a:avLst>
              <a:gd name="adj" fmla="val 10526"/>
            </a:avLst>
          </a:prstGeom>
          <a:solidFill>
            <a:srgbClr val="E5F4EC"/>
          </a:solidFill>
          <a:ln w="12700">
            <a:solidFill>
              <a:srgbClr val="E5F4EC"/>
            </a:solidFill>
            <a:prstDash val="solid"/>
          </a:ln>
        </p:spPr>
      </p:sp>
      <p:sp>
        <p:nvSpPr>
          <p:cNvPr id="14" name="Text 11"/>
          <p:cNvSpPr txBox="1"/>
          <p:nvPr/>
        </p:nvSpPr>
        <p:spPr>
          <a:xfrm>
            <a:off x="8869680" y="2240280"/>
            <a:ext cx="2770632" cy="8686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"corso-aws-dev"</a:t>
            </a:r>
            <a:endParaRPr lang="en-US" sz="1800" dirty="0"/>
          </a:p>
        </p:txBody>
      </p:sp>
      <p:sp>
        <p:nvSpPr>
          <p:cNvPr id="15" name="Shape 12"/>
          <p:cNvSpPr/>
          <p:nvPr/>
        </p:nvSpPr>
        <p:spPr>
          <a:xfrm>
            <a:off x="548640" y="3474720"/>
            <a:ext cx="3566160" cy="2560320"/>
          </a:xfrm>
          <a:prstGeom prst="roundRect">
            <a:avLst>
              <a:gd name="adj" fmla="val 4286"/>
            </a:avLst>
          </a:prstGeom>
          <a:solidFill>
            <a:srgbClr val="E5F4EC"/>
          </a:solidFill>
          <a:ln w="12700">
            <a:solidFill>
              <a:srgbClr val="E5F4EC"/>
            </a:solidFill>
            <a:prstDash val="solid"/>
          </a:ln>
        </p:spPr>
      </p:sp>
      <p:sp>
        <p:nvSpPr>
          <p:cNvPr id="16" name="Shape 13"/>
          <p:cNvSpPr/>
          <p:nvPr/>
        </p:nvSpPr>
        <p:spPr>
          <a:xfrm>
            <a:off x="777240" y="3703320"/>
            <a:ext cx="548640" cy="548640"/>
          </a:xfrm>
          <a:prstGeom prst="ellipse">
            <a:avLst/>
          </a:prstGeom>
          <a:solidFill>
            <a:srgbClr val="2E9E6B"/>
          </a:solidFill>
          <a:ln w="12700">
            <a:solidFill>
              <a:srgbClr val="2E9E6B"/>
            </a:solidFill>
            <a:prstDash val="solid"/>
          </a:ln>
        </p:spPr>
      </p:sp>
      <p:pic>
        <p:nvPicPr>
          <p:cNvPr id="17" name="Image 0" descr="preencoded.png">    </p:cNvPr>
          <p:cNvPicPr>
            <a:picLocks noChangeAspect="1"/>
          </p:cNvPicPr>
          <p:nvPr/>
        </p:nvPicPr>
        <p:blipFill>
          <a:blip r:embed="rId1"/>
          <a:stretch>
            <a:fillRect/>
          </a:stretch>
        </p:blipFill>
        <p:spPr>
          <a:xfrm>
            <a:off x="914400" y="3840480"/>
            <a:ext cx="274320" cy="274320"/>
          </a:xfrm>
          <a:prstGeom prst="rect">
            <a:avLst/>
          </a:prstGeom>
        </p:spPr>
      </p:pic>
      <p:sp>
        <p:nvSpPr>
          <p:cNvPr id="18" name="Text 14"/>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Testo + valori</a:t>
            </a:r>
            <a:endParaRPr lang="en-US" sz="1800" dirty="0"/>
          </a:p>
        </p:txBody>
      </p:sp>
      <p:sp>
        <p:nvSpPr>
          <p:cNvPr id="19" name="Text 15"/>
          <p:cNvSpPr txBox="1"/>
          <p:nvPr/>
        </p:nvSpPr>
        <p:spPr>
          <a:xfrm>
            <a:off x="77724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"${local.prefix}-logs"</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interpolazione</a:t>
            </a:r>
            <a:endParaRPr lang="en-US" sz="1500" dirty="0"/>
          </a:p>
        </p:txBody>
      </p:sp>
      <p:sp>
        <p:nvSpPr>
          <p:cNvPr id="20" name="Shape 16"/>
          <p:cNvSpPr/>
          <p:nvPr/>
        </p:nvSpPr>
        <p:spPr>
          <a:xfrm>
            <a:off x="4297680" y="3474720"/>
            <a:ext cx="3566160" cy="2560320"/>
          </a:xfrm>
          <a:prstGeom prst="roundRect">
            <a:avLst>
              <a:gd name="adj" fmla="val 4286"/>
            </a:avLst>
          </a:prstGeom>
          <a:solidFill>
            <a:srgbClr val="E5F4EC"/>
          </a:solidFill>
          <a:ln w="12700">
            <a:solidFill>
              <a:srgbClr val="E5F4EC"/>
            </a:solidFill>
            <a:prstDash val="solid"/>
          </a:ln>
        </p:spPr>
      </p:sp>
      <p:sp>
        <p:nvSpPr>
          <p:cNvPr id="21" name="Shape 17"/>
          <p:cNvSpPr/>
          <p:nvPr/>
        </p:nvSpPr>
        <p:spPr>
          <a:xfrm>
            <a:off x="4526280" y="3703320"/>
            <a:ext cx="548640" cy="548640"/>
          </a:xfrm>
          <a:prstGeom prst="ellipse">
            <a:avLst/>
          </a:prstGeom>
          <a:solidFill>
            <a:srgbClr val="2E9E6B"/>
          </a:solidFill>
          <a:ln w="12700">
            <a:solidFill>
              <a:srgbClr val="2E9E6B"/>
            </a:solidFill>
            <a:prstDash val="solid"/>
          </a:ln>
        </p:spPr>
      </p:sp>
      <p:pic>
        <p:nvPicPr>
          <p:cNvPr id="22" name="Image 1" descr="preencoded.png">    </p:cNvPr>
          <p:cNvPicPr>
            <a:picLocks noChangeAspect="1"/>
          </p:cNvPicPr>
          <p:nvPr/>
        </p:nvPicPr>
        <p:blipFill>
          <a:blip r:embed="rId2"/>
          <a:stretch>
            <a:fillRect/>
          </a:stretch>
        </p:blipFill>
        <p:spPr>
          <a:xfrm>
            <a:off x="4663440" y="3840480"/>
            <a:ext cx="274320" cy="274320"/>
          </a:xfrm>
          <a:prstGeom prst="rect">
            <a:avLst/>
          </a:prstGeom>
        </p:spPr>
      </p:pic>
      <p:sp>
        <p:nvSpPr>
          <p:cNvPr id="23" name="Text 18"/>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Solo un valore</a:t>
            </a:r>
            <a:endParaRPr lang="en-US" sz="1800" dirty="0"/>
          </a:p>
        </p:txBody>
      </p:sp>
      <p:sp>
        <p:nvSpPr>
          <p:cNvPr id="24" name="Text 19"/>
          <p:cNvSpPr txBox="1"/>
          <p:nvPr/>
        </p:nvSpPr>
        <p:spPr>
          <a:xfrm>
            <a:off x="452628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niente virgolette</a:t>
            </a:r>
            <a:endParaRPr lang="en-US" sz="1500" dirty="0"/>
          </a:p>
        </p:txBody>
      </p:sp>
      <p:sp>
        <p:nvSpPr>
          <p:cNvPr id="25" name="Shape 20"/>
          <p:cNvSpPr/>
          <p:nvPr/>
        </p:nvSpPr>
        <p:spPr>
          <a:xfrm>
            <a:off x="8046720" y="3474720"/>
            <a:ext cx="3593592" cy="2560320"/>
          </a:xfrm>
          <a:prstGeom prst="roundRect">
            <a:avLst>
              <a:gd name="adj" fmla="val 4286"/>
            </a:avLst>
          </a:prstGeom>
          <a:solidFill>
            <a:srgbClr val="FBE9E9"/>
          </a:solidFill>
          <a:ln w="12700">
            <a:solidFill>
              <a:srgbClr val="FBE9E9"/>
            </a:solidFill>
            <a:prstDash val="solid"/>
          </a:ln>
        </p:spPr>
      </p:sp>
      <p:sp>
        <p:nvSpPr>
          <p:cNvPr id="26" name="Shape 21"/>
          <p:cNvSpPr/>
          <p:nvPr/>
        </p:nvSpPr>
        <p:spPr>
          <a:xfrm>
            <a:off x="8275320" y="3703320"/>
            <a:ext cx="548640" cy="548640"/>
          </a:xfrm>
          <a:prstGeom prst="ellipse">
            <a:avLst/>
          </a:prstGeom>
          <a:solidFill>
            <a:srgbClr val="D64545"/>
          </a:solidFill>
          <a:ln w="12700">
            <a:solidFill>
              <a:srgbClr val="D64545"/>
            </a:solidFill>
            <a:prstDash val="solid"/>
          </a:ln>
        </p:spPr>
      </p:sp>
      <p:pic>
        <p:nvPicPr>
          <p:cNvPr id="27" name="Image 2" descr="preencoded.png">    </p:cNvPr>
          <p:cNvPicPr>
            <a:picLocks noChangeAspect="1"/>
          </p:cNvPicPr>
          <p:nvPr/>
        </p:nvPicPr>
        <p:blipFill>
          <a:blip r:embed="rId3"/>
          <a:stretch>
            <a:fillRect/>
          </a:stretch>
        </p:blipFill>
        <p:spPr>
          <a:xfrm>
            <a:off x="8412480" y="3840480"/>
            <a:ext cx="274320" cy="274320"/>
          </a:xfrm>
          <a:prstGeom prst="rect">
            <a:avLst/>
          </a:prstGeom>
        </p:spPr>
      </p:pic>
      <p:sp>
        <p:nvSpPr>
          <p:cNvPr id="28" name="Text 22"/>
          <p:cNvSpPr txBox="1"/>
          <p:nvPr/>
        </p:nvSpPr>
        <p:spPr>
          <a:xfrm>
            <a:off x="9006840" y="3703320"/>
            <a:ext cx="24048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Sbagliato</a:t>
            </a:r>
            <a:endParaRPr lang="en-US" sz="1800" dirty="0"/>
          </a:p>
        </p:txBody>
      </p:sp>
      <p:sp>
        <p:nvSpPr>
          <p:cNvPr id="29" name="Text 23"/>
          <p:cNvSpPr txBox="1"/>
          <p:nvPr/>
        </p:nvSpPr>
        <p:spPr>
          <a:xfrm>
            <a:off x="8275320" y="4389120"/>
            <a:ext cx="3136392"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Terraform lo prende come testo, parola per parola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(3): le funzioni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nome(valori): prende dei valori e ne restituisce uno nuovo.</a:t>
            </a:r>
            <a:endParaRPr lang="en-US" sz="1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4572000"/>
                <a:gridCol w="2194560"/>
                <a:gridCol w="4325112"/>
              </a:tblGrid>
              <a:tr h="9144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Risultato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 cosa ci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lower("Corso-AWS-dev")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 nomi dei bucket devono essere minuscoli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contains(["dev", "prod"], "test")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D64545"/>
                          </a:solidFill>
                          <a:latin typeface="Courier New" pitchFamily="34" charset="0"/>
                          <a:ea typeface="Courier New" pitchFamily="34" charset="-122"/>
                          <a:cs typeface="Courier New" pitchFamily="34" charset="-120"/>
                        </a:rPr>
                        <a:t>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 non è un ambiente ammesso: blocchiamo il valore prima di creare qualcosa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8" name="Text 4"/>
          <p:cNvSpPr txBox="1"/>
          <p:nvPr/>
        </p:nvSpPr>
        <p:spPr>
          <a:xfrm>
            <a:off x="548640" y="5303520"/>
            <a:ext cx="11094415" cy="54864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Non se ne inventano: si usano quelle di Terraform. Altre le incontriamo quando servono (es. indirizzi di rete, lezione 2).</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(4): il condizionale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Si legge: "se la condizione è vera usa il primo valore, altrimenti il secondo".</a:t>
            </a:r>
            <a:endParaRPr lang="en-US" sz="1900" dirty="0"/>
          </a:p>
        </p:txBody>
      </p:sp>
      <p:sp>
        <p:nvSpPr>
          <p:cNvPr id="7" name="Shape 4"/>
          <p:cNvSpPr/>
          <p:nvPr/>
        </p:nvSpPr>
        <p:spPr>
          <a:xfrm>
            <a:off x="822960" y="2331720"/>
            <a:ext cx="420624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822960" y="2331720"/>
            <a:ext cx="420624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var.environment == "prod"</a:t>
            </a:r>
            <a:endParaRPr lang="en-US" sz="1800" dirty="0"/>
          </a:p>
        </p:txBody>
      </p:sp>
      <p:sp>
        <p:nvSpPr>
          <p:cNvPr id="9" name="Text 6"/>
          <p:cNvSpPr txBox="1"/>
          <p:nvPr/>
        </p:nvSpPr>
        <p:spPr>
          <a:xfrm>
            <a:off x="822960" y="3291840"/>
            <a:ext cx="420624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condizione</a:t>
            </a:r>
            <a:endParaRPr lang="en-US" sz="1600" dirty="0"/>
          </a:p>
        </p:txBody>
      </p:sp>
      <p:sp>
        <p:nvSpPr>
          <p:cNvPr id="10" name="Text 7"/>
          <p:cNvSpPr txBox="1"/>
          <p:nvPr/>
        </p:nvSpPr>
        <p:spPr>
          <a:xfrm>
            <a:off x="516636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1" name="Shape 8"/>
          <p:cNvSpPr/>
          <p:nvPr/>
        </p:nvSpPr>
        <p:spPr>
          <a:xfrm>
            <a:off x="5760720" y="2331720"/>
            <a:ext cx="2194560" cy="914400"/>
          </a:xfrm>
          <a:prstGeom prst="roundRect">
            <a:avLst>
              <a:gd name="adj" fmla="val 10000"/>
            </a:avLst>
          </a:prstGeom>
          <a:solidFill>
            <a:srgbClr val="E5F4EC"/>
          </a:solidFill>
          <a:ln w="12700">
            <a:solidFill>
              <a:srgbClr val="E5F4EC"/>
            </a:solidFill>
            <a:prstDash val="solid"/>
          </a:ln>
        </p:spPr>
      </p:sp>
      <p:sp>
        <p:nvSpPr>
          <p:cNvPr id="12" name="Text 9"/>
          <p:cNvSpPr txBox="1"/>
          <p:nvPr/>
        </p:nvSpPr>
        <p:spPr>
          <a:xfrm>
            <a:off x="5760720" y="2331720"/>
            <a:ext cx="219456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"Enabled"</a:t>
            </a:r>
            <a:endParaRPr lang="en-US" sz="1800" dirty="0"/>
          </a:p>
        </p:txBody>
      </p:sp>
      <p:sp>
        <p:nvSpPr>
          <p:cNvPr id="13" name="Text 10"/>
          <p:cNvSpPr txBox="1"/>
          <p:nvPr/>
        </p:nvSpPr>
        <p:spPr>
          <a:xfrm>
            <a:off x="5760720" y="3291840"/>
            <a:ext cx="219456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vera</a:t>
            </a:r>
            <a:endParaRPr lang="en-US" sz="1600" dirty="0"/>
          </a:p>
        </p:txBody>
      </p:sp>
      <p:sp>
        <p:nvSpPr>
          <p:cNvPr id="14" name="Text 11"/>
          <p:cNvSpPr txBox="1"/>
          <p:nvPr/>
        </p:nvSpPr>
        <p:spPr>
          <a:xfrm>
            <a:off x="809244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5" name="Shape 12"/>
          <p:cNvSpPr/>
          <p:nvPr/>
        </p:nvSpPr>
        <p:spPr>
          <a:xfrm>
            <a:off x="8686800" y="2331720"/>
            <a:ext cx="2468880" cy="914400"/>
          </a:xfrm>
          <a:prstGeom prst="roundRect">
            <a:avLst>
              <a:gd name="adj" fmla="val 10000"/>
            </a:avLst>
          </a:prstGeom>
          <a:solidFill>
            <a:srgbClr val="FDF0E3"/>
          </a:solidFill>
          <a:ln w="12700">
            <a:solidFill>
              <a:srgbClr val="FDF0E3"/>
            </a:solidFill>
            <a:prstDash val="solid"/>
          </a:ln>
        </p:spPr>
      </p:sp>
      <p:sp>
        <p:nvSpPr>
          <p:cNvPr id="16" name="Text 13"/>
          <p:cNvSpPr txBox="1"/>
          <p:nvPr/>
        </p:nvSpPr>
        <p:spPr>
          <a:xfrm>
            <a:off x="8686800" y="2331720"/>
            <a:ext cx="24688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"Suspended"</a:t>
            </a:r>
            <a:endParaRPr lang="en-US" sz="1800" dirty="0"/>
          </a:p>
        </p:txBody>
      </p:sp>
      <p:sp>
        <p:nvSpPr>
          <p:cNvPr id="17" name="Text 14"/>
          <p:cNvSpPr txBox="1"/>
          <p:nvPr/>
        </p:nvSpPr>
        <p:spPr>
          <a:xfrm>
            <a:off x="8686800" y="3291840"/>
            <a:ext cx="246888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falsa</a:t>
            </a:r>
            <a:endParaRPr lang="en-US" sz="1600" dirty="0"/>
          </a:p>
        </p:txBody>
      </p:sp>
      <p:sp>
        <p:nvSpPr>
          <p:cNvPr id="18" name="Shape 15"/>
          <p:cNvSpPr/>
          <p:nvPr/>
        </p:nvSpPr>
        <p:spPr>
          <a:xfrm>
            <a:off x="548640" y="3977640"/>
            <a:ext cx="6766560" cy="1097280"/>
          </a:xfrm>
          <a:prstGeom prst="roundRect">
            <a:avLst>
              <a:gd name="adj" fmla="val 6667"/>
            </a:avLst>
          </a:prstGeom>
          <a:solidFill>
            <a:srgbClr val="1E1E2E"/>
          </a:solidFill>
          <a:ln w="12700">
            <a:solidFill>
              <a:srgbClr val="1E1E2E"/>
            </a:solidFill>
            <a:prstDash val="solid"/>
          </a:ln>
        </p:spPr>
      </p:sp>
      <p:sp>
        <p:nvSpPr>
          <p:cNvPr id="19" name="Text 16"/>
          <p:cNvSpPr txBox="1"/>
          <p:nvPr/>
        </p:nvSpPr>
        <p:spPr>
          <a:xfrm>
            <a:off x="731520" y="4114800"/>
            <a:ext cx="6400800" cy="822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"dev" == "prod"   </a:t>
            </a:r>
            <a:pPr indent="0" marL="0">
              <a:buNone/>
            </a:pPr>
            <a:r>
              <a:rPr lang="en-US" sz="1600" dirty="0">
                <a:solidFill>
                  <a:srgbClr val="8FD694"/>
                </a:solidFill>
                <a:latin typeface="Courier New" pitchFamily="34" charset="0"/>
                <a:ea typeface="Courier New" pitchFamily="34" charset="-122"/>
                <a:cs typeface="Courier New" pitchFamily="34" charset="-120"/>
              </a:rPr>
              <a:t># falso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quindi il secondo valore: "Suspended"</a:t>
            </a:r>
            <a:endParaRPr lang="en-US" sz="1600" dirty="0"/>
          </a:p>
        </p:txBody>
      </p:sp>
      <p:sp>
        <p:nvSpPr>
          <p:cNvPr id="20" name="Shape 17"/>
          <p:cNvSpPr/>
          <p:nvPr/>
        </p:nvSpPr>
        <p:spPr>
          <a:xfrm>
            <a:off x="7498080" y="3977640"/>
            <a:ext cx="4142232" cy="2103120"/>
          </a:xfrm>
          <a:prstGeom prst="roundRect">
            <a:avLst>
              <a:gd name="adj" fmla="val 5217"/>
            </a:avLst>
          </a:prstGeom>
          <a:solidFill>
            <a:srgbClr val="EEEAFB"/>
          </a:solidFill>
          <a:ln w="12700">
            <a:solidFill>
              <a:srgbClr val="EEEAFB"/>
            </a:solidFill>
            <a:prstDash val="solid"/>
          </a:ln>
        </p:spPr>
      </p:sp>
      <p:sp>
        <p:nvSpPr>
          <p:cNvPr id="21" name="Shape 18"/>
          <p:cNvSpPr/>
          <p:nvPr/>
        </p:nvSpPr>
        <p:spPr>
          <a:xfrm>
            <a:off x="7726680" y="4206240"/>
            <a:ext cx="548640" cy="548640"/>
          </a:xfrm>
          <a:prstGeom prst="ellipse">
            <a:avLst/>
          </a:prstGeom>
          <a:solidFill>
            <a:srgbClr val="5B3FD0"/>
          </a:solidFill>
          <a:ln w="12700">
            <a:solidFill>
              <a:srgbClr val="5B3FD0"/>
            </a:solidFill>
            <a:prstDash val="solid"/>
          </a:ln>
        </p:spPr>
      </p:sp>
      <p:pic>
        <p:nvPicPr>
          <p:cNvPr id="22" name="Image 0" descr="preencoded.png">    </p:cNvPr>
          <p:cNvPicPr>
            <a:picLocks noChangeAspect="1"/>
          </p:cNvPicPr>
          <p:nvPr/>
        </p:nvPicPr>
        <p:blipFill>
          <a:blip r:embed="rId1"/>
          <a:stretch>
            <a:fillRect/>
          </a:stretch>
        </p:blipFill>
        <p:spPr>
          <a:xfrm>
            <a:off x="7863840" y="4343400"/>
            <a:ext cx="274320" cy="274320"/>
          </a:xfrm>
          <a:prstGeom prst="rect">
            <a:avLst/>
          </a:prstGeom>
        </p:spPr>
      </p:pic>
      <p:sp>
        <p:nvSpPr>
          <p:cNvPr id="23" name="Text 19"/>
          <p:cNvSpPr txBox="1"/>
          <p:nvPr/>
        </p:nvSpPr>
        <p:spPr>
          <a:xfrm>
            <a:off x="8458200" y="4206240"/>
            <a:ext cx="29535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console</a:t>
            </a:r>
            <a:endParaRPr lang="en-US" sz="1800" dirty="0"/>
          </a:p>
        </p:txBody>
      </p:sp>
      <p:sp>
        <p:nvSpPr>
          <p:cNvPr id="24" name="Text 20"/>
          <p:cNvSpPr txBox="1"/>
          <p:nvPr/>
        </p:nvSpPr>
        <p:spPr>
          <a:xfrm>
            <a:off x="7726680" y="4892040"/>
            <a:ext cx="368503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Una calcolatrice nel terminale: scrivi un'espressione, vedi il risultato. Non tocca AWS (non è la console web).</a:t>
            </a:r>
            <a:endParaRPr lang="en-US" sz="1500" dirty="0"/>
          </a:p>
        </p:txBody>
      </p:sp>
      <p:sp>
        <p:nvSpPr>
          <p:cNvPr id="25" name="Text 21"/>
          <p:cNvSpPr txBox="1"/>
          <p:nvPr/>
        </p:nvSpPr>
        <p:spPr>
          <a:xfrm>
            <a:off x="548640" y="5257800"/>
            <a:ext cx="6766560"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 significa "è uguale a"</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L'ordine lo decide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Se una risorsa usa un'altra, Terraform crea prima quella usata. Non serve dirglielo.</a:t>
            </a:r>
            <a:endParaRPr lang="en-US" sz="1800" dirty="0"/>
          </a:p>
        </p:txBody>
      </p:sp>
      <p:sp>
        <p:nvSpPr>
          <p:cNvPr id="7" name="Shape 4"/>
          <p:cNvSpPr/>
          <p:nvPr/>
        </p:nvSpPr>
        <p:spPr>
          <a:xfrm>
            <a:off x="2011680" y="2240280"/>
            <a:ext cx="594360" cy="594360"/>
          </a:xfrm>
          <a:prstGeom prst="ellipse">
            <a:avLst/>
          </a:prstGeom>
          <a:solidFill>
            <a:srgbClr val="F28C28"/>
          </a:solidFill>
          <a:ln w="12700">
            <a:solidFill>
              <a:srgbClr val="F28C28"/>
            </a:solidFill>
            <a:prstDash val="solid"/>
          </a:ln>
        </p:spPr>
      </p:sp>
      <p:sp>
        <p:nvSpPr>
          <p:cNvPr id="8" name="Text 5"/>
          <p:cNvSpPr txBox="1"/>
          <p:nvPr/>
        </p:nvSpPr>
        <p:spPr>
          <a:xfrm>
            <a:off x="201168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Shape 6"/>
          <p:cNvSpPr/>
          <p:nvPr/>
        </p:nvSpPr>
        <p:spPr>
          <a:xfrm>
            <a:off x="548640" y="2971800"/>
            <a:ext cx="3520440" cy="1554480"/>
          </a:xfrm>
          <a:prstGeom prst="roundRect">
            <a:avLst>
              <a:gd name="adj" fmla="val 5882"/>
            </a:avLst>
          </a:prstGeom>
          <a:solidFill>
            <a:srgbClr val="EEEAFB"/>
          </a:solidFill>
          <a:ln w="12700">
            <a:solidFill>
              <a:srgbClr val="EEEAFB"/>
            </a:solidFill>
            <a:prstDash val="solid"/>
          </a:ln>
        </p:spPr>
      </p:sp>
      <p:sp>
        <p:nvSpPr>
          <p:cNvPr id="10" name="Text 7"/>
          <p:cNvSpPr txBox="1"/>
          <p:nvPr/>
        </p:nvSpPr>
        <p:spPr>
          <a:xfrm>
            <a:off x="54864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random_id</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genera un suffisso casuale</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(es. a1b2c3d4)</a:t>
            </a:r>
            <a:endParaRPr lang="en-US" sz="1700" dirty="0"/>
          </a:p>
        </p:txBody>
      </p:sp>
      <p:sp>
        <p:nvSpPr>
          <p:cNvPr id="11" name="Shape 8"/>
          <p:cNvSpPr/>
          <p:nvPr/>
        </p:nvSpPr>
        <p:spPr>
          <a:xfrm>
            <a:off x="4096512" y="3749040"/>
            <a:ext cx="182880" cy="0"/>
          </a:xfrm>
          <a:prstGeom prst="line">
            <a:avLst/>
          </a:prstGeom>
          <a:noFill/>
          <a:ln w="25400">
            <a:solidFill>
              <a:srgbClr val="5B3FD0"/>
            </a:solidFill>
            <a:prstDash val="solid"/>
            <a:tailEnd type="triangle"/>
          </a:ln>
        </p:spPr>
      </p:sp>
      <p:sp>
        <p:nvSpPr>
          <p:cNvPr id="12" name="Shape 9"/>
          <p:cNvSpPr/>
          <p:nvPr/>
        </p:nvSpPr>
        <p:spPr>
          <a:xfrm>
            <a:off x="5760720" y="2240280"/>
            <a:ext cx="594360" cy="594360"/>
          </a:xfrm>
          <a:prstGeom prst="ellipse">
            <a:avLst/>
          </a:prstGeom>
          <a:solidFill>
            <a:srgbClr val="F28C28"/>
          </a:solidFill>
          <a:ln w="12700">
            <a:solidFill>
              <a:srgbClr val="F28C28"/>
            </a:solidFill>
            <a:prstDash val="solid"/>
          </a:ln>
        </p:spPr>
      </p:sp>
      <p:sp>
        <p:nvSpPr>
          <p:cNvPr id="13" name="Text 10"/>
          <p:cNvSpPr txBox="1"/>
          <p:nvPr/>
        </p:nvSpPr>
        <p:spPr>
          <a:xfrm>
            <a:off x="576072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Shape 11"/>
          <p:cNvSpPr/>
          <p:nvPr/>
        </p:nvSpPr>
        <p:spPr>
          <a:xfrm>
            <a:off x="4297680" y="2971800"/>
            <a:ext cx="3520440" cy="1554480"/>
          </a:xfrm>
          <a:prstGeom prst="roundRect">
            <a:avLst>
              <a:gd name="adj" fmla="val 5882"/>
            </a:avLst>
          </a:prstGeom>
          <a:solidFill>
            <a:srgbClr val="EEEAFB"/>
          </a:solidFill>
          <a:ln w="12700">
            <a:solidFill>
              <a:srgbClr val="EEEAFB"/>
            </a:solidFill>
            <a:prstDash val="solid"/>
          </a:ln>
        </p:spPr>
      </p:sp>
      <p:sp>
        <p:nvSpPr>
          <p:cNvPr id="15" name="Text 12"/>
          <p:cNvSpPr txBox="1"/>
          <p:nvPr/>
        </p:nvSpPr>
        <p:spPr>
          <a:xfrm>
            <a:off x="429768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aws_s3_bucket</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il nome usa il suffisso:</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corso-aws-demo-a1b2c3d4</a:t>
            </a:r>
            <a:endParaRPr lang="en-US" sz="1700" dirty="0"/>
          </a:p>
        </p:txBody>
      </p:sp>
      <p:sp>
        <p:nvSpPr>
          <p:cNvPr id="16" name="Shape 13"/>
          <p:cNvSpPr/>
          <p:nvPr/>
        </p:nvSpPr>
        <p:spPr>
          <a:xfrm>
            <a:off x="7845552" y="3749040"/>
            <a:ext cx="182880" cy="0"/>
          </a:xfrm>
          <a:prstGeom prst="line">
            <a:avLst/>
          </a:prstGeom>
          <a:noFill/>
          <a:ln w="25400">
            <a:solidFill>
              <a:srgbClr val="5B3FD0"/>
            </a:solidFill>
            <a:prstDash val="solid"/>
            <a:tailEnd type="triangle"/>
          </a:ln>
        </p:spPr>
      </p:sp>
      <p:sp>
        <p:nvSpPr>
          <p:cNvPr id="17" name="Shape 14"/>
          <p:cNvSpPr/>
          <p:nvPr/>
        </p:nvSpPr>
        <p:spPr>
          <a:xfrm>
            <a:off x="9509760" y="2240280"/>
            <a:ext cx="594360" cy="594360"/>
          </a:xfrm>
          <a:prstGeom prst="ellipse">
            <a:avLst/>
          </a:prstGeom>
          <a:solidFill>
            <a:srgbClr val="F28C28"/>
          </a:solidFill>
          <a:ln w="12700">
            <a:solidFill>
              <a:srgbClr val="F28C28"/>
            </a:solidFill>
            <a:prstDash val="solid"/>
          </a:ln>
        </p:spPr>
      </p:sp>
      <p:sp>
        <p:nvSpPr>
          <p:cNvPr id="18" name="Text 15"/>
          <p:cNvSpPr txBox="1"/>
          <p:nvPr/>
        </p:nvSpPr>
        <p:spPr>
          <a:xfrm>
            <a:off x="950976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Shape 16"/>
          <p:cNvSpPr/>
          <p:nvPr/>
        </p:nvSpPr>
        <p:spPr>
          <a:xfrm>
            <a:off x="8046720" y="2971800"/>
            <a:ext cx="3520440" cy="1554480"/>
          </a:xfrm>
          <a:prstGeom prst="roundRect">
            <a:avLst>
              <a:gd name="adj" fmla="val 5882"/>
            </a:avLst>
          </a:prstGeom>
          <a:solidFill>
            <a:srgbClr val="EEEAFB"/>
          </a:solidFill>
          <a:ln w="12700">
            <a:solidFill>
              <a:srgbClr val="EEEAFB"/>
            </a:solidFill>
            <a:prstDash val="solid"/>
          </a:ln>
        </p:spPr>
      </p:sp>
      <p:sp>
        <p:nvSpPr>
          <p:cNvPr id="20" name="Text 17"/>
          <p:cNvSpPr txBox="1"/>
          <p:nvPr/>
        </p:nvSpPr>
        <p:spPr>
          <a:xfrm>
            <a:off x="8046720" y="2971800"/>
            <a:ext cx="3520440" cy="1554480"/>
          </a:xfrm>
          <a:prstGeom prst="rect">
            <a:avLst/>
          </a:prstGeom>
          <a:noFill/>
          <a:ln/>
        </p:spPr>
        <p:txBody>
          <a:bodyPr wrap="square" lIns="76200" tIns="76200" rIns="76200" bIns="76200" rtlCol="0" anchor="ctr"/>
          <a:lstStyle/>
          <a:p>
            <a:pPr algn="ctr" indent="0" marL="0">
              <a:buNone/>
            </a:pPr>
            <a:r>
              <a:rPr lang="en-US" sz="1400" b="1"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500" dirty="0">
                <a:solidFill>
                  <a:srgbClr val="5F6478"/>
                </a:solidFill>
                <a:latin typeface="Calibri" pitchFamily="34" charset="0"/>
                <a:ea typeface="Calibri" pitchFamily="34" charset="-122"/>
                <a:cs typeface="Calibri" pitchFamily="34" charset="-120"/>
              </a:rPr>
              <a:t>usa il bucket</a:t>
            </a:r>
            <a:endParaRPr lang="en-US" sz="1400" dirty="0"/>
          </a:p>
        </p:txBody>
      </p:sp>
      <p:sp>
        <p:nvSpPr>
          <p:cNvPr id="21" name="Shape 18"/>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2" name="Text 19"/>
          <p:cNvSpPr txBox="1"/>
          <p:nvPr/>
        </p:nvSpPr>
        <p:spPr>
          <a:xfrm>
            <a:off x="822960" y="484632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 nomi dei bucket devono essere unici in tutto il mondo: per questo il suffisso casuale.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registro di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Lo state è l'inventario di Terraform: per ogni risorsa del codice, qual è quella vera in AWS.</a:t>
            </a:r>
            <a:endParaRPr lang="en-US" sz="1800" dirty="0"/>
          </a:p>
        </p:txBody>
      </p:sp>
      <p:sp>
        <p:nvSpPr>
          <p:cNvPr id="7" name="Shape 4"/>
          <p:cNvSpPr/>
          <p:nvPr/>
        </p:nvSpPr>
        <p:spPr>
          <a:xfrm>
            <a:off x="548640" y="2240280"/>
            <a:ext cx="292608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548640" y="2240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Codice .tf</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vuoi</a:t>
            </a:r>
            <a:endParaRPr lang="en-US" sz="1600" dirty="0"/>
          </a:p>
        </p:txBody>
      </p:sp>
      <p:sp>
        <p:nvSpPr>
          <p:cNvPr id="9" name="Shape 6"/>
          <p:cNvSpPr/>
          <p:nvPr/>
        </p:nvSpPr>
        <p:spPr>
          <a:xfrm>
            <a:off x="548640" y="3383280"/>
            <a:ext cx="2926080" cy="914400"/>
          </a:xfrm>
          <a:prstGeom prst="roundRect">
            <a:avLst>
              <a:gd name="adj" fmla="val 10000"/>
            </a:avLst>
          </a:prstGeom>
          <a:solidFill>
            <a:srgbClr val="FDF0E3"/>
          </a:solidFill>
          <a:ln w="12700">
            <a:solidFill>
              <a:srgbClr val="FDF0E3"/>
            </a:solidFill>
            <a:prstDash val="solid"/>
          </a:ln>
        </p:spPr>
      </p:sp>
      <p:sp>
        <p:nvSpPr>
          <p:cNvPr id="10" name="Text 7"/>
          <p:cNvSpPr txBox="1"/>
          <p:nvPr/>
        </p:nvSpPr>
        <p:spPr>
          <a:xfrm>
            <a:off x="548640" y="3383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State (inventario)</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ha creato</a:t>
            </a:r>
            <a:endParaRPr lang="en-US" sz="1600" dirty="0"/>
          </a:p>
        </p:txBody>
      </p:sp>
      <p:sp>
        <p:nvSpPr>
          <p:cNvPr id="11" name="Shape 8"/>
          <p:cNvSpPr/>
          <p:nvPr/>
        </p:nvSpPr>
        <p:spPr>
          <a:xfrm>
            <a:off x="548640" y="4526280"/>
            <a:ext cx="2926080" cy="914400"/>
          </a:xfrm>
          <a:prstGeom prst="roundRect">
            <a:avLst>
              <a:gd name="adj" fmla="val 10000"/>
            </a:avLst>
          </a:prstGeom>
          <a:solidFill>
            <a:srgbClr val="EEEAFB"/>
          </a:solidFill>
          <a:ln w="12700">
            <a:solidFill>
              <a:srgbClr val="EEEAFB"/>
            </a:solidFill>
            <a:prstDash val="solid"/>
          </a:ln>
        </p:spPr>
      </p:sp>
      <p:sp>
        <p:nvSpPr>
          <p:cNvPr id="12" name="Text 9"/>
          <p:cNvSpPr txBox="1"/>
          <p:nvPr/>
        </p:nvSpPr>
        <p:spPr>
          <a:xfrm>
            <a:off x="548640" y="4526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esiste davvero</a:t>
            </a:r>
            <a:endParaRPr lang="en-US" sz="1600" dirty="0"/>
          </a:p>
        </p:txBody>
      </p:sp>
      <p:sp>
        <p:nvSpPr>
          <p:cNvPr id="13" name="Shape 10"/>
          <p:cNvSpPr/>
          <p:nvPr/>
        </p:nvSpPr>
        <p:spPr>
          <a:xfrm>
            <a:off x="3520440" y="2697480"/>
            <a:ext cx="822960" cy="1143000"/>
          </a:xfrm>
          <a:prstGeom prst="line">
            <a:avLst/>
          </a:prstGeom>
          <a:noFill/>
          <a:ln w="25400">
            <a:solidFill>
              <a:srgbClr val="5F6478"/>
            </a:solidFill>
            <a:prstDash val="solid"/>
            <a:tailEnd type="triangle"/>
          </a:ln>
        </p:spPr>
      </p:sp>
      <p:sp>
        <p:nvSpPr>
          <p:cNvPr id="14" name="Shape 11"/>
          <p:cNvSpPr/>
          <p:nvPr/>
        </p:nvSpPr>
        <p:spPr>
          <a:xfrm>
            <a:off x="3520440" y="3840480"/>
            <a:ext cx="822960" cy="0"/>
          </a:xfrm>
          <a:prstGeom prst="line">
            <a:avLst/>
          </a:prstGeom>
          <a:noFill/>
          <a:ln w="25400">
            <a:solidFill>
              <a:srgbClr val="5F6478"/>
            </a:solidFill>
            <a:prstDash val="solid"/>
            <a:tailEnd type="triangle"/>
          </a:ln>
        </p:spPr>
      </p:sp>
      <p:sp>
        <p:nvSpPr>
          <p:cNvPr id="15" name="Shape 12"/>
          <p:cNvSpPr/>
          <p:nvPr/>
        </p:nvSpPr>
        <p:spPr>
          <a:xfrm>
            <a:off x="3520440" y="4983480"/>
            <a:ext cx="822960" cy="-1143000"/>
          </a:xfrm>
          <a:prstGeom prst="line">
            <a:avLst/>
          </a:prstGeom>
          <a:noFill/>
          <a:ln w="25400">
            <a:solidFill>
              <a:srgbClr val="5F6478"/>
            </a:solidFill>
            <a:prstDash val="solid"/>
            <a:tailEnd type="triangle"/>
          </a:ln>
        </p:spPr>
      </p:sp>
      <p:sp>
        <p:nvSpPr>
          <p:cNvPr id="16" name="Shape 13"/>
          <p:cNvSpPr/>
          <p:nvPr/>
        </p:nvSpPr>
        <p:spPr>
          <a:xfrm>
            <a:off x="4389120" y="3291840"/>
            <a:ext cx="2194560" cy="1097280"/>
          </a:xfrm>
          <a:prstGeom prst="roundRect">
            <a:avLst>
              <a:gd name="adj" fmla="val 8333"/>
            </a:avLst>
          </a:prstGeom>
          <a:solidFill>
            <a:srgbClr val="5B3FD0"/>
          </a:solidFill>
          <a:ln w="12700">
            <a:solidFill>
              <a:srgbClr val="5B3FD0"/>
            </a:solidFill>
            <a:prstDash val="solid"/>
          </a:ln>
        </p:spPr>
      </p:sp>
      <p:sp>
        <p:nvSpPr>
          <p:cNvPr id="17" name="Text 14"/>
          <p:cNvSpPr txBox="1"/>
          <p:nvPr/>
        </p:nvSpPr>
        <p:spPr>
          <a:xfrm>
            <a:off x="4389120" y="3291840"/>
            <a:ext cx="219456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8" name="Shape 15"/>
          <p:cNvSpPr/>
          <p:nvPr/>
        </p:nvSpPr>
        <p:spPr>
          <a:xfrm>
            <a:off x="7040880" y="2240280"/>
            <a:ext cx="4599432" cy="3200400"/>
          </a:xfrm>
          <a:prstGeom prst="roundRect">
            <a:avLst>
              <a:gd name="adj" fmla="val 3429"/>
            </a:avLst>
          </a:prstGeom>
          <a:solidFill>
            <a:srgbClr val="FDF0E3"/>
          </a:solidFill>
          <a:ln w="12700">
            <a:solidFill>
              <a:srgbClr val="FDF0E3"/>
            </a:solidFill>
            <a:prstDash val="solid"/>
          </a:ln>
        </p:spPr>
      </p:sp>
      <p:sp>
        <p:nvSpPr>
          <p:cNvPr id="19" name="Shape 16"/>
          <p:cNvSpPr/>
          <p:nvPr/>
        </p:nvSpPr>
        <p:spPr>
          <a:xfrm>
            <a:off x="7269480" y="2468880"/>
            <a:ext cx="548640" cy="548640"/>
          </a:xfrm>
          <a:prstGeom prst="ellipse">
            <a:avLst/>
          </a:prstGeom>
          <a:solidFill>
            <a:srgbClr val="F28C28"/>
          </a:solidFill>
          <a:ln w="12700">
            <a:solidFill>
              <a:srgbClr val="F28C28"/>
            </a:solidFill>
            <a:prstDash val="solid"/>
          </a:ln>
        </p:spPr>
      </p:sp>
      <p:pic>
        <p:nvPicPr>
          <p:cNvPr id="20" name="Image 0" descr="preencoded.png">    </p:cNvPr>
          <p:cNvPicPr>
            <a:picLocks noChangeAspect="1"/>
          </p:cNvPicPr>
          <p:nvPr/>
        </p:nvPicPr>
        <p:blipFill>
          <a:blip r:embed="rId1"/>
          <a:stretch>
            <a:fillRect/>
          </a:stretch>
        </p:blipFill>
        <p:spPr>
          <a:xfrm>
            <a:off x="7406640" y="2606040"/>
            <a:ext cx="274320" cy="274320"/>
          </a:xfrm>
          <a:prstGeom prst="rect">
            <a:avLst/>
          </a:prstGeom>
        </p:spPr>
      </p:pic>
      <p:sp>
        <p:nvSpPr>
          <p:cNvPr id="21" name="Text 17"/>
          <p:cNvSpPr txBox="1"/>
          <p:nvPr/>
        </p:nvSpPr>
        <p:spPr>
          <a:xfrm>
            <a:off x="8001000" y="2468880"/>
            <a:ext cx="34107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Drift</a:t>
            </a:r>
            <a:endParaRPr lang="en-US" sz="1800" dirty="0"/>
          </a:p>
        </p:txBody>
      </p:sp>
      <p:sp>
        <p:nvSpPr>
          <p:cNvPr id="22" name="Text 18"/>
          <p:cNvSpPr txBox="1"/>
          <p:nvPr/>
        </p:nvSpPr>
        <p:spPr>
          <a:xfrm>
            <a:off x="7269480" y="3154680"/>
            <a:ext cx="4142232" cy="21031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Qualcuno ha cambiato qualcosa a mano in console: AWS non corrisponde più allo state. Il plan lo segnala e propone di rimettere tutto com'è scritto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quattro regole dello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057400"/>
          </a:xfrm>
          <a:prstGeom prst="roundRect">
            <a:avLst>
              <a:gd name="adj" fmla="val 5333"/>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in Git</a:t>
            </a:r>
            <a:endParaRPr lang="en-US" sz="1900" dirty="0"/>
          </a:p>
        </p:txBody>
      </p:sp>
      <p:sp>
        <p:nvSpPr>
          <p:cNvPr id="9" name="Text 5"/>
          <p:cNvSpPr txBox="1"/>
          <p:nvPr/>
        </p:nvSpPr>
        <p:spPr>
          <a:xfrm>
            <a:off x="77724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contiene password e chiavi in chiaro</a:t>
            </a:r>
            <a:endParaRPr lang="en-US" sz="1700" dirty="0"/>
          </a:p>
        </p:txBody>
      </p:sp>
      <p:sp>
        <p:nvSpPr>
          <p:cNvPr id="10" name="Shape 6"/>
          <p:cNvSpPr/>
          <p:nvPr/>
        </p:nvSpPr>
        <p:spPr>
          <a:xfrm>
            <a:off x="6172200" y="1417320"/>
            <a:ext cx="5440680" cy="2057400"/>
          </a:xfrm>
          <a:prstGeom prst="roundRect">
            <a:avLst>
              <a:gd name="adj" fmla="val 5333"/>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Al sicuro, non sul portatile</a:t>
            </a:r>
            <a:endParaRPr lang="en-US" sz="1900" dirty="0"/>
          </a:p>
        </p:txBody>
      </p:sp>
      <p:sp>
        <p:nvSpPr>
          <p:cNvPr id="14" name="Text 9"/>
          <p:cNvSpPr txBox="1"/>
          <p:nvPr/>
        </p:nvSpPr>
        <p:spPr>
          <a:xfrm>
            <a:off x="640080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se il portatile si rompe, Terraform dimentica tutto</a:t>
            </a:r>
            <a:endParaRPr lang="en-US" sz="1700" dirty="0"/>
          </a:p>
        </p:txBody>
      </p:sp>
      <p:sp>
        <p:nvSpPr>
          <p:cNvPr id="15" name="Shape 10"/>
          <p:cNvSpPr/>
          <p:nvPr/>
        </p:nvSpPr>
        <p:spPr>
          <a:xfrm>
            <a:off x="548640" y="3703320"/>
            <a:ext cx="5440680" cy="2057400"/>
          </a:xfrm>
          <a:prstGeom prst="roundRect">
            <a:avLst>
              <a:gd name="adj" fmla="val 5333"/>
            </a:avLst>
          </a:prstGeom>
          <a:solidFill>
            <a:srgbClr val="EEEAFB"/>
          </a:solidFill>
          <a:ln w="12700">
            <a:solidFill>
              <a:srgbClr val="EEEAFB"/>
            </a:solidFill>
            <a:prstDash val="solid"/>
          </a:ln>
        </p:spPr>
      </p:sp>
      <p:sp>
        <p:nvSpPr>
          <p:cNvPr id="16" name="Shape 11"/>
          <p:cNvSpPr/>
          <p:nvPr/>
        </p:nvSpPr>
        <p:spPr>
          <a:xfrm>
            <a:off x="777240" y="3931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069080"/>
            <a:ext cx="274320" cy="274320"/>
          </a:xfrm>
          <a:prstGeom prst="rect">
            <a:avLst/>
          </a:prstGeom>
        </p:spPr>
      </p:pic>
      <p:sp>
        <p:nvSpPr>
          <p:cNvPr id="18" name="Text 12"/>
          <p:cNvSpPr txBox="1"/>
          <p:nvPr/>
        </p:nvSpPr>
        <p:spPr>
          <a:xfrm>
            <a:off x="150876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Con un lucchetto (lock)</a:t>
            </a:r>
            <a:endParaRPr lang="en-US" sz="1900" dirty="0"/>
          </a:p>
        </p:txBody>
      </p:sp>
      <p:sp>
        <p:nvSpPr>
          <p:cNvPr id="19" name="Text 13"/>
          <p:cNvSpPr txBox="1"/>
          <p:nvPr/>
        </p:nvSpPr>
        <p:spPr>
          <a:xfrm>
            <a:off x="77724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mentre uno lavora, gli altri aspettano</a:t>
            </a:r>
            <a:endParaRPr lang="en-US" sz="1700" dirty="0"/>
          </a:p>
        </p:txBody>
      </p:sp>
      <p:sp>
        <p:nvSpPr>
          <p:cNvPr id="20" name="Shape 14"/>
          <p:cNvSpPr/>
          <p:nvPr/>
        </p:nvSpPr>
        <p:spPr>
          <a:xfrm>
            <a:off x="6172200" y="3703320"/>
            <a:ext cx="5440680" cy="2057400"/>
          </a:xfrm>
          <a:prstGeom prst="roundRect">
            <a:avLst>
              <a:gd name="adj" fmla="val 5333"/>
            </a:avLst>
          </a:prstGeom>
          <a:solidFill>
            <a:srgbClr val="EEEAFB"/>
          </a:solidFill>
          <a:ln w="12700">
            <a:solidFill>
              <a:srgbClr val="EEEAFB"/>
            </a:solidFill>
            <a:prstDash val="solid"/>
          </a:ln>
        </p:spPr>
      </p:sp>
      <p:sp>
        <p:nvSpPr>
          <p:cNvPr id="21" name="Shape 15"/>
          <p:cNvSpPr/>
          <p:nvPr/>
        </p:nvSpPr>
        <p:spPr>
          <a:xfrm>
            <a:off x="6400800" y="39319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069080"/>
            <a:ext cx="274320" cy="274320"/>
          </a:xfrm>
          <a:prstGeom prst="rect">
            <a:avLst/>
          </a:prstGeom>
        </p:spPr>
      </p:pic>
      <p:sp>
        <p:nvSpPr>
          <p:cNvPr id="23" name="Text 16"/>
          <p:cNvSpPr txBox="1"/>
          <p:nvPr/>
        </p:nvSpPr>
        <p:spPr>
          <a:xfrm>
            <a:off x="713232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modificato a mano</a:t>
            </a:r>
            <a:endParaRPr lang="en-US" sz="1900" dirty="0"/>
          </a:p>
        </p:txBody>
      </p:sp>
      <p:sp>
        <p:nvSpPr>
          <p:cNvPr id="24" name="Text 17"/>
          <p:cNvSpPr txBox="1"/>
          <p:nvPr/>
        </p:nvSpPr>
        <p:spPr>
          <a:xfrm>
            <a:off x="640080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si usano solo i comandi di Terraform</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tenere 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206240" cy="452628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imparare: locale</a:t>
            </a:r>
            <a:endParaRPr lang="en-US" sz="1800" dirty="0"/>
          </a:p>
        </p:txBody>
      </p:sp>
      <p:sp>
        <p:nvSpPr>
          <p:cNvPr id="9" name="Text 5"/>
          <p:cNvSpPr txBox="1"/>
          <p:nvPr/>
        </p:nvSpPr>
        <p:spPr>
          <a:xfrm>
            <a:off x="777240" y="2331720"/>
            <a:ext cx="3749040" cy="34290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Un file nella cartella del progetto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Così parte l'esercizio</a:t>
            </a:r>
            <a:endParaRPr lang="en-US" sz="1700" dirty="0"/>
          </a:p>
        </p:txBody>
      </p:sp>
      <p:sp>
        <p:nvSpPr>
          <p:cNvPr id="10" name="Shape 6"/>
          <p:cNvSpPr/>
          <p:nvPr/>
        </p:nvSpPr>
        <p:spPr>
          <a:xfrm>
            <a:off x="4937760" y="1417320"/>
            <a:ext cx="6702552" cy="1600200"/>
          </a:xfrm>
          <a:prstGeom prst="roundRect">
            <a:avLst>
              <a:gd name="adj" fmla="val 6857"/>
            </a:avLst>
          </a:prstGeom>
          <a:solidFill>
            <a:srgbClr val="FDF0E3"/>
          </a:solidFill>
          <a:ln w="12700">
            <a:solidFill>
              <a:srgbClr val="FDF0E3"/>
            </a:solidFill>
            <a:prstDash val="solid"/>
          </a:ln>
        </p:spPr>
      </p:sp>
      <p:sp>
        <p:nvSpPr>
          <p:cNvPr id="11" name="Shape 7"/>
          <p:cNvSpPr/>
          <p:nvPr/>
        </p:nvSpPr>
        <p:spPr>
          <a:xfrm>
            <a:off x="516636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783080"/>
            <a:ext cx="274320" cy="274320"/>
          </a:xfrm>
          <a:prstGeom prst="rect">
            <a:avLst/>
          </a:prstGeom>
        </p:spPr>
      </p:pic>
      <p:sp>
        <p:nvSpPr>
          <p:cNvPr id="13" name="Text 8"/>
          <p:cNvSpPr txBox="1"/>
          <p:nvPr/>
        </p:nvSpPr>
        <p:spPr>
          <a:xfrm>
            <a:off x="5897880" y="164592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lavorare: in un bucket S3</a:t>
            </a:r>
            <a:endParaRPr lang="en-US" sz="1800" dirty="0"/>
          </a:p>
        </p:txBody>
      </p:sp>
      <p:sp>
        <p:nvSpPr>
          <p:cNvPr id="14" name="Text 9"/>
          <p:cNvSpPr txBox="1"/>
          <p:nvPr/>
        </p:nvSpPr>
        <p:spPr>
          <a:xfrm>
            <a:off x="5166360" y="2331720"/>
            <a:ext cx="6245352" cy="5029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Non si perde se il portatile si rompe, ed è condiviso con i colleghi. bucket = creato a parte · key = nome del file · use_lockfile = il lucchetto</a:t>
            </a:r>
            <a:endParaRPr lang="en-US" sz="15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337560"/>
            <a:ext cx="6336792" cy="24688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modifica, ricrea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init, poi terraform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Conta i "+": sono 3 (suffisso casuale, bucket, versioning)</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apply, scrivi yes</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Apri la console AWS: il bucket c'è?</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nel codice,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una modifica sul posto</a:t>
            </a:r>
            <a:endParaRPr lang="en-US" sz="1900" dirty="0"/>
          </a:p>
        </p:txBody>
      </p:sp>
      <p:sp>
        <p:nvSpPr>
          <p:cNvPr id="14" name="Shape 11"/>
          <p:cNvSpPr/>
          <p:nvPr/>
        </p:nvSpPr>
        <p:spPr>
          <a:xfrm>
            <a:off x="548640" y="5120640"/>
            <a:ext cx="685800" cy="685800"/>
          </a:xfrm>
          <a:prstGeom prst="ellipse">
            <a:avLst/>
          </a:prstGeom>
          <a:solidFill>
            <a:srgbClr val="5B3FD0"/>
          </a:solidFill>
          <a:ln w="12700">
            <a:solidFill>
              <a:srgbClr val="5B3FD0"/>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Cambia il nome del bucket,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verrebbe ricreato. NON applicare</a:t>
            </a:r>
            <a:endParaRPr lang="en-US" sz="1900" dirty="0"/>
          </a:p>
        </p:txBody>
      </p:sp>
      <p:sp>
        <p:nvSpPr>
          <p:cNvPr id="17" name="Text 14"/>
          <p:cNvSpPr txBox="1"/>
          <p:nvPr/>
        </p:nvSpPr>
        <p:spPr>
          <a:xfrm>
            <a:off x="548640" y="580644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File da copiare e risultati attesi: dispensa 0, sezione 7.</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drift, state, pulizia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A MANO in console,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Terraform se ne accorge? (è il drift)</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state list</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L'inventario: cosa conosce Terraform</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Sposta lo state in un bucket S3</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Comandi nella dispensa, poi terraform init -migrate-state</a:t>
            </a:r>
            <a:endParaRPr lang="en-US" sz="1900" dirty="0"/>
          </a:p>
        </p:txBody>
      </p:sp>
      <p:sp>
        <p:nvSpPr>
          <p:cNvPr id="14" name="Shape 11"/>
          <p:cNvSpPr/>
          <p:nvPr/>
        </p:nvSpPr>
        <p:spPr>
          <a:xfrm>
            <a:off x="548640" y="5120640"/>
            <a:ext cx="685800" cy="685800"/>
          </a:xfrm>
          <a:prstGeom prst="ellipse">
            <a:avLst/>
          </a:prstGeom>
          <a:solidFill>
            <a:srgbClr val="D64545"/>
          </a:solidFill>
          <a:ln w="12700">
            <a:solidFill>
              <a:srgbClr val="D64545"/>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destroy</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Cancella tutto: si chiude sempre così</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828800"/>
                <a:gridCol w="3749040"/>
                <a:gridCol w="1645920"/>
                <a:gridCol w="386791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risorsa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pezzo creato in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mostra cosa farebbe, senza toccare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provider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"traduttore" tra Terraform e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apply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crea davvero, dopo il yes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S3 · bucket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archivio di file · un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l'inventario di Terraform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variabile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scelto da fuori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backend</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dove si salva 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valori calcolati nel codice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lock</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lucchetto: uno alla volta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espressione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codice che Terraform calcola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drift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AWS cambiato a mano, diverso dallo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crea risorse in AWS da file di testo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Si scrive COSA vuoi; l'ordine lo calcola Terraform</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init → plan → apply → destroy: il plan si legge sempre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espressioni calcolano i valori: stesso codice, più ambienti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l'inventario: al sicuro, con lucchetto, fuori da Git</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2026-09-30T13:41:41Z</dcterms:created>
  <dcterms:modified xsi:type="dcterms:W3CDTF">2026-09-30T13:41:41Z</dcterms:modified>
</cp:coreProperties>
</file>