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In questa prima lezione non creiamo ancora niente di complicato: impariamo a leggere e scrivere un file Terraform, i quattro comandi del ciclo di lavoro e perché lo state è la cosa più delicata del progetto. Tutto quello che diciamo oggi è scritto nella dispensa 0, che vi lascio come materiale di studio, insieme ai prerequisiti: account AWS, Terraform, AWS CLI, attivazione della regione di Milano.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blocchi. Primo: perché descrivere l'infrastruttura in codice invece di cliccare. Secondo: il linguaggio, cioè come è fatto un file .tf. Terzo: il ciclo init, plan, apply, destroy. Quarto: lo state, il registro in cui Terraform si ricorda cosa ha creato.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Creare risorse a mano in console funziona la prima volta. Il problema arriva dopo: nessuno ricorda cosa è stato cliccato, non si può rifare identico in un altro ambiente, nessuno rivede le modifiche prima che vengano fatte. Con l'Infrastructure as Code l'infrastruttura è descritta in file di testo: stanno in Git, hanno una storia, si rivedono, e lo stesso codice crea ambienti identici.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script elenca i passi: fai questo, poi quest'altro. Terraform invece riceve la descrizione del risultato finale: voglio che esista un bucket con questo nome. Poi confronta la descrizione con quello che esiste davvero e calcola da solo cosa creare, cambiare o cancellare. L'analogia: la ricetta contro la foto del piatto finito.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Tutto il codice Terraform è fatto di blocchi. Il primo rigo: la parola chiave resource e due etichette, il tipo, che decide il provider, e il nome locale, che scegliete voi e che serve solo dentro Terraform. Dentro ci sono argomenti, nella forma nome uguale valore. Attenzione alla differenza tra tags uguale graffa, che è un argomento con una mappa, e lifecycle graffa senza uguale, che è un blocco annidato. Se la sbagliate, Terraform dà errore.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faccio a sapere cosa scrivere dentro un blocco? Non si inventa: lo decide il provider. Per ogni risorsa c'è una pagina di documentazione con due sezioni. Argument Reference: cosa potete scrivere voi. Attribute Reference: cosa potete leggere dopo, perché lo calcola AWS, come l'ID o l'ARN. Per leggere un attributo si scrive tipo punto nome punto attributo.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destra dell'uguale ci sono valori, e ogni valore ha un tipo. Stringhe tra virgolette, numeri, vero o falso, liste tra parentesi quadre, mappe tra graffe. Nelle liste si conta da zero. null vuol dire: fai come se non avessi scritto l'argomento.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 un problema concreto. Vogliamo un bucket per i log sia nell'ambiente di sviluppo, dev, sia in produzione, prod. Se scriviamo il nome del bucket a mano, corso-aws-dev-logs, per prod dobbiamo copiare il file e cambiare i nomi dappertutto: prima o poi ci si dimentica un pezzo. Vogliamo invece scrivere il codice una volta sola e cambiare soltanto un valore, l'ambiente, nel file tfvars. Per farlo, il codice deve poter calcolare i nomi e le impostazioni a partire da quel valore. Gli strumenti per calcolare si chiamano espressioni.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il file. Le variabili project ed environment arrivano dal tfvars. Nel blocco locals costruiamo un prefisso unendo progetto e ambiente: è un'interpolazione. Il bucket prende il prefisso, cioè un riferimento, ci aggiunge -logs e passa tutto alla funzione lower, perché i nomi dei bucket devono essere minuscoli. Il versioning si riferisce al bucket appena creato con aws_s3_bucket.logs.id. Infine il condizionale: in prod il versioning è acceso, in dev è sospeso. I numeri nei commenti li spieghiamo uno per uno nella prossima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Leggiamo le quattro espressioni con i valori del tfvars, environment uguale dev. Uno: dentro le virgolette dollaro graffa var.project diventa corso-aws e dollaro graffa var.environment diventa dev, quindi il prefisso è corso-aws-dev. Due: local.prefix legge quel prefisso, si aggiunge -logs, e lower lo lascia minuscolo: corso-aws-dev-logs. Tre: aws_s3_bucket.logs.id è l'identificativo del bucket appena creato, che per S3 è il nome; e siccome il versioning dipende dal bucket, Terraform crea prima il bucket. Quattro: dev non è uguale a prod, quindi Suspended.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 ecco il vantaggio. Il codice è sempre lo stesso: cambia solo environment nel tfvars. Con dev Terraform calcola il prefisso corso-aws-dev, il bucket corso-aws-dev-logs e il versioning sospeso. Con prod calcola corso-aws-prod, corso-aws-prod-logs e il versioning attivo. Nessuna riga di codice copiata. Nelle prossime quattro slide vediamo ogni tipo di espressione più da vicino.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 ogni famiglia da vicino, sempre con l'esempio del bucket dei log. I riferimenti leggono un valore definito da un'altra parte del progetto; il prefisso dice dove cercarlo. var punto nome: una variabile, il cui valore arriva dal tfvars. local punto nome: un valore calcolato nel blocco locals. Tipo punto nome punto attributo: un dato di una risorsa creata da noi. data punto: un'informazione letta da AWS, per esempio il numero dell'account, che nel corso usiamo per rendere unici i nomi. Un riferimento a una risorsa crea anche una dipendenza.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L'interpolazione costruisce un testo che contiene dei valori. Dentro le virgolette, tutto quello che sta tra dollaro graffa aperta e graffa chiusa viene calcolato e sostituito; il resto del testo, qui il trattino, resta com'è. È così che nell'esempio nasce il prefisso corso-aws-dev. Regola pratica: se il valore è solo un riferimento, senza testo intorno, non servono né virgolette né dollaro graffa: si scrive bucket uguale aws_s3_bucket.logs.id.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funzioni prendono uno o più valori e ne restituiscono uno nuovo. Si scrivono con il nome e gli argomenti tra parentesi. Non se ne inventano: si usano quelle di Terraform. Nella tabella, ognuna con il posto del corso in cui la usiamo. lower mette in minuscolo, ed è quella del bucket dei log. contains dice se un valore è in una lista: la usiamo nelle validation per accettare solo dev, test o prod. can più regex controllano il formato del nome del progetto nel variables.tf dell'esercizio. cidrsubnet calcola gli indirizzi di rete nella dispensa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condizionale sceglie tra due valori. Si legge: se la condizione è vera usa il primo valore, altrimenti il secondo. Il punto di domanda separa la condizione dal valore se vera, i due punti separano i due valori. Due uguali significa è uguale a. Nell'esempio: in produzione teniamo le versioni vecchie dei file, in sviluppo no. Con environment uguale dev la condizione è falsa, quindi Suspended. Tutte queste espressioni si possono provare in terraform console, che le calcola senza creare niente.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una risorsa usa un attributo di un'altra, Terraform capisce l'ordine da solo. Qui il bucket usa il numero casuale nel nome, quindi prima si genera il numero. Il versioning usa l'id del bucket, quindi prima il bucket. Da questi riferimenti Terraform costruisce un grafo e crea in parallelo tutto quello che non dipende da altro. depends_on esiste, ma serve raramente.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legge tutti i file .tf della cartella e li fonde in un'unica configurazione. L'ordine non conta e i nomi dei file sono una convenzione per noi umani. Ogni file risponde a una domanda. providers: con chi parlo. backend: dove salvo lo state. variables: cosa si può configurare. tfvars: con che valori gira questo ambiente. main e gli altri: cosa costruisco. outputs: cosa mi serve sapere alla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variables.tf è un questionario con i campi vuoti: dichiara nome, tipo, descrizione, eventuale default. terraform.tfvars è il questionario compilato: solo i valori. main.tf lavora sui valori con var punto nome, outputs.tf è la ricevuta finale. Differenza con locals: la variabile arriva da fuori, il local si calcola dentro e chi usa il progetto non lo tocca.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comandi. init si lancia una volta, e poi ogni volta che cambiano provider o backend: scarica i provider. plan mostra cosa farebbe, senza toccare niente: è il momento più importante. apply esegue e chiede conferma: bisogna scrivere yes. destroy cancella tutto quello che Terraform gestisce, anche questo con conferma.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plan ogni risorsa ha un simbolo. Più: la crea. Tilde: la modifica sul posto. Meno barra più: la distrugge e la ricrea, e su un database significa perdere i dati. Meno: la distrugge. In fondo c'è il riepilogo. Se compare un meno più dove non ve lo aspettate, vi fermate e capite perché.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state è il file in cui Terraform collega ogni risorsa del codice a quella reale su AWS. Il plan confronta tre cose: il codice, lo state e la realtà. Quattro regole: lo state contiene segreti in chiaro quindi mai in Git; va tenuto remoto e non sul portatile; serve un lock perché due apply insieme lo corrompono; e non si modifica mai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Senza backend.tf lo state è un file nella cartella: per imparare va bene, ed è così che parte l'esercizio. Per lavorare davvero va in un bucket S3, cifrato, con use_lockfile che crea un piccolo file di lock accanto allo state. Il bucket dello state si crea una volta sola a parte con la CLI, perché il codice che lo usa non può crearlo: è l'uovo e la gallina. Nel backend non si possono usare variabili.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non ha un login suo: usa le credenziali della AWS CLI. Si usa IAM Identity Center: un login nel browser con MFA, e la CLI riceve credenziali temporanee che scadono da sole. La configurazione si fa una volta con aws configure sso, la procedura passo passo è nella dispensa. Ogni giorno: aws sso login e export AWS_PROFILE. Mai access key nel codice, mai chiavi permanenti sul portatile, mai l'utente root.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L'esercizio completo, con tutti i file da copiare e i risultati attesi, è nella sezione 7 della dispensa. Si crea un bucket, lo si modifica sul posto, si prova una modifica che lo ricreerebbe senza applicarla, si prova il drift cambiando un tag a mano in console, si sposta lo state su S3 e alla fine si distrugge tutto. L'obiettivo vero è leggere ogni volta il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Riassumendo i cinque punti. Il materiale di studio è la dispensa 0: contiene tutto quello che abbiamo visto, più i prerequisiti, la configurazione SSO passo passo e l'esercizio completo. Prima della prossima lezione fate l'esercizio: la prossima volta si riparte da quella cartella per parlare di IAM.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7589520" y="548640"/>
            <a:ext cx="4206240" cy="5669280"/>
          </a:xfrm>
          <a:prstGeom prst="rect">
            <a:avLst/>
          </a:prstGeom>
          <a:noFill/>
          <a:ln/>
        </p:spPr>
        <p:txBody>
          <a:bodyPr wrap="square" lIns="0" tIns="0" rIns="0" bIns="0" rtlCol="0" anchor="ctr"/>
          <a:lstStyle/>
          <a:p>
            <a:pPr algn="r" indent="0" marL="0">
              <a:buNone/>
            </a:pPr>
            <a:r>
              <a:rPr lang="en-US" sz="30000" b="1" dirty="0">
                <a:solidFill>
                  <a:srgbClr val="5B3FD0"/>
                </a:solidFill>
                <a:latin typeface="Calibri" pitchFamily="34" charset="0"/>
                <a:ea typeface="Calibri" pitchFamily="34" charset="-122"/>
                <a:cs typeface="Calibri" pitchFamily="34" charset="-120"/>
              </a:rPr>
              <a:t>0</a:t>
            </a:r>
            <a:endParaRPr lang="en-US" sz="30000" dirty="0"/>
          </a:p>
        </p:txBody>
      </p:sp>
      <p:sp>
        <p:nvSpPr>
          <p:cNvPr id="3" name="Text 1"/>
          <p:cNvSpPr txBox="1"/>
          <p:nvPr/>
        </p:nvSpPr>
        <p:spPr>
          <a:xfrm>
            <a:off x="548640" y="1280160"/>
            <a:ext cx="7315200" cy="365760"/>
          </a:xfrm>
          <a:prstGeom prst="rect">
            <a:avLst/>
          </a:prstGeom>
          <a:noFill/>
          <a:ln/>
        </p:spPr>
        <p:txBody>
          <a:bodyPr wrap="square" lIns="0" tIns="0" rIns="0" bIns="0" rtlCol="0" anchor="ctr"/>
          <a:lstStyle/>
          <a:p>
            <a:pPr indent="0" marL="0">
              <a:buNone/>
            </a:pPr>
            <a:r>
              <a:rPr lang="en-US" sz="1600" b="1" dirty="0">
                <a:solidFill>
                  <a:srgbClr val="F28C28"/>
                </a:solidFill>
                <a:latin typeface="Calibri" pitchFamily="34" charset="0"/>
                <a:ea typeface="Calibri" pitchFamily="34" charset="-122"/>
                <a:cs typeface="Calibri" pitchFamily="34" charset="-120"/>
              </a:rPr>
              <a:t>Dispensa 0 · Terraform: le basi</a:t>
            </a:r>
            <a:endParaRPr lang="en-US" sz="1600" dirty="0"/>
          </a:p>
        </p:txBody>
      </p:sp>
      <p:sp>
        <p:nvSpPr>
          <p:cNvPr id="4" name="Text 2"/>
          <p:cNvSpPr txBox="1"/>
          <p:nvPr/>
        </p:nvSpPr>
        <p:spPr>
          <a:xfrm>
            <a:off x="548640" y="1828800"/>
            <a:ext cx="7772400" cy="201168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Terraform: le basi</a:t>
            </a:r>
            <a:endParaRPr lang="en-US" sz="4800" dirty="0"/>
          </a:p>
        </p:txBody>
      </p:sp>
      <p:sp>
        <p:nvSpPr>
          <p:cNvPr id="5" name="Text 3"/>
          <p:cNvSpPr txBox="1"/>
          <p:nvPr/>
        </p:nvSpPr>
        <p:spPr>
          <a:xfrm>
            <a:off x="548640" y="4023360"/>
            <a:ext cx="7315200" cy="1097280"/>
          </a:xfrm>
          <a:prstGeom prst="rect">
            <a:avLst/>
          </a:prstGeom>
          <a:noFill/>
          <a:ln/>
        </p:spPr>
        <p:txBody>
          <a:bodyPr wrap="square" lIns="0" tIns="0" rIns="0" bIns="0" rtlCol="0" anchor="t"/>
          <a:lstStyle/>
          <a:p>
            <a:pPr indent="0" marL="0">
              <a:buNone/>
            </a:pPr>
            <a:r>
              <a:rPr lang="en-US" sz="2000" dirty="0">
                <a:solidFill>
                  <a:srgbClr val="C9CBE0"/>
                </a:solidFill>
                <a:latin typeface="Calibri" pitchFamily="34" charset="0"/>
                <a:ea typeface="Calibri" pitchFamily="34" charset="-122"/>
                <a:cs typeface="Calibri" pitchFamily="34" charset="-120"/>
              </a:rPr>
              <a:t>Infrastructure as Code: il linguaggio, il ciclo di lavoro, lo state</a:t>
            </a:r>
            <a:endParaRPr lang="en-US" sz="2000" dirty="0"/>
          </a:p>
        </p:txBody>
      </p:sp>
      <p:sp>
        <p:nvSpPr>
          <p:cNvPr id="6" name="Text 4"/>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200" dirty="0">
                <a:solidFill>
                  <a:srgbClr val="9A9DB8"/>
                </a:solidFill>
                <a:latin typeface="Calibri" pitchFamily="34" charset="0"/>
                <a:ea typeface="Calibri" pitchFamily="34" charset="-122"/>
                <a:cs typeface="Calibri" pitchFamily="34" charset="-120"/>
              </a:rPr>
              <a:t>Corso: Infrastruttura AWS con Terraform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Cosa impariamo oggi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5440680" cy="2103120"/>
          </a:xfrm>
          <a:prstGeom prst="roundRect">
            <a:avLst>
              <a:gd name="adj" fmla="val 5217"/>
            </a:avLst>
          </a:prstGeom>
          <a:solidFill>
            <a:srgbClr val="EEEAFB"/>
          </a:solidFill>
          <a:ln w="12700">
            <a:solidFill>
              <a:srgbClr val="EEEAFB"/>
            </a:solidFill>
            <a:prstDash val="solid"/>
          </a:ln>
        </p:spPr>
      </p:sp>
      <p:sp>
        <p:nvSpPr>
          <p:cNvPr id="6" name="Shape 3"/>
          <p:cNvSpPr/>
          <p:nvPr/>
        </p:nvSpPr>
        <p:spPr>
          <a:xfrm>
            <a:off x="777240" y="169164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828800"/>
            <a:ext cx="274320" cy="274320"/>
          </a:xfrm>
          <a:prstGeom prst="rect">
            <a:avLst/>
          </a:prstGeom>
        </p:spPr>
      </p:pic>
      <p:sp>
        <p:nvSpPr>
          <p:cNvPr id="8" name="Text 4"/>
          <p:cNvSpPr txBox="1"/>
          <p:nvPr/>
        </p:nvSpPr>
        <p:spPr>
          <a:xfrm>
            <a:off x="150876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Infrastructure as Code</a:t>
            </a:r>
            <a:endParaRPr lang="en-US" sz="1800" dirty="0"/>
          </a:p>
        </p:txBody>
      </p:sp>
      <p:sp>
        <p:nvSpPr>
          <p:cNvPr id="9" name="Text 5"/>
          <p:cNvSpPr txBox="1"/>
          <p:nvPr/>
        </p:nvSpPr>
        <p:spPr>
          <a:xfrm>
            <a:off x="777240" y="2377440"/>
            <a:ext cx="4983480" cy="10058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Perché descrivere l'infrastruttura in file di testo</a:t>
            </a:r>
            <a:endParaRPr lang="en-US" sz="1600" dirty="0"/>
          </a:p>
        </p:txBody>
      </p:sp>
      <p:sp>
        <p:nvSpPr>
          <p:cNvPr id="10" name="Shape 6"/>
          <p:cNvSpPr/>
          <p:nvPr/>
        </p:nvSpPr>
        <p:spPr>
          <a:xfrm>
            <a:off x="6172200" y="1463040"/>
            <a:ext cx="5440680" cy="2103120"/>
          </a:xfrm>
          <a:prstGeom prst="roundRect">
            <a:avLst>
              <a:gd name="adj" fmla="val 5217"/>
            </a:avLst>
          </a:prstGeom>
          <a:solidFill>
            <a:srgbClr val="EEEAFB"/>
          </a:solidFill>
          <a:ln w="12700">
            <a:solidFill>
              <a:srgbClr val="EEEAFB"/>
            </a:solidFill>
            <a:prstDash val="solid"/>
          </a:ln>
        </p:spPr>
      </p:sp>
      <p:sp>
        <p:nvSpPr>
          <p:cNvPr id="11" name="Shape 7"/>
          <p:cNvSpPr/>
          <p:nvPr/>
        </p:nvSpPr>
        <p:spPr>
          <a:xfrm>
            <a:off x="6400800" y="1691640"/>
            <a:ext cx="548640" cy="548640"/>
          </a:xfrm>
          <a:prstGeom prst="ellipse">
            <a:avLst/>
          </a:prstGeom>
          <a:solidFill>
            <a:srgbClr val="5B3FD0"/>
          </a:solidFill>
          <a:ln w="12700">
            <a:solidFill>
              <a:srgbClr val="5B3FD0"/>
            </a:solidFill>
            <a:prstDash val="solid"/>
          </a:ln>
        </p:spPr>
      </p:sp>
      <p:pic>
        <p:nvPicPr>
          <p:cNvPr id="12" name="Image 1" descr="preencoded.png">    </p:cNvPr>
          <p:cNvPicPr>
            <a:picLocks noChangeAspect="1"/>
          </p:cNvPicPr>
          <p:nvPr/>
        </p:nvPicPr>
        <p:blipFill>
          <a:blip r:embed="rId2"/>
          <a:stretch>
            <a:fillRect/>
          </a:stretch>
        </p:blipFill>
        <p:spPr>
          <a:xfrm>
            <a:off x="6537960" y="1828800"/>
            <a:ext cx="274320" cy="274320"/>
          </a:xfrm>
          <a:prstGeom prst="rect">
            <a:avLst/>
          </a:prstGeom>
        </p:spPr>
      </p:pic>
      <p:sp>
        <p:nvSpPr>
          <p:cNvPr id="13" name="Text 8"/>
          <p:cNvSpPr txBox="1"/>
          <p:nvPr/>
        </p:nvSpPr>
        <p:spPr>
          <a:xfrm>
            <a:off x="713232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Il linguaggio HCL</a:t>
            </a:r>
            <a:endParaRPr lang="en-US" sz="1800" dirty="0"/>
          </a:p>
        </p:txBody>
      </p:sp>
      <p:sp>
        <p:nvSpPr>
          <p:cNvPr id="14" name="Text 9"/>
          <p:cNvSpPr txBox="1"/>
          <p:nvPr/>
        </p:nvSpPr>
        <p:spPr>
          <a:xfrm>
            <a:off x="6400800" y="2377440"/>
            <a:ext cx="4983480" cy="10058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Blocchi, argomenti, riferimenti, espressioni</a:t>
            </a:r>
            <a:endParaRPr lang="en-US" sz="1600" dirty="0"/>
          </a:p>
        </p:txBody>
      </p:sp>
      <p:sp>
        <p:nvSpPr>
          <p:cNvPr id="15" name="Shape 10"/>
          <p:cNvSpPr/>
          <p:nvPr/>
        </p:nvSpPr>
        <p:spPr>
          <a:xfrm>
            <a:off x="548640" y="3794760"/>
            <a:ext cx="5440680" cy="2103120"/>
          </a:xfrm>
          <a:prstGeom prst="roundRect">
            <a:avLst>
              <a:gd name="adj" fmla="val 5217"/>
            </a:avLst>
          </a:prstGeom>
          <a:solidFill>
            <a:srgbClr val="EEEAFB"/>
          </a:solidFill>
          <a:ln w="12700">
            <a:solidFill>
              <a:srgbClr val="EEEAFB"/>
            </a:solidFill>
            <a:prstDash val="solid"/>
          </a:ln>
        </p:spPr>
      </p:sp>
      <p:sp>
        <p:nvSpPr>
          <p:cNvPr id="16" name="Shape 11"/>
          <p:cNvSpPr/>
          <p:nvPr/>
        </p:nvSpPr>
        <p:spPr>
          <a:xfrm>
            <a:off x="777240" y="4023360"/>
            <a:ext cx="548640" cy="548640"/>
          </a:xfrm>
          <a:prstGeom prst="ellipse">
            <a:avLst/>
          </a:prstGeom>
          <a:solidFill>
            <a:srgbClr val="5B3FD0"/>
          </a:solidFill>
          <a:ln w="12700">
            <a:solidFill>
              <a:srgbClr val="5B3FD0"/>
            </a:solidFill>
            <a:prstDash val="solid"/>
          </a:ln>
        </p:spPr>
      </p:sp>
      <p:pic>
        <p:nvPicPr>
          <p:cNvPr id="17" name="Image 2" descr="preencoded.png">    </p:cNvPr>
          <p:cNvPicPr>
            <a:picLocks noChangeAspect="1"/>
          </p:cNvPicPr>
          <p:nvPr/>
        </p:nvPicPr>
        <p:blipFill>
          <a:blip r:embed="rId3"/>
          <a:stretch>
            <a:fillRect/>
          </a:stretch>
        </p:blipFill>
        <p:spPr>
          <a:xfrm>
            <a:off x="914400" y="4160520"/>
            <a:ext cx="274320" cy="274320"/>
          </a:xfrm>
          <a:prstGeom prst="rect">
            <a:avLst/>
          </a:prstGeom>
        </p:spPr>
      </p:pic>
      <p:sp>
        <p:nvSpPr>
          <p:cNvPr id="18" name="Text 12"/>
          <p:cNvSpPr txBox="1"/>
          <p:nvPr/>
        </p:nvSpPr>
        <p:spPr>
          <a:xfrm>
            <a:off x="1508760" y="402336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Il ciclo di lavoro</a:t>
            </a:r>
            <a:endParaRPr lang="en-US" sz="1800" dirty="0"/>
          </a:p>
        </p:txBody>
      </p:sp>
      <p:sp>
        <p:nvSpPr>
          <p:cNvPr id="19" name="Text 13"/>
          <p:cNvSpPr txBox="1"/>
          <p:nvPr/>
        </p:nvSpPr>
        <p:spPr>
          <a:xfrm>
            <a:off x="777240" y="4709160"/>
            <a:ext cx="4983480" cy="10058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init → plan → apply → destroy</a:t>
            </a:r>
            <a:endParaRPr lang="en-US" sz="1600" dirty="0"/>
          </a:p>
        </p:txBody>
      </p:sp>
      <p:sp>
        <p:nvSpPr>
          <p:cNvPr id="20" name="Shape 14"/>
          <p:cNvSpPr/>
          <p:nvPr/>
        </p:nvSpPr>
        <p:spPr>
          <a:xfrm>
            <a:off x="6172200" y="3794760"/>
            <a:ext cx="5440680" cy="2103120"/>
          </a:xfrm>
          <a:prstGeom prst="roundRect">
            <a:avLst>
              <a:gd name="adj" fmla="val 5217"/>
            </a:avLst>
          </a:prstGeom>
          <a:solidFill>
            <a:srgbClr val="EEEAFB"/>
          </a:solidFill>
          <a:ln w="12700">
            <a:solidFill>
              <a:srgbClr val="EEEAFB"/>
            </a:solidFill>
            <a:prstDash val="solid"/>
          </a:ln>
        </p:spPr>
      </p:sp>
      <p:sp>
        <p:nvSpPr>
          <p:cNvPr id="21" name="Shape 15"/>
          <p:cNvSpPr/>
          <p:nvPr/>
        </p:nvSpPr>
        <p:spPr>
          <a:xfrm>
            <a:off x="6400800" y="4023360"/>
            <a:ext cx="548640" cy="548640"/>
          </a:xfrm>
          <a:prstGeom prst="ellipse">
            <a:avLst/>
          </a:prstGeom>
          <a:solidFill>
            <a:srgbClr val="5B3FD0"/>
          </a:solidFill>
          <a:ln w="12700">
            <a:solidFill>
              <a:srgbClr val="5B3FD0"/>
            </a:solidFill>
            <a:prstDash val="solid"/>
          </a:ln>
        </p:spPr>
      </p:sp>
      <p:pic>
        <p:nvPicPr>
          <p:cNvPr id="22" name="Image 3" descr="preencoded.png">    </p:cNvPr>
          <p:cNvPicPr>
            <a:picLocks noChangeAspect="1"/>
          </p:cNvPicPr>
          <p:nvPr/>
        </p:nvPicPr>
        <p:blipFill>
          <a:blip r:embed="rId4"/>
          <a:stretch>
            <a:fillRect/>
          </a:stretch>
        </p:blipFill>
        <p:spPr>
          <a:xfrm>
            <a:off x="6537960" y="4160520"/>
            <a:ext cx="274320" cy="274320"/>
          </a:xfrm>
          <a:prstGeom prst="rect">
            <a:avLst/>
          </a:prstGeom>
        </p:spPr>
      </p:pic>
      <p:sp>
        <p:nvSpPr>
          <p:cNvPr id="23" name="Text 16"/>
          <p:cNvSpPr txBox="1"/>
          <p:nvPr/>
        </p:nvSpPr>
        <p:spPr>
          <a:xfrm>
            <a:off x="7132320" y="402336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Lo state</a:t>
            </a:r>
            <a:endParaRPr lang="en-US" sz="1800" dirty="0"/>
          </a:p>
        </p:txBody>
      </p:sp>
      <p:sp>
        <p:nvSpPr>
          <p:cNvPr id="24" name="Text 17"/>
          <p:cNvSpPr txBox="1"/>
          <p:nvPr/>
        </p:nvSpPr>
        <p:spPr>
          <a:xfrm>
            <a:off x="6400800" y="4709160"/>
            <a:ext cx="4983480" cy="10058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Il registro di cosa Terraform ha creato</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Perché non si clicca in console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5440680" cy="3291840"/>
          </a:xfrm>
          <a:prstGeom prst="roundRect">
            <a:avLst>
              <a:gd name="adj" fmla="val 3333"/>
            </a:avLst>
          </a:prstGeom>
          <a:solidFill>
            <a:srgbClr val="FBE9E9"/>
          </a:solidFill>
          <a:ln w="12700">
            <a:solidFill>
              <a:srgbClr val="FBE9E9"/>
            </a:solidFill>
            <a:prstDash val="solid"/>
          </a:ln>
        </p:spPr>
      </p:sp>
      <p:sp>
        <p:nvSpPr>
          <p:cNvPr id="6" name="Shape 3"/>
          <p:cNvSpPr/>
          <p:nvPr/>
        </p:nvSpPr>
        <p:spPr>
          <a:xfrm>
            <a:off x="777240" y="1691640"/>
            <a:ext cx="548640" cy="548640"/>
          </a:xfrm>
          <a:prstGeom prst="ellipse">
            <a:avLst/>
          </a:prstGeom>
          <a:solidFill>
            <a:srgbClr val="D64545"/>
          </a:solidFill>
          <a:ln w="12700">
            <a:solidFill>
              <a:srgbClr val="D64545"/>
            </a:solidFill>
            <a:prstDash val="solid"/>
          </a:ln>
        </p:spPr>
      </p:sp>
      <p:pic>
        <p:nvPicPr>
          <p:cNvPr id="7" name="Image 0" descr="preencoded.png">    </p:cNvPr>
          <p:cNvPicPr>
            <a:picLocks noChangeAspect="1"/>
          </p:cNvPicPr>
          <p:nvPr/>
        </p:nvPicPr>
        <p:blipFill>
          <a:blip r:embed="rId1"/>
          <a:stretch>
            <a:fillRect/>
          </a:stretch>
        </p:blipFill>
        <p:spPr>
          <a:xfrm>
            <a:off x="914400" y="1828800"/>
            <a:ext cx="274320" cy="274320"/>
          </a:xfrm>
          <a:prstGeom prst="rect">
            <a:avLst/>
          </a:prstGeom>
        </p:spPr>
      </p:pic>
      <p:sp>
        <p:nvSpPr>
          <p:cNvPr id="8" name="Text 4"/>
          <p:cNvSpPr txBox="1"/>
          <p:nvPr/>
        </p:nvSpPr>
        <p:spPr>
          <a:xfrm>
            <a:off x="150876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 mano in console</a:t>
            </a:r>
            <a:endParaRPr lang="en-US" sz="1800" dirty="0"/>
          </a:p>
        </p:txBody>
      </p:sp>
      <p:sp>
        <p:nvSpPr>
          <p:cNvPr id="9" name="Text 5"/>
          <p:cNvSpPr txBox="1"/>
          <p:nvPr/>
        </p:nvSpPr>
        <p:spPr>
          <a:xfrm>
            <a:off x="77724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Nessuno ricorda cosa è stato cliccato</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Non si rifà identico in un altro ambiente</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Nessuna revisione prima di cambiare</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Nessuna storia delle modifiche</a:t>
            </a:r>
            <a:endParaRPr lang="en-US" sz="1800" dirty="0"/>
          </a:p>
        </p:txBody>
      </p:sp>
      <p:sp>
        <p:nvSpPr>
          <p:cNvPr id="10" name="Shape 6"/>
          <p:cNvSpPr/>
          <p:nvPr/>
        </p:nvSpPr>
        <p:spPr>
          <a:xfrm>
            <a:off x="6172200" y="1463040"/>
            <a:ext cx="5440680" cy="3291840"/>
          </a:xfrm>
          <a:prstGeom prst="roundRect">
            <a:avLst>
              <a:gd name="adj" fmla="val 3333"/>
            </a:avLst>
          </a:prstGeom>
          <a:solidFill>
            <a:srgbClr val="E5F4EC"/>
          </a:solidFill>
          <a:ln w="12700">
            <a:solidFill>
              <a:srgbClr val="E5F4EC"/>
            </a:solidFill>
            <a:prstDash val="solid"/>
          </a:ln>
        </p:spPr>
      </p:sp>
      <p:sp>
        <p:nvSpPr>
          <p:cNvPr id="11" name="Shape 7"/>
          <p:cNvSpPr/>
          <p:nvPr/>
        </p:nvSpPr>
        <p:spPr>
          <a:xfrm>
            <a:off x="6400800" y="1691640"/>
            <a:ext cx="548640" cy="548640"/>
          </a:xfrm>
          <a:prstGeom prst="ellipse">
            <a:avLst/>
          </a:prstGeom>
          <a:solidFill>
            <a:srgbClr val="2E9E6B"/>
          </a:solidFill>
          <a:ln w="12700">
            <a:solidFill>
              <a:srgbClr val="2E9E6B"/>
            </a:solidFill>
            <a:prstDash val="solid"/>
          </a:ln>
        </p:spPr>
      </p:sp>
      <p:pic>
        <p:nvPicPr>
          <p:cNvPr id="12" name="Image 1" descr="preencoded.png">    </p:cNvPr>
          <p:cNvPicPr>
            <a:picLocks noChangeAspect="1"/>
          </p:cNvPicPr>
          <p:nvPr/>
        </p:nvPicPr>
        <p:blipFill>
          <a:blip r:embed="rId2"/>
          <a:stretch>
            <a:fillRect/>
          </a:stretch>
        </p:blipFill>
        <p:spPr>
          <a:xfrm>
            <a:off x="6537960" y="1828800"/>
            <a:ext cx="274320" cy="274320"/>
          </a:xfrm>
          <a:prstGeom prst="rect">
            <a:avLst/>
          </a:prstGeom>
        </p:spPr>
      </p:pic>
      <p:sp>
        <p:nvSpPr>
          <p:cNvPr id="13" name="Text 8"/>
          <p:cNvSpPr txBox="1"/>
          <p:nvPr/>
        </p:nvSpPr>
        <p:spPr>
          <a:xfrm>
            <a:off x="713232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Infrastructure as Code</a:t>
            </a:r>
            <a:endParaRPr lang="en-US" sz="1800" dirty="0"/>
          </a:p>
        </p:txBody>
      </p:sp>
      <p:sp>
        <p:nvSpPr>
          <p:cNvPr id="14" name="Text 9"/>
          <p:cNvSpPr txBox="1"/>
          <p:nvPr/>
        </p:nvSpPr>
        <p:spPr>
          <a:xfrm>
            <a:off x="640080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File di testo in Git: storia e confronto</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Stesso codice → dev, test, prod identici</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Ogni modifica si rivede prima di applicarla</a:t>
            </a:r>
            <a:endParaRPr lang="en-US" sz="1800" dirty="0"/>
          </a:p>
          <a:p>
            <a:pPr marL="342900" indent="-342900">
              <a:spcAft>
                <a:spcPts val="600"/>
              </a:spcAft>
              <a:buSzPct val="100000"/>
              <a:buChar char="•"/>
            </a:pPr>
            <a:r>
              <a:rPr lang="en-US" sz="1800" dirty="0">
                <a:solidFill>
                  <a:srgbClr val="22253A"/>
                </a:solidFill>
                <a:latin typeface="Calibri" pitchFamily="34" charset="0"/>
                <a:ea typeface="Calibri" pitchFamily="34" charset="-122"/>
                <a:cs typeface="Calibri" pitchFamily="34" charset="-120"/>
              </a:rPr>
              <a:t>Il codice documenta cosa esiste e perché</a:t>
            </a:r>
            <a:endParaRPr lang="en-US" sz="1800" dirty="0"/>
          </a:p>
        </p:txBody>
      </p:sp>
      <p:sp>
        <p:nvSpPr>
          <p:cNvPr id="15" name="Shape 10"/>
          <p:cNvSpPr/>
          <p:nvPr/>
        </p:nvSpPr>
        <p:spPr>
          <a:xfrm>
            <a:off x="548640" y="5029200"/>
            <a:ext cx="11094415" cy="914400"/>
          </a:xfrm>
          <a:prstGeom prst="roundRect">
            <a:avLst>
              <a:gd name="adj" fmla="val 10000"/>
            </a:avLst>
          </a:prstGeom>
          <a:solidFill>
            <a:srgbClr val="FDF0E3"/>
          </a:solidFill>
          <a:ln w="12700">
            <a:solidFill>
              <a:srgbClr val="FDF0E3"/>
            </a:solidFill>
            <a:prstDash val="solid"/>
          </a:ln>
        </p:spPr>
      </p:sp>
      <p:sp>
        <p:nvSpPr>
          <p:cNvPr id="16" name="Text 11"/>
          <p:cNvSpPr txBox="1"/>
          <p:nvPr/>
        </p:nvSpPr>
        <p:spPr>
          <a:xfrm>
            <a:off x="822960" y="5029200"/>
            <a:ext cx="10545775" cy="91440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Regola: ciò che gestisce Terraform si modifica solo da Terraform.</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Terraform è dichiarativo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4937760" cy="3108960"/>
          </a:xfrm>
          <a:prstGeom prst="roundRect">
            <a:avLst>
              <a:gd name="adj" fmla="val 3529"/>
            </a:avLst>
          </a:prstGeom>
          <a:solidFill>
            <a:srgbClr val="EEEAFB"/>
          </a:solidFill>
          <a:ln w="12700">
            <a:solidFill>
              <a:srgbClr val="EEEAFB"/>
            </a:solidFill>
            <a:prstDash val="solid"/>
          </a:ln>
        </p:spPr>
      </p:sp>
      <p:sp>
        <p:nvSpPr>
          <p:cNvPr id="6" name="Shape 3"/>
          <p:cNvSpPr/>
          <p:nvPr/>
        </p:nvSpPr>
        <p:spPr>
          <a:xfrm>
            <a:off x="777240" y="169164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828800"/>
            <a:ext cx="274320" cy="274320"/>
          </a:xfrm>
          <a:prstGeom prst="rect">
            <a:avLst/>
          </a:prstGeom>
        </p:spPr>
      </p:pic>
      <p:sp>
        <p:nvSpPr>
          <p:cNvPr id="8" name="Text 4"/>
          <p:cNvSpPr txBox="1"/>
          <p:nvPr/>
        </p:nvSpPr>
        <p:spPr>
          <a:xfrm>
            <a:off x="1508760" y="1691640"/>
            <a:ext cx="37490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Uno script è una ricetta</a:t>
            </a:r>
            <a:endParaRPr lang="en-US" sz="1800" dirty="0"/>
          </a:p>
        </p:txBody>
      </p:sp>
      <p:sp>
        <p:nvSpPr>
          <p:cNvPr id="9" name="Text 5"/>
          <p:cNvSpPr txBox="1"/>
          <p:nvPr/>
        </p:nvSpPr>
        <p:spPr>
          <a:xfrm>
            <a:off x="777240" y="2377440"/>
            <a:ext cx="4480560" cy="2011680"/>
          </a:xfrm>
          <a:prstGeom prst="rect">
            <a:avLst/>
          </a:prstGeom>
          <a:noFill/>
          <a:ln/>
        </p:spPr>
        <p:txBody>
          <a:bodyPr wrap="square" lIns="0" tIns="0" rIns="0" bIns="0" rtlCol="0" anchor="t"/>
          <a:lstStyle/>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1. Rompi le uova</a:t>
            </a:r>
            <a:endParaRPr lang="en-US" sz="1800" dirty="0"/>
          </a:p>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2. Sbatti</a:t>
            </a:r>
            <a:endParaRPr lang="en-US" sz="1800" dirty="0"/>
          </a:p>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3. Cuoci</a:t>
            </a:r>
            <a:endParaRPr lang="en-US" sz="1800" dirty="0"/>
          </a:p>
        </p:txBody>
      </p:sp>
      <p:sp>
        <p:nvSpPr>
          <p:cNvPr id="10" name="Shape 6"/>
          <p:cNvSpPr/>
          <p:nvPr/>
        </p:nvSpPr>
        <p:spPr>
          <a:xfrm>
            <a:off x="5623560" y="3017520"/>
            <a:ext cx="914400" cy="0"/>
          </a:xfrm>
          <a:prstGeom prst="line">
            <a:avLst/>
          </a:prstGeom>
          <a:noFill/>
          <a:ln w="25400">
            <a:solidFill>
              <a:srgbClr val="5F6478"/>
            </a:solidFill>
            <a:prstDash val="solid"/>
            <a:tailEnd type="triangle"/>
          </a:ln>
        </p:spPr>
      </p:sp>
      <p:sp>
        <p:nvSpPr>
          <p:cNvPr id="11" name="Shape 7"/>
          <p:cNvSpPr/>
          <p:nvPr/>
        </p:nvSpPr>
        <p:spPr>
          <a:xfrm>
            <a:off x="6675120" y="1463040"/>
            <a:ext cx="4965192" cy="3108960"/>
          </a:xfrm>
          <a:prstGeom prst="roundRect">
            <a:avLst>
              <a:gd name="adj" fmla="val 3529"/>
            </a:avLst>
          </a:prstGeom>
          <a:solidFill>
            <a:srgbClr val="FDF0E3"/>
          </a:solidFill>
          <a:ln w="12700">
            <a:solidFill>
              <a:srgbClr val="FDF0E3"/>
            </a:solidFill>
            <a:prstDash val="solid"/>
          </a:ln>
        </p:spPr>
      </p:sp>
      <p:sp>
        <p:nvSpPr>
          <p:cNvPr id="12" name="Shape 8"/>
          <p:cNvSpPr/>
          <p:nvPr/>
        </p:nvSpPr>
        <p:spPr>
          <a:xfrm>
            <a:off x="6903720" y="1691640"/>
            <a:ext cx="548640" cy="548640"/>
          </a:xfrm>
          <a:prstGeom prst="ellipse">
            <a:avLst/>
          </a:prstGeom>
          <a:solidFill>
            <a:srgbClr val="F28C28"/>
          </a:solidFill>
          <a:ln w="12700">
            <a:solidFill>
              <a:srgbClr val="F28C28"/>
            </a:solidFill>
            <a:prstDash val="solid"/>
          </a:ln>
        </p:spPr>
      </p:sp>
      <p:pic>
        <p:nvPicPr>
          <p:cNvPr id="13" name="Image 1" descr="preencoded.png">    </p:cNvPr>
          <p:cNvPicPr>
            <a:picLocks noChangeAspect="1"/>
          </p:cNvPicPr>
          <p:nvPr/>
        </p:nvPicPr>
        <p:blipFill>
          <a:blip r:embed="rId2"/>
          <a:stretch>
            <a:fillRect/>
          </a:stretch>
        </p:blipFill>
        <p:spPr>
          <a:xfrm>
            <a:off x="7040880" y="1828800"/>
            <a:ext cx="274320" cy="274320"/>
          </a:xfrm>
          <a:prstGeom prst="rect">
            <a:avLst/>
          </a:prstGeom>
        </p:spPr>
      </p:pic>
      <p:sp>
        <p:nvSpPr>
          <p:cNvPr id="14" name="Text 9"/>
          <p:cNvSpPr txBox="1"/>
          <p:nvPr/>
        </p:nvSpPr>
        <p:spPr>
          <a:xfrm>
            <a:off x="7635240" y="1691640"/>
            <a:ext cx="377647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 è la foto del piatto</a:t>
            </a:r>
            <a:endParaRPr lang="en-US" sz="1800" dirty="0"/>
          </a:p>
        </p:txBody>
      </p:sp>
      <p:sp>
        <p:nvSpPr>
          <p:cNvPr id="15" name="Text 10"/>
          <p:cNvSpPr txBox="1"/>
          <p:nvPr/>
        </p:nvSpPr>
        <p:spPr>
          <a:xfrm>
            <a:off x="6903720" y="2377440"/>
            <a:ext cx="4507992" cy="2011680"/>
          </a:xfrm>
          <a:prstGeom prst="rect">
            <a:avLst/>
          </a:prstGeom>
          <a:noFill/>
          <a:ln/>
        </p:spPr>
        <p:txBody>
          <a:bodyPr wrap="square" lIns="0" tIns="0" rIns="0" bIns="0" rtlCol="0" anchor="t"/>
          <a:lstStyle/>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Gli dici cosa deve esistere. Lui guarda la cucina, vede cosa manca e lo prepara.</a:t>
            </a:r>
            <a:endParaRPr lang="en-US" sz="1800" dirty="0"/>
          </a:p>
        </p:txBody>
      </p:sp>
      <p:sp>
        <p:nvSpPr>
          <p:cNvPr id="16" name="Shape 11"/>
          <p:cNvSpPr/>
          <p:nvPr/>
        </p:nvSpPr>
        <p:spPr>
          <a:xfrm>
            <a:off x="548640" y="4937760"/>
            <a:ext cx="11094415" cy="1005840"/>
          </a:xfrm>
          <a:prstGeom prst="roundRect">
            <a:avLst>
              <a:gd name="adj" fmla="val 9091"/>
            </a:avLst>
          </a:prstGeom>
          <a:solidFill>
            <a:srgbClr val="FDF0E3"/>
          </a:solidFill>
          <a:ln w="12700">
            <a:solidFill>
              <a:srgbClr val="FDF0E3"/>
            </a:solidFill>
            <a:prstDash val="solid"/>
          </a:ln>
        </p:spPr>
      </p:sp>
      <p:sp>
        <p:nvSpPr>
          <p:cNvPr id="17" name="Text 12"/>
          <p:cNvSpPr txBox="1"/>
          <p:nvPr/>
        </p:nvSpPr>
        <p:spPr>
          <a:xfrm>
            <a:off x="822960" y="4937760"/>
            <a:ext cx="10545775" cy="100584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Scrivi lo stato desiderato, non i passi. Il come lo calcola Terraform.</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Anatomia di un blocco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5760720" cy="4480560"/>
          </a:xfrm>
          <a:prstGeom prst="roundRect">
            <a:avLst>
              <a:gd name="adj" fmla="val 1633"/>
            </a:avLst>
          </a:prstGeom>
          <a:solidFill>
            <a:srgbClr val="1E1E2E"/>
          </a:solidFill>
          <a:ln w="12700">
            <a:solidFill>
              <a:srgbClr val="1E1E2E"/>
            </a:solidFill>
            <a:prstDash val="solid"/>
          </a:ln>
        </p:spPr>
      </p:sp>
      <p:sp>
        <p:nvSpPr>
          <p:cNvPr id="6" name="Text 3"/>
          <p:cNvSpPr txBox="1"/>
          <p:nvPr/>
        </p:nvSpPr>
        <p:spPr>
          <a:xfrm>
            <a:off x="731520" y="1600200"/>
            <a:ext cx="5394960" cy="4206240"/>
          </a:xfrm>
          <a:prstGeom prst="rect">
            <a:avLst/>
          </a:prstGeom>
          <a:noFill/>
          <a:ln/>
        </p:spPr>
        <p:txBody>
          <a:bodyPr wrap="square" lIns="0" tIns="0" rIns="0" bIns="0" rtlCol="0" anchor="t"/>
          <a:lstStyle/>
          <a:p>
            <a:pPr indent="0" marL="0">
              <a:buNone/>
            </a:pPr>
            <a:r>
              <a:rPr lang="en-US" sz="1800" dirty="0">
                <a:solidFill>
                  <a:srgbClr val="E6E6F0"/>
                </a:solidFill>
                <a:latin typeface="Courier New" pitchFamily="34" charset="0"/>
                <a:ea typeface="Courier New" pitchFamily="34" charset="-122"/>
                <a:cs typeface="Courier New" pitchFamily="34" charset="-120"/>
              </a:rPr>
              <a:t>resource "aws_s3_bucket" "demo"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bucket = "corso-aws-demo-1234"</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tags =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Owner = "mario"</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lifecycle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prevent_destroy = true</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a:t>
            </a:r>
            <a:endParaRPr lang="en-US" sz="1800" dirty="0"/>
          </a:p>
        </p:txBody>
      </p:sp>
      <p:sp>
        <p:nvSpPr>
          <p:cNvPr id="7" name="Shape 4"/>
          <p:cNvSpPr/>
          <p:nvPr/>
        </p:nvSpPr>
        <p:spPr>
          <a:xfrm>
            <a:off x="6583680" y="1554480"/>
            <a:ext cx="548640" cy="548640"/>
          </a:xfrm>
          <a:prstGeom prst="ellipse">
            <a:avLst/>
          </a:prstGeom>
          <a:solidFill>
            <a:srgbClr val="F28C28"/>
          </a:solidFill>
          <a:ln w="12700">
            <a:solidFill>
              <a:srgbClr val="F28C28"/>
            </a:solidFill>
            <a:prstDash val="solid"/>
          </a:ln>
        </p:spPr>
      </p:sp>
      <p:sp>
        <p:nvSpPr>
          <p:cNvPr id="8" name="Text 5"/>
          <p:cNvSpPr txBox="1"/>
          <p:nvPr/>
        </p:nvSpPr>
        <p:spPr>
          <a:xfrm>
            <a:off x="658368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9" name="Text 6"/>
          <p:cNvSpPr txBox="1"/>
          <p:nvPr/>
        </p:nvSpPr>
        <p:spPr>
          <a:xfrm>
            <a:off x="7315200" y="1463040"/>
            <a:ext cx="4297680" cy="914400"/>
          </a:xfrm>
          <a:prstGeom prst="rect">
            <a:avLst/>
          </a:prstGeom>
          <a:noFill/>
          <a:ln/>
        </p:spPr>
        <p:txBody>
          <a:bodyPr wrap="square" lIns="0" tIns="0" rIns="0" bIns="0" rtlCol="0" anchor="t"/>
          <a:lstStyle/>
          <a:p>
            <a:pPr indent="0" marL="0">
              <a:buNone/>
            </a:pPr>
            <a:r>
              <a:rPr lang="en-US" sz="1800" b="1" dirty="0">
                <a:solidFill>
                  <a:srgbClr val="22253A"/>
                </a:solidFill>
                <a:latin typeface="Calibri" pitchFamily="34" charset="0"/>
                <a:ea typeface="Calibri" pitchFamily="34" charset="-122"/>
                <a:cs typeface="Calibri" pitchFamily="34" charset="-120"/>
              </a:rPr>
              <a:t>Parola chiave + etichette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tipo (dal provider) e nome locale (scelto da te)</a:t>
            </a:r>
            <a:endParaRPr lang="en-US" sz="1800" dirty="0"/>
          </a:p>
        </p:txBody>
      </p:sp>
      <p:sp>
        <p:nvSpPr>
          <p:cNvPr id="10" name="Shape 7"/>
          <p:cNvSpPr/>
          <p:nvPr/>
        </p:nvSpPr>
        <p:spPr>
          <a:xfrm>
            <a:off x="6583680" y="2697480"/>
            <a:ext cx="548640" cy="548640"/>
          </a:xfrm>
          <a:prstGeom prst="ellipse">
            <a:avLst/>
          </a:prstGeom>
          <a:solidFill>
            <a:srgbClr val="F28C28"/>
          </a:solidFill>
          <a:ln w="12700">
            <a:solidFill>
              <a:srgbClr val="F28C28"/>
            </a:solidFill>
            <a:prstDash val="solid"/>
          </a:ln>
        </p:spPr>
      </p:sp>
      <p:sp>
        <p:nvSpPr>
          <p:cNvPr id="11" name="Text 8"/>
          <p:cNvSpPr txBox="1"/>
          <p:nvPr/>
        </p:nvSpPr>
        <p:spPr>
          <a:xfrm>
            <a:off x="6583680" y="2697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9"/>
          <p:cNvSpPr txBox="1"/>
          <p:nvPr/>
        </p:nvSpPr>
        <p:spPr>
          <a:xfrm>
            <a:off x="7315200" y="2606040"/>
            <a:ext cx="4297680" cy="914400"/>
          </a:xfrm>
          <a:prstGeom prst="rect">
            <a:avLst/>
          </a:prstGeom>
          <a:noFill/>
          <a:ln/>
        </p:spPr>
        <p:txBody>
          <a:bodyPr wrap="square" lIns="0" tIns="0" rIns="0" bIns="0" rtlCol="0" anchor="t"/>
          <a:lstStyle/>
          <a:p>
            <a:pPr indent="0" marL="0">
              <a:buNone/>
            </a:pPr>
            <a:r>
              <a:rPr lang="en-US" sz="1800" b="1" dirty="0">
                <a:solidFill>
                  <a:srgbClr val="22253A"/>
                </a:solidFill>
                <a:latin typeface="Calibri" pitchFamily="34" charset="0"/>
                <a:ea typeface="Calibri" pitchFamily="34" charset="-122"/>
                <a:cs typeface="Calibri" pitchFamily="34" charset="-120"/>
              </a:rPr>
              <a:t>Argomento</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nome = valore: il nome reale del bucket</a:t>
            </a:r>
            <a:endParaRPr lang="en-US" sz="1800" dirty="0"/>
          </a:p>
        </p:txBody>
      </p:sp>
      <p:sp>
        <p:nvSpPr>
          <p:cNvPr id="13" name="Shape 10"/>
          <p:cNvSpPr/>
          <p:nvPr/>
        </p:nvSpPr>
        <p:spPr>
          <a:xfrm>
            <a:off x="6583680" y="3840480"/>
            <a:ext cx="548640" cy="548640"/>
          </a:xfrm>
          <a:prstGeom prst="ellipse">
            <a:avLst/>
          </a:prstGeom>
          <a:solidFill>
            <a:srgbClr val="F28C28"/>
          </a:solidFill>
          <a:ln w="12700">
            <a:solidFill>
              <a:srgbClr val="F28C28"/>
            </a:solidFill>
            <a:prstDash val="solid"/>
          </a:ln>
        </p:spPr>
      </p:sp>
      <p:sp>
        <p:nvSpPr>
          <p:cNvPr id="14" name="Text 11"/>
          <p:cNvSpPr txBox="1"/>
          <p:nvPr/>
        </p:nvSpPr>
        <p:spPr>
          <a:xfrm>
            <a:off x="6583680" y="3840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2"/>
          <p:cNvSpPr txBox="1"/>
          <p:nvPr/>
        </p:nvSpPr>
        <p:spPr>
          <a:xfrm>
            <a:off x="7315200" y="3749040"/>
            <a:ext cx="4297680" cy="914400"/>
          </a:xfrm>
          <a:prstGeom prst="rect">
            <a:avLst/>
          </a:prstGeom>
          <a:noFill/>
          <a:ln/>
        </p:spPr>
        <p:txBody>
          <a:bodyPr wrap="square" lIns="0" tIns="0" rIns="0" bIns="0" rtlCol="0" anchor="t"/>
          <a:lstStyle/>
          <a:p>
            <a:pPr indent="0" marL="0">
              <a:buNone/>
            </a:pPr>
            <a:r>
              <a:rPr lang="en-US" sz="1800" b="1" dirty="0">
                <a:solidFill>
                  <a:srgbClr val="22253A"/>
                </a:solidFill>
                <a:latin typeface="Calibri" pitchFamily="34" charset="0"/>
                <a:ea typeface="Calibri" pitchFamily="34" charset="-122"/>
                <a:cs typeface="Calibri" pitchFamily="34" charset="-120"/>
              </a:rPr>
              <a:t>Argomento con una mappa</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tags = { … } ha l'uguale</a:t>
            </a:r>
            <a:endParaRPr lang="en-US" sz="1800" dirty="0"/>
          </a:p>
        </p:txBody>
      </p:sp>
      <p:sp>
        <p:nvSpPr>
          <p:cNvPr id="16" name="Shape 13"/>
          <p:cNvSpPr/>
          <p:nvPr/>
        </p:nvSpPr>
        <p:spPr>
          <a:xfrm>
            <a:off x="6583680" y="4983480"/>
            <a:ext cx="548640" cy="548640"/>
          </a:xfrm>
          <a:prstGeom prst="ellipse">
            <a:avLst/>
          </a:prstGeom>
          <a:solidFill>
            <a:srgbClr val="F28C28"/>
          </a:solidFill>
          <a:ln w="12700">
            <a:solidFill>
              <a:srgbClr val="F28C28"/>
            </a:solidFill>
            <a:prstDash val="solid"/>
          </a:ln>
        </p:spPr>
      </p:sp>
      <p:sp>
        <p:nvSpPr>
          <p:cNvPr id="17" name="Text 14"/>
          <p:cNvSpPr txBox="1"/>
          <p:nvPr/>
        </p:nvSpPr>
        <p:spPr>
          <a:xfrm>
            <a:off x="6583680" y="4983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8" name="Text 15"/>
          <p:cNvSpPr txBox="1"/>
          <p:nvPr/>
        </p:nvSpPr>
        <p:spPr>
          <a:xfrm>
            <a:off x="7315200" y="4892040"/>
            <a:ext cx="4297680" cy="914400"/>
          </a:xfrm>
          <a:prstGeom prst="rect">
            <a:avLst/>
          </a:prstGeom>
          <a:noFill/>
          <a:ln/>
        </p:spPr>
        <p:txBody>
          <a:bodyPr wrap="square" lIns="0" tIns="0" rIns="0" bIns="0" rtlCol="0" anchor="t"/>
          <a:lstStyle/>
          <a:p>
            <a:pPr indent="0" marL="0">
              <a:buNone/>
            </a:pPr>
            <a:r>
              <a:rPr lang="en-US" sz="1800" b="1" dirty="0">
                <a:solidFill>
                  <a:srgbClr val="22253A"/>
                </a:solidFill>
                <a:latin typeface="Calibri" pitchFamily="34" charset="0"/>
                <a:ea typeface="Calibri" pitchFamily="34" charset="-122"/>
                <a:cs typeface="Calibri" pitchFamily="34" charset="-120"/>
              </a:rPr>
              <a:t>Blocco annidato</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lifecycle { … } NON ha l'uguale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Argomenti e attributi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5440680" cy="3017520"/>
          </a:xfrm>
          <a:prstGeom prst="roundRect">
            <a:avLst>
              <a:gd name="adj" fmla="val 3636"/>
            </a:avLst>
          </a:prstGeom>
          <a:solidFill>
            <a:srgbClr val="EEEAFB"/>
          </a:solidFill>
          <a:ln w="12700">
            <a:solidFill>
              <a:srgbClr val="EEEAFB"/>
            </a:solidFill>
            <a:prstDash val="solid"/>
          </a:ln>
        </p:spPr>
      </p:sp>
      <p:sp>
        <p:nvSpPr>
          <p:cNvPr id="6" name="Shape 3"/>
          <p:cNvSpPr/>
          <p:nvPr/>
        </p:nvSpPr>
        <p:spPr>
          <a:xfrm>
            <a:off x="777240" y="169164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828800"/>
            <a:ext cx="274320" cy="274320"/>
          </a:xfrm>
          <a:prstGeom prst="rect">
            <a:avLst/>
          </a:prstGeom>
        </p:spPr>
      </p:pic>
      <p:sp>
        <p:nvSpPr>
          <p:cNvPr id="8" name="Text 4"/>
          <p:cNvSpPr txBox="1"/>
          <p:nvPr/>
        </p:nvSpPr>
        <p:spPr>
          <a:xfrm>
            <a:off x="150876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Argomenti: li scrivi tu</a:t>
            </a:r>
            <a:endParaRPr lang="en-US" sz="1800" dirty="0"/>
          </a:p>
        </p:txBody>
      </p:sp>
      <p:sp>
        <p:nvSpPr>
          <p:cNvPr id="9" name="Text 5"/>
          <p:cNvSpPr txBox="1"/>
          <p:nvPr/>
        </p:nvSpPr>
        <p:spPr>
          <a:xfrm>
            <a:off x="777240" y="2377440"/>
            <a:ext cx="4983480" cy="192024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Nella documentazione: Argument Reference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Esempi: bucket, tags, force_destroy</a:t>
            </a:r>
            <a:endParaRPr lang="en-US" sz="1700" dirty="0"/>
          </a:p>
        </p:txBody>
      </p:sp>
      <p:sp>
        <p:nvSpPr>
          <p:cNvPr id="10" name="Shape 6"/>
          <p:cNvSpPr/>
          <p:nvPr/>
        </p:nvSpPr>
        <p:spPr>
          <a:xfrm>
            <a:off x="6172200" y="1463040"/>
            <a:ext cx="5440680" cy="3017520"/>
          </a:xfrm>
          <a:prstGeom prst="roundRect">
            <a:avLst>
              <a:gd name="adj" fmla="val 3636"/>
            </a:avLst>
          </a:prstGeom>
          <a:solidFill>
            <a:srgbClr val="FDF0E3"/>
          </a:solidFill>
          <a:ln w="12700">
            <a:solidFill>
              <a:srgbClr val="FDF0E3"/>
            </a:solidFill>
            <a:prstDash val="solid"/>
          </a:ln>
        </p:spPr>
      </p:sp>
      <p:sp>
        <p:nvSpPr>
          <p:cNvPr id="11" name="Shape 7"/>
          <p:cNvSpPr/>
          <p:nvPr/>
        </p:nvSpPr>
        <p:spPr>
          <a:xfrm>
            <a:off x="6400800" y="169164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6537960" y="1828800"/>
            <a:ext cx="274320" cy="274320"/>
          </a:xfrm>
          <a:prstGeom prst="rect">
            <a:avLst/>
          </a:prstGeom>
        </p:spPr>
      </p:pic>
      <p:sp>
        <p:nvSpPr>
          <p:cNvPr id="13" name="Text 8"/>
          <p:cNvSpPr txBox="1"/>
          <p:nvPr/>
        </p:nvSpPr>
        <p:spPr>
          <a:xfrm>
            <a:off x="713232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Attributi: li calcola AWS</a:t>
            </a:r>
            <a:endParaRPr lang="en-US" sz="1800" dirty="0"/>
          </a:p>
        </p:txBody>
      </p:sp>
      <p:sp>
        <p:nvSpPr>
          <p:cNvPr id="14" name="Text 9"/>
          <p:cNvSpPr txBox="1"/>
          <p:nvPr/>
        </p:nvSpPr>
        <p:spPr>
          <a:xfrm>
            <a:off x="6400800" y="2377440"/>
            <a:ext cx="4983480" cy="192024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Nella documentazione: Attribute Reference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Esempi: id, arn</a:t>
            </a:r>
            <a:endParaRPr lang="en-US" sz="1700" dirty="0"/>
          </a:p>
        </p:txBody>
      </p:sp>
      <p:sp>
        <p:nvSpPr>
          <p:cNvPr id="15" name="Shape 10"/>
          <p:cNvSpPr/>
          <p:nvPr/>
        </p:nvSpPr>
        <p:spPr>
          <a:xfrm>
            <a:off x="2926080" y="4846320"/>
            <a:ext cx="6309360" cy="731520"/>
          </a:xfrm>
          <a:prstGeom prst="roundRect">
            <a:avLst>
              <a:gd name="adj" fmla="val 10000"/>
            </a:avLst>
          </a:prstGeom>
          <a:solidFill>
            <a:srgbClr val="1E1E2E"/>
          </a:solidFill>
          <a:ln w="12700">
            <a:solidFill>
              <a:srgbClr val="1E1E2E"/>
            </a:solidFill>
            <a:prstDash val="solid"/>
          </a:ln>
        </p:spPr>
      </p:sp>
      <p:sp>
        <p:nvSpPr>
          <p:cNvPr id="16" name="Text 11"/>
          <p:cNvSpPr txBox="1"/>
          <p:nvPr/>
        </p:nvSpPr>
        <p:spPr>
          <a:xfrm>
            <a:off x="3108960" y="4983480"/>
            <a:ext cx="5943600" cy="457200"/>
          </a:xfrm>
          <a:prstGeom prst="rect">
            <a:avLst/>
          </a:prstGeom>
          <a:noFill/>
          <a:ln/>
        </p:spPr>
        <p:txBody>
          <a:bodyPr wrap="square" lIns="0" tIns="0" rIns="0" bIns="0" rtlCol="0" anchor="t"/>
          <a:lstStyle/>
          <a:p>
            <a:pPr indent="0" marL="0">
              <a:buNone/>
            </a:pPr>
            <a:r>
              <a:rPr lang="en-US" sz="2400" dirty="0">
                <a:solidFill>
                  <a:srgbClr val="E6E6F0"/>
                </a:solidFill>
                <a:latin typeface="Courier New" pitchFamily="34" charset="0"/>
                <a:ea typeface="Courier New" pitchFamily="34" charset="-122"/>
                <a:cs typeface="Courier New" pitchFamily="34" charset="-120"/>
              </a:rPr>
              <a:t>aws_s3_bucket.demo.arn</a:t>
            </a:r>
            <a:endParaRPr lang="en-US" sz="2400" dirty="0"/>
          </a:p>
        </p:txBody>
      </p:sp>
      <p:sp>
        <p:nvSpPr>
          <p:cNvPr id="17" name="Text 12"/>
          <p:cNvSpPr txBox="1"/>
          <p:nvPr/>
        </p:nvSpPr>
        <p:spPr>
          <a:xfrm>
            <a:off x="2926080" y="5623560"/>
            <a:ext cx="6309360" cy="365760"/>
          </a:xfrm>
          <a:prstGeom prst="rect">
            <a:avLst/>
          </a:prstGeom>
          <a:noFill/>
          <a:ln/>
        </p:spPr>
        <p:txBody>
          <a:bodyPr wrap="square" lIns="0" tIns="0" rIns="0" bIns="0" rtlCol="0" anchor="ctr"/>
          <a:lstStyle/>
          <a:p>
            <a:pPr algn="ctr" indent="0" marL="0">
              <a:buNone/>
            </a:pPr>
            <a:r>
              <a:rPr lang="en-US" sz="1500" i="1" dirty="0">
                <a:solidFill>
                  <a:srgbClr val="5F6478"/>
                </a:solidFill>
                <a:latin typeface="Calibri" pitchFamily="34" charset="0"/>
                <a:ea typeface="Calibri" pitchFamily="34" charset="-122"/>
                <a:cs typeface="Calibri" pitchFamily="34" charset="-120"/>
              </a:rPr>
              <a:t>tipo . nome . attributo</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 tipi di valore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011680"/>
                <a:gridCol w="4937760"/>
                <a:gridCol w="4142232"/>
              </a:tblGrid>
              <a:tr h="566928">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Tipo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Come si scrive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Come si legge un elemento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66928">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string</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"testo"</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66928">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number</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3</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66928">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bool</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true / false</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66928">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list</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["a", "b", "c"]</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lista[0]  →  "a"</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66928">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map</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 nome = "web", porta = 443 }</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mappa.nome</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66928">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null</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null</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come se l'argomento non ci fosse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Perché servono le espressioni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17320"/>
            <a:ext cx="5440680" cy="3017520"/>
          </a:xfrm>
          <a:prstGeom prst="roundRect">
            <a:avLst>
              <a:gd name="adj" fmla="val 3636"/>
            </a:avLst>
          </a:prstGeom>
          <a:solidFill>
            <a:srgbClr val="FBE9E9"/>
          </a:solidFill>
          <a:ln w="12700">
            <a:solidFill>
              <a:srgbClr val="FBE9E9"/>
            </a:solidFill>
            <a:prstDash val="solid"/>
          </a:ln>
        </p:spPr>
      </p:sp>
      <p:sp>
        <p:nvSpPr>
          <p:cNvPr id="6" name="Shape 3"/>
          <p:cNvSpPr/>
          <p:nvPr/>
        </p:nvSpPr>
        <p:spPr>
          <a:xfrm>
            <a:off x="777240" y="1645920"/>
            <a:ext cx="548640" cy="548640"/>
          </a:xfrm>
          <a:prstGeom prst="ellipse">
            <a:avLst/>
          </a:prstGeom>
          <a:solidFill>
            <a:srgbClr val="D64545"/>
          </a:solidFill>
          <a:ln w="12700">
            <a:solidFill>
              <a:srgbClr val="D64545"/>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Senza espressioni</a:t>
            </a:r>
            <a:endParaRPr lang="en-US" sz="1800" dirty="0"/>
          </a:p>
        </p:txBody>
      </p:sp>
      <p:sp>
        <p:nvSpPr>
          <p:cNvPr id="9" name="Text 5"/>
          <p:cNvSpPr txBox="1"/>
          <p:nvPr/>
        </p:nvSpPr>
        <p:spPr>
          <a:xfrm>
            <a:off x="777240" y="2331720"/>
            <a:ext cx="4983480" cy="192024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bucket = "corso-aws-dev-logs"</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Per prod: copi il file e cambi tutto a mano</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Prima o poi ti dimentichi un pezzo</a:t>
            </a:r>
            <a:endParaRPr lang="en-US" sz="1700" dirty="0"/>
          </a:p>
        </p:txBody>
      </p:sp>
      <p:sp>
        <p:nvSpPr>
          <p:cNvPr id="10" name="Shape 6"/>
          <p:cNvSpPr/>
          <p:nvPr/>
        </p:nvSpPr>
        <p:spPr>
          <a:xfrm>
            <a:off x="6172200" y="1417320"/>
            <a:ext cx="5440680" cy="3017520"/>
          </a:xfrm>
          <a:prstGeom prst="roundRect">
            <a:avLst>
              <a:gd name="adj" fmla="val 3636"/>
            </a:avLst>
          </a:prstGeom>
          <a:solidFill>
            <a:srgbClr val="E5F4EC"/>
          </a:solidFill>
          <a:ln w="12700">
            <a:solidFill>
              <a:srgbClr val="E5F4EC"/>
            </a:solidFill>
            <a:prstDash val="solid"/>
          </a:ln>
        </p:spPr>
      </p:sp>
      <p:sp>
        <p:nvSpPr>
          <p:cNvPr id="11" name="Shape 7"/>
          <p:cNvSpPr/>
          <p:nvPr/>
        </p:nvSpPr>
        <p:spPr>
          <a:xfrm>
            <a:off x="6400800" y="1645920"/>
            <a:ext cx="548640" cy="548640"/>
          </a:xfrm>
          <a:prstGeom prst="ellipse">
            <a:avLst/>
          </a:prstGeom>
          <a:solidFill>
            <a:srgbClr val="2E9E6B"/>
          </a:solidFill>
          <a:ln w="12700">
            <a:solidFill>
              <a:srgbClr val="2E9E6B"/>
            </a:solidFill>
            <a:prstDash val="solid"/>
          </a:ln>
        </p:spPr>
      </p:sp>
      <p:pic>
        <p:nvPicPr>
          <p:cNvPr id="12" name="Image 1" descr="preencoded.png">    </p:cNvPr>
          <p:cNvPicPr>
            <a:picLocks noChangeAspect="1"/>
          </p:cNvPicPr>
          <p:nvPr/>
        </p:nvPicPr>
        <p:blipFill>
          <a:blip r:embed="rId2"/>
          <a:stretch>
            <a:fillRect/>
          </a:stretch>
        </p:blipFill>
        <p:spPr>
          <a:xfrm>
            <a:off x="6537960" y="1783080"/>
            <a:ext cx="274320" cy="274320"/>
          </a:xfrm>
          <a:prstGeom prst="rect">
            <a:avLst/>
          </a:prstGeom>
        </p:spPr>
      </p:pic>
      <p:sp>
        <p:nvSpPr>
          <p:cNvPr id="13" name="Text 8"/>
          <p:cNvSpPr txBox="1"/>
          <p:nvPr/>
        </p:nvSpPr>
        <p:spPr>
          <a:xfrm>
            <a:off x="713232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Con le espressioni</a:t>
            </a:r>
            <a:endParaRPr lang="en-US" sz="1800" dirty="0"/>
          </a:p>
        </p:txBody>
      </p:sp>
      <p:sp>
        <p:nvSpPr>
          <p:cNvPr id="14" name="Text 9"/>
          <p:cNvSpPr txBox="1"/>
          <p:nvPr/>
        </p:nvSpPr>
        <p:spPr>
          <a:xfrm>
            <a:off x="6400800" y="2331720"/>
            <a:ext cx="4983480" cy="192024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Scrivi il codice una volta sola</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Nel tfvars cambi solo environment = "prod"</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Nomi e impostazioni si calcolano da soli</a:t>
            </a:r>
            <a:endParaRPr lang="en-US" sz="1700" dirty="0"/>
          </a:p>
        </p:txBody>
      </p:sp>
      <p:sp>
        <p:nvSpPr>
          <p:cNvPr id="15" name="Shape 10"/>
          <p:cNvSpPr/>
          <p:nvPr/>
        </p:nvSpPr>
        <p:spPr>
          <a:xfrm>
            <a:off x="548640" y="4754880"/>
            <a:ext cx="11094415" cy="1097280"/>
          </a:xfrm>
          <a:prstGeom prst="roundRect">
            <a:avLst>
              <a:gd name="adj" fmla="val 8333"/>
            </a:avLst>
          </a:prstGeom>
          <a:solidFill>
            <a:srgbClr val="5B3FD0"/>
          </a:solidFill>
          <a:ln w="12700">
            <a:solidFill>
              <a:srgbClr val="5B3FD0"/>
            </a:solidFill>
            <a:prstDash val="solid"/>
          </a:ln>
        </p:spPr>
      </p:sp>
      <p:sp>
        <p:nvSpPr>
          <p:cNvPr id="16" name="Text 11"/>
          <p:cNvSpPr txBox="1"/>
          <p:nvPr/>
        </p:nvSpPr>
        <p:spPr>
          <a:xfrm>
            <a:off x="822960" y="4754880"/>
            <a:ext cx="10545775" cy="10972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Un'espressione è un pezzo di codice che Terraform calcola, invece di un valore scritto fisso.</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Un esempio vero: il bucket dei log</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25880"/>
            <a:ext cx="11094415" cy="548640"/>
          </a:xfrm>
          <a:prstGeom prst="roundRect">
            <a:avLst>
              <a:gd name="adj" fmla="val 16667"/>
            </a:avLst>
          </a:prstGeom>
          <a:solidFill>
            <a:srgbClr val="FDF0E3"/>
          </a:solidFill>
          <a:ln w="12700">
            <a:solidFill>
              <a:srgbClr val="FDF0E3"/>
            </a:solidFill>
            <a:prstDash val="solid"/>
          </a:ln>
        </p:spPr>
      </p:sp>
      <p:sp>
        <p:nvSpPr>
          <p:cNvPr id="6" name="Text 3"/>
          <p:cNvSpPr txBox="1"/>
          <p:nvPr/>
        </p:nvSpPr>
        <p:spPr>
          <a:xfrm>
            <a:off x="548640" y="1325880"/>
            <a:ext cx="11094415" cy="548640"/>
          </a:xfrm>
          <a:prstGeom prst="rect">
            <a:avLst/>
          </a:prstGeom>
          <a:noFill/>
          <a:ln/>
        </p:spPr>
        <p:txBody>
          <a:bodyPr wrap="square" lIns="177800" tIns="177800" rIns="177800" bIns="17780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Nel terraform.tfvars:   </a:t>
            </a:r>
            <a:pPr algn="l" indent="0" marL="0">
              <a:buNone/>
            </a:pPr>
            <a:r>
              <a:rPr lang="en-US" sz="1700" dirty="0">
                <a:solidFill>
                  <a:srgbClr val="22253A"/>
                </a:solidFill>
                <a:latin typeface="Courier New" pitchFamily="34" charset="0"/>
                <a:ea typeface="Courier New" pitchFamily="34" charset="-122"/>
                <a:cs typeface="Courier New" pitchFamily="34" charset="-120"/>
              </a:rPr>
              <a:t>project = "corso-aws"     environment = "dev"</a:t>
            </a:r>
            <a:endParaRPr lang="en-US" sz="1700" dirty="0"/>
          </a:p>
        </p:txBody>
      </p:sp>
      <p:sp>
        <p:nvSpPr>
          <p:cNvPr id="7" name="Shape 4"/>
          <p:cNvSpPr/>
          <p:nvPr/>
        </p:nvSpPr>
        <p:spPr>
          <a:xfrm>
            <a:off x="548640" y="2057400"/>
            <a:ext cx="11094415" cy="4069080"/>
          </a:xfrm>
          <a:prstGeom prst="roundRect">
            <a:avLst>
              <a:gd name="adj" fmla="val 1798"/>
            </a:avLst>
          </a:prstGeom>
          <a:solidFill>
            <a:srgbClr val="1E1E2E"/>
          </a:solidFill>
          <a:ln w="12700">
            <a:solidFill>
              <a:srgbClr val="1E1E2E"/>
            </a:solidFill>
            <a:prstDash val="solid"/>
          </a:ln>
        </p:spPr>
      </p:sp>
      <p:sp>
        <p:nvSpPr>
          <p:cNvPr id="8" name="Text 5"/>
          <p:cNvSpPr txBox="1"/>
          <p:nvPr/>
        </p:nvSpPr>
        <p:spPr>
          <a:xfrm>
            <a:off x="731520" y="2194560"/>
            <a:ext cx="10728655" cy="37947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locals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prefix = "${var.project}-${var.environment}"           </a:t>
            </a:r>
            <a:pPr indent="0" marL="0">
              <a:buNone/>
            </a:pPr>
            <a:r>
              <a:rPr lang="en-US" sz="1600" dirty="0">
                <a:solidFill>
                  <a:srgbClr val="8FD694"/>
                </a:solidFill>
                <a:latin typeface="Courier New" pitchFamily="34" charset="0"/>
                <a:ea typeface="Courier New" pitchFamily="34" charset="-122"/>
                <a:cs typeface="Courier New" pitchFamily="34" charset="-120"/>
              </a:rPr>
              <a:t># 1 interpolazione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resource "aws_s3_bucket" "logs"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bucket = lower("${local.prefix}-logs")                 </a:t>
            </a:r>
            <a:pPr indent="0" marL="0">
              <a:buNone/>
            </a:pPr>
            <a:r>
              <a:rPr lang="en-US" sz="1600" dirty="0">
                <a:solidFill>
                  <a:srgbClr val="8FD694"/>
                </a:solidFill>
                <a:latin typeface="Courier New" pitchFamily="34" charset="0"/>
                <a:ea typeface="Courier New" pitchFamily="34" charset="-122"/>
                <a:cs typeface="Courier New" pitchFamily="34" charset="-120"/>
              </a:rPr>
              <a:t># 2 riferimento + funzione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resource "aws_s3_bucket_versioning" "logs"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bucket = aws_s3_bucket.logs.id                         </a:t>
            </a:r>
            <a:pPr indent="0" marL="0">
              <a:buNone/>
            </a:pPr>
            <a:r>
              <a:rPr lang="en-US" sz="1600" dirty="0">
                <a:solidFill>
                  <a:srgbClr val="8FD694"/>
                </a:solidFill>
                <a:latin typeface="Courier New" pitchFamily="34" charset="0"/>
                <a:ea typeface="Courier New" pitchFamily="34" charset="-122"/>
                <a:cs typeface="Courier New" pitchFamily="34" charset="-120"/>
              </a:rPr>
              <a:t># 3 riferimento a una risorsa</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versioning_configuration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status = var.environment == "prod" ? "Enabled" : "Suspended"   </a:t>
            </a:r>
            <a:pPr indent="0" marL="0">
              <a:buNone/>
            </a:pPr>
            <a:r>
              <a:rPr lang="en-US" sz="1600" dirty="0">
                <a:solidFill>
                  <a:srgbClr val="8FD694"/>
                </a:solidFill>
                <a:latin typeface="Courier New" pitchFamily="34" charset="0"/>
                <a:ea typeface="Courier New" pitchFamily="34" charset="-122"/>
                <a:cs typeface="Courier New" pitchFamily="34" charset="-120"/>
              </a:rPr>
              <a:t># 4 condizionale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Riga per riga: cosa calcola Terraform</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645920"/>
            <a:ext cx="548640" cy="548640"/>
          </a:xfrm>
          <a:prstGeom prst="ellipse">
            <a:avLst/>
          </a:prstGeom>
          <a:solidFill>
            <a:srgbClr val="F28C28"/>
          </a:solidFill>
          <a:ln w="12700">
            <a:solidFill>
              <a:srgbClr val="F28C28"/>
            </a:solidFill>
            <a:prstDash val="solid"/>
          </a:ln>
        </p:spPr>
      </p:sp>
      <p:sp>
        <p:nvSpPr>
          <p:cNvPr id="6" name="Text 3"/>
          <p:cNvSpPr txBox="1"/>
          <p:nvPr/>
        </p:nvSpPr>
        <p:spPr>
          <a:xfrm>
            <a:off x="548640" y="1645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Shape 4"/>
          <p:cNvSpPr/>
          <p:nvPr/>
        </p:nvSpPr>
        <p:spPr>
          <a:xfrm>
            <a:off x="1280160" y="1371600"/>
            <a:ext cx="5120640" cy="1051560"/>
          </a:xfrm>
          <a:prstGeom prst="roundRect">
            <a:avLst>
              <a:gd name="adj" fmla="val 6957"/>
            </a:avLst>
          </a:prstGeom>
          <a:solidFill>
            <a:srgbClr val="1E1E2E"/>
          </a:solidFill>
          <a:ln w="12700">
            <a:solidFill>
              <a:srgbClr val="1E1E2E"/>
            </a:solidFill>
            <a:prstDash val="solid"/>
          </a:ln>
        </p:spPr>
      </p:sp>
      <p:sp>
        <p:nvSpPr>
          <p:cNvPr id="8" name="Text 5"/>
          <p:cNvSpPr txBox="1"/>
          <p:nvPr/>
        </p:nvSpPr>
        <p:spPr>
          <a:xfrm>
            <a:off x="1463040" y="1508760"/>
            <a:ext cx="4754880" cy="77724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"${var.project}-${var.environment}"</a:t>
            </a:r>
            <a:endParaRPr lang="en-US" sz="1600" dirty="0"/>
          </a:p>
        </p:txBody>
      </p:sp>
      <p:sp>
        <p:nvSpPr>
          <p:cNvPr id="9" name="Text 6"/>
          <p:cNvSpPr txBox="1"/>
          <p:nvPr/>
        </p:nvSpPr>
        <p:spPr>
          <a:xfrm>
            <a:off x="6537960" y="1371600"/>
            <a:ext cx="2606040" cy="1051560"/>
          </a:xfrm>
          <a:prstGeom prst="rect">
            <a:avLst/>
          </a:prstGeom>
          <a:noFill/>
          <a:ln/>
        </p:spPr>
        <p:txBody>
          <a:bodyPr wrap="square" lIns="0" tIns="0" rIns="0" bIns="0" rtlCol="0" anchor="ctr"/>
          <a:lstStyle/>
          <a:p>
            <a:pPr algn="l" indent="0" marL="0">
              <a:buNone/>
            </a:pPr>
            <a:r>
              <a:rPr lang="en-US" sz="1500" dirty="0">
                <a:solidFill>
                  <a:srgbClr val="22253A"/>
                </a:solidFill>
                <a:latin typeface="Calibri" pitchFamily="34" charset="0"/>
                <a:ea typeface="Calibri" pitchFamily="34" charset="-122"/>
                <a:cs typeface="Calibri" pitchFamily="34" charset="-120"/>
              </a:rPr>
              <a:t>Interpolazione: unisce i valori in un testo</a:t>
            </a:r>
            <a:endParaRPr lang="en-US" sz="1500" dirty="0"/>
          </a:p>
        </p:txBody>
      </p:sp>
      <p:sp>
        <p:nvSpPr>
          <p:cNvPr id="10" name="Shape 7"/>
          <p:cNvSpPr/>
          <p:nvPr/>
        </p:nvSpPr>
        <p:spPr>
          <a:xfrm>
            <a:off x="9235440" y="1508760"/>
            <a:ext cx="2404872" cy="777240"/>
          </a:xfrm>
          <a:prstGeom prst="roundRect">
            <a:avLst>
              <a:gd name="adj" fmla="val 11765"/>
            </a:avLst>
          </a:prstGeom>
          <a:solidFill>
            <a:srgbClr val="E5F4EC"/>
          </a:solidFill>
          <a:ln w="12700">
            <a:solidFill>
              <a:srgbClr val="E5F4EC"/>
            </a:solidFill>
            <a:prstDash val="solid"/>
          </a:ln>
        </p:spPr>
      </p:sp>
      <p:sp>
        <p:nvSpPr>
          <p:cNvPr id="11" name="Text 8"/>
          <p:cNvSpPr txBox="1"/>
          <p:nvPr/>
        </p:nvSpPr>
        <p:spPr>
          <a:xfrm>
            <a:off x="9235440" y="1508760"/>
            <a:ext cx="2404872" cy="777240"/>
          </a:xfrm>
          <a:prstGeom prst="rect">
            <a:avLst/>
          </a:prstGeom>
          <a:noFill/>
          <a:ln/>
        </p:spPr>
        <p:txBody>
          <a:bodyPr wrap="square" lIns="76200" tIns="76200" rIns="76200" bIns="76200" rtlCol="0" anchor="ctr"/>
          <a:lstStyle/>
          <a:p>
            <a:pPr algn="ctr" indent="0" marL="0">
              <a:buNone/>
            </a:pPr>
            <a:r>
              <a:rPr lang="en-US" sz="1300" b="1" dirty="0">
                <a:solidFill>
                  <a:srgbClr val="22253A"/>
                </a:solidFill>
                <a:latin typeface="Courier New" pitchFamily="34" charset="0"/>
                <a:ea typeface="Courier New" pitchFamily="34" charset="-122"/>
                <a:cs typeface="Courier New" pitchFamily="34" charset="-120"/>
              </a:rPr>
              <a:t>"corso-aws-dev"</a:t>
            </a:r>
            <a:endParaRPr lang="en-US" sz="1300" dirty="0"/>
          </a:p>
        </p:txBody>
      </p:sp>
      <p:sp>
        <p:nvSpPr>
          <p:cNvPr id="12" name="Shape 9"/>
          <p:cNvSpPr/>
          <p:nvPr/>
        </p:nvSpPr>
        <p:spPr>
          <a:xfrm>
            <a:off x="548640" y="2834640"/>
            <a:ext cx="548640" cy="548640"/>
          </a:xfrm>
          <a:prstGeom prst="ellipse">
            <a:avLst/>
          </a:prstGeom>
          <a:solidFill>
            <a:srgbClr val="F28C28"/>
          </a:solidFill>
          <a:ln w="12700">
            <a:solidFill>
              <a:srgbClr val="F28C28"/>
            </a:solidFill>
            <a:prstDash val="solid"/>
          </a:ln>
        </p:spPr>
      </p:sp>
      <p:sp>
        <p:nvSpPr>
          <p:cNvPr id="13" name="Text 10"/>
          <p:cNvSpPr txBox="1"/>
          <p:nvPr/>
        </p:nvSpPr>
        <p:spPr>
          <a:xfrm>
            <a:off x="548640" y="28346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Shape 11"/>
          <p:cNvSpPr/>
          <p:nvPr/>
        </p:nvSpPr>
        <p:spPr>
          <a:xfrm>
            <a:off x="1280160" y="2560320"/>
            <a:ext cx="5120640" cy="1051560"/>
          </a:xfrm>
          <a:prstGeom prst="roundRect">
            <a:avLst>
              <a:gd name="adj" fmla="val 6957"/>
            </a:avLst>
          </a:prstGeom>
          <a:solidFill>
            <a:srgbClr val="1E1E2E"/>
          </a:solidFill>
          <a:ln w="12700">
            <a:solidFill>
              <a:srgbClr val="1E1E2E"/>
            </a:solidFill>
            <a:prstDash val="solid"/>
          </a:ln>
        </p:spPr>
      </p:sp>
      <p:sp>
        <p:nvSpPr>
          <p:cNvPr id="15" name="Text 12"/>
          <p:cNvSpPr txBox="1"/>
          <p:nvPr/>
        </p:nvSpPr>
        <p:spPr>
          <a:xfrm>
            <a:off x="1463040" y="2697480"/>
            <a:ext cx="4754880" cy="77724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lower("${local.prefix}-logs")</a:t>
            </a:r>
            <a:endParaRPr lang="en-US" sz="1600" dirty="0"/>
          </a:p>
        </p:txBody>
      </p:sp>
      <p:sp>
        <p:nvSpPr>
          <p:cNvPr id="16" name="Text 13"/>
          <p:cNvSpPr txBox="1"/>
          <p:nvPr/>
        </p:nvSpPr>
        <p:spPr>
          <a:xfrm>
            <a:off x="6537960" y="2560320"/>
            <a:ext cx="2606040" cy="1051560"/>
          </a:xfrm>
          <a:prstGeom prst="rect">
            <a:avLst/>
          </a:prstGeom>
          <a:noFill/>
          <a:ln/>
        </p:spPr>
        <p:txBody>
          <a:bodyPr wrap="square" lIns="0" tIns="0" rIns="0" bIns="0" rtlCol="0" anchor="ctr"/>
          <a:lstStyle/>
          <a:p>
            <a:pPr algn="l" indent="0" marL="0">
              <a:buNone/>
            </a:pPr>
            <a:r>
              <a:rPr lang="en-US" sz="1500" dirty="0">
                <a:solidFill>
                  <a:srgbClr val="22253A"/>
                </a:solidFill>
                <a:latin typeface="Calibri" pitchFamily="34" charset="0"/>
                <a:ea typeface="Calibri" pitchFamily="34" charset="-122"/>
                <a:cs typeface="Calibri" pitchFamily="34" charset="-120"/>
              </a:rPr>
              <a:t>Riferimento a local.prefix + funzione lower (S3 vuole minuscole)</a:t>
            </a:r>
            <a:endParaRPr lang="en-US" sz="1500" dirty="0"/>
          </a:p>
        </p:txBody>
      </p:sp>
      <p:sp>
        <p:nvSpPr>
          <p:cNvPr id="17" name="Shape 14"/>
          <p:cNvSpPr/>
          <p:nvPr/>
        </p:nvSpPr>
        <p:spPr>
          <a:xfrm>
            <a:off x="9235440" y="2697480"/>
            <a:ext cx="2404872" cy="777240"/>
          </a:xfrm>
          <a:prstGeom prst="roundRect">
            <a:avLst>
              <a:gd name="adj" fmla="val 11765"/>
            </a:avLst>
          </a:prstGeom>
          <a:solidFill>
            <a:srgbClr val="E5F4EC"/>
          </a:solidFill>
          <a:ln w="12700">
            <a:solidFill>
              <a:srgbClr val="E5F4EC"/>
            </a:solidFill>
            <a:prstDash val="solid"/>
          </a:ln>
        </p:spPr>
      </p:sp>
      <p:sp>
        <p:nvSpPr>
          <p:cNvPr id="18" name="Text 15"/>
          <p:cNvSpPr txBox="1"/>
          <p:nvPr/>
        </p:nvSpPr>
        <p:spPr>
          <a:xfrm>
            <a:off x="9235440" y="2697480"/>
            <a:ext cx="2404872" cy="777240"/>
          </a:xfrm>
          <a:prstGeom prst="rect">
            <a:avLst/>
          </a:prstGeom>
          <a:noFill/>
          <a:ln/>
        </p:spPr>
        <p:txBody>
          <a:bodyPr wrap="square" lIns="76200" tIns="76200" rIns="76200" bIns="76200" rtlCol="0" anchor="ctr"/>
          <a:lstStyle/>
          <a:p>
            <a:pPr algn="ctr" indent="0" marL="0">
              <a:buNone/>
            </a:pPr>
            <a:r>
              <a:rPr lang="en-US" sz="1300" b="1" dirty="0">
                <a:solidFill>
                  <a:srgbClr val="22253A"/>
                </a:solidFill>
                <a:latin typeface="Courier New" pitchFamily="34" charset="0"/>
                <a:ea typeface="Courier New" pitchFamily="34" charset="-122"/>
                <a:cs typeface="Courier New" pitchFamily="34" charset="-120"/>
              </a:rPr>
              <a:t>"corso-aws-dev-logs"</a:t>
            </a:r>
            <a:endParaRPr lang="en-US" sz="1300" dirty="0"/>
          </a:p>
        </p:txBody>
      </p:sp>
      <p:sp>
        <p:nvSpPr>
          <p:cNvPr id="19" name="Shape 16"/>
          <p:cNvSpPr/>
          <p:nvPr/>
        </p:nvSpPr>
        <p:spPr>
          <a:xfrm>
            <a:off x="548640" y="4023360"/>
            <a:ext cx="548640" cy="548640"/>
          </a:xfrm>
          <a:prstGeom prst="ellipse">
            <a:avLst/>
          </a:prstGeom>
          <a:solidFill>
            <a:srgbClr val="F28C28"/>
          </a:solidFill>
          <a:ln w="12700">
            <a:solidFill>
              <a:srgbClr val="F28C28"/>
            </a:solidFill>
            <a:prstDash val="solid"/>
          </a:ln>
        </p:spPr>
      </p:sp>
      <p:sp>
        <p:nvSpPr>
          <p:cNvPr id="20" name="Text 17"/>
          <p:cNvSpPr txBox="1"/>
          <p:nvPr/>
        </p:nvSpPr>
        <p:spPr>
          <a:xfrm>
            <a:off x="548640" y="40233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1" name="Shape 18"/>
          <p:cNvSpPr/>
          <p:nvPr/>
        </p:nvSpPr>
        <p:spPr>
          <a:xfrm>
            <a:off x="1280160" y="3749040"/>
            <a:ext cx="5120640" cy="1051560"/>
          </a:xfrm>
          <a:prstGeom prst="roundRect">
            <a:avLst>
              <a:gd name="adj" fmla="val 6957"/>
            </a:avLst>
          </a:prstGeom>
          <a:solidFill>
            <a:srgbClr val="1E1E2E"/>
          </a:solidFill>
          <a:ln w="12700">
            <a:solidFill>
              <a:srgbClr val="1E1E2E"/>
            </a:solidFill>
            <a:prstDash val="solid"/>
          </a:ln>
        </p:spPr>
      </p:sp>
      <p:sp>
        <p:nvSpPr>
          <p:cNvPr id="22" name="Text 19"/>
          <p:cNvSpPr txBox="1"/>
          <p:nvPr/>
        </p:nvSpPr>
        <p:spPr>
          <a:xfrm>
            <a:off x="1463040" y="3886200"/>
            <a:ext cx="4754880" cy="77724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aws_s3_bucket.logs.id</a:t>
            </a:r>
            <a:endParaRPr lang="en-US" sz="1600" dirty="0"/>
          </a:p>
        </p:txBody>
      </p:sp>
      <p:sp>
        <p:nvSpPr>
          <p:cNvPr id="23" name="Text 20"/>
          <p:cNvSpPr txBox="1"/>
          <p:nvPr/>
        </p:nvSpPr>
        <p:spPr>
          <a:xfrm>
            <a:off x="6537960" y="3749040"/>
            <a:ext cx="2606040" cy="1051560"/>
          </a:xfrm>
          <a:prstGeom prst="rect">
            <a:avLst/>
          </a:prstGeom>
          <a:noFill/>
          <a:ln/>
        </p:spPr>
        <p:txBody>
          <a:bodyPr wrap="square" lIns="0" tIns="0" rIns="0" bIns="0" rtlCol="0" anchor="ctr"/>
          <a:lstStyle/>
          <a:p>
            <a:pPr algn="l" indent="0" marL="0">
              <a:buNone/>
            </a:pPr>
            <a:r>
              <a:rPr lang="en-US" sz="1500" dirty="0">
                <a:solidFill>
                  <a:srgbClr val="22253A"/>
                </a:solidFill>
                <a:latin typeface="Calibri" pitchFamily="34" charset="0"/>
                <a:ea typeface="Calibri" pitchFamily="34" charset="-122"/>
                <a:cs typeface="Calibri" pitchFamily="34" charset="-120"/>
              </a:rPr>
              <a:t>Riferimento al bucket creato: prima il bucket, poi il versioning</a:t>
            </a:r>
            <a:endParaRPr lang="en-US" sz="1500" dirty="0"/>
          </a:p>
        </p:txBody>
      </p:sp>
      <p:sp>
        <p:nvSpPr>
          <p:cNvPr id="24" name="Shape 21"/>
          <p:cNvSpPr/>
          <p:nvPr/>
        </p:nvSpPr>
        <p:spPr>
          <a:xfrm>
            <a:off x="9235440" y="3886200"/>
            <a:ext cx="2404872" cy="777240"/>
          </a:xfrm>
          <a:prstGeom prst="roundRect">
            <a:avLst>
              <a:gd name="adj" fmla="val 11765"/>
            </a:avLst>
          </a:prstGeom>
          <a:solidFill>
            <a:srgbClr val="E5F4EC"/>
          </a:solidFill>
          <a:ln w="12700">
            <a:solidFill>
              <a:srgbClr val="E5F4EC"/>
            </a:solidFill>
            <a:prstDash val="solid"/>
          </a:ln>
        </p:spPr>
      </p:sp>
      <p:sp>
        <p:nvSpPr>
          <p:cNvPr id="25" name="Text 22"/>
          <p:cNvSpPr txBox="1"/>
          <p:nvPr/>
        </p:nvSpPr>
        <p:spPr>
          <a:xfrm>
            <a:off x="9235440" y="3886200"/>
            <a:ext cx="2404872" cy="777240"/>
          </a:xfrm>
          <a:prstGeom prst="rect">
            <a:avLst/>
          </a:prstGeom>
          <a:noFill/>
          <a:ln/>
        </p:spPr>
        <p:txBody>
          <a:bodyPr wrap="square" lIns="76200" tIns="76200" rIns="76200" bIns="76200" rtlCol="0" anchor="ctr"/>
          <a:lstStyle/>
          <a:p>
            <a:pPr algn="ctr" indent="0" marL="0">
              <a:buNone/>
            </a:pPr>
            <a:r>
              <a:rPr lang="en-US" sz="1300" b="1" dirty="0">
                <a:solidFill>
                  <a:srgbClr val="22253A"/>
                </a:solidFill>
                <a:latin typeface="Courier New" pitchFamily="34" charset="0"/>
                <a:ea typeface="Courier New" pitchFamily="34" charset="-122"/>
                <a:cs typeface="Courier New" pitchFamily="34" charset="-120"/>
              </a:rPr>
              <a:t>"corso-aws-dev-logs"</a:t>
            </a:r>
            <a:endParaRPr lang="en-US" sz="1300" dirty="0"/>
          </a:p>
        </p:txBody>
      </p:sp>
      <p:sp>
        <p:nvSpPr>
          <p:cNvPr id="26" name="Shape 23"/>
          <p:cNvSpPr/>
          <p:nvPr/>
        </p:nvSpPr>
        <p:spPr>
          <a:xfrm>
            <a:off x="548640" y="5212080"/>
            <a:ext cx="548640" cy="548640"/>
          </a:xfrm>
          <a:prstGeom prst="ellipse">
            <a:avLst/>
          </a:prstGeom>
          <a:solidFill>
            <a:srgbClr val="F28C28"/>
          </a:solidFill>
          <a:ln w="12700">
            <a:solidFill>
              <a:srgbClr val="F28C28"/>
            </a:solidFill>
            <a:prstDash val="solid"/>
          </a:ln>
        </p:spPr>
      </p:sp>
      <p:sp>
        <p:nvSpPr>
          <p:cNvPr id="27" name="Text 24"/>
          <p:cNvSpPr txBox="1"/>
          <p:nvPr/>
        </p:nvSpPr>
        <p:spPr>
          <a:xfrm>
            <a:off x="548640" y="5212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Shape 25"/>
          <p:cNvSpPr/>
          <p:nvPr/>
        </p:nvSpPr>
        <p:spPr>
          <a:xfrm>
            <a:off x="1280160" y="4937760"/>
            <a:ext cx="5120640" cy="1051560"/>
          </a:xfrm>
          <a:prstGeom prst="roundRect">
            <a:avLst>
              <a:gd name="adj" fmla="val 6957"/>
            </a:avLst>
          </a:prstGeom>
          <a:solidFill>
            <a:srgbClr val="1E1E2E"/>
          </a:solidFill>
          <a:ln w="12700">
            <a:solidFill>
              <a:srgbClr val="1E1E2E"/>
            </a:solidFill>
            <a:prstDash val="solid"/>
          </a:ln>
        </p:spPr>
      </p:sp>
      <p:sp>
        <p:nvSpPr>
          <p:cNvPr id="29" name="Text 26"/>
          <p:cNvSpPr txBox="1"/>
          <p:nvPr/>
        </p:nvSpPr>
        <p:spPr>
          <a:xfrm>
            <a:off x="1463040" y="5074920"/>
            <a:ext cx="4754880" cy="77724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var.environment == "prod"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 "Enabled" : "Suspended"</a:t>
            </a:r>
            <a:endParaRPr lang="en-US" sz="1600" dirty="0"/>
          </a:p>
        </p:txBody>
      </p:sp>
      <p:sp>
        <p:nvSpPr>
          <p:cNvPr id="30" name="Text 27"/>
          <p:cNvSpPr txBox="1"/>
          <p:nvPr/>
        </p:nvSpPr>
        <p:spPr>
          <a:xfrm>
            <a:off x="6537960" y="4937760"/>
            <a:ext cx="2606040" cy="1051560"/>
          </a:xfrm>
          <a:prstGeom prst="rect">
            <a:avLst/>
          </a:prstGeom>
          <a:noFill/>
          <a:ln/>
        </p:spPr>
        <p:txBody>
          <a:bodyPr wrap="square" lIns="0" tIns="0" rIns="0" bIns="0" rtlCol="0" anchor="ctr"/>
          <a:lstStyle/>
          <a:p>
            <a:pPr algn="l" indent="0" marL="0">
              <a:buNone/>
            </a:pPr>
            <a:r>
              <a:rPr lang="en-US" sz="1500" dirty="0">
                <a:solidFill>
                  <a:srgbClr val="22253A"/>
                </a:solidFill>
                <a:latin typeface="Calibri" pitchFamily="34" charset="0"/>
                <a:ea typeface="Calibri" pitchFamily="34" charset="-122"/>
                <a:cs typeface="Calibri" pitchFamily="34" charset="-120"/>
              </a:rPr>
              <a:t>Condizionale: "dev" non è "prod", quindi il secondo valore</a:t>
            </a:r>
            <a:endParaRPr lang="en-US" sz="1500" dirty="0"/>
          </a:p>
        </p:txBody>
      </p:sp>
      <p:sp>
        <p:nvSpPr>
          <p:cNvPr id="31" name="Shape 28"/>
          <p:cNvSpPr/>
          <p:nvPr/>
        </p:nvSpPr>
        <p:spPr>
          <a:xfrm>
            <a:off x="9235440" y="5074920"/>
            <a:ext cx="2404872" cy="777240"/>
          </a:xfrm>
          <a:prstGeom prst="roundRect">
            <a:avLst>
              <a:gd name="adj" fmla="val 11765"/>
            </a:avLst>
          </a:prstGeom>
          <a:solidFill>
            <a:srgbClr val="E5F4EC"/>
          </a:solidFill>
          <a:ln w="12700">
            <a:solidFill>
              <a:srgbClr val="E5F4EC"/>
            </a:solidFill>
            <a:prstDash val="solid"/>
          </a:ln>
        </p:spPr>
      </p:sp>
      <p:sp>
        <p:nvSpPr>
          <p:cNvPr id="32" name="Text 29"/>
          <p:cNvSpPr txBox="1"/>
          <p:nvPr/>
        </p:nvSpPr>
        <p:spPr>
          <a:xfrm>
            <a:off x="9235440" y="5074920"/>
            <a:ext cx="2404872" cy="777240"/>
          </a:xfrm>
          <a:prstGeom prst="rect">
            <a:avLst/>
          </a:prstGeom>
          <a:noFill/>
          <a:ln/>
        </p:spPr>
        <p:txBody>
          <a:bodyPr wrap="square" lIns="76200" tIns="76200" rIns="76200" bIns="76200" rtlCol="0" anchor="ctr"/>
          <a:lstStyle/>
          <a:p>
            <a:pPr algn="ctr" indent="0" marL="0">
              <a:buNone/>
            </a:pPr>
            <a:r>
              <a:rPr lang="en-US" sz="1300" b="1" dirty="0">
                <a:solidFill>
                  <a:srgbClr val="22253A"/>
                </a:solidFill>
                <a:latin typeface="Courier New" pitchFamily="34" charset="0"/>
                <a:ea typeface="Courier New" pitchFamily="34" charset="-122"/>
                <a:cs typeface="Courier New" pitchFamily="34" charset="-120"/>
              </a:rPr>
              <a:t>"Suspended"</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Stesso codice, due ambienti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3108960"/>
                <a:gridCol w="3986784"/>
                <a:gridCol w="3995928"/>
              </a:tblGrid>
              <a:tr h="777240">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Valore calcolato</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environment = "dev"</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environment = "prod"</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777240">
                <a:tc>
                  <a:txBody>
                    <a:bodyPr/>
                    <a:lstStyle/>
                    <a:p>
                      <a:pPr indent="0" marL="0">
                        <a:buNone/>
                      </a:pPr>
                      <a:r>
                        <a:rPr lang="en-US" sz="1800" b="1" dirty="0">
                          <a:solidFill>
                            <a:srgbClr val="22253A"/>
                          </a:solidFill>
                          <a:latin typeface="Courier New" pitchFamily="34" charset="0"/>
                          <a:ea typeface="Courier New" pitchFamily="34" charset="-122"/>
                          <a:cs typeface="Courier New" pitchFamily="34" charset="-120"/>
                        </a:rPr>
                        <a:t>local.prefix</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dirty="0">
                          <a:solidFill>
                            <a:srgbClr val="22253A"/>
                          </a:solidFill>
                          <a:latin typeface="Courier New" pitchFamily="34" charset="0"/>
                          <a:ea typeface="Courier New" pitchFamily="34" charset="-122"/>
                          <a:cs typeface="Courier New" pitchFamily="34" charset="-120"/>
                        </a:rPr>
                        <a:t>"corso-aws-dev"</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dirty="0">
                          <a:solidFill>
                            <a:srgbClr val="22253A"/>
                          </a:solidFill>
                          <a:latin typeface="Courier New" pitchFamily="34" charset="0"/>
                          <a:ea typeface="Courier New" pitchFamily="34" charset="-122"/>
                          <a:cs typeface="Courier New" pitchFamily="34" charset="-120"/>
                        </a:rPr>
                        <a:t>"corso-aws-prod"</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77240">
                <a:tc>
                  <a:txBody>
                    <a:bodyPr/>
                    <a:lstStyle/>
                    <a:p>
                      <a:pPr indent="0" marL="0">
                        <a:buNone/>
                      </a:pPr>
                      <a:r>
                        <a:rPr lang="en-US" sz="1800" b="1" dirty="0">
                          <a:solidFill>
                            <a:srgbClr val="22253A"/>
                          </a:solidFill>
                          <a:latin typeface="Calibri" pitchFamily="34" charset="0"/>
                          <a:ea typeface="Calibri" pitchFamily="34" charset="-122"/>
                          <a:cs typeface="Calibri" pitchFamily="34" charset="-120"/>
                        </a:rPr>
                        <a:t>nome del bucket</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800" dirty="0">
                          <a:solidFill>
                            <a:srgbClr val="22253A"/>
                          </a:solidFill>
                          <a:latin typeface="Courier New" pitchFamily="34" charset="0"/>
                          <a:ea typeface="Courier New" pitchFamily="34" charset="-122"/>
                          <a:cs typeface="Courier New" pitchFamily="34" charset="-120"/>
                        </a:rPr>
                        <a:t>"corso-aws-dev-logs"</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800" dirty="0">
                          <a:solidFill>
                            <a:srgbClr val="22253A"/>
                          </a:solidFill>
                          <a:latin typeface="Courier New" pitchFamily="34" charset="0"/>
                          <a:ea typeface="Courier New" pitchFamily="34" charset="-122"/>
                          <a:cs typeface="Courier New" pitchFamily="34" charset="-120"/>
                        </a:rPr>
                        <a:t>"corso-aws-prod-logs"</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777240">
                <a:tc>
                  <a:txBody>
                    <a:bodyPr/>
                    <a:lstStyle/>
                    <a:p>
                      <a:pPr indent="0" marL="0">
                        <a:buNone/>
                      </a:pPr>
                      <a:r>
                        <a:rPr lang="en-US" sz="1800" b="1" dirty="0">
                          <a:solidFill>
                            <a:srgbClr val="22253A"/>
                          </a:solidFill>
                          <a:latin typeface="Calibri" pitchFamily="34" charset="0"/>
                          <a:ea typeface="Calibri" pitchFamily="34" charset="-122"/>
                          <a:cs typeface="Calibri" pitchFamily="34" charset="-120"/>
                        </a:rPr>
                        <a:t>versioning</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b="1" dirty="0">
                          <a:solidFill>
                            <a:srgbClr val="F28C28"/>
                          </a:solidFill>
                          <a:latin typeface="Courier New" pitchFamily="34" charset="0"/>
                          <a:ea typeface="Courier New" pitchFamily="34" charset="-122"/>
                          <a:cs typeface="Courier New" pitchFamily="34" charset="-120"/>
                        </a:rPr>
                        <a:t>"Suspended"</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b="1" dirty="0">
                          <a:solidFill>
                            <a:srgbClr val="2E9E6B"/>
                          </a:solidFill>
                          <a:latin typeface="Courier New" pitchFamily="34" charset="0"/>
                          <a:ea typeface="Courier New" pitchFamily="34" charset="-122"/>
                          <a:cs typeface="Courier New" pitchFamily="34" charset="-120"/>
                        </a:rPr>
                        <a:t>"Enabled"</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6" name="Shape 2"/>
          <p:cNvSpPr/>
          <p:nvPr/>
        </p:nvSpPr>
        <p:spPr>
          <a:xfrm>
            <a:off x="548640" y="4846320"/>
            <a:ext cx="11094415" cy="1005840"/>
          </a:xfrm>
          <a:prstGeom prst="roundRect">
            <a:avLst>
              <a:gd name="adj" fmla="val 9091"/>
            </a:avLst>
          </a:prstGeom>
          <a:solidFill>
            <a:srgbClr val="FDF0E3"/>
          </a:solidFill>
          <a:ln w="12700">
            <a:solidFill>
              <a:srgbClr val="FDF0E3"/>
            </a:solidFill>
            <a:prstDash val="solid"/>
          </a:ln>
        </p:spPr>
      </p:sp>
      <p:sp>
        <p:nvSpPr>
          <p:cNvPr id="7" name="Text 3"/>
          <p:cNvSpPr txBox="1"/>
          <p:nvPr/>
        </p:nvSpPr>
        <p:spPr>
          <a:xfrm>
            <a:off x="822960" y="4846320"/>
            <a:ext cx="10545775" cy="100584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Il codice non cambia: cambia un solo valore nel tfvars, e Terraform ricalcola tutto il resto.</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Espressioni (1): i riferimenti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25880"/>
            <a:ext cx="11094415" cy="777240"/>
          </a:xfrm>
          <a:prstGeom prst="roundRect">
            <a:avLst>
              <a:gd name="adj" fmla="val 11765"/>
            </a:avLst>
          </a:prstGeom>
          <a:solidFill>
            <a:srgbClr val="5B3FD0"/>
          </a:solidFill>
          <a:ln w="12700">
            <a:solidFill>
              <a:srgbClr val="5B3FD0"/>
            </a:solidFill>
            <a:prstDash val="solid"/>
          </a:ln>
        </p:spPr>
      </p:sp>
      <p:sp>
        <p:nvSpPr>
          <p:cNvPr id="6" name="Text 3"/>
          <p:cNvSpPr txBox="1"/>
          <p:nvPr/>
        </p:nvSpPr>
        <p:spPr>
          <a:xfrm>
            <a:off x="822960" y="1325880"/>
            <a:ext cx="10545775" cy="77724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Un riferimento dice: "prendi il valore che sta là". Il prefisso dice dove cercarlo.</a:t>
            </a:r>
            <a:endParaRPr lang="en-US" sz="1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11094415" cy="914400"/>
        </p:xfrm>
        <a:graphic>
          <a:graphicData uri="http://schemas.openxmlformats.org/drawingml/2006/table">
            <a:tbl>
              <a:tblPr/>
              <a:tblGrid>
                <a:gridCol w="3749040"/>
                <a:gridCol w="4206240"/>
                <a:gridCol w="3136392"/>
              </a:tblGrid>
              <a:tr h="7315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Scrivi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Dove lo cerca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Nell'esempio vale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73152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var.environment</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una variabile: il valore arriva dal tfvars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"dev"</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local.prefix</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 valore calcolato nel blocco locals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"corso-aws-dev"</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73152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aws_s3_bucket.logs.id</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 attributo di una risorsa creata da noi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"corso-aws-dev-logs"</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data.aws_caller_identity</a:t>
                      </a:r>
                      <a:endParaRPr lang="en-US" sz="1600" dirty="0">
                        <a:latin typeface="Courier New" charset="0"/>
                        <a:ea typeface="Courier New" charset="0"/>
                        <a:cs typeface="Courier New" charset="0"/>
                      </a:endParaRPr>
                    </a:p>
                    <a:p>
                      <a:pPr indent="0" marL="0">
                        <a:buNone/>
                      </a:pPr>
                      <a:r>
                        <a:rPr lang="en-US" sz="1600" b="1" dirty="0">
                          <a:solidFill>
                            <a:srgbClr val="22253A"/>
                          </a:solidFill>
                          <a:latin typeface="Courier New" pitchFamily="34" charset="0"/>
                          <a:ea typeface="Courier New" pitchFamily="34" charset="-122"/>
                          <a:cs typeface="Courier New" pitchFamily="34" charset="-120"/>
                        </a:rPr>
                        <a:t>.current.account_id</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 dato letto da AWS: il numero dell'account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"123456789012"</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Espressioni (2): l'interpolazione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25880"/>
            <a:ext cx="11094415" cy="777240"/>
          </a:xfrm>
          <a:prstGeom prst="roundRect">
            <a:avLst>
              <a:gd name="adj" fmla="val 11765"/>
            </a:avLst>
          </a:prstGeom>
          <a:solidFill>
            <a:srgbClr val="5B3FD0"/>
          </a:solidFill>
          <a:ln w="12700">
            <a:solidFill>
              <a:srgbClr val="5B3FD0"/>
            </a:solidFill>
            <a:prstDash val="solid"/>
          </a:ln>
        </p:spPr>
      </p:sp>
      <p:sp>
        <p:nvSpPr>
          <p:cNvPr id="6" name="Text 3"/>
          <p:cNvSpPr txBox="1"/>
          <p:nvPr/>
        </p:nvSpPr>
        <p:spPr>
          <a:xfrm>
            <a:off x="822960" y="1325880"/>
            <a:ext cx="10545775" cy="77724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Dentro le virgolette, ${ … } viene sostituito dal suo valore. Il resto del testo resta uguale.</a:t>
            </a:r>
            <a:endParaRPr lang="en-US" sz="1900" dirty="0"/>
          </a:p>
        </p:txBody>
      </p:sp>
      <p:sp>
        <p:nvSpPr>
          <p:cNvPr id="7" name="Text 4"/>
          <p:cNvSpPr txBox="1"/>
          <p:nvPr/>
        </p:nvSpPr>
        <p:spPr>
          <a:xfrm>
            <a:off x="548640" y="2331720"/>
            <a:ext cx="4206240" cy="36576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1. Scrivi</a:t>
            </a:r>
            <a:endParaRPr lang="en-US" sz="1700" dirty="0"/>
          </a:p>
        </p:txBody>
      </p:sp>
      <p:sp>
        <p:nvSpPr>
          <p:cNvPr id="8" name="Shape 5"/>
          <p:cNvSpPr/>
          <p:nvPr/>
        </p:nvSpPr>
        <p:spPr>
          <a:xfrm>
            <a:off x="548640" y="2743200"/>
            <a:ext cx="4754880" cy="914400"/>
          </a:xfrm>
          <a:prstGeom prst="roundRect">
            <a:avLst>
              <a:gd name="adj" fmla="val 8000"/>
            </a:avLst>
          </a:prstGeom>
          <a:solidFill>
            <a:srgbClr val="1E1E2E"/>
          </a:solidFill>
          <a:ln w="12700">
            <a:solidFill>
              <a:srgbClr val="1E1E2E"/>
            </a:solidFill>
            <a:prstDash val="solid"/>
          </a:ln>
        </p:spPr>
      </p:sp>
      <p:sp>
        <p:nvSpPr>
          <p:cNvPr id="9" name="Text 6"/>
          <p:cNvSpPr txBox="1"/>
          <p:nvPr/>
        </p:nvSpPr>
        <p:spPr>
          <a:xfrm>
            <a:off x="731520" y="2880360"/>
            <a:ext cx="4389120" cy="64008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"${var.project}-${var.environment}"</a:t>
            </a:r>
            <a:endParaRPr lang="en-US" sz="1600" dirty="0"/>
          </a:p>
        </p:txBody>
      </p:sp>
      <p:sp>
        <p:nvSpPr>
          <p:cNvPr id="10" name="Shape 7"/>
          <p:cNvSpPr/>
          <p:nvPr/>
        </p:nvSpPr>
        <p:spPr>
          <a:xfrm>
            <a:off x="5349240" y="3200400"/>
            <a:ext cx="274320" cy="0"/>
          </a:xfrm>
          <a:prstGeom prst="line">
            <a:avLst/>
          </a:prstGeom>
          <a:noFill/>
          <a:ln w="25400">
            <a:solidFill>
              <a:srgbClr val="5B3FD0"/>
            </a:solidFill>
            <a:prstDash val="solid"/>
            <a:tailEnd type="triangle"/>
          </a:ln>
        </p:spPr>
      </p:sp>
      <p:sp>
        <p:nvSpPr>
          <p:cNvPr id="11" name="Text 8"/>
          <p:cNvSpPr txBox="1"/>
          <p:nvPr/>
        </p:nvSpPr>
        <p:spPr>
          <a:xfrm>
            <a:off x="5669280" y="2331720"/>
            <a:ext cx="2834640" cy="36576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2. Terraform sostituisce</a:t>
            </a:r>
            <a:endParaRPr lang="en-US" sz="1700" dirty="0"/>
          </a:p>
        </p:txBody>
      </p:sp>
      <p:sp>
        <p:nvSpPr>
          <p:cNvPr id="12" name="Shape 9"/>
          <p:cNvSpPr/>
          <p:nvPr/>
        </p:nvSpPr>
        <p:spPr>
          <a:xfrm>
            <a:off x="5669280" y="2743200"/>
            <a:ext cx="2834640" cy="914400"/>
          </a:xfrm>
          <a:prstGeom prst="roundRect">
            <a:avLst>
              <a:gd name="adj" fmla="val 10000"/>
            </a:avLst>
          </a:prstGeom>
          <a:solidFill>
            <a:srgbClr val="FDF0E3"/>
          </a:solidFill>
          <a:ln w="12700">
            <a:solidFill>
              <a:srgbClr val="FDF0E3"/>
            </a:solidFill>
            <a:prstDash val="solid"/>
          </a:ln>
        </p:spPr>
      </p:sp>
      <p:sp>
        <p:nvSpPr>
          <p:cNvPr id="13" name="Text 10"/>
          <p:cNvSpPr txBox="1"/>
          <p:nvPr/>
        </p:nvSpPr>
        <p:spPr>
          <a:xfrm>
            <a:off x="5669280" y="2743200"/>
            <a:ext cx="2834640" cy="914400"/>
          </a:xfrm>
          <a:prstGeom prst="rect">
            <a:avLst/>
          </a:prstGeom>
          <a:noFill/>
          <a:ln/>
        </p:spPr>
        <p:txBody>
          <a:bodyPr wrap="square" lIns="76200" tIns="76200" rIns="76200" bIns="76200" rtlCol="0" anchor="ctr"/>
          <a:lstStyle/>
          <a:p>
            <a:pPr algn="ctr" indent="0" marL="0">
              <a:buNone/>
            </a:pPr>
            <a:r>
              <a:rPr lang="en-US" sz="1300" dirty="0">
                <a:solidFill>
                  <a:srgbClr val="22253A"/>
                </a:solidFill>
                <a:latin typeface="Courier New" pitchFamily="34" charset="0"/>
                <a:ea typeface="Courier New" pitchFamily="34" charset="-122"/>
                <a:cs typeface="Courier New" pitchFamily="34" charset="-120"/>
              </a:rPr>
              <a:t>var.project → "corso-aws"</a:t>
            </a:r>
            <a:endParaRPr lang="en-US" sz="1300" dirty="0"/>
          </a:p>
          <a:p>
            <a:pPr algn="ctr" indent="0" marL="0">
              <a:buNone/>
            </a:pPr>
            <a:r>
              <a:rPr lang="en-US" sz="1300" dirty="0">
                <a:solidFill>
                  <a:srgbClr val="22253A"/>
                </a:solidFill>
                <a:latin typeface="Courier New" pitchFamily="34" charset="0"/>
                <a:ea typeface="Courier New" pitchFamily="34" charset="-122"/>
                <a:cs typeface="Courier New" pitchFamily="34" charset="-120"/>
              </a:rPr>
              <a:t>var.environment → "dev"</a:t>
            </a:r>
            <a:endParaRPr lang="en-US" sz="1300" dirty="0"/>
          </a:p>
        </p:txBody>
      </p:sp>
      <p:sp>
        <p:nvSpPr>
          <p:cNvPr id="14" name="Shape 11"/>
          <p:cNvSpPr/>
          <p:nvPr/>
        </p:nvSpPr>
        <p:spPr>
          <a:xfrm>
            <a:off x="8549640" y="3200400"/>
            <a:ext cx="274320" cy="0"/>
          </a:xfrm>
          <a:prstGeom prst="line">
            <a:avLst/>
          </a:prstGeom>
          <a:noFill/>
          <a:ln w="25400">
            <a:solidFill>
              <a:srgbClr val="5B3FD0"/>
            </a:solidFill>
            <a:prstDash val="solid"/>
            <a:tailEnd type="triangle"/>
          </a:ln>
        </p:spPr>
      </p:sp>
      <p:sp>
        <p:nvSpPr>
          <p:cNvPr id="15" name="Text 12"/>
          <p:cNvSpPr txBox="1"/>
          <p:nvPr/>
        </p:nvSpPr>
        <p:spPr>
          <a:xfrm>
            <a:off x="8869680" y="2331720"/>
            <a:ext cx="2770632" cy="36576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3. Risultato</a:t>
            </a:r>
            <a:endParaRPr lang="en-US" sz="1700" dirty="0"/>
          </a:p>
        </p:txBody>
      </p:sp>
      <p:sp>
        <p:nvSpPr>
          <p:cNvPr id="16" name="Shape 13"/>
          <p:cNvSpPr/>
          <p:nvPr/>
        </p:nvSpPr>
        <p:spPr>
          <a:xfrm>
            <a:off x="8869680" y="2743200"/>
            <a:ext cx="2770632" cy="914400"/>
          </a:xfrm>
          <a:prstGeom prst="roundRect">
            <a:avLst>
              <a:gd name="adj" fmla="val 10000"/>
            </a:avLst>
          </a:prstGeom>
          <a:solidFill>
            <a:srgbClr val="E5F4EC"/>
          </a:solidFill>
          <a:ln w="12700">
            <a:solidFill>
              <a:srgbClr val="E5F4EC"/>
            </a:solidFill>
            <a:prstDash val="solid"/>
          </a:ln>
        </p:spPr>
      </p:sp>
      <p:sp>
        <p:nvSpPr>
          <p:cNvPr id="17" name="Text 14"/>
          <p:cNvSpPr txBox="1"/>
          <p:nvPr/>
        </p:nvSpPr>
        <p:spPr>
          <a:xfrm>
            <a:off x="8869680" y="2743200"/>
            <a:ext cx="2770632" cy="91440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"corso-aws-dev"</a:t>
            </a:r>
            <a:endParaRPr lang="en-US" sz="1800" dirty="0"/>
          </a:p>
        </p:txBody>
      </p:sp>
      <p:sp>
        <p:nvSpPr>
          <p:cNvPr id="18" name="Shape 15"/>
          <p:cNvSpPr/>
          <p:nvPr/>
        </p:nvSpPr>
        <p:spPr>
          <a:xfrm>
            <a:off x="548640" y="4114800"/>
            <a:ext cx="5440680" cy="1920240"/>
          </a:xfrm>
          <a:prstGeom prst="roundRect">
            <a:avLst>
              <a:gd name="adj" fmla="val 5714"/>
            </a:avLst>
          </a:prstGeom>
          <a:solidFill>
            <a:srgbClr val="E5F4EC"/>
          </a:solidFill>
          <a:ln w="12700">
            <a:solidFill>
              <a:srgbClr val="E5F4EC"/>
            </a:solidFill>
            <a:prstDash val="solid"/>
          </a:ln>
        </p:spPr>
      </p:sp>
      <p:sp>
        <p:nvSpPr>
          <p:cNvPr id="19" name="Shape 16"/>
          <p:cNvSpPr/>
          <p:nvPr/>
        </p:nvSpPr>
        <p:spPr>
          <a:xfrm>
            <a:off x="777240" y="4343400"/>
            <a:ext cx="548640" cy="548640"/>
          </a:xfrm>
          <a:prstGeom prst="ellipse">
            <a:avLst/>
          </a:prstGeom>
          <a:solidFill>
            <a:srgbClr val="2E9E6B"/>
          </a:solidFill>
          <a:ln w="12700">
            <a:solidFill>
              <a:srgbClr val="2E9E6B"/>
            </a:solidFill>
            <a:prstDash val="solid"/>
          </a:ln>
        </p:spPr>
      </p:sp>
      <p:pic>
        <p:nvPicPr>
          <p:cNvPr id="20" name="Image 0" descr="preencoded.png">    </p:cNvPr>
          <p:cNvPicPr>
            <a:picLocks noChangeAspect="1"/>
          </p:cNvPicPr>
          <p:nvPr/>
        </p:nvPicPr>
        <p:blipFill>
          <a:blip r:embed="rId1"/>
          <a:stretch>
            <a:fillRect/>
          </a:stretch>
        </p:blipFill>
        <p:spPr>
          <a:xfrm>
            <a:off x="914400" y="4480560"/>
            <a:ext cx="274320" cy="274320"/>
          </a:xfrm>
          <a:prstGeom prst="rect">
            <a:avLst/>
          </a:prstGeom>
        </p:spPr>
      </p:pic>
      <p:sp>
        <p:nvSpPr>
          <p:cNvPr id="21" name="Text 17"/>
          <p:cNvSpPr txBox="1"/>
          <p:nvPr/>
        </p:nvSpPr>
        <p:spPr>
          <a:xfrm>
            <a:off x="1508760" y="43434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Testo + valori: interpolazione</a:t>
            </a:r>
            <a:endParaRPr lang="en-US" sz="1800" dirty="0"/>
          </a:p>
        </p:txBody>
      </p:sp>
      <p:sp>
        <p:nvSpPr>
          <p:cNvPr id="22" name="Text 18"/>
          <p:cNvSpPr txBox="1"/>
          <p:nvPr/>
        </p:nvSpPr>
        <p:spPr>
          <a:xfrm>
            <a:off x="777240" y="5029200"/>
            <a:ext cx="4983480" cy="8229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bucket = "${local.prefix}-logs"</a:t>
            </a:r>
            <a:endParaRPr lang="en-US" sz="1600" dirty="0"/>
          </a:p>
        </p:txBody>
      </p:sp>
      <p:sp>
        <p:nvSpPr>
          <p:cNvPr id="23" name="Shape 19"/>
          <p:cNvSpPr/>
          <p:nvPr/>
        </p:nvSpPr>
        <p:spPr>
          <a:xfrm>
            <a:off x="6172200" y="4114800"/>
            <a:ext cx="5440680" cy="1920240"/>
          </a:xfrm>
          <a:prstGeom prst="roundRect">
            <a:avLst>
              <a:gd name="adj" fmla="val 5714"/>
            </a:avLst>
          </a:prstGeom>
          <a:solidFill>
            <a:srgbClr val="E5F4EC"/>
          </a:solidFill>
          <a:ln w="12700">
            <a:solidFill>
              <a:srgbClr val="E5F4EC"/>
            </a:solidFill>
            <a:prstDash val="solid"/>
          </a:ln>
        </p:spPr>
      </p:sp>
      <p:sp>
        <p:nvSpPr>
          <p:cNvPr id="24" name="Shape 20"/>
          <p:cNvSpPr/>
          <p:nvPr/>
        </p:nvSpPr>
        <p:spPr>
          <a:xfrm>
            <a:off x="6400800" y="4343400"/>
            <a:ext cx="548640" cy="548640"/>
          </a:xfrm>
          <a:prstGeom prst="ellipse">
            <a:avLst/>
          </a:prstGeom>
          <a:solidFill>
            <a:srgbClr val="2E9E6B"/>
          </a:solidFill>
          <a:ln w="12700">
            <a:solidFill>
              <a:srgbClr val="2E9E6B"/>
            </a:solidFill>
            <a:prstDash val="solid"/>
          </a:ln>
        </p:spPr>
      </p:sp>
      <p:pic>
        <p:nvPicPr>
          <p:cNvPr id="25" name="Image 1" descr="preencoded.png">    </p:cNvPr>
          <p:cNvPicPr>
            <a:picLocks noChangeAspect="1"/>
          </p:cNvPicPr>
          <p:nvPr/>
        </p:nvPicPr>
        <p:blipFill>
          <a:blip r:embed="rId2"/>
          <a:stretch>
            <a:fillRect/>
          </a:stretch>
        </p:blipFill>
        <p:spPr>
          <a:xfrm>
            <a:off x="6537960" y="4480560"/>
            <a:ext cx="274320" cy="274320"/>
          </a:xfrm>
          <a:prstGeom prst="rect">
            <a:avLst/>
          </a:prstGeom>
        </p:spPr>
      </p:pic>
      <p:sp>
        <p:nvSpPr>
          <p:cNvPr id="26" name="Text 21"/>
          <p:cNvSpPr txBox="1"/>
          <p:nvPr/>
        </p:nvSpPr>
        <p:spPr>
          <a:xfrm>
            <a:off x="7132320" y="43434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Solo un valore: niente virgolette</a:t>
            </a:r>
            <a:endParaRPr lang="en-US" sz="1800" dirty="0"/>
          </a:p>
        </p:txBody>
      </p:sp>
      <p:sp>
        <p:nvSpPr>
          <p:cNvPr id="27" name="Text 22"/>
          <p:cNvSpPr txBox="1"/>
          <p:nvPr/>
        </p:nvSpPr>
        <p:spPr>
          <a:xfrm>
            <a:off x="6400800" y="5029200"/>
            <a:ext cx="4983480" cy="8229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bucket = aws_s3_bucket.logs.id</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Espressioni (3): le funzioni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25880"/>
            <a:ext cx="11094415" cy="777240"/>
          </a:xfrm>
          <a:prstGeom prst="roundRect">
            <a:avLst>
              <a:gd name="adj" fmla="val 11765"/>
            </a:avLst>
          </a:prstGeom>
          <a:solidFill>
            <a:srgbClr val="5B3FD0"/>
          </a:solidFill>
          <a:ln w="12700">
            <a:solidFill>
              <a:srgbClr val="5B3FD0"/>
            </a:solidFill>
            <a:prstDash val="solid"/>
          </a:ln>
        </p:spPr>
      </p:sp>
      <p:sp>
        <p:nvSpPr>
          <p:cNvPr id="6" name="Text 3"/>
          <p:cNvSpPr txBox="1"/>
          <p:nvPr/>
        </p:nvSpPr>
        <p:spPr>
          <a:xfrm>
            <a:off x="822960" y="1325880"/>
            <a:ext cx="10545775" cy="77724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nome(argomenti): prende dei valori e ne restituisce uno nuovo.</a:t>
            </a:r>
            <a:endParaRPr lang="en-US" sz="1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11094415" cy="914400"/>
        </p:xfrm>
        <a:graphic>
          <a:graphicData uri="http://schemas.openxmlformats.org/drawingml/2006/table">
            <a:tbl>
              <a:tblPr/>
              <a:tblGrid>
                <a:gridCol w="4937760"/>
                <a:gridCol w="2103120"/>
                <a:gridCol w="4050792"/>
              </a:tblGrid>
              <a:tr h="73152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Scrivi</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Risultato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 cosa ci serve nel corso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731520">
                <a:tc>
                  <a:txBody>
                    <a:bodyPr/>
                    <a:lstStyle/>
                    <a:p>
                      <a:pPr indent="0" marL="0">
                        <a:buNone/>
                      </a:pPr>
                      <a:r>
                        <a:rPr lang="en-US" sz="1500" b="1" dirty="0">
                          <a:solidFill>
                            <a:srgbClr val="22253A"/>
                          </a:solidFill>
                          <a:latin typeface="Courier New" pitchFamily="34" charset="0"/>
                          <a:ea typeface="Courier New" pitchFamily="34" charset="-122"/>
                          <a:cs typeface="Courier New" pitchFamily="34" charset="-120"/>
                        </a:rPr>
                        <a:t>lower("Corso-AWS-dev")</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E9E6B"/>
                          </a:solidFill>
                          <a:latin typeface="Courier New" pitchFamily="34" charset="0"/>
                          <a:ea typeface="Courier New" pitchFamily="34" charset="-122"/>
                          <a:cs typeface="Courier New" pitchFamily="34" charset="-120"/>
                        </a:rPr>
                        <a:t>"corso-aws-dev"</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 nomi dei bucket devono essere minuscoli</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22253A"/>
                          </a:solidFill>
                          <a:latin typeface="Courier New" pitchFamily="34" charset="0"/>
                          <a:ea typeface="Courier New" pitchFamily="34" charset="-122"/>
                          <a:cs typeface="Courier New" pitchFamily="34" charset="-120"/>
                        </a:rPr>
                        <a:t>contains(["dev","prod"], var.environment)</a:t>
                      </a:r>
                      <a:endParaRPr lang="en-US" sz="14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E9E6B"/>
                          </a:solidFill>
                          <a:latin typeface="Courier New" pitchFamily="34" charset="0"/>
                          <a:ea typeface="Courier New" pitchFamily="34" charset="-122"/>
                          <a:cs typeface="Courier New" pitchFamily="34" charset="-120"/>
                        </a:rPr>
                        <a:t>true</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validation: l'ambiente è tra quelli ammessi?</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731520">
                <a:tc>
                  <a:txBody>
                    <a:bodyPr/>
                    <a:lstStyle/>
                    <a:p>
                      <a:pPr indent="0" marL="0">
                        <a:buNone/>
                      </a:pPr>
                      <a:r>
                        <a:rPr lang="en-US" sz="1400" b="1" dirty="0">
                          <a:solidFill>
                            <a:srgbClr val="22253A"/>
                          </a:solidFill>
                          <a:latin typeface="Courier New" pitchFamily="34" charset="0"/>
                          <a:ea typeface="Courier New" pitchFamily="34" charset="-122"/>
                          <a:cs typeface="Courier New" pitchFamily="34" charset="-120"/>
                        </a:rPr>
                        <a:t>can(regex("^[a-z0-9-]+$", var.project))</a:t>
                      </a:r>
                      <a:endParaRPr lang="en-US" sz="14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E9E6B"/>
                          </a:solidFill>
                          <a:latin typeface="Courier New" pitchFamily="34" charset="0"/>
                          <a:ea typeface="Courier New" pitchFamily="34" charset="-122"/>
                          <a:cs typeface="Courier New" pitchFamily="34" charset="-120"/>
                        </a:rPr>
                        <a:t>true</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validation: il nome ha solo minuscole, cifre e trattini?</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22253A"/>
                          </a:solidFill>
                          <a:latin typeface="Courier New" pitchFamily="34" charset="0"/>
                          <a:ea typeface="Courier New" pitchFamily="34" charset="-122"/>
                          <a:cs typeface="Courier New" pitchFamily="34" charset="-120"/>
                        </a:rPr>
                        <a:t>cidrsubnet("10.20.0.0/16", 8, 1)</a:t>
                      </a:r>
                      <a:endParaRPr lang="en-US" sz="14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E9E6B"/>
                          </a:solidFill>
                          <a:latin typeface="Courier New" pitchFamily="34" charset="0"/>
                          <a:ea typeface="Courier New" pitchFamily="34" charset="-122"/>
                          <a:cs typeface="Courier New" pitchFamily="34" charset="-120"/>
                        </a:rPr>
                        <a:t>"10.20.1.0/24"</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calcola gli indirizzi delle subnet (dispensa 2)</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Espressioni (4): il condizionale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25880"/>
            <a:ext cx="11094415" cy="777240"/>
          </a:xfrm>
          <a:prstGeom prst="roundRect">
            <a:avLst>
              <a:gd name="adj" fmla="val 11765"/>
            </a:avLst>
          </a:prstGeom>
          <a:solidFill>
            <a:srgbClr val="5B3FD0"/>
          </a:solidFill>
          <a:ln w="12700">
            <a:solidFill>
              <a:srgbClr val="5B3FD0"/>
            </a:solidFill>
            <a:prstDash val="solid"/>
          </a:ln>
        </p:spPr>
      </p:sp>
      <p:sp>
        <p:nvSpPr>
          <p:cNvPr id="6" name="Text 3"/>
          <p:cNvSpPr txBox="1"/>
          <p:nvPr/>
        </p:nvSpPr>
        <p:spPr>
          <a:xfrm>
            <a:off x="822960" y="1325880"/>
            <a:ext cx="10545775" cy="77724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Si legge: "se la condizione è vera usa il primo valore, altrimenti il secondo".</a:t>
            </a:r>
            <a:endParaRPr lang="en-US" sz="1900" dirty="0"/>
          </a:p>
        </p:txBody>
      </p:sp>
      <p:sp>
        <p:nvSpPr>
          <p:cNvPr id="7" name="Shape 4"/>
          <p:cNvSpPr/>
          <p:nvPr/>
        </p:nvSpPr>
        <p:spPr>
          <a:xfrm>
            <a:off x="822960" y="2468880"/>
            <a:ext cx="4206240" cy="914400"/>
          </a:xfrm>
          <a:prstGeom prst="roundRect">
            <a:avLst>
              <a:gd name="adj" fmla="val 10000"/>
            </a:avLst>
          </a:prstGeom>
          <a:solidFill>
            <a:srgbClr val="EEEAFB"/>
          </a:solidFill>
          <a:ln w="12700">
            <a:solidFill>
              <a:srgbClr val="EEEAFB"/>
            </a:solidFill>
            <a:prstDash val="solid"/>
          </a:ln>
        </p:spPr>
      </p:sp>
      <p:sp>
        <p:nvSpPr>
          <p:cNvPr id="8" name="Text 5"/>
          <p:cNvSpPr txBox="1"/>
          <p:nvPr/>
        </p:nvSpPr>
        <p:spPr>
          <a:xfrm>
            <a:off x="822960" y="2468880"/>
            <a:ext cx="4206240" cy="91440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var.environment == "prod"</a:t>
            </a:r>
            <a:endParaRPr lang="en-US" sz="1800" dirty="0"/>
          </a:p>
        </p:txBody>
      </p:sp>
      <p:sp>
        <p:nvSpPr>
          <p:cNvPr id="9" name="Text 6"/>
          <p:cNvSpPr txBox="1"/>
          <p:nvPr/>
        </p:nvSpPr>
        <p:spPr>
          <a:xfrm>
            <a:off x="822960" y="3429000"/>
            <a:ext cx="4206240" cy="41148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condizione</a:t>
            </a:r>
            <a:endParaRPr lang="en-US" sz="1600" dirty="0"/>
          </a:p>
        </p:txBody>
      </p:sp>
      <p:sp>
        <p:nvSpPr>
          <p:cNvPr id="10" name="Text 7"/>
          <p:cNvSpPr txBox="1"/>
          <p:nvPr/>
        </p:nvSpPr>
        <p:spPr>
          <a:xfrm>
            <a:off x="5166360" y="2468880"/>
            <a:ext cx="457200" cy="914400"/>
          </a:xfrm>
          <a:prstGeom prst="rect">
            <a:avLst/>
          </a:prstGeom>
          <a:noFill/>
          <a:ln/>
        </p:spPr>
        <p:txBody>
          <a:bodyPr wrap="square" lIns="0" tIns="0" rIns="0" bIns="0" rtlCol="0" anchor="ctr"/>
          <a:lstStyle/>
          <a:p>
            <a:pPr algn="ctr" indent="0" marL="0">
              <a:buNone/>
            </a:pPr>
            <a:r>
              <a:rPr lang="en-US" sz="2800" b="1" dirty="0">
                <a:solidFill>
                  <a:srgbClr val="5B3FD0"/>
                </a:solidFill>
                <a:latin typeface="Courier New" pitchFamily="34" charset="0"/>
                <a:ea typeface="Courier New" pitchFamily="34" charset="-122"/>
                <a:cs typeface="Courier New" pitchFamily="34" charset="-120"/>
              </a:rPr>
              <a:t>?</a:t>
            </a:r>
            <a:endParaRPr lang="en-US" sz="2800" dirty="0"/>
          </a:p>
        </p:txBody>
      </p:sp>
      <p:sp>
        <p:nvSpPr>
          <p:cNvPr id="11" name="Shape 8"/>
          <p:cNvSpPr/>
          <p:nvPr/>
        </p:nvSpPr>
        <p:spPr>
          <a:xfrm>
            <a:off x="5760720" y="2468880"/>
            <a:ext cx="2194560" cy="914400"/>
          </a:xfrm>
          <a:prstGeom prst="roundRect">
            <a:avLst>
              <a:gd name="adj" fmla="val 10000"/>
            </a:avLst>
          </a:prstGeom>
          <a:solidFill>
            <a:srgbClr val="E5F4EC"/>
          </a:solidFill>
          <a:ln w="12700">
            <a:solidFill>
              <a:srgbClr val="E5F4EC"/>
            </a:solidFill>
            <a:prstDash val="solid"/>
          </a:ln>
        </p:spPr>
      </p:sp>
      <p:sp>
        <p:nvSpPr>
          <p:cNvPr id="12" name="Text 9"/>
          <p:cNvSpPr txBox="1"/>
          <p:nvPr/>
        </p:nvSpPr>
        <p:spPr>
          <a:xfrm>
            <a:off x="5760720" y="2468880"/>
            <a:ext cx="2194560" cy="91440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"Enabled"</a:t>
            </a:r>
            <a:endParaRPr lang="en-US" sz="1800" dirty="0"/>
          </a:p>
        </p:txBody>
      </p:sp>
      <p:sp>
        <p:nvSpPr>
          <p:cNvPr id="13" name="Text 10"/>
          <p:cNvSpPr txBox="1"/>
          <p:nvPr/>
        </p:nvSpPr>
        <p:spPr>
          <a:xfrm>
            <a:off x="5760720" y="3429000"/>
            <a:ext cx="2194560" cy="41148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se è vera</a:t>
            </a:r>
            <a:endParaRPr lang="en-US" sz="1600" dirty="0"/>
          </a:p>
        </p:txBody>
      </p:sp>
      <p:sp>
        <p:nvSpPr>
          <p:cNvPr id="14" name="Text 11"/>
          <p:cNvSpPr txBox="1"/>
          <p:nvPr/>
        </p:nvSpPr>
        <p:spPr>
          <a:xfrm>
            <a:off x="8092440" y="2468880"/>
            <a:ext cx="457200" cy="914400"/>
          </a:xfrm>
          <a:prstGeom prst="rect">
            <a:avLst/>
          </a:prstGeom>
          <a:noFill/>
          <a:ln/>
        </p:spPr>
        <p:txBody>
          <a:bodyPr wrap="square" lIns="0" tIns="0" rIns="0" bIns="0" rtlCol="0" anchor="ctr"/>
          <a:lstStyle/>
          <a:p>
            <a:pPr algn="ctr" indent="0" marL="0">
              <a:buNone/>
            </a:pPr>
            <a:r>
              <a:rPr lang="en-US" sz="2800" b="1" dirty="0">
                <a:solidFill>
                  <a:srgbClr val="5B3FD0"/>
                </a:solidFill>
                <a:latin typeface="Courier New" pitchFamily="34" charset="0"/>
                <a:ea typeface="Courier New" pitchFamily="34" charset="-122"/>
                <a:cs typeface="Courier New" pitchFamily="34" charset="-120"/>
              </a:rPr>
              <a:t>:</a:t>
            </a:r>
            <a:endParaRPr lang="en-US" sz="2800" dirty="0"/>
          </a:p>
        </p:txBody>
      </p:sp>
      <p:sp>
        <p:nvSpPr>
          <p:cNvPr id="15" name="Shape 12"/>
          <p:cNvSpPr/>
          <p:nvPr/>
        </p:nvSpPr>
        <p:spPr>
          <a:xfrm>
            <a:off x="8686800" y="2468880"/>
            <a:ext cx="2468880" cy="914400"/>
          </a:xfrm>
          <a:prstGeom prst="roundRect">
            <a:avLst>
              <a:gd name="adj" fmla="val 10000"/>
            </a:avLst>
          </a:prstGeom>
          <a:solidFill>
            <a:srgbClr val="FDF0E3"/>
          </a:solidFill>
          <a:ln w="12700">
            <a:solidFill>
              <a:srgbClr val="FDF0E3"/>
            </a:solidFill>
            <a:prstDash val="solid"/>
          </a:ln>
        </p:spPr>
      </p:sp>
      <p:sp>
        <p:nvSpPr>
          <p:cNvPr id="16" name="Text 13"/>
          <p:cNvSpPr txBox="1"/>
          <p:nvPr/>
        </p:nvSpPr>
        <p:spPr>
          <a:xfrm>
            <a:off x="8686800" y="2468880"/>
            <a:ext cx="2468880" cy="91440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"Suspended"</a:t>
            </a:r>
            <a:endParaRPr lang="en-US" sz="1800" dirty="0"/>
          </a:p>
        </p:txBody>
      </p:sp>
      <p:sp>
        <p:nvSpPr>
          <p:cNvPr id="17" name="Text 14"/>
          <p:cNvSpPr txBox="1"/>
          <p:nvPr/>
        </p:nvSpPr>
        <p:spPr>
          <a:xfrm>
            <a:off x="8686800" y="3429000"/>
            <a:ext cx="2468880" cy="41148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se è falsa</a:t>
            </a:r>
            <a:endParaRPr lang="en-US" sz="1600" dirty="0"/>
          </a:p>
        </p:txBody>
      </p:sp>
      <p:sp>
        <p:nvSpPr>
          <p:cNvPr id="18" name="Text 15"/>
          <p:cNvSpPr txBox="1"/>
          <p:nvPr/>
        </p:nvSpPr>
        <p:spPr>
          <a:xfrm>
            <a:off x="548640" y="4069080"/>
            <a:ext cx="6949440" cy="36576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Nell'esempio, con environment = "dev":</a:t>
            </a:r>
            <a:endParaRPr lang="en-US" sz="1700" dirty="0"/>
          </a:p>
        </p:txBody>
      </p:sp>
      <p:sp>
        <p:nvSpPr>
          <p:cNvPr id="19" name="Shape 16"/>
          <p:cNvSpPr/>
          <p:nvPr/>
        </p:nvSpPr>
        <p:spPr>
          <a:xfrm>
            <a:off x="548640" y="4480560"/>
            <a:ext cx="6949440" cy="1188720"/>
          </a:xfrm>
          <a:prstGeom prst="roundRect">
            <a:avLst>
              <a:gd name="adj" fmla="val 6154"/>
            </a:avLst>
          </a:prstGeom>
          <a:solidFill>
            <a:srgbClr val="1E1E2E"/>
          </a:solidFill>
          <a:ln w="12700">
            <a:solidFill>
              <a:srgbClr val="1E1E2E"/>
            </a:solidFill>
            <a:prstDash val="solid"/>
          </a:ln>
        </p:spPr>
      </p:sp>
      <p:sp>
        <p:nvSpPr>
          <p:cNvPr id="20" name="Text 17"/>
          <p:cNvSpPr txBox="1"/>
          <p:nvPr/>
        </p:nvSpPr>
        <p:spPr>
          <a:xfrm>
            <a:off x="731520" y="4617720"/>
            <a:ext cx="6583680" cy="91440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"dev" == "prod"   </a:t>
            </a:r>
            <a:pPr indent="0" marL="0">
              <a:buNone/>
            </a:pPr>
            <a:r>
              <a:rPr lang="en-US" sz="1600" dirty="0">
                <a:solidFill>
                  <a:srgbClr val="8FD694"/>
                </a:solidFill>
                <a:latin typeface="Courier New" pitchFamily="34" charset="0"/>
                <a:ea typeface="Courier New" pitchFamily="34" charset="-122"/>
                <a:cs typeface="Courier New" pitchFamily="34" charset="-120"/>
              </a:rPr>
              <a:t># falso</a:t>
            </a:r>
            <a:endParaRPr lang="en-US" sz="1600" dirty="0"/>
          </a:p>
          <a:p>
            <a:pPr indent="0" marL="0">
              <a:buNone/>
            </a:pPr>
            <a:r>
              <a:rPr lang="en-US" sz="1600" dirty="0">
                <a:solidFill>
                  <a:srgbClr val="8FD694"/>
                </a:solidFill>
                <a:latin typeface="Courier New" pitchFamily="34" charset="0"/>
                <a:ea typeface="Courier New" pitchFamily="34" charset="-122"/>
                <a:cs typeface="Courier New" pitchFamily="34" charset="-120"/>
              </a:rPr>
              <a:t># quindi il secondo valore: "Suspended"</a:t>
            </a:r>
            <a:endParaRPr lang="en-US" sz="1600" dirty="0"/>
          </a:p>
        </p:txBody>
      </p:sp>
      <p:sp>
        <p:nvSpPr>
          <p:cNvPr id="21" name="Shape 18"/>
          <p:cNvSpPr/>
          <p:nvPr/>
        </p:nvSpPr>
        <p:spPr>
          <a:xfrm>
            <a:off x="7680960" y="4069080"/>
            <a:ext cx="3959352" cy="1600200"/>
          </a:xfrm>
          <a:prstGeom prst="roundRect">
            <a:avLst>
              <a:gd name="adj" fmla="val 6857"/>
            </a:avLst>
          </a:prstGeom>
          <a:solidFill>
            <a:srgbClr val="EEEAFB"/>
          </a:solidFill>
          <a:ln w="12700">
            <a:solidFill>
              <a:srgbClr val="EEEAFB"/>
            </a:solidFill>
            <a:prstDash val="solid"/>
          </a:ln>
        </p:spPr>
      </p:sp>
      <p:sp>
        <p:nvSpPr>
          <p:cNvPr id="22" name="Shape 19"/>
          <p:cNvSpPr/>
          <p:nvPr/>
        </p:nvSpPr>
        <p:spPr>
          <a:xfrm>
            <a:off x="7909560" y="4297680"/>
            <a:ext cx="548640" cy="548640"/>
          </a:xfrm>
          <a:prstGeom prst="ellipse">
            <a:avLst/>
          </a:prstGeom>
          <a:solidFill>
            <a:srgbClr val="5B3FD0"/>
          </a:solidFill>
          <a:ln w="12700">
            <a:solidFill>
              <a:srgbClr val="5B3FD0"/>
            </a:solidFill>
            <a:prstDash val="solid"/>
          </a:ln>
        </p:spPr>
      </p:sp>
      <p:pic>
        <p:nvPicPr>
          <p:cNvPr id="23" name="Image 0" descr="preencoded.png">    </p:cNvPr>
          <p:cNvPicPr>
            <a:picLocks noChangeAspect="1"/>
          </p:cNvPicPr>
          <p:nvPr/>
        </p:nvPicPr>
        <p:blipFill>
          <a:blip r:embed="rId1"/>
          <a:stretch>
            <a:fillRect/>
          </a:stretch>
        </p:blipFill>
        <p:spPr>
          <a:xfrm>
            <a:off x="8046720" y="4434840"/>
            <a:ext cx="274320" cy="274320"/>
          </a:xfrm>
          <a:prstGeom prst="rect">
            <a:avLst/>
          </a:prstGeom>
        </p:spPr>
      </p:pic>
      <p:sp>
        <p:nvSpPr>
          <p:cNvPr id="24" name="Text 20"/>
          <p:cNvSpPr txBox="1"/>
          <p:nvPr/>
        </p:nvSpPr>
        <p:spPr>
          <a:xfrm>
            <a:off x="8641080" y="4297680"/>
            <a:ext cx="277063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Prova in terraform console</a:t>
            </a:r>
            <a:endParaRPr lang="en-US" sz="1800" dirty="0"/>
          </a:p>
        </p:txBody>
      </p:sp>
      <p:sp>
        <p:nvSpPr>
          <p:cNvPr id="25" name="Text 21"/>
          <p:cNvSpPr txBox="1"/>
          <p:nvPr/>
        </p:nvSpPr>
        <p:spPr>
          <a:xfrm>
            <a:off x="7909560" y="4983480"/>
            <a:ext cx="3502152" cy="50292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Calcola le espressioni senza creare niente.</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dipendenze si capiscono da sole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737360"/>
            <a:ext cx="3108960" cy="1188720"/>
          </a:xfrm>
          <a:prstGeom prst="roundRect">
            <a:avLst>
              <a:gd name="adj" fmla="val 7692"/>
            </a:avLst>
          </a:prstGeom>
          <a:solidFill>
            <a:srgbClr val="EEEAFB"/>
          </a:solidFill>
          <a:ln w="12700">
            <a:solidFill>
              <a:srgbClr val="EEEAFB"/>
            </a:solidFill>
            <a:prstDash val="solid"/>
          </a:ln>
        </p:spPr>
      </p:sp>
      <p:sp>
        <p:nvSpPr>
          <p:cNvPr id="6" name="Text 3"/>
          <p:cNvSpPr txBox="1"/>
          <p:nvPr/>
        </p:nvSpPr>
        <p:spPr>
          <a:xfrm>
            <a:off x="548640" y="1737360"/>
            <a:ext cx="3108960" cy="1188720"/>
          </a:xfrm>
          <a:prstGeom prst="rect">
            <a:avLst/>
          </a:prstGeom>
          <a:noFill/>
          <a:ln/>
        </p:spPr>
        <p:txBody>
          <a:bodyPr wrap="square" lIns="76200" tIns="76200" rIns="76200" bIns="76200" rtlCol="0" anchor="ctr"/>
          <a:lstStyle/>
          <a:p>
            <a:pPr algn="ctr" indent="0" marL="0">
              <a:buNone/>
            </a:pPr>
            <a:r>
              <a:rPr lang="en-US" sz="1500" dirty="0">
                <a:solidFill>
                  <a:srgbClr val="22253A"/>
                </a:solidFill>
                <a:latin typeface="Courier New" pitchFamily="34" charset="0"/>
                <a:ea typeface="Courier New" pitchFamily="34" charset="-122"/>
                <a:cs typeface="Courier New" pitchFamily="34" charset="-120"/>
              </a:rPr>
              <a:t>random_id.suffix</a:t>
            </a:r>
            <a:endParaRPr lang="en-US" sz="1500" dirty="0"/>
          </a:p>
          <a:p>
            <a:pPr algn="ctr" indent="0" marL="0">
              <a:buNone/>
            </a:pPr>
            <a:r>
              <a:rPr lang="en-US" sz="1500" dirty="0">
                <a:solidFill>
                  <a:srgbClr val="22253A"/>
                </a:solidFill>
                <a:latin typeface="Courier New" pitchFamily="34" charset="0"/>
                <a:ea typeface="Courier New" pitchFamily="34" charset="-122"/>
                <a:cs typeface="Courier New" pitchFamily="34" charset="-120"/>
              </a:rPr>
              <a:t>genera a1b2c3d4</a:t>
            </a:r>
            <a:endParaRPr lang="en-US" sz="1500" dirty="0"/>
          </a:p>
        </p:txBody>
      </p:sp>
      <p:sp>
        <p:nvSpPr>
          <p:cNvPr id="7" name="Shape 4"/>
          <p:cNvSpPr/>
          <p:nvPr/>
        </p:nvSpPr>
        <p:spPr>
          <a:xfrm>
            <a:off x="3703320" y="2331720"/>
            <a:ext cx="868680" cy="0"/>
          </a:xfrm>
          <a:prstGeom prst="line">
            <a:avLst/>
          </a:prstGeom>
          <a:noFill/>
          <a:ln w="25400">
            <a:solidFill>
              <a:srgbClr val="5F6478"/>
            </a:solidFill>
            <a:prstDash val="solid"/>
            <a:tailEnd type="triangle"/>
          </a:ln>
        </p:spPr>
      </p:sp>
      <p:sp>
        <p:nvSpPr>
          <p:cNvPr id="8" name="Text 5"/>
          <p:cNvSpPr txBox="1"/>
          <p:nvPr/>
        </p:nvSpPr>
        <p:spPr>
          <a:xfrm>
            <a:off x="3703320" y="1874520"/>
            <a:ext cx="868680" cy="365760"/>
          </a:xfrm>
          <a:prstGeom prst="rect">
            <a:avLst/>
          </a:prstGeom>
          <a:noFill/>
          <a:ln/>
        </p:spPr>
        <p:txBody>
          <a:bodyPr wrap="square" lIns="0" tIns="0" rIns="0" bIns="0" rtlCol="0" anchor="ctr"/>
          <a:lstStyle/>
          <a:p>
            <a:pPr algn="ctr" indent="0" marL="0">
              <a:buNone/>
            </a:pPr>
            <a:r>
              <a:rPr lang="en-US" sz="1400" dirty="0">
                <a:solidFill>
                  <a:srgbClr val="5F6478"/>
                </a:solidFill>
                <a:latin typeface="Courier New" pitchFamily="34" charset="0"/>
                <a:ea typeface="Courier New" pitchFamily="34" charset="-122"/>
                <a:cs typeface="Courier New" pitchFamily="34" charset="-120"/>
              </a:rPr>
              <a:t>.hex</a:t>
            </a:r>
            <a:endParaRPr lang="en-US" sz="1400" dirty="0"/>
          </a:p>
        </p:txBody>
      </p:sp>
      <p:sp>
        <p:nvSpPr>
          <p:cNvPr id="9" name="Shape 6"/>
          <p:cNvSpPr/>
          <p:nvPr/>
        </p:nvSpPr>
        <p:spPr>
          <a:xfrm>
            <a:off x="4572000" y="1737360"/>
            <a:ext cx="3108960" cy="1188720"/>
          </a:xfrm>
          <a:prstGeom prst="roundRect">
            <a:avLst>
              <a:gd name="adj" fmla="val 7692"/>
            </a:avLst>
          </a:prstGeom>
          <a:solidFill>
            <a:srgbClr val="EEEAFB"/>
          </a:solidFill>
          <a:ln w="12700">
            <a:solidFill>
              <a:srgbClr val="EEEAFB"/>
            </a:solidFill>
            <a:prstDash val="solid"/>
          </a:ln>
        </p:spPr>
      </p:sp>
      <p:sp>
        <p:nvSpPr>
          <p:cNvPr id="10" name="Text 7"/>
          <p:cNvSpPr txBox="1"/>
          <p:nvPr/>
        </p:nvSpPr>
        <p:spPr>
          <a:xfrm>
            <a:off x="4572000" y="1737360"/>
            <a:ext cx="3108960" cy="1188720"/>
          </a:xfrm>
          <a:prstGeom prst="rect">
            <a:avLst/>
          </a:prstGeom>
          <a:noFill/>
          <a:ln/>
        </p:spPr>
        <p:txBody>
          <a:bodyPr wrap="square" lIns="76200" tIns="76200" rIns="76200" bIns="76200" rtlCol="0" anchor="ctr"/>
          <a:lstStyle/>
          <a:p>
            <a:pPr algn="ctr" indent="0" marL="0">
              <a:buNone/>
            </a:pPr>
            <a:r>
              <a:rPr lang="en-US" sz="1500" dirty="0">
                <a:solidFill>
                  <a:srgbClr val="22253A"/>
                </a:solidFill>
                <a:latin typeface="Courier New" pitchFamily="34" charset="0"/>
                <a:ea typeface="Courier New" pitchFamily="34" charset="-122"/>
                <a:cs typeface="Courier New" pitchFamily="34" charset="-120"/>
              </a:rPr>
              <a:t>aws_s3_bucket.demo</a:t>
            </a:r>
            <a:endParaRPr lang="en-US" sz="1500" dirty="0"/>
          </a:p>
          <a:p>
            <a:pPr algn="ctr" indent="0" marL="0">
              <a:buNone/>
            </a:pPr>
            <a:r>
              <a:rPr lang="en-US" sz="1500" dirty="0">
                <a:solidFill>
                  <a:srgbClr val="22253A"/>
                </a:solidFill>
                <a:latin typeface="Courier New" pitchFamily="34" charset="0"/>
                <a:ea typeface="Courier New" pitchFamily="34" charset="-122"/>
                <a:cs typeface="Courier New" pitchFamily="34" charset="-120"/>
              </a:rPr>
              <a:t>crea il bucket</a:t>
            </a:r>
            <a:endParaRPr lang="en-US" sz="1500" dirty="0"/>
          </a:p>
        </p:txBody>
      </p:sp>
      <p:sp>
        <p:nvSpPr>
          <p:cNvPr id="11" name="Shape 8"/>
          <p:cNvSpPr/>
          <p:nvPr/>
        </p:nvSpPr>
        <p:spPr>
          <a:xfrm>
            <a:off x="7726680" y="2331720"/>
            <a:ext cx="868680" cy="0"/>
          </a:xfrm>
          <a:prstGeom prst="line">
            <a:avLst/>
          </a:prstGeom>
          <a:noFill/>
          <a:ln w="25400">
            <a:solidFill>
              <a:srgbClr val="5F6478"/>
            </a:solidFill>
            <a:prstDash val="solid"/>
            <a:tailEnd type="triangle"/>
          </a:ln>
        </p:spPr>
      </p:sp>
      <p:sp>
        <p:nvSpPr>
          <p:cNvPr id="12" name="Text 9"/>
          <p:cNvSpPr txBox="1"/>
          <p:nvPr/>
        </p:nvSpPr>
        <p:spPr>
          <a:xfrm>
            <a:off x="7726680" y="1874520"/>
            <a:ext cx="868680" cy="365760"/>
          </a:xfrm>
          <a:prstGeom prst="rect">
            <a:avLst/>
          </a:prstGeom>
          <a:noFill/>
          <a:ln/>
        </p:spPr>
        <p:txBody>
          <a:bodyPr wrap="square" lIns="0" tIns="0" rIns="0" bIns="0" rtlCol="0" anchor="ctr"/>
          <a:lstStyle/>
          <a:p>
            <a:pPr algn="ctr" indent="0" marL="0">
              <a:buNone/>
            </a:pPr>
            <a:r>
              <a:rPr lang="en-US" sz="1400" dirty="0">
                <a:solidFill>
                  <a:srgbClr val="5F6478"/>
                </a:solidFill>
                <a:latin typeface="Courier New" pitchFamily="34" charset="0"/>
                <a:ea typeface="Courier New" pitchFamily="34" charset="-122"/>
                <a:cs typeface="Courier New" pitchFamily="34" charset="-120"/>
              </a:rPr>
              <a:t>.id</a:t>
            </a:r>
            <a:endParaRPr lang="en-US" sz="1400" dirty="0"/>
          </a:p>
        </p:txBody>
      </p:sp>
      <p:sp>
        <p:nvSpPr>
          <p:cNvPr id="13" name="Shape 10"/>
          <p:cNvSpPr/>
          <p:nvPr/>
        </p:nvSpPr>
        <p:spPr>
          <a:xfrm>
            <a:off x="8641080" y="1737360"/>
            <a:ext cx="2999232" cy="1188720"/>
          </a:xfrm>
          <a:prstGeom prst="roundRect">
            <a:avLst>
              <a:gd name="adj" fmla="val 7692"/>
            </a:avLst>
          </a:prstGeom>
          <a:solidFill>
            <a:srgbClr val="EEEAFB"/>
          </a:solidFill>
          <a:ln w="12700">
            <a:solidFill>
              <a:srgbClr val="EEEAFB"/>
            </a:solidFill>
            <a:prstDash val="solid"/>
          </a:ln>
        </p:spPr>
      </p:sp>
      <p:sp>
        <p:nvSpPr>
          <p:cNvPr id="14" name="Text 11"/>
          <p:cNvSpPr txBox="1"/>
          <p:nvPr/>
        </p:nvSpPr>
        <p:spPr>
          <a:xfrm>
            <a:off x="8641080" y="1737360"/>
            <a:ext cx="2999232" cy="1188720"/>
          </a:xfrm>
          <a:prstGeom prst="rect">
            <a:avLst/>
          </a:prstGeom>
          <a:noFill/>
          <a:ln/>
        </p:spPr>
        <p:txBody>
          <a:bodyPr wrap="square" lIns="76200" tIns="76200" rIns="76200" bIns="76200" rtlCol="0" anchor="ctr"/>
          <a:lstStyle/>
          <a:p>
            <a:pPr algn="ctr" indent="0" marL="0">
              <a:buNone/>
            </a:pPr>
            <a:r>
              <a:rPr lang="en-US" sz="1400" dirty="0">
                <a:solidFill>
                  <a:srgbClr val="22253A"/>
                </a:solidFill>
                <a:latin typeface="Courier New" pitchFamily="34" charset="0"/>
                <a:ea typeface="Courier New" pitchFamily="34" charset="-122"/>
                <a:cs typeface="Courier New" pitchFamily="34" charset="-120"/>
              </a:rPr>
              <a:t>aws_s3_bucket_versioning</a:t>
            </a:r>
            <a:endParaRPr lang="en-US" sz="1400" dirty="0"/>
          </a:p>
          <a:p>
            <a:pPr algn="ctr" indent="0" marL="0">
              <a:buNone/>
            </a:pPr>
            <a:r>
              <a:rPr lang="en-US" sz="1400" dirty="0">
                <a:solidFill>
                  <a:srgbClr val="22253A"/>
                </a:solidFill>
                <a:latin typeface="Courier New" pitchFamily="34" charset="0"/>
                <a:ea typeface="Courier New" pitchFamily="34" charset="-122"/>
                <a:cs typeface="Courier New" pitchFamily="34" charset="-120"/>
              </a:rPr>
              <a:t>attiva il versioning</a:t>
            </a:r>
            <a:endParaRPr lang="en-US" sz="1400" dirty="0"/>
          </a:p>
        </p:txBody>
      </p:sp>
      <p:sp>
        <p:nvSpPr>
          <p:cNvPr id="15" name="Shape 12"/>
          <p:cNvSpPr/>
          <p:nvPr/>
        </p:nvSpPr>
        <p:spPr>
          <a:xfrm>
            <a:off x="548640" y="3291840"/>
            <a:ext cx="6949440" cy="2560320"/>
          </a:xfrm>
          <a:prstGeom prst="roundRect">
            <a:avLst>
              <a:gd name="adj" fmla="val 2857"/>
            </a:avLst>
          </a:prstGeom>
          <a:solidFill>
            <a:srgbClr val="1E1E2E"/>
          </a:solidFill>
          <a:ln w="12700">
            <a:solidFill>
              <a:srgbClr val="1E1E2E"/>
            </a:solidFill>
            <a:prstDash val="solid"/>
          </a:ln>
        </p:spPr>
      </p:sp>
      <p:sp>
        <p:nvSpPr>
          <p:cNvPr id="16" name="Text 13"/>
          <p:cNvSpPr txBox="1"/>
          <p:nvPr/>
        </p:nvSpPr>
        <p:spPr>
          <a:xfrm>
            <a:off x="731520" y="3429000"/>
            <a:ext cx="6583680" cy="228600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resource "aws_s3_bucket_versioning" "demo"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bucket = aws_s3_bucket.demo.id   </a:t>
            </a:r>
            <a:pPr indent="0" marL="0">
              <a:buNone/>
            </a:pPr>
            <a:r>
              <a:rPr lang="en-US" sz="1600" dirty="0">
                <a:solidFill>
                  <a:srgbClr val="8FD694"/>
                </a:solidFill>
                <a:latin typeface="Courier New" pitchFamily="34" charset="0"/>
                <a:ea typeface="Courier New" pitchFamily="34" charset="-122"/>
                <a:cs typeface="Courier New" pitchFamily="34" charset="-120"/>
              </a:rPr>
              <a:t># dipendenza</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versioning_configuration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status = "Enabled"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17" name="Shape 14"/>
          <p:cNvSpPr/>
          <p:nvPr/>
        </p:nvSpPr>
        <p:spPr>
          <a:xfrm>
            <a:off x="7772400" y="3291840"/>
            <a:ext cx="3867912" cy="2560320"/>
          </a:xfrm>
          <a:prstGeom prst="roundRect">
            <a:avLst>
              <a:gd name="adj" fmla="val 3571"/>
            </a:avLst>
          </a:prstGeom>
          <a:solidFill>
            <a:srgbClr val="FDF0E3"/>
          </a:solidFill>
          <a:ln w="12700">
            <a:solidFill>
              <a:srgbClr val="FDF0E3"/>
            </a:solidFill>
            <a:prstDash val="solid"/>
          </a:ln>
        </p:spPr>
      </p:sp>
      <p:sp>
        <p:nvSpPr>
          <p:cNvPr id="18" name="Text 15"/>
          <p:cNvSpPr txBox="1"/>
          <p:nvPr/>
        </p:nvSpPr>
        <p:spPr>
          <a:xfrm>
            <a:off x="8046720" y="3291840"/>
            <a:ext cx="3319272" cy="256032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Un riferimento è una dipendenza. Non serve dire a Terraform l'ordine.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 file di un progetto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17320"/>
            <a:ext cx="3566160" cy="1965960"/>
          </a:xfrm>
          <a:prstGeom prst="roundRect">
            <a:avLst>
              <a:gd name="adj" fmla="val 5581"/>
            </a:avLst>
          </a:prstGeom>
          <a:solidFill>
            <a:srgbClr val="EEEAFB"/>
          </a:solidFill>
          <a:ln w="12700">
            <a:solidFill>
              <a:srgbClr val="EEEAFB"/>
            </a:solidFill>
            <a:prstDash val="solid"/>
          </a:ln>
        </p:spPr>
      </p:sp>
      <p:sp>
        <p:nvSpPr>
          <p:cNvPr id="6" name="Shape 3"/>
          <p:cNvSpPr/>
          <p:nvPr/>
        </p:nvSpPr>
        <p:spPr>
          <a:xfrm>
            <a:off x="777240" y="164592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providers.tf</a:t>
            </a:r>
            <a:endParaRPr lang="en-US" sz="1700" dirty="0"/>
          </a:p>
        </p:txBody>
      </p:sp>
      <p:sp>
        <p:nvSpPr>
          <p:cNvPr id="9" name="Text 5"/>
          <p:cNvSpPr txBox="1"/>
          <p:nvPr/>
        </p:nvSpPr>
        <p:spPr>
          <a:xfrm>
            <a:off x="777240" y="2331720"/>
            <a:ext cx="3108960" cy="8686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Con chi parlo?</a:t>
            </a:r>
            <a:endParaRPr lang="en-US" sz="1600" dirty="0"/>
          </a:p>
        </p:txBody>
      </p:sp>
      <p:sp>
        <p:nvSpPr>
          <p:cNvPr id="10" name="Shape 6"/>
          <p:cNvSpPr/>
          <p:nvPr/>
        </p:nvSpPr>
        <p:spPr>
          <a:xfrm>
            <a:off x="4297680" y="1417320"/>
            <a:ext cx="3566160" cy="1965960"/>
          </a:xfrm>
          <a:prstGeom prst="roundRect">
            <a:avLst>
              <a:gd name="adj" fmla="val 5581"/>
            </a:avLst>
          </a:prstGeom>
          <a:solidFill>
            <a:srgbClr val="EEEAFB"/>
          </a:solidFill>
          <a:ln w="12700">
            <a:solidFill>
              <a:srgbClr val="EEEAFB"/>
            </a:solidFill>
            <a:prstDash val="solid"/>
          </a:ln>
        </p:spPr>
      </p:sp>
      <p:sp>
        <p:nvSpPr>
          <p:cNvPr id="11" name="Shape 7"/>
          <p:cNvSpPr/>
          <p:nvPr/>
        </p:nvSpPr>
        <p:spPr>
          <a:xfrm>
            <a:off x="4526280" y="1645920"/>
            <a:ext cx="548640" cy="548640"/>
          </a:xfrm>
          <a:prstGeom prst="ellipse">
            <a:avLst/>
          </a:prstGeom>
          <a:solidFill>
            <a:srgbClr val="5B3FD0"/>
          </a:solidFill>
          <a:ln w="12700">
            <a:solidFill>
              <a:srgbClr val="5B3FD0"/>
            </a:solidFill>
            <a:prstDash val="solid"/>
          </a:ln>
        </p:spPr>
      </p:sp>
      <p:pic>
        <p:nvPicPr>
          <p:cNvPr id="12" name="Image 1" descr="preencoded.png">    </p:cNvPr>
          <p:cNvPicPr>
            <a:picLocks noChangeAspect="1"/>
          </p:cNvPicPr>
          <p:nvPr/>
        </p:nvPicPr>
        <p:blipFill>
          <a:blip r:embed="rId2"/>
          <a:stretch>
            <a:fillRect/>
          </a:stretch>
        </p:blipFill>
        <p:spPr>
          <a:xfrm>
            <a:off x="4663440" y="1783080"/>
            <a:ext cx="274320" cy="274320"/>
          </a:xfrm>
          <a:prstGeom prst="rect">
            <a:avLst/>
          </a:prstGeom>
        </p:spPr>
      </p:pic>
      <p:sp>
        <p:nvSpPr>
          <p:cNvPr id="13" name="Text 8"/>
          <p:cNvSpPr txBox="1"/>
          <p:nvPr/>
        </p:nvSpPr>
        <p:spPr>
          <a:xfrm>
            <a:off x="5257800" y="164592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backend.tf</a:t>
            </a:r>
            <a:endParaRPr lang="en-US" sz="1700" dirty="0"/>
          </a:p>
        </p:txBody>
      </p:sp>
      <p:sp>
        <p:nvSpPr>
          <p:cNvPr id="14" name="Text 9"/>
          <p:cNvSpPr txBox="1"/>
          <p:nvPr/>
        </p:nvSpPr>
        <p:spPr>
          <a:xfrm>
            <a:off x="4526280" y="2331720"/>
            <a:ext cx="3108960" cy="8686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Dove salvo lo state?</a:t>
            </a:r>
            <a:endParaRPr lang="en-US" sz="1600" dirty="0"/>
          </a:p>
        </p:txBody>
      </p:sp>
      <p:sp>
        <p:nvSpPr>
          <p:cNvPr id="15" name="Shape 10"/>
          <p:cNvSpPr/>
          <p:nvPr/>
        </p:nvSpPr>
        <p:spPr>
          <a:xfrm>
            <a:off x="8046720" y="1417320"/>
            <a:ext cx="3566160" cy="1965960"/>
          </a:xfrm>
          <a:prstGeom prst="roundRect">
            <a:avLst>
              <a:gd name="adj" fmla="val 5581"/>
            </a:avLst>
          </a:prstGeom>
          <a:solidFill>
            <a:srgbClr val="EEEAFB"/>
          </a:solidFill>
          <a:ln w="12700">
            <a:solidFill>
              <a:srgbClr val="EEEAFB"/>
            </a:solidFill>
            <a:prstDash val="solid"/>
          </a:ln>
        </p:spPr>
      </p:sp>
      <p:sp>
        <p:nvSpPr>
          <p:cNvPr id="16" name="Shape 11"/>
          <p:cNvSpPr/>
          <p:nvPr/>
        </p:nvSpPr>
        <p:spPr>
          <a:xfrm>
            <a:off x="8275320" y="1645920"/>
            <a:ext cx="548640" cy="548640"/>
          </a:xfrm>
          <a:prstGeom prst="ellipse">
            <a:avLst/>
          </a:prstGeom>
          <a:solidFill>
            <a:srgbClr val="5B3FD0"/>
          </a:solidFill>
          <a:ln w="12700">
            <a:solidFill>
              <a:srgbClr val="5B3FD0"/>
            </a:solidFill>
            <a:prstDash val="solid"/>
          </a:ln>
        </p:spPr>
      </p:sp>
      <p:pic>
        <p:nvPicPr>
          <p:cNvPr id="17" name="Image 2" descr="preencoded.png">    </p:cNvPr>
          <p:cNvPicPr>
            <a:picLocks noChangeAspect="1"/>
          </p:cNvPicPr>
          <p:nvPr/>
        </p:nvPicPr>
        <p:blipFill>
          <a:blip r:embed="rId3"/>
          <a:stretch>
            <a:fillRect/>
          </a:stretch>
        </p:blipFill>
        <p:spPr>
          <a:xfrm>
            <a:off x="8412480" y="1783080"/>
            <a:ext cx="274320" cy="274320"/>
          </a:xfrm>
          <a:prstGeom prst="rect">
            <a:avLst/>
          </a:prstGeom>
        </p:spPr>
      </p:pic>
      <p:sp>
        <p:nvSpPr>
          <p:cNvPr id="18" name="Text 12"/>
          <p:cNvSpPr txBox="1"/>
          <p:nvPr/>
        </p:nvSpPr>
        <p:spPr>
          <a:xfrm>
            <a:off x="9006840" y="164592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variables.tf</a:t>
            </a:r>
            <a:endParaRPr lang="en-US" sz="1700" dirty="0"/>
          </a:p>
        </p:txBody>
      </p:sp>
      <p:sp>
        <p:nvSpPr>
          <p:cNvPr id="19" name="Text 13"/>
          <p:cNvSpPr txBox="1"/>
          <p:nvPr/>
        </p:nvSpPr>
        <p:spPr>
          <a:xfrm>
            <a:off x="8275320" y="2331720"/>
            <a:ext cx="3108960" cy="8686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Cosa si può configurare?</a:t>
            </a:r>
            <a:endParaRPr lang="en-US" sz="1600" dirty="0"/>
          </a:p>
        </p:txBody>
      </p:sp>
      <p:sp>
        <p:nvSpPr>
          <p:cNvPr id="20" name="Shape 14"/>
          <p:cNvSpPr/>
          <p:nvPr/>
        </p:nvSpPr>
        <p:spPr>
          <a:xfrm>
            <a:off x="548640" y="3566160"/>
            <a:ext cx="3566160" cy="1965960"/>
          </a:xfrm>
          <a:prstGeom prst="roundRect">
            <a:avLst>
              <a:gd name="adj" fmla="val 5581"/>
            </a:avLst>
          </a:prstGeom>
          <a:solidFill>
            <a:srgbClr val="EEEAFB"/>
          </a:solidFill>
          <a:ln w="12700">
            <a:solidFill>
              <a:srgbClr val="EEEAFB"/>
            </a:solidFill>
            <a:prstDash val="solid"/>
          </a:ln>
        </p:spPr>
      </p:sp>
      <p:sp>
        <p:nvSpPr>
          <p:cNvPr id="21" name="Shape 15"/>
          <p:cNvSpPr/>
          <p:nvPr/>
        </p:nvSpPr>
        <p:spPr>
          <a:xfrm>
            <a:off x="777240" y="3794760"/>
            <a:ext cx="548640" cy="548640"/>
          </a:xfrm>
          <a:prstGeom prst="ellipse">
            <a:avLst/>
          </a:prstGeom>
          <a:solidFill>
            <a:srgbClr val="5B3FD0"/>
          </a:solidFill>
          <a:ln w="12700">
            <a:solidFill>
              <a:srgbClr val="5B3FD0"/>
            </a:solidFill>
            <a:prstDash val="solid"/>
          </a:ln>
        </p:spPr>
      </p:sp>
      <p:pic>
        <p:nvPicPr>
          <p:cNvPr id="22" name="Image 3" descr="preencoded.png">    </p:cNvPr>
          <p:cNvPicPr>
            <a:picLocks noChangeAspect="1"/>
          </p:cNvPicPr>
          <p:nvPr/>
        </p:nvPicPr>
        <p:blipFill>
          <a:blip r:embed="rId4"/>
          <a:stretch>
            <a:fillRect/>
          </a:stretch>
        </p:blipFill>
        <p:spPr>
          <a:xfrm>
            <a:off x="914400" y="3931920"/>
            <a:ext cx="274320" cy="274320"/>
          </a:xfrm>
          <a:prstGeom prst="rect">
            <a:avLst/>
          </a:prstGeom>
        </p:spPr>
      </p:pic>
      <p:sp>
        <p:nvSpPr>
          <p:cNvPr id="23" name="Text 16"/>
          <p:cNvSpPr txBox="1"/>
          <p:nvPr/>
        </p:nvSpPr>
        <p:spPr>
          <a:xfrm>
            <a:off x="1508760" y="379476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terraform.tfvars</a:t>
            </a:r>
            <a:endParaRPr lang="en-US" sz="1700" dirty="0"/>
          </a:p>
        </p:txBody>
      </p:sp>
      <p:sp>
        <p:nvSpPr>
          <p:cNvPr id="24" name="Text 17"/>
          <p:cNvSpPr txBox="1"/>
          <p:nvPr/>
        </p:nvSpPr>
        <p:spPr>
          <a:xfrm>
            <a:off x="777240" y="4480560"/>
            <a:ext cx="3108960" cy="8686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Con che valori gira questo ambiente?</a:t>
            </a:r>
            <a:endParaRPr lang="en-US" sz="1600" dirty="0"/>
          </a:p>
        </p:txBody>
      </p:sp>
      <p:sp>
        <p:nvSpPr>
          <p:cNvPr id="25" name="Shape 18"/>
          <p:cNvSpPr/>
          <p:nvPr/>
        </p:nvSpPr>
        <p:spPr>
          <a:xfrm>
            <a:off x="4297680" y="3566160"/>
            <a:ext cx="3566160" cy="1965960"/>
          </a:xfrm>
          <a:prstGeom prst="roundRect">
            <a:avLst>
              <a:gd name="adj" fmla="val 5581"/>
            </a:avLst>
          </a:prstGeom>
          <a:solidFill>
            <a:srgbClr val="EEEAFB"/>
          </a:solidFill>
          <a:ln w="12700">
            <a:solidFill>
              <a:srgbClr val="EEEAFB"/>
            </a:solidFill>
            <a:prstDash val="solid"/>
          </a:ln>
        </p:spPr>
      </p:sp>
      <p:sp>
        <p:nvSpPr>
          <p:cNvPr id="26" name="Shape 19"/>
          <p:cNvSpPr/>
          <p:nvPr/>
        </p:nvSpPr>
        <p:spPr>
          <a:xfrm>
            <a:off x="4526280" y="3794760"/>
            <a:ext cx="548640" cy="548640"/>
          </a:xfrm>
          <a:prstGeom prst="ellipse">
            <a:avLst/>
          </a:prstGeom>
          <a:solidFill>
            <a:srgbClr val="5B3FD0"/>
          </a:solidFill>
          <a:ln w="12700">
            <a:solidFill>
              <a:srgbClr val="5B3FD0"/>
            </a:solidFill>
            <a:prstDash val="solid"/>
          </a:ln>
        </p:spPr>
      </p:sp>
      <p:pic>
        <p:nvPicPr>
          <p:cNvPr id="27" name="Image 4" descr="preencoded.png">    </p:cNvPr>
          <p:cNvPicPr>
            <a:picLocks noChangeAspect="1"/>
          </p:cNvPicPr>
          <p:nvPr/>
        </p:nvPicPr>
        <p:blipFill>
          <a:blip r:embed="rId5"/>
          <a:stretch>
            <a:fillRect/>
          </a:stretch>
        </p:blipFill>
        <p:spPr>
          <a:xfrm>
            <a:off x="4663440" y="3931920"/>
            <a:ext cx="274320" cy="274320"/>
          </a:xfrm>
          <a:prstGeom prst="rect">
            <a:avLst/>
          </a:prstGeom>
        </p:spPr>
      </p:pic>
      <p:sp>
        <p:nvSpPr>
          <p:cNvPr id="28" name="Text 20"/>
          <p:cNvSpPr txBox="1"/>
          <p:nvPr/>
        </p:nvSpPr>
        <p:spPr>
          <a:xfrm>
            <a:off x="5257800" y="379476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main.tf e altri .tf</a:t>
            </a:r>
            <a:endParaRPr lang="en-US" sz="1700" dirty="0"/>
          </a:p>
        </p:txBody>
      </p:sp>
      <p:sp>
        <p:nvSpPr>
          <p:cNvPr id="29" name="Text 21"/>
          <p:cNvSpPr txBox="1"/>
          <p:nvPr/>
        </p:nvSpPr>
        <p:spPr>
          <a:xfrm>
            <a:off x="4526280" y="4480560"/>
            <a:ext cx="3108960" cy="8686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Cosa costruisco?</a:t>
            </a:r>
            <a:endParaRPr lang="en-US" sz="1600" dirty="0"/>
          </a:p>
        </p:txBody>
      </p:sp>
      <p:sp>
        <p:nvSpPr>
          <p:cNvPr id="30" name="Shape 22"/>
          <p:cNvSpPr/>
          <p:nvPr/>
        </p:nvSpPr>
        <p:spPr>
          <a:xfrm>
            <a:off x="8046720" y="3566160"/>
            <a:ext cx="3566160" cy="1965960"/>
          </a:xfrm>
          <a:prstGeom prst="roundRect">
            <a:avLst>
              <a:gd name="adj" fmla="val 5581"/>
            </a:avLst>
          </a:prstGeom>
          <a:solidFill>
            <a:srgbClr val="EEEAFB"/>
          </a:solidFill>
          <a:ln w="12700">
            <a:solidFill>
              <a:srgbClr val="EEEAFB"/>
            </a:solidFill>
            <a:prstDash val="solid"/>
          </a:ln>
        </p:spPr>
      </p:sp>
      <p:sp>
        <p:nvSpPr>
          <p:cNvPr id="31" name="Shape 23"/>
          <p:cNvSpPr/>
          <p:nvPr/>
        </p:nvSpPr>
        <p:spPr>
          <a:xfrm>
            <a:off x="8275320" y="3794760"/>
            <a:ext cx="548640" cy="548640"/>
          </a:xfrm>
          <a:prstGeom prst="ellipse">
            <a:avLst/>
          </a:prstGeom>
          <a:solidFill>
            <a:srgbClr val="5B3FD0"/>
          </a:solidFill>
          <a:ln w="12700">
            <a:solidFill>
              <a:srgbClr val="5B3FD0"/>
            </a:solidFill>
            <a:prstDash val="solid"/>
          </a:ln>
        </p:spPr>
      </p:sp>
      <p:pic>
        <p:nvPicPr>
          <p:cNvPr id="32" name="Image 5" descr="preencoded.png">    </p:cNvPr>
          <p:cNvPicPr>
            <a:picLocks noChangeAspect="1"/>
          </p:cNvPicPr>
          <p:nvPr/>
        </p:nvPicPr>
        <p:blipFill>
          <a:blip r:embed="rId6"/>
          <a:stretch>
            <a:fillRect/>
          </a:stretch>
        </p:blipFill>
        <p:spPr>
          <a:xfrm>
            <a:off x="8412480" y="3931920"/>
            <a:ext cx="274320" cy="274320"/>
          </a:xfrm>
          <a:prstGeom prst="rect">
            <a:avLst/>
          </a:prstGeom>
        </p:spPr>
      </p:pic>
      <p:sp>
        <p:nvSpPr>
          <p:cNvPr id="33" name="Text 24"/>
          <p:cNvSpPr txBox="1"/>
          <p:nvPr/>
        </p:nvSpPr>
        <p:spPr>
          <a:xfrm>
            <a:off x="9006840" y="379476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outputs.tf</a:t>
            </a:r>
            <a:endParaRPr lang="en-US" sz="1700" dirty="0"/>
          </a:p>
        </p:txBody>
      </p:sp>
      <p:sp>
        <p:nvSpPr>
          <p:cNvPr id="34" name="Text 25"/>
          <p:cNvSpPr txBox="1"/>
          <p:nvPr/>
        </p:nvSpPr>
        <p:spPr>
          <a:xfrm>
            <a:off x="8275320" y="4480560"/>
            <a:ext cx="3108960" cy="8686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Cosa mi serve sapere alla fine?</a:t>
            </a:r>
            <a:endParaRPr lang="en-US" sz="1600" dirty="0"/>
          </a:p>
        </p:txBody>
      </p:sp>
      <p:sp>
        <p:nvSpPr>
          <p:cNvPr id="35" name="Text 26"/>
          <p:cNvSpPr txBox="1"/>
          <p:nvPr/>
        </p:nvSpPr>
        <p:spPr>
          <a:xfrm>
            <a:off x="548640" y="5806440"/>
            <a:ext cx="11094415" cy="41148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Terraform legge tutti i .tf della cartella insieme: l'ordine e i nomi dei file non contano.</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Variabili: il questionario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2468880" cy="1005840"/>
          </a:xfrm>
          <a:prstGeom prst="roundRect">
            <a:avLst>
              <a:gd name="adj" fmla="val 9091"/>
            </a:avLst>
          </a:prstGeom>
          <a:solidFill>
            <a:srgbClr val="FDF0E3"/>
          </a:solidFill>
          <a:ln w="12700">
            <a:solidFill>
              <a:srgbClr val="FDF0E3"/>
            </a:solidFill>
            <a:prstDash val="solid"/>
          </a:ln>
        </p:spPr>
      </p:sp>
      <p:sp>
        <p:nvSpPr>
          <p:cNvPr id="6" name="Text 3"/>
          <p:cNvSpPr txBox="1"/>
          <p:nvPr/>
        </p:nvSpPr>
        <p:spPr>
          <a:xfrm>
            <a:off x="548640" y="1463040"/>
            <a:ext cx="2468880" cy="100584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terraform.tfvars</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i valori</a:t>
            </a:r>
            <a:endParaRPr lang="en-US" sz="1500" dirty="0"/>
          </a:p>
        </p:txBody>
      </p:sp>
      <p:sp>
        <p:nvSpPr>
          <p:cNvPr id="7" name="Shape 4"/>
          <p:cNvSpPr/>
          <p:nvPr/>
        </p:nvSpPr>
        <p:spPr>
          <a:xfrm>
            <a:off x="3035808" y="1965960"/>
            <a:ext cx="329184" cy="0"/>
          </a:xfrm>
          <a:prstGeom prst="line">
            <a:avLst/>
          </a:prstGeom>
          <a:noFill/>
          <a:ln w="25400">
            <a:solidFill>
              <a:srgbClr val="5F6478"/>
            </a:solidFill>
            <a:prstDash val="solid"/>
            <a:tailEnd type="triangle"/>
          </a:ln>
        </p:spPr>
      </p:sp>
      <p:sp>
        <p:nvSpPr>
          <p:cNvPr id="8" name="Shape 5"/>
          <p:cNvSpPr/>
          <p:nvPr/>
        </p:nvSpPr>
        <p:spPr>
          <a:xfrm>
            <a:off x="3383280" y="1463040"/>
            <a:ext cx="2468880" cy="1005840"/>
          </a:xfrm>
          <a:prstGeom prst="roundRect">
            <a:avLst>
              <a:gd name="adj" fmla="val 9091"/>
            </a:avLst>
          </a:prstGeom>
          <a:solidFill>
            <a:srgbClr val="EEEAFB"/>
          </a:solidFill>
          <a:ln w="12700">
            <a:solidFill>
              <a:srgbClr val="EEEAFB"/>
            </a:solidFill>
            <a:prstDash val="solid"/>
          </a:ln>
        </p:spPr>
      </p:sp>
      <p:sp>
        <p:nvSpPr>
          <p:cNvPr id="9" name="Text 6"/>
          <p:cNvSpPr txBox="1"/>
          <p:nvPr/>
        </p:nvSpPr>
        <p:spPr>
          <a:xfrm>
            <a:off x="3383280" y="1463040"/>
            <a:ext cx="2468880" cy="100584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variables.tf</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i campi vuoti</a:t>
            </a:r>
            <a:endParaRPr lang="en-US" sz="1500" dirty="0"/>
          </a:p>
        </p:txBody>
      </p:sp>
      <p:sp>
        <p:nvSpPr>
          <p:cNvPr id="10" name="Shape 7"/>
          <p:cNvSpPr/>
          <p:nvPr/>
        </p:nvSpPr>
        <p:spPr>
          <a:xfrm>
            <a:off x="5870448" y="1965960"/>
            <a:ext cx="329184" cy="0"/>
          </a:xfrm>
          <a:prstGeom prst="line">
            <a:avLst/>
          </a:prstGeom>
          <a:noFill/>
          <a:ln w="25400">
            <a:solidFill>
              <a:srgbClr val="5F6478"/>
            </a:solidFill>
            <a:prstDash val="solid"/>
            <a:tailEnd type="triangle"/>
          </a:ln>
        </p:spPr>
      </p:sp>
      <p:sp>
        <p:nvSpPr>
          <p:cNvPr id="11" name="Shape 8"/>
          <p:cNvSpPr/>
          <p:nvPr/>
        </p:nvSpPr>
        <p:spPr>
          <a:xfrm>
            <a:off x="6217920" y="1463040"/>
            <a:ext cx="2468880" cy="1005840"/>
          </a:xfrm>
          <a:prstGeom prst="roundRect">
            <a:avLst>
              <a:gd name="adj" fmla="val 9091"/>
            </a:avLst>
          </a:prstGeom>
          <a:solidFill>
            <a:srgbClr val="EEEAFB"/>
          </a:solidFill>
          <a:ln w="12700">
            <a:solidFill>
              <a:srgbClr val="EEEAFB"/>
            </a:solidFill>
            <a:prstDash val="solid"/>
          </a:ln>
        </p:spPr>
      </p:sp>
      <p:sp>
        <p:nvSpPr>
          <p:cNvPr id="12" name="Text 9"/>
          <p:cNvSpPr txBox="1"/>
          <p:nvPr/>
        </p:nvSpPr>
        <p:spPr>
          <a:xfrm>
            <a:off x="6217920" y="1463040"/>
            <a:ext cx="2468880" cy="100584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main.tf</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usa var.project</a:t>
            </a:r>
            <a:endParaRPr lang="en-US" sz="1500" dirty="0"/>
          </a:p>
        </p:txBody>
      </p:sp>
      <p:sp>
        <p:nvSpPr>
          <p:cNvPr id="13" name="Shape 10"/>
          <p:cNvSpPr/>
          <p:nvPr/>
        </p:nvSpPr>
        <p:spPr>
          <a:xfrm>
            <a:off x="8705088" y="1965960"/>
            <a:ext cx="329184" cy="0"/>
          </a:xfrm>
          <a:prstGeom prst="line">
            <a:avLst/>
          </a:prstGeom>
          <a:noFill/>
          <a:ln w="25400">
            <a:solidFill>
              <a:srgbClr val="5F6478"/>
            </a:solidFill>
            <a:prstDash val="solid"/>
            <a:tailEnd type="triangle"/>
          </a:ln>
        </p:spPr>
      </p:sp>
      <p:sp>
        <p:nvSpPr>
          <p:cNvPr id="14" name="Shape 11"/>
          <p:cNvSpPr/>
          <p:nvPr/>
        </p:nvSpPr>
        <p:spPr>
          <a:xfrm>
            <a:off x="9052560" y="1463040"/>
            <a:ext cx="2468880" cy="1005840"/>
          </a:xfrm>
          <a:prstGeom prst="roundRect">
            <a:avLst>
              <a:gd name="adj" fmla="val 9091"/>
            </a:avLst>
          </a:prstGeom>
          <a:solidFill>
            <a:srgbClr val="EEEAFB"/>
          </a:solidFill>
          <a:ln w="12700">
            <a:solidFill>
              <a:srgbClr val="EEEAFB"/>
            </a:solidFill>
            <a:prstDash val="solid"/>
          </a:ln>
        </p:spPr>
      </p:sp>
      <p:sp>
        <p:nvSpPr>
          <p:cNvPr id="15" name="Text 12"/>
          <p:cNvSpPr txBox="1"/>
          <p:nvPr/>
        </p:nvSpPr>
        <p:spPr>
          <a:xfrm>
            <a:off x="9052560" y="1463040"/>
            <a:ext cx="2468880" cy="100584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outputs.tf</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la ricevuta</a:t>
            </a:r>
            <a:endParaRPr lang="en-US" sz="1500" dirty="0"/>
          </a:p>
        </p:txBody>
      </p:sp>
      <p:sp>
        <p:nvSpPr>
          <p:cNvPr id="16" name="Shape 13"/>
          <p:cNvSpPr/>
          <p:nvPr/>
        </p:nvSpPr>
        <p:spPr>
          <a:xfrm>
            <a:off x="548640" y="2834640"/>
            <a:ext cx="5486400" cy="2103120"/>
          </a:xfrm>
          <a:prstGeom prst="roundRect">
            <a:avLst>
              <a:gd name="adj" fmla="val 3478"/>
            </a:avLst>
          </a:prstGeom>
          <a:solidFill>
            <a:srgbClr val="1E1E2E"/>
          </a:solidFill>
          <a:ln w="12700">
            <a:solidFill>
              <a:srgbClr val="1E1E2E"/>
            </a:solidFill>
            <a:prstDash val="solid"/>
          </a:ln>
        </p:spPr>
      </p:sp>
      <p:sp>
        <p:nvSpPr>
          <p:cNvPr id="17" name="Text 14"/>
          <p:cNvSpPr txBox="1"/>
          <p:nvPr/>
        </p:nvSpPr>
        <p:spPr>
          <a:xfrm>
            <a:off x="731520" y="2971800"/>
            <a:ext cx="5120640" cy="1828800"/>
          </a:xfrm>
          <a:prstGeom prst="rect">
            <a:avLst/>
          </a:prstGeom>
          <a:noFill/>
          <a:ln/>
        </p:spPr>
        <p:txBody>
          <a:bodyPr wrap="square" lIns="0" tIns="0" rIns="0" bIns="0" rtlCol="0" anchor="t"/>
          <a:lstStyle/>
          <a:p>
            <a:pPr indent="0" marL="0">
              <a:buNone/>
            </a:pPr>
            <a:r>
              <a:rPr lang="en-US" sz="1600" dirty="0">
                <a:solidFill>
                  <a:srgbClr val="8FD694"/>
                </a:solidFill>
                <a:latin typeface="Courier New" pitchFamily="34" charset="0"/>
                <a:ea typeface="Courier New" pitchFamily="34" charset="-122"/>
                <a:cs typeface="Courier New" pitchFamily="34" charset="-120"/>
              </a:rPr>
              <a:t># variables.tf: il campo vuoto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variable "project"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type        = string</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description = "Prefisso dei nomi"</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18" name="Shape 15"/>
          <p:cNvSpPr/>
          <p:nvPr/>
        </p:nvSpPr>
        <p:spPr>
          <a:xfrm>
            <a:off x="6217920" y="2834640"/>
            <a:ext cx="5422392" cy="2103120"/>
          </a:xfrm>
          <a:prstGeom prst="roundRect">
            <a:avLst>
              <a:gd name="adj" fmla="val 3478"/>
            </a:avLst>
          </a:prstGeom>
          <a:solidFill>
            <a:srgbClr val="1E1E2E"/>
          </a:solidFill>
          <a:ln w="12700">
            <a:solidFill>
              <a:srgbClr val="1E1E2E"/>
            </a:solidFill>
            <a:prstDash val="solid"/>
          </a:ln>
        </p:spPr>
      </p:sp>
      <p:sp>
        <p:nvSpPr>
          <p:cNvPr id="19" name="Text 16"/>
          <p:cNvSpPr txBox="1"/>
          <p:nvPr/>
        </p:nvSpPr>
        <p:spPr>
          <a:xfrm>
            <a:off x="6400800" y="2971800"/>
            <a:ext cx="5056632" cy="1828800"/>
          </a:xfrm>
          <a:prstGeom prst="rect">
            <a:avLst/>
          </a:prstGeom>
          <a:noFill/>
          <a:ln/>
        </p:spPr>
        <p:txBody>
          <a:bodyPr wrap="square" lIns="0" tIns="0" rIns="0" bIns="0" rtlCol="0" anchor="t"/>
          <a:lstStyle/>
          <a:p>
            <a:pPr indent="0" marL="0">
              <a:buNone/>
            </a:pPr>
            <a:r>
              <a:rPr lang="en-US" sz="1600" dirty="0">
                <a:solidFill>
                  <a:srgbClr val="8FD694"/>
                </a:solidFill>
                <a:latin typeface="Courier New" pitchFamily="34" charset="0"/>
                <a:ea typeface="Courier New" pitchFamily="34" charset="-122"/>
                <a:cs typeface="Courier New" pitchFamily="34" charset="-120"/>
              </a:rPr>
              <a:t># terraform.tfvars: il campo compilato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project = "corso-aws"</a:t>
            </a:r>
            <a:endParaRPr lang="en-US" sz="1600" dirty="0"/>
          </a:p>
        </p:txBody>
      </p:sp>
      <p:sp>
        <p:nvSpPr>
          <p:cNvPr id="20" name="Shape 17"/>
          <p:cNvSpPr/>
          <p:nvPr/>
        </p:nvSpPr>
        <p:spPr>
          <a:xfrm>
            <a:off x="548640" y="5212080"/>
            <a:ext cx="11094415" cy="777240"/>
          </a:xfrm>
          <a:prstGeom prst="roundRect">
            <a:avLst>
              <a:gd name="adj" fmla="val 11765"/>
            </a:avLst>
          </a:prstGeom>
          <a:solidFill>
            <a:srgbClr val="FDF0E3"/>
          </a:solidFill>
          <a:ln w="12700">
            <a:solidFill>
              <a:srgbClr val="FDF0E3"/>
            </a:solidFill>
            <a:prstDash val="solid"/>
          </a:ln>
        </p:spPr>
      </p:sp>
      <p:sp>
        <p:nvSpPr>
          <p:cNvPr id="21" name="Text 18"/>
          <p:cNvSpPr txBox="1"/>
          <p:nvPr/>
        </p:nvSpPr>
        <p:spPr>
          <a:xfrm>
            <a:off x="822960" y="5212080"/>
            <a:ext cx="10545775" cy="77724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variable = arriva da fuori        locals = calcolato dentro</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ciclo di lavoro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1325880" y="1645920"/>
            <a:ext cx="1005840" cy="1005840"/>
          </a:xfrm>
          <a:prstGeom prst="ellipse">
            <a:avLst/>
          </a:prstGeom>
          <a:solidFill>
            <a:srgbClr val="5B3FD0"/>
          </a:solidFill>
          <a:ln w="12700">
            <a:solidFill>
              <a:srgbClr val="5B3FD0"/>
            </a:solidFill>
            <a:prstDash val="solid"/>
          </a:ln>
        </p:spPr>
      </p:sp>
      <p:pic>
        <p:nvPicPr>
          <p:cNvPr id="6" name="Image 0" descr="preencoded.png">    </p:cNvPr>
          <p:cNvPicPr>
            <a:picLocks noChangeAspect="1"/>
          </p:cNvPicPr>
          <p:nvPr/>
        </p:nvPicPr>
        <p:blipFill>
          <a:blip r:embed="rId1"/>
          <a:stretch>
            <a:fillRect/>
          </a:stretch>
        </p:blipFill>
        <p:spPr>
          <a:xfrm>
            <a:off x="1577340" y="1897380"/>
            <a:ext cx="502920" cy="502920"/>
          </a:xfrm>
          <a:prstGeom prst="rect">
            <a:avLst/>
          </a:prstGeom>
        </p:spPr>
      </p:pic>
      <p:sp>
        <p:nvSpPr>
          <p:cNvPr id="7" name="Text 3"/>
          <p:cNvSpPr txBox="1"/>
          <p:nvPr/>
        </p:nvSpPr>
        <p:spPr>
          <a:xfrm>
            <a:off x="548640" y="278892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init</a:t>
            </a:r>
            <a:endParaRPr lang="en-US" sz="1800" dirty="0"/>
          </a:p>
        </p:txBody>
      </p:sp>
      <p:sp>
        <p:nvSpPr>
          <p:cNvPr id="8" name="Text 4"/>
          <p:cNvSpPr txBox="1"/>
          <p:nvPr/>
        </p:nvSpPr>
        <p:spPr>
          <a:xfrm>
            <a:off x="548640" y="3291840"/>
            <a:ext cx="2560320" cy="914400"/>
          </a:xfrm>
          <a:prstGeom prst="rect">
            <a:avLst/>
          </a:prstGeom>
          <a:noFill/>
          <a:ln/>
        </p:spPr>
        <p:txBody>
          <a:bodyPr wrap="square" lIns="0" tIns="0" rIns="0" bIns="0" rtlCol="0" anchor="t"/>
          <a:lstStyle/>
          <a:p>
            <a:pPr algn="ctr" indent="0" marL="0">
              <a:buNone/>
            </a:pPr>
            <a:r>
              <a:rPr lang="en-US" sz="1600" dirty="0">
                <a:solidFill>
                  <a:srgbClr val="5F6478"/>
                </a:solidFill>
                <a:latin typeface="Calibri" pitchFamily="34" charset="0"/>
                <a:ea typeface="Calibri" pitchFamily="34" charset="-122"/>
                <a:cs typeface="Calibri" pitchFamily="34" charset="-120"/>
              </a:rPr>
              <a:t>Scarica i provider e prepara il backend</a:t>
            </a:r>
            <a:endParaRPr lang="en-US" sz="1600" dirty="0"/>
          </a:p>
        </p:txBody>
      </p:sp>
      <p:sp>
        <p:nvSpPr>
          <p:cNvPr id="9" name="Shape 5"/>
          <p:cNvSpPr/>
          <p:nvPr/>
        </p:nvSpPr>
        <p:spPr>
          <a:xfrm>
            <a:off x="2423160" y="2148840"/>
            <a:ext cx="1645920" cy="0"/>
          </a:xfrm>
          <a:prstGeom prst="line">
            <a:avLst/>
          </a:prstGeom>
          <a:noFill/>
          <a:ln w="25400">
            <a:solidFill>
              <a:srgbClr val="D9D6EC"/>
            </a:solidFill>
            <a:prstDash val="solid"/>
            <a:tailEnd type="triangle"/>
          </a:ln>
        </p:spPr>
      </p:sp>
      <p:sp>
        <p:nvSpPr>
          <p:cNvPr id="10" name="Shape 6"/>
          <p:cNvSpPr/>
          <p:nvPr/>
        </p:nvSpPr>
        <p:spPr>
          <a:xfrm>
            <a:off x="4160520" y="1645920"/>
            <a:ext cx="1005840" cy="1005840"/>
          </a:xfrm>
          <a:prstGeom prst="ellipse">
            <a:avLst/>
          </a:prstGeom>
          <a:solidFill>
            <a:srgbClr val="5B3FD0"/>
          </a:solidFill>
          <a:ln w="12700">
            <a:solidFill>
              <a:srgbClr val="5B3FD0"/>
            </a:solidFill>
            <a:prstDash val="solid"/>
          </a:ln>
        </p:spPr>
      </p:sp>
      <p:pic>
        <p:nvPicPr>
          <p:cNvPr id="11" name="Image 1" descr="preencoded.png">    </p:cNvPr>
          <p:cNvPicPr>
            <a:picLocks noChangeAspect="1"/>
          </p:cNvPicPr>
          <p:nvPr/>
        </p:nvPicPr>
        <p:blipFill>
          <a:blip r:embed="rId2"/>
          <a:stretch>
            <a:fillRect/>
          </a:stretch>
        </p:blipFill>
        <p:spPr>
          <a:xfrm>
            <a:off x="4411980" y="1897380"/>
            <a:ext cx="502920" cy="502920"/>
          </a:xfrm>
          <a:prstGeom prst="rect">
            <a:avLst/>
          </a:prstGeom>
        </p:spPr>
      </p:pic>
      <p:sp>
        <p:nvSpPr>
          <p:cNvPr id="12" name="Text 7"/>
          <p:cNvSpPr txBox="1"/>
          <p:nvPr/>
        </p:nvSpPr>
        <p:spPr>
          <a:xfrm>
            <a:off x="3383280" y="278892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plan</a:t>
            </a:r>
            <a:endParaRPr lang="en-US" sz="1800" dirty="0"/>
          </a:p>
        </p:txBody>
      </p:sp>
      <p:sp>
        <p:nvSpPr>
          <p:cNvPr id="13" name="Text 8"/>
          <p:cNvSpPr txBox="1"/>
          <p:nvPr/>
        </p:nvSpPr>
        <p:spPr>
          <a:xfrm>
            <a:off x="3383280" y="3291840"/>
            <a:ext cx="2560320" cy="914400"/>
          </a:xfrm>
          <a:prstGeom prst="rect">
            <a:avLst/>
          </a:prstGeom>
          <a:noFill/>
          <a:ln/>
        </p:spPr>
        <p:txBody>
          <a:bodyPr wrap="square" lIns="0" tIns="0" rIns="0" bIns="0" rtlCol="0" anchor="t"/>
          <a:lstStyle/>
          <a:p>
            <a:pPr algn="ctr" indent="0" marL="0">
              <a:buNone/>
            </a:pPr>
            <a:r>
              <a:rPr lang="en-US" sz="1600" dirty="0">
                <a:solidFill>
                  <a:srgbClr val="5F6478"/>
                </a:solidFill>
                <a:latin typeface="Calibri" pitchFamily="34" charset="0"/>
                <a:ea typeface="Calibri" pitchFamily="34" charset="-122"/>
                <a:cs typeface="Calibri" pitchFamily="34" charset="-120"/>
              </a:rPr>
              <a:t>Mostra cosa farebbe. Non tocca niente</a:t>
            </a:r>
            <a:endParaRPr lang="en-US" sz="1600" dirty="0"/>
          </a:p>
        </p:txBody>
      </p:sp>
      <p:sp>
        <p:nvSpPr>
          <p:cNvPr id="14" name="Shape 9"/>
          <p:cNvSpPr/>
          <p:nvPr/>
        </p:nvSpPr>
        <p:spPr>
          <a:xfrm>
            <a:off x="5257800" y="2148840"/>
            <a:ext cx="1645920" cy="0"/>
          </a:xfrm>
          <a:prstGeom prst="line">
            <a:avLst/>
          </a:prstGeom>
          <a:noFill/>
          <a:ln w="25400">
            <a:solidFill>
              <a:srgbClr val="D9D6EC"/>
            </a:solidFill>
            <a:prstDash val="solid"/>
            <a:tailEnd type="triangle"/>
          </a:ln>
        </p:spPr>
      </p:sp>
      <p:sp>
        <p:nvSpPr>
          <p:cNvPr id="15" name="Shape 10"/>
          <p:cNvSpPr/>
          <p:nvPr/>
        </p:nvSpPr>
        <p:spPr>
          <a:xfrm>
            <a:off x="6995160" y="1645920"/>
            <a:ext cx="1005840" cy="1005840"/>
          </a:xfrm>
          <a:prstGeom prst="ellipse">
            <a:avLst/>
          </a:prstGeom>
          <a:solidFill>
            <a:srgbClr val="5B3FD0"/>
          </a:solidFill>
          <a:ln w="12700">
            <a:solidFill>
              <a:srgbClr val="5B3FD0"/>
            </a:solidFill>
            <a:prstDash val="solid"/>
          </a:ln>
        </p:spPr>
      </p:sp>
      <p:pic>
        <p:nvPicPr>
          <p:cNvPr id="16" name="Image 2" descr="preencoded.png">    </p:cNvPr>
          <p:cNvPicPr>
            <a:picLocks noChangeAspect="1"/>
          </p:cNvPicPr>
          <p:nvPr/>
        </p:nvPicPr>
        <p:blipFill>
          <a:blip r:embed="rId3"/>
          <a:stretch>
            <a:fillRect/>
          </a:stretch>
        </p:blipFill>
        <p:spPr>
          <a:xfrm>
            <a:off x="7246620" y="1897380"/>
            <a:ext cx="502920" cy="502920"/>
          </a:xfrm>
          <a:prstGeom prst="rect">
            <a:avLst/>
          </a:prstGeom>
        </p:spPr>
      </p:pic>
      <p:sp>
        <p:nvSpPr>
          <p:cNvPr id="17" name="Text 11"/>
          <p:cNvSpPr txBox="1"/>
          <p:nvPr/>
        </p:nvSpPr>
        <p:spPr>
          <a:xfrm>
            <a:off x="6217920" y="278892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apply</a:t>
            </a:r>
            <a:endParaRPr lang="en-US" sz="1800" dirty="0"/>
          </a:p>
        </p:txBody>
      </p:sp>
      <p:sp>
        <p:nvSpPr>
          <p:cNvPr id="18" name="Text 12"/>
          <p:cNvSpPr txBox="1"/>
          <p:nvPr/>
        </p:nvSpPr>
        <p:spPr>
          <a:xfrm>
            <a:off x="6217920" y="3291840"/>
            <a:ext cx="2560320" cy="914400"/>
          </a:xfrm>
          <a:prstGeom prst="rect">
            <a:avLst/>
          </a:prstGeom>
          <a:noFill/>
          <a:ln/>
        </p:spPr>
        <p:txBody>
          <a:bodyPr wrap="square" lIns="0" tIns="0" rIns="0" bIns="0" rtlCol="0" anchor="t"/>
          <a:lstStyle/>
          <a:p>
            <a:pPr algn="ctr" indent="0" marL="0">
              <a:buNone/>
            </a:pPr>
            <a:r>
              <a:rPr lang="en-US" sz="1600" dirty="0">
                <a:solidFill>
                  <a:srgbClr val="5F6478"/>
                </a:solidFill>
                <a:latin typeface="Calibri" pitchFamily="34" charset="0"/>
                <a:ea typeface="Calibri" pitchFamily="34" charset="-122"/>
                <a:cs typeface="Calibri" pitchFamily="34" charset="-120"/>
              </a:rPr>
              <a:t>Esegue le modifiche. Conferma con yes</a:t>
            </a:r>
            <a:endParaRPr lang="en-US" sz="1600" dirty="0"/>
          </a:p>
        </p:txBody>
      </p:sp>
      <p:sp>
        <p:nvSpPr>
          <p:cNvPr id="19" name="Shape 13"/>
          <p:cNvSpPr/>
          <p:nvPr/>
        </p:nvSpPr>
        <p:spPr>
          <a:xfrm>
            <a:off x="8092440" y="2148840"/>
            <a:ext cx="1645920" cy="0"/>
          </a:xfrm>
          <a:prstGeom prst="line">
            <a:avLst/>
          </a:prstGeom>
          <a:noFill/>
          <a:ln w="25400">
            <a:solidFill>
              <a:srgbClr val="D9D6EC"/>
            </a:solidFill>
            <a:prstDash val="solid"/>
            <a:tailEnd type="triangle"/>
          </a:ln>
        </p:spPr>
      </p:sp>
      <p:sp>
        <p:nvSpPr>
          <p:cNvPr id="20" name="Shape 14"/>
          <p:cNvSpPr/>
          <p:nvPr/>
        </p:nvSpPr>
        <p:spPr>
          <a:xfrm>
            <a:off x="9829800" y="1645920"/>
            <a:ext cx="1005840" cy="1005840"/>
          </a:xfrm>
          <a:prstGeom prst="ellipse">
            <a:avLst/>
          </a:prstGeom>
          <a:solidFill>
            <a:srgbClr val="D64545"/>
          </a:solidFill>
          <a:ln w="12700">
            <a:solidFill>
              <a:srgbClr val="D64545"/>
            </a:solidFill>
            <a:prstDash val="solid"/>
          </a:ln>
        </p:spPr>
      </p:sp>
      <p:pic>
        <p:nvPicPr>
          <p:cNvPr id="21" name="Image 3" descr="preencoded.png">    </p:cNvPr>
          <p:cNvPicPr>
            <a:picLocks noChangeAspect="1"/>
          </p:cNvPicPr>
          <p:nvPr/>
        </p:nvPicPr>
        <p:blipFill>
          <a:blip r:embed="rId4"/>
          <a:stretch>
            <a:fillRect/>
          </a:stretch>
        </p:blipFill>
        <p:spPr>
          <a:xfrm>
            <a:off x="10081260" y="1897380"/>
            <a:ext cx="502920" cy="502920"/>
          </a:xfrm>
          <a:prstGeom prst="rect">
            <a:avLst/>
          </a:prstGeom>
        </p:spPr>
      </p:pic>
      <p:sp>
        <p:nvSpPr>
          <p:cNvPr id="22" name="Text 15"/>
          <p:cNvSpPr txBox="1"/>
          <p:nvPr/>
        </p:nvSpPr>
        <p:spPr>
          <a:xfrm>
            <a:off x="9052560" y="278892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destroy</a:t>
            </a:r>
            <a:endParaRPr lang="en-US" sz="1800" dirty="0"/>
          </a:p>
        </p:txBody>
      </p:sp>
      <p:sp>
        <p:nvSpPr>
          <p:cNvPr id="23" name="Text 16"/>
          <p:cNvSpPr txBox="1"/>
          <p:nvPr/>
        </p:nvSpPr>
        <p:spPr>
          <a:xfrm>
            <a:off x="9052560" y="3291840"/>
            <a:ext cx="2560320" cy="914400"/>
          </a:xfrm>
          <a:prstGeom prst="rect">
            <a:avLst/>
          </a:prstGeom>
          <a:noFill/>
          <a:ln/>
        </p:spPr>
        <p:txBody>
          <a:bodyPr wrap="square" lIns="0" tIns="0" rIns="0" bIns="0" rtlCol="0" anchor="t"/>
          <a:lstStyle/>
          <a:p>
            <a:pPr algn="ctr" indent="0" marL="0">
              <a:buNone/>
            </a:pPr>
            <a:r>
              <a:rPr lang="en-US" sz="1600" dirty="0">
                <a:solidFill>
                  <a:srgbClr val="5F6478"/>
                </a:solidFill>
                <a:latin typeface="Calibri" pitchFamily="34" charset="0"/>
                <a:ea typeface="Calibri" pitchFamily="34" charset="-122"/>
                <a:cs typeface="Calibri" pitchFamily="34" charset="-120"/>
              </a:rPr>
              <a:t>Cancella tutto ciò che gestisce</a:t>
            </a:r>
            <a:endParaRPr lang="en-US" sz="1600" dirty="0"/>
          </a:p>
        </p:txBody>
      </p:sp>
      <p:sp>
        <p:nvSpPr>
          <p:cNvPr id="24" name="Shape 17"/>
          <p:cNvSpPr/>
          <p:nvPr/>
        </p:nvSpPr>
        <p:spPr>
          <a:xfrm>
            <a:off x="548640" y="4754880"/>
            <a:ext cx="11094415" cy="914400"/>
          </a:xfrm>
          <a:prstGeom prst="roundRect">
            <a:avLst>
              <a:gd name="adj" fmla="val 10000"/>
            </a:avLst>
          </a:prstGeom>
          <a:solidFill>
            <a:srgbClr val="FDF0E3"/>
          </a:solidFill>
          <a:ln w="12700">
            <a:solidFill>
              <a:srgbClr val="FDF0E3"/>
            </a:solidFill>
            <a:prstDash val="solid"/>
          </a:ln>
        </p:spPr>
      </p:sp>
      <p:sp>
        <p:nvSpPr>
          <p:cNvPr id="25" name="Text 18"/>
          <p:cNvSpPr txBox="1"/>
          <p:nvPr/>
        </p:nvSpPr>
        <p:spPr>
          <a:xfrm>
            <a:off x="822960" y="4754880"/>
            <a:ext cx="10545775" cy="91440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Si legge SEMPRE il plan prima di applicare.</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Leggere un plan</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2651760" cy="2377440"/>
          </a:xfrm>
          <a:prstGeom prst="roundRect">
            <a:avLst>
              <a:gd name="adj" fmla="val 4615"/>
            </a:avLst>
          </a:prstGeom>
          <a:solidFill>
            <a:srgbClr val="E5F4EC"/>
          </a:solidFill>
          <a:ln w="12700">
            <a:solidFill>
              <a:srgbClr val="E5F4EC"/>
            </a:solidFill>
            <a:prstDash val="solid"/>
          </a:ln>
        </p:spPr>
      </p:sp>
      <p:sp>
        <p:nvSpPr>
          <p:cNvPr id="6" name="Text 3"/>
          <p:cNvSpPr txBox="1"/>
          <p:nvPr/>
        </p:nvSpPr>
        <p:spPr>
          <a:xfrm>
            <a:off x="548640" y="1554480"/>
            <a:ext cx="2651760" cy="1371600"/>
          </a:xfrm>
          <a:prstGeom prst="rect">
            <a:avLst/>
          </a:prstGeom>
          <a:noFill/>
          <a:ln/>
        </p:spPr>
        <p:txBody>
          <a:bodyPr wrap="square" lIns="0" tIns="0" rIns="0" bIns="0" rtlCol="0" anchor="ctr"/>
          <a:lstStyle/>
          <a:p>
            <a:pPr algn="ctr" indent="0" marL="0">
              <a:buNone/>
            </a:pPr>
            <a:r>
              <a:rPr lang="en-US" sz="6400" b="1" dirty="0">
                <a:solidFill>
                  <a:srgbClr val="2E9E6B"/>
                </a:solidFill>
                <a:latin typeface="Courier New" pitchFamily="34" charset="0"/>
                <a:ea typeface="Courier New" pitchFamily="34" charset="-122"/>
                <a:cs typeface="Courier New" pitchFamily="34" charset="-120"/>
              </a:rPr>
              <a:t>+</a:t>
            </a:r>
            <a:endParaRPr lang="en-US" sz="6400" dirty="0"/>
          </a:p>
        </p:txBody>
      </p:sp>
      <p:sp>
        <p:nvSpPr>
          <p:cNvPr id="7" name="Text 4"/>
          <p:cNvSpPr txBox="1"/>
          <p:nvPr/>
        </p:nvSpPr>
        <p:spPr>
          <a:xfrm>
            <a:off x="548640" y="2926080"/>
            <a:ext cx="2651760" cy="73152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crea</a:t>
            </a:r>
            <a:endParaRPr lang="en-US" sz="1800" dirty="0"/>
          </a:p>
        </p:txBody>
      </p:sp>
      <p:sp>
        <p:nvSpPr>
          <p:cNvPr id="8" name="Shape 5"/>
          <p:cNvSpPr/>
          <p:nvPr/>
        </p:nvSpPr>
        <p:spPr>
          <a:xfrm>
            <a:off x="3383280" y="1463040"/>
            <a:ext cx="2651760" cy="2377440"/>
          </a:xfrm>
          <a:prstGeom prst="roundRect">
            <a:avLst>
              <a:gd name="adj" fmla="val 4615"/>
            </a:avLst>
          </a:prstGeom>
          <a:solidFill>
            <a:srgbClr val="FDF0E3"/>
          </a:solidFill>
          <a:ln w="12700">
            <a:solidFill>
              <a:srgbClr val="FDF0E3"/>
            </a:solidFill>
            <a:prstDash val="solid"/>
          </a:ln>
        </p:spPr>
      </p:sp>
      <p:sp>
        <p:nvSpPr>
          <p:cNvPr id="9" name="Text 6"/>
          <p:cNvSpPr txBox="1"/>
          <p:nvPr/>
        </p:nvSpPr>
        <p:spPr>
          <a:xfrm>
            <a:off x="3383280" y="1554480"/>
            <a:ext cx="2651760" cy="1371600"/>
          </a:xfrm>
          <a:prstGeom prst="rect">
            <a:avLst/>
          </a:prstGeom>
          <a:noFill/>
          <a:ln/>
        </p:spPr>
        <p:txBody>
          <a:bodyPr wrap="square" lIns="0" tIns="0" rIns="0" bIns="0" rtlCol="0" anchor="ctr"/>
          <a:lstStyle/>
          <a:p>
            <a:pPr algn="ctr" indent="0" marL="0">
              <a:buNone/>
            </a:pPr>
            <a:r>
              <a:rPr lang="en-US" sz="6400" b="1" dirty="0">
                <a:solidFill>
                  <a:srgbClr val="F28C28"/>
                </a:solidFill>
                <a:latin typeface="Courier New" pitchFamily="34" charset="0"/>
                <a:ea typeface="Courier New" pitchFamily="34" charset="-122"/>
                <a:cs typeface="Courier New" pitchFamily="34" charset="-120"/>
              </a:rPr>
              <a:t>~</a:t>
            </a:r>
            <a:endParaRPr lang="en-US" sz="6400" dirty="0"/>
          </a:p>
        </p:txBody>
      </p:sp>
      <p:sp>
        <p:nvSpPr>
          <p:cNvPr id="10" name="Text 7"/>
          <p:cNvSpPr txBox="1"/>
          <p:nvPr/>
        </p:nvSpPr>
        <p:spPr>
          <a:xfrm>
            <a:off x="3383280" y="2926080"/>
            <a:ext cx="2651760" cy="73152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modifica sul posto</a:t>
            </a:r>
            <a:endParaRPr lang="en-US" sz="1800" dirty="0"/>
          </a:p>
        </p:txBody>
      </p:sp>
      <p:sp>
        <p:nvSpPr>
          <p:cNvPr id="11" name="Shape 8"/>
          <p:cNvSpPr/>
          <p:nvPr/>
        </p:nvSpPr>
        <p:spPr>
          <a:xfrm>
            <a:off x="6217920" y="1463040"/>
            <a:ext cx="2651760" cy="2377440"/>
          </a:xfrm>
          <a:prstGeom prst="roundRect">
            <a:avLst>
              <a:gd name="adj" fmla="val 4615"/>
            </a:avLst>
          </a:prstGeom>
          <a:solidFill>
            <a:srgbClr val="FBE9E9"/>
          </a:solidFill>
          <a:ln w="12700">
            <a:solidFill>
              <a:srgbClr val="FBE9E9"/>
            </a:solidFill>
            <a:prstDash val="solid"/>
          </a:ln>
        </p:spPr>
      </p:sp>
      <p:sp>
        <p:nvSpPr>
          <p:cNvPr id="12" name="Text 9"/>
          <p:cNvSpPr txBox="1"/>
          <p:nvPr/>
        </p:nvSpPr>
        <p:spPr>
          <a:xfrm>
            <a:off x="6217920" y="1554480"/>
            <a:ext cx="2651760" cy="1371600"/>
          </a:xfrm>
          <a:prstGeom prst="rect">
            <a:avLst/>
          </a:prstGeom>
          <a:noFill/>
          <a:ln/>
        </p:spPr>
        <p:txBody>
          <a:bodyPr wrap="square" lIns="0" tIns="0" rIns="0" bIns="0" rtlCol="0" anchor="ctr"/>
          <a:lstStyle/>
          <a:p>
            <a:pPr algn="ctr" indent="0" marL="0">
              <a:buNone/>
            </a:pPr>
            <a:r>
              <a:rPr lang="en-US" sz="6400" b="1" dirty="0">
                <a:solidFill>
                  <a:srgbClr val="D64545"/>
                </a:solidFill>
                <a:latin typeface="Courier New" pitchFamily="34" charset="0"/>
                <a:ea typeface="Courier New" pitchFamily="34" charset="-122"/>
                <a:cs typeface="Courier New" pitchFamily="34" charset="-120"/>
              </a:rPr>
              <a:t>-/+</a:t>
            </a:r>
            <a:endParaRPr lang="en-US" sz="6400" dirty="0"/>
          </a:p>
        </p:txBody>
      </p:sp>
      <p:sp>
        <p:nvSpPr>
          <p:cNvPr id="13" name="Text 10"/>
          <p:cNvSpPr txBox="1"/>
          <p:nvPr/>
        </p:nvSpPr>
        <p:spPr>
          <a:xfrm>
            <a:off x="6217920" y="2926080"/>
            <a:ext cx="2651760" cy="73152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distrugge e ricrea</a:t>
            </a:r>
            <a:endParaRPr lang="en-US" sz="1800" dirty="0"/>
          </a:p>
        </p:txBody>
      </p:sp>
      <p:sp>
        <p:nvSpPr>
          <p:cNvPr id="14" name="Shape 11"/>
          <p:cNvSpPr/>
          <p:nvPr/>
        </p:nvSpPr>
        <p:spPr>
          <a:xfrm>
            <a:off x="9052560" y="1463040"/>
            <a:ext cx="2651760" cy="2377440"/>
          </a:xfrm>
          <a:prstGeom prst="roundRect">
            <a:avLst>
              <a:gd name="adj" fmla="val 4615"/>
            </a:avLst>
          </a:prstGeom>
          <a:solidFill>
            <a:srgbClr val="FBE9E9"/>
          </a:solidFill>
          <a:ln w="12700">
            <a:solidFill>
              <a:srgbClr val="FBE9E9"/>
            </a:solidFill>
            <a:prstDash val="solid"/>
          </a:ln>
        </p:spPr>
      </p:sp>
      <p:sp>
        <p:nvSpPr>
          <p:cNvPr id="15" name="Text 12"/>
          <p:cNvSpPr txBox="1"/>
          <p:nvPr/>
        </p:nvSpPr>
        <p:spPr>
          <a:xfrm>
            <a:off x="9052560" y="1554480"/>
            <a:ext cx="2651760" cy="1371600"/>
          </a:xfrm>
          <a:prstGeom prst="rect">
            <a:avLst/>
          </a:prstGeom>
          <a:noFill/>
          <a:ln/>
        </p:spPr>
        <p:txBody>
          <a:bodyPr wrap="square" lIns="0" tIns="0" rIns="0" bIns="0" rtlCol="0" anchor="ctr"/>
          <a:lstStyle/>
          <a:p>
            <a:pPr algn="ctr" indent="0" marL="0">
              <a:buNone/>
            </a:pPr>
            <a:r>
              <a:rPr lang="en-US" sz="6400" b="1" dirty="0">
                <a:solidFill>
                  <a:srgbClr val="D64545"/>
                </a:solidFill>
                <a:latin typeface="Courier New" pitchFamily="34" charset="0"/>
                <a:ea typeface="Courier New" pitchFamily="34" charset="-122"/>
                <a:cs typeface="Courier New" pitchFamily="34" charset="-120"/>
              </a:rPr>
              <a:t>-</a:t>
            </a:r>
            <a:endParaRPr lang="en-US" sz="6400" dirty="0"/>
          </a:p>
        </p:txBody>
      </p:sp>
      <p:sp>
        <p:nvSpPr>
          <p:cNvPr id="16" name="Text 13"/>
          <p:cNvSpPr txBox="1"/>
          <p:nvPr/>
        </p:nvSpPr>
        <p:spPr>
          <a:xfrm>
            <a:off x="9052560" y="2926080"/>
            <a:ext cx="2651760" cy="731520"/>
          </a:xfrm>
          <a:prstGeom prst="rect">
            <a:avLst/>
          </a:prstGeom>
          <a:noFill/>
          <a:ln/>
        </p:spPr>
        <p:txBody>
          <a:bodyPr wrap="square" lIns="0" tIns="0" rIns="0" bIns="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distrugge</a:t>
            </a:r>
            <a:endParaRPr lang="en-US" sz="1800" dirty="0"/>
          </a:p>
        </p:txBody>
      </p:sp>
      <p:sp>
        <p:nvSpPr>
          <p:cNvPr id="17" name="Shape 14"/>
          <p:cNvSpPr/>
          <p:nvPr/>
        </p:nvSpPr>
        <p:spPr>
          <a:xfrm>
            <a:off x="548640" y="4206240"/>
            <a:ext cx="11094415" cy="731520"/>
          </a:xfrm>
          <a:prstGeom prst="roundRect">
            <a:avLst>
              <a:gd name="adj" fmla="val 10000"/>
            </a:avLst>
          </a:prstGeom>
          <a:solidFill>
            <a:srgbClr val="1E1E2E"/>
          </a:solidFill>
          <a:ln w="12700">
            <a:solidFill>
              <a:srgbClr val="1E1E2E"/>
            </a:solidFill>
            <a:prstDash val="solid"/>
          </a:ln>
        </p:spPr>
      </p:sp>
      <p:sp>
        <p:nvSpPr>
          <p:cNvPr id="18" name="Text 15"/>
          <p:cNvSpPr txBox="1"/>
          <p:nvPr/>
        </p:nvSpPr>
        <p:spPr>
          <a:xfrm>
            <a:off x="731520" y="4343400"/>
            <a:ext cx="10728655" cy="457200"/>
          </a:xfrm>
          <a:prstGeom prst="rect">
            <a:avLst/>
          </a:prstGeom>
          <a:noFill/>
          <a:ln/>
        </p:spPr>
        <p:txBody>
          <a:bodyPr wrap="square" lIns="0" tIns="0" rIns="0" bIns="0" rtlCol="0" anchor="t"/>
          <a:lstStyle/>
          <a:p>
            <a:pPr indent="0" marL="0">
              <a:buNone/>
            </a:pPr>
            <a:r>
              <a:rPr lang="en-US" sz="2000" dirty="0">
                <a:solidFill>
                  <a:srgbClr val="E6E6F0"/>
                </a:solidFill>
                <a:latin typeface="Courier New" pitchFamily="34" charset="0"/>
                <a:ea typeface="Courier New" pitchFamily="34" charset="-122"/>
                <a:cs typeface="Courier New" pitchFamily="34" charset="-120"/>
              </a:rPr>
              <a:t>Plan: 2 to add, 0 to change, 0 to destroy.</a:t>
            </a:r>
            <a:endParaRPr lang="en-US" sz="2000" dirty="0"/>
          </a:p>
        </p:txBody>
      </p:sp>
      <p:sp>
        <p:nvSpPr>
          <p:cNvPr id="19" name="Shape 16"/>
          <p:cNvSpPr/>
          <p:nvPr/>
        </p:nvSpPr>
        <p:spPr>
          <a:xfrm>
            <a:off x="548640" y="5212080"/>
            <a:ext cx="11094415" cy="777240"/>
          </a:xfrm>
          <a:prstGeom prst="roundRect">
            <a:avLst>
              <a:gd name="adj" fmla="val 11765"/>
            </a:avLst>
          </a:prstGeom>
          <a:solidFill>
            <a:srgbClr val="FBE9E9"/>
          </a:solidFill>
          <a:ln w="12700">
            <a:solidFill>
              <a:srgbClr val="FBE9E9"/>
            </a:solidFill>
            <a:prstDash val="solid"/>
          </a:ln>
        </p:spPr>
      </p:sp>
      <p:sp>
        <p:nvSpPr>
          <p:cNvPr id="20" name="Text 17"/>
          <p:cNvSpPr txBox="1"/>
          <p:nvPr/>
        </p:nvSpPr>
        <p:spPr>
          <a:xfrm>
            <a:off x="822960" y="5212080"/>
            <a:ext cx="10545775" cy="77724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Un -/+ inatteso? Fermati. Su un database vuol dire perdere i dati.</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Lo state: il punto più delicato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2651760" cy="914400"/>
          </a:xfrm>
          <a:prstGeom prst="roundRect">
            <a:avLst>
              <a:gd name="adj" fmla="val 10000"/>
            </a:avLst>
          </a:prstGeom>
          <a:solidFill>
            <a:srgbClr val="EEEAFB"/>
          </a:solidFill>
          <a:ln w="12700">
            <a:solidFill>
              <a:srgbClr val="EEEAFB"/>
            </a:solidFill>
            <a:prstDash val="solid"/>
          </a:ln>
        </p:spPr>
      </p:sp>
      <p:sp>
        <p:nvSpPr>
          <p:cNvPr id="6" name="Text 3"/>
          <p:cNvSpPr txBox="1"/>
          <p:nvPr/>
        </p:nvSpPr>
        <p:spPr>
          <a:xfrm>
            <a:off x="548640" y="1463040"/>
            <a:ext cx="2651760" cy="91440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alibri" pitchFamily="34" charset="0"/>
                <a:ea typeface="Calibri" pitchFamily="34" charset="-122"/>
                <a:cs typeface="Calibri" pitchFamily="34" charset="-120"/>
              </a:rPr>
              <a:t>Codice .tf</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cosa voglio</a:t>
            </a:r>
            <a:endParaRPr lang="en-US" sz="1500" dirty="0"/>
          </a:p>
        </p:txBody>
      </p:sp>
      <p:sp>
        <p:nvSpPr>
          <p:cNvPr id="7" name="Shape 4"/>
          <p:cNvSpPr/>
          <p:nvPr/>
        </p:nvSpPr>
        <p:spPr>
          <a:xfrm>
            <a:off x="548640" y="2606040"/>
            <a:ext cx="2651760" cy="914400"/>
          </a:xfrm>
          <a:prstGeom prst="roundRect">
            <a:avLst>
              <a:gd name="adj" fmla="val 10000"/>
            </a:avLst>
          </a:prstGeom>
          <a:solidFill>
            <a:srgbClr val="FDF0E3"/>
          </a:solidFill>
          <a:ln w="12700">
            <a:solidFill>
              <a:srgbClr val="FDF0E3"/>
            </a:solidFill>
            <a:prstDash val="solid"/>
          </a:ln>
        </p:spPr>
      </p:sp>
      <p:sp>
        <p:nvSpPr>
          <p:cNvPr id="8" name="Text 5"/>
          <p:cNvSpPr txBox="1"/>
          <p:nvPr/>
        </p:nvSpPr>
        <p:spPr>
          <a:xfrm>
            <a:off x="548640" y="2606040"/>
            <a:ext cx="2651760" cy="91440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alibri" pitchFamily="34" charset="0"/>
                <a:ea typeface="Calibri" pitchFamily="34" charset="-122"/>
                <a:cs typeface="Calibri" pitchFamily="34" charset="-120"/>
              </a:rPr>
              <a:t>State</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cosa ho creato</a:t>
            </a:r>
            <a:endParaRPr lang="en-US" sz="1500" dirty="0"/>
          </a:p>
        </p:txBody>
      </p:sp>
      <p:sp>
        <p:nvSpPr>
          <p:cNvPr id="9" name="Shape 6"/>
          <p:cNvSpPr/>
          <p:nvPr/>
        </p:nvSpPr>
        <p:spPr>
          <a:xfrm>
            <a:off x="548640" y="3749040"/>
            <a:ext cx="2651760" cy="914400"/>
          </a:xfrm>
          <a:prstGeom prst="roundRect">
            <a:avLst>
              <a:gd name="adj" fmla="val 10000"/>
            </a:avLst>
          </a:prstGeom>
          <a:solidFill>
            <a:srgbClr val="EEEAFB"/>
          </a:solidFill>
          <a:ln w="12700">
            <a:solidFill>
              <a:srgbClr val="EEEAFB"/>
            </a:solidFill>
            <a:prstDash val="solid"/>
          </a:ln>
        </p:spPr>
      </p:sp>
      <p:sp>
        <p:nvSpPr>
          <p:cNvPr id="10" name="Text 7"/>
          <p:cNvSpPr txBox="1"/>
          <p:nvPr/>
        </p:nvSpPr>
        <p:spPr>
          <a:xfrm>
            <a:off x="548640" y="3749040"/>
            <a:ext cx="2651760" cy="91440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alibri" pitchFamily="34" charset="0"/>
                <a:ea typeface="Calibri" pitchFamily="34" charset="-122"/>
                <a:cs typeface="Calibri" pitchFamily="34" charset="-120"/>
              </a:rPr>
              <a:t>AWS</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cosa esiste davvero</a:t>
            </a:r>
            <a:endParaRPr lang="en-US" sz="1500" dirty="0"/>
          </a:p>
        </p:txBody>
      </p:sp>
      <p:sp>
        <p:nvSpPr>
          <p:cNvPr id="11" name="Shape 8"/>
          <p:cNvSpPr/>
          <p:nvPr/>
        </p:nvSpPr>
        <p:spPr>
          <a:xfrm>
            <a:off x="3246120" y="1920240"/>
            <a:ext cx="731520" cy="1097280"/>
          </a:xfrm>
          <a:prstGeom prst="line">
            <a:avLst/>
          </a:prstGeom>
          <a:noFill/>
          <a:ln w="25400">
            <a:solidFill>
              <a:srgbClr val="5F6478"/>
            </a:solidFill>
            <a:prstDash val="solid"/>
            <a:tailEnd type="triangle"/>
          </a:ln>
        </p:spPr>
      </p:sp>
      <p:sp>
        <p:nvSpPr>
          <p:cNvPr id="12" name="Shape 9"/>
          <p:cNvSpPr/>
          <p:nvPr/>
        </p:nvSpPr>
        <p:spPr>
          <a:xfrm>
            <a:off x="3246120" y="3063240"/>
            <a:ext cx="731520" cy="0"/>
          </a:xfrm>
          <a:prstGeom prst="line">
            <a:avLst/>
          </a:prstGeom>
          <a:noFill/>
          <a:ln w="25400">
            <a:solidFill>
              <a:srgbClr val="5F6478"/>
            </a:solidFill>
            <a:prstDash val="solid"/>
            <a:tailEnd type="triangle"/>
          </a:ln>
        </p:spPr>
      </p:sp>
      <p:sp>
        <p:nvSpPr>
          <p:cNvPr id="13" name="Shape 10"/>
          <p:cNvSpPr/>
          <p:nvPr/>
        </p:nvSpPr>
        <p:spPr>
          <a:xfrm>
            <a:off x="3246120" y="4206240"/>
            <a:ext cx="731520" cy="-1097280"/>
          </a:xfrm>
          <a:prstGeom prst="line">
            <a:avLst/>
          </a:prstGeom>
          <a:noFill/>
          <a:ln w="25400">
            <a:solidFill>
              <a:srgbClr val="5F6478"/>
            </a:solidFill>
            <a:prstDash val="solid"/>
            <a:tailEnd type="triangle"/>
          </a:ln>
        </p:spPr>
      </p:sp>
      <p:sp>
        <p:nvSpPr>
          <p:cNvPr id="14" name="Shape 11"/>
          <p:cNvSpPr/>
          <p:nvPr/>
        </p:nvSpPr>
        <p:spPr>
          <a:xfrm>
            <a:off x="4023360" y="2514600"/>
            <a:ext cx="2011680" cy="1097280"/>
          </a:xfrm>
          <a:prstGeom prst="roundRect">
            <a:avLst>
              <a:gd name="adj" fmla="val 8333"/>
            </a:avLst>
          </a:prstGeom>
          <a:solidFill>
            <a:srgbClr val="5B3FD0"/>
          </a:solidFill>
          <a:ln w="12700">
            <a:solidFill>
              <a:srgbClr val="5B3FD0"/>
            </a:solidFill>
            <a:prstDash val="solid"/>
          </a:ln>
        </p:spPr>
      </p:sp>
      <p:sp>
        <p:nvSpPr>
          <p:cNvPr id="15" name="Text 12"/>
          <p:cNvSpPr txBox="1"/>
          <p:nvPr/>
        </p:nvSpPr>
        <p:spPr>
          <a:xfrm>
            <a:off x="4023360" y="2514600"/>
            <a:ext cx="2011680" cy="1097280"/>
          </a:xfrm>
          <a:prstGeom prst="rect">
            <a:avLst/>
          </a:prstGeom>
          <a:noFill/>
          <a:ln/>
        </p:spPr>
        <p:txBody>
          <a:bodyPr wrap="square" lIns="76200" tIns="76200" rIns="76200" bIns="7620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terraform plan</a:t>
            </a:r>
            <a:endParaRPr lang="en-US" sz="1500" dirty="0"/>
          </a:p>
          <a:p>
            <a:pPr algn="ctr" indent="0" marL="0">
              <a:buNone/>
            </a:pPr>
            <a:r>
              <a:rPr lang="en-US" sz="1500" b="1" dirty="0">
                <a:solidFill>
                  <a:srgbClr val="FFFFFF"/>
                </a:solidFill>
                <a:latin typeface="Courier New" pitchFamily="34" charset="0"/>
                <a:ea typeface="Courier New" pitchFamily="34" charset="-122"/>
                <a:cs typeface="Courier New" pitchFamily="34" charset="-120"/>
              </a:rPr>
              <a:t>confronta</a:t>
            </a:r>
            <a:endParaRPr lang="en-US" sz="1500" dirty="0"/>
          </a:p>
        </p:txBody>
      </p:sp>
      <p:sp>
        <p:nvSpPr>
          <p:cNvPr id="16" name="Shape 13"/>
          <p:cNvSpPr/>
          <p:nvPr/>
        </p:nvSpPr>
        <p:spPr>
          <a:xfrm>
            <a:off x="6492240" y="1417320"/>
            <a:ext cx="685800" cy="685800"/>
          </a:xfrm>
          <a:prstGeom prst="ellipse">
            <a:avLst/>
          </a:prstGeom>
          <a:solidFill>
            <a:srgbClr val="D64545"/>
          </a:solidFill>
          <a:ln w="12700">
            <a:solidFill>
              <a:srgbClr val="D64545"/>
            </a:solidFill>
            <a:prstDash val="solid"/>
          </a:ln>
        </p:spPr>
      </p:sp>
      <p:pic>
        <p:nvPicPr>
          <p:cNvPr id="17" name="Image 0" descr="preencoded.png">    </p:cNvPr>
          <p:cNvPicPr>
            <a:picLocks noChangeAspect="1"/>
          </p:cNvPicPr>
          <p:nvPr/>
        </p:nvPicPr>
        <p:blipFill>
          <a:blip r:embed="rId1"/>
          <a:stretch>
            <a:fillRect/>
          </a:stretch>
        </p:blipFill>
        <p:spPr>
          <a:xfrm>
            <a:off x="6663690" y="1588770"/>
            <a:ext cx="342900" cy="342900"/>
          </a:xfrm>
          <a:prstGeom prst="rect">
            <a:avLst/>
          </a:prstGeom>
        </p:spPr>
      </p:pic>
      <p:sp>
        <p:nvSpPr>
          <p:cNvPr id="18" name="Text 14"/>
          <p:cNvSpPr txBox="1"/>
          <p:nvPr/>
        </p:nvSpPr>
        <p:spPr>
          <a:xfrm>
            <a:off x="7360920" y="1371600"/>
            <a:ext cx="4297680" cy="8229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Mai in Git</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contiene password e chiavi in chiaro</a:t>
            </a:r>
            <a:endParaRPr lang="en-US" sz="1800" dirty="0"/>
          </a:p>
        </p:txBody>
      </p:sp>
      <p:sp>
        <p:nvSpPr>
          <p:cNvPr id="19" name="Shape 15"/>
          <p:cNvSpPr/>
          <p:nvPr/>
        </p:nvSpPr>
        <p:spPr>
          <a:xfrm>
            <a:off x="6492240" y="2514600"/>
            <a:ext cx="685800" cy="685800"/>
          </a:xfrm>
          <a:prstGeom prst="ellipse">
            <a:avLst/>
          </a:prstGeom>
          <a:solidFill>
            <a:srgbClr val="5B3FD0"/>
          </a:solidFill>
          <a:ln w="12700">
            <a:solidFill>
              <a:srgbClr val="5B3FD0"/>
            </a:solidFill>
            <a:prstDash val="solid"/>
          </a:ln>
        </p:spPr>
      </p:sp>
      <p:pic>
        <p:nvPicPr>
          <p:cNvPr id="20" name="Image 1" descr="preencoded.png">    </p:cNvPr>
          <p:cNvPicPr>
            <a:picLocks noChangeAspect="1"/>
          </p:cNvPicPr>
          <p:nvPr/>
        </p:nvPicPr>
        <p:blipFill>
          <a:blip r:embed="rId2"/>
          <a:stretch>
            <a:fillRect/>
          </a:stretch>
        </p:blipFill>
        <p:spPr>
          <a:xfrm>
            <a:off x="6663690" y="2686050"/>
            <a:ext cx="342900" cy="342900"/>
          </a:xfrm>
          <a:prstGeom prst="rect">
            <a:avLst/>
          </a:prstGeom>
        </p:spPr>
      </p:pic>
      <p:sp>
        <p:nvSpPr>
          <p:cNvPr id="21" name="Text 16"/>
          <p:cNvSpPr txBox="1"/>
          <p:nvPr/>
        </p:nvSpPr>
        <p:spPr>
          <a:xfrm>
            <a:off x="7360920" y="2468880"/>
            <a:ext cx="4297680" cy="8229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Remoto</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in un bucket S3, non sul portatile</a:t>
            </a:r>
            <a:endParaRPr lang="en-US" sz="1800" dirty="0"/>
          </a:p>
        </p:txBody>
      </p:sp>
      <p:sp>
        <p:nvSpPr>
          <p:cNvPr id="22" name="Shape 17"/>
          <p:cNvSpPr/>
          <p:nvPr/>
        </p:nvSpPr>
        <p:spPr>
          <a:xfrm>
            <a:off x="6492240" y="3611880"/>
            <a:ext cx="685800" cy="685800"/>
          </a:xfrm>
          <a:prstGeom prst="ellipse">
            <a:avLst/>
          </a:prstGeom>
          <a:solidFill>
            <a:srgbClr val="5B3FD0"/>
          </a:solidFill>
          <a:ln w="12700">
            <a:solidFill>
              <a:srgbClr val="5B3FD0"/>
            </a:solidFill>
            <a:prstDash val="solid"/>
          </a:ln>
        </p:spPr>
      </p:sp>
      <p:pic>
        <p:nvPicPr>
          <p:cNvPr id="23" name="Image 2" descr="preencoded.png">    </p:cNvPr>
          <p:cNvPicPr>
            <a:picLocks noChangeAspect="1"/>
          </p:cNvPicPr>
          <p:nvPr/>
        </p:nvPicPr>
        <p:blipFill>
          <a:blip r:embed="rId3"/>
          <a:stretch>
            <a:fillRect/>
          </a:stretch>
        </p:blipFill>
        <p:spPr>
          <a:xfrm>
            <a:off x="6663690" y="3783330"/>
            <a:ext cx="342900" cy="342900"/>
          </a:xfrm>
          <a:prstGeom prst="rect">
            <a:avLst/>
          </a:prstGeom>
        </p:spPr>
      </p:pic>
      <p:sp>
        <p:nvSpPr>
          <p:cNvPr id="24" name="Text 18"/>
          <p:cNvSpPr txBox="1"/>
          <p:nvPr/>
        </p:nvSpPr>
        <p:spPr>
          <a:xfrm>
            <a:off x="7360920" y="3566160"/>
            <a:ext cx="4297680" cy="8229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Con lock</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uno alla volta: due apply insieme lo rovinano</a:t>
            </a:r>
            <a:endParaRPr lang="en-US" sz="1800" dirty="0"/>
          </a:p>
        </p:txBody>
      </p:sp>
      <p:sp>
        <p:nvSpPr>
          <p:cNvPr id="25" name="Shape 19"/>
          <p:cNvSpPr/>
          <p:nvPr/>
        </p:nvSpPr>
        <p:spPr>
          <a:xfrm>
            <a:off x="6492240" y="4709160"/>
            <a:ext cx="685800" cy="685800"/>
          </a:xfrm>
          <a:prstGeom prst="ellipse">
            <a:avLst/>
          </a:prstGeom>
          <a:solidFill>
            <a:srgbClr val="5B3FD0"/>
          </a:solidFill>
          <a:ln w="12700">
            <a:solidFill>
              <a:srgbClr val="5B3FD0"/>
            </a:solidFill>
            <a:prstDash val="solid"/>
          </a:ln>
        </p:spPr>
      </p:sp>
      <p:pic>
        <p:nvPicPr>
          <p:cNvPr id="26" name="Image 3" descr="preencoded.png">    </p:cNvPr>
          <p:cNvPicPr>
            <a:picLocks noChangeAspect="1"/>
          </p:cNvPicPr>
          <p:nvPr/>
        </p:nvPicPr>
        <p:blipFill>
          <a:blip r:embed="rId4"/>
          <a:stretch>
            <a:fillRect/>
          </a:stretch>
        </p:blipFill>
        <p:spPr>
          <a:xfrm>
            <a:off x="6663690" y="4880610"/>
            <a:ext cx="342900" cy="342900"/>
          </a:xfrm>
          <a:prstGeom prst="rect">
            <a:avLst/>
          </a:prstGeom>
        </p:spPr>
      </p:pic>
      <p:sp>
        <p:nvSpPr>
          <p:cNvPr id="27" name="Text 20"/>
          <p:cNvSpPr txBox="1"/>
          <p:nvPr/>
        </p:nvSpPr>
        <p:spPr>
          <a:xfrm>
            <a:off x="7360920" y="4663440"/>
            <a:ext cx="4297680" cy="8229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Mai a mano</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si usano i comandi terraform state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State locale o remoto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4206240" cy="4480560"/>
          </a:xfrm>
          <a:prstGeom prst="roundRect">
            <a:avLst>
              <a:gd name="adj" fmla="val 2609"/>
            </a:avLst>
          </a:prstGeom>
          <a:solidFill>
            <a:srgbClr val="EEEAFB"/>
          </a:solidFill>
          <a:ln w="12700">
            <a:solidFill>
              <a:srgbClr val="EEEAFB"/>
            </a:solidFill>
            <a:prstDash val="solid"/>
          </a:ln>
        </p:spPr>
      </p:sp>
      <p:sp>
        <p:nvSpPr>
          <p:cNvPr id="6" name="Shape 3"/>
          <p:cNvSpPr/>
          <p:nvPr/>
        </p:nvSpPr>
        <p:spPr>
          <a:xfrm>
            <a:off x="777240" y="169164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828800"/>
            <a:ext cx="274320" cy="274320"/>
          </a:xfrm>
          <a:prstGeom prst="rect">
            <a:avLst/>
          </a:prstGeom>
        </p:spPr>
      </p:pic>
      <p:sp>
        <p:nvSpPr>
          <p:cNvPr id="8" name="Text 4"/>
          <p:cNvSpPr txBox="1"/>
          <p:nvPr/>
        </p:nvSpPr>
        <p:spPr>
          <a:xfrm>
            <a:off x="1508760" y="1691640"/>
            <a:ext cx="301752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Locale</a:t>
            </a:r>
            <a:endParaRPr lang="en-US" sz="1800" dirty="0"/>
          </a:p>
        </p:txBody>
      </p:sp>
      <p:sp>
        <p:nvSpPr>
          <p:cNvPr id="9" name="Text 5"/>
          <p:cNvSpPr txBox="1"/>
          <p:nvPr/>
        </p:nvSpPr>
        <p:spPr>
          <a:xfrm>
            <a:off x="777240" y="2377440"/>
            <a:ext cx="3749040" cy="338328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File terraform.tfstate nella cartella</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Nessun backend.tf</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Va bene per imparare</a:t>
            </a:r>
            <a:endParaRPr lang="en-US" sz="1700" dirty="0"/>
          </a:p>
        </p:txBody>
      </p:sp>
      <p:sp>
        <p:nvSpPr>
          <p:cNvPr id="10" name="Shape 6"/>
          <p:cNvSpPr/>
          <p:nvPr/>
        </p:nvSpPr>
        <p:spPr>
          <a:xfrm>
            <a:off x="4937760" y="1463040"/>
            <a:ext cx="6702552" cy="1554480"/>
          </a:xfrm>
          <a:prstGeom prst="roundRect">
            <a:avLst>
              <a:gd name="adj" fmla="val 7059"/>
            </a:avLst>
          </a:prstGeom>
          <a:solidFill>
            <a:srgbClr val="FDF0E3"/>
          </a:solidFill>
          <a:ln w="12700">
            <a:solidFill>
              <a:srgbClr val="FDF0E3"/>
            </a:solidFill>
            <a:prstDash val="solid"/>
          </a:ln>
        </p:spPr>
      </p:sp>
      <p:sp>
        <p:nvSpPr>
          <p:cNvPr id="11" name="Shape 7"/>
          <p:cNvSpPr/>
          <p:nvPr/>
        </p:nvSpPr>
        <p:spPr>
          <a:xfrm>
            <a:off x="5166360" y="169164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5303520" y="1828800"/>
            <a:ext cx="274320" cy="274320"/>
          </a:xfrm>
          <a:prstGeom prst="rect">
            <a:avLst/>
          </a:prstGeom>
        </p:spPr>
      </p:pic>
      <p:sp>
        <p:nvSpPr>
          <p:cNvPr id="13" name="Text 8"/>
          <p:cNvSpPr txBox="1"/>
          <p:nvPr/>
        </p:nvSpPr>
        <p:spPr>
          <a:xfrm>
            <a:off x="5897880" y="1691640"/>
            <a:ext cx="551383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Remoto: bucket S3 + lock</a:t>
            </a:r>
            <a:endParaRPr lang="en-US" sz="1800" dirty="0"/>
          </a:p>
        </p:txBody>
      </p:sp>
      <p:sp>
        <p:nvSpPr>
          <p:cNvPr id="14" name="Text 9"/>
          <p:cNvSpPr txBox="1"/>
          <p:nvPr/>
        </p:nvSpPr>
        <p:spPr>
          <a:xfrm>
            <a:off x="5166360" y="2377440"/>
            <a:ext cx="6245352" cy="45720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Per lavorare davvero, da soli o in squadra</a:t>
            </a:r>
            <a:endParaRPr lang="en-US" sz="1600" dirty="0"/>
          </a:p>
        </p:txBody>
      </p:sp>
      <p:sp>
        <p:nvSpPr>
          <p:cNvPr id="15" name="Shape 10"/>
          <p:cNvSpPr/>
          <p:nvPr/>
        </p:nvSpPr>
        <p:spPr>
          <a:xfrm>
            <a:off x="4937760" y="3200400"/>
            <a:ext cx="6702552" cy="2743200"/>
          </a:xfrm>
          <a:prstGeom prst="roundRect">
            <a:avLst>
              <a:gd name="adj" fmla="val 2667"/>
            </a:avLst>
          </a:prstGeom>
          <a:solidFill>
            <a:srgbClr val="1E1E2E"/>
          </a:solidFill>
          <a:ln w="12700">
            <a:solidFill>
              <a:srgbClr val="1E1E2E"/>
            </a:solidFill>
            <a:prstDash val="solid"/>
          </a:ln>
        </p:spPr>
      </p:sp>
      <p:sp>
        <p:nvSpPr>
          <p:cNvPr id="16" name="Text 11"/>
          <p:cNvSpPr txBox="1"/>
          <p:nvPr/>
        </p:nvSpPr>
        <p:spPr>
          <a:xfrm>
            <a:off x="5120640" y="3337560"/>
            <a:ext cx="6336792" cy="246888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terraform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backend "s3"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bucket       = "corso-aws-tfstate-&lt;account&gt;"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key          = "corso/terraform.tfstate"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region       = "eu-south-1"</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encrypt      = true   </a:t>
            </a:r>
            <a:pPr indent="0" marL="0">
              <a:buNone/>
            </a:pPr>
            <a:r>
              <a:rPr lang="en-US" sz="1600" dirty="0">
                <a:solidFill>
                  <a:srgbClr val="8FD694"/>
                </a:solidFill>
                <a:latin typeface="Courier New" pitchFamily="34" charset="0"/>
                <a:ea typeface="Courier New" pitchFamily="34" charset="-122"/>
                <a:cs typeface="Courier New" pitchFamily="34" charset="-120"/>
              </a:rPr>
              <a:t># state cifrato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use_lockfile = true   </a:t>
            </a:r>
            <a:pPr indent="0" marL="0">
              <a:buNone/>
            </a:pPr>
            <a:r>
              <a:rPr lang="en-US" sz="1600" dirty="0">
                <a:solidFill>
                  <a:srgbClr val="8FD694"/>
                </a:solidFill>
                <a:latin typeface="Courier New" pitchFamily="34" charset="0"/>
                <a:ea typeface="Courier New" pitchFamily="34" charset="-122"/>
                <a:cs typeface="Courier New" pitchFamily="34" charset="-120"/>
              </a:rPr>
              <a:t># lock su S3</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Come si autentica Terraform</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1234440" y="1463040"/>
            <a:ext cx="822960" cy="822960"/>
          </a:xfrm>
          <a:prstGeom prst="ellipse">
            <a:avLst/>
          </a:prstGeom>
          <a:solidFill>
            <a:srgbClr val="5B3FD0"/>
          </a:solidFill>
          <a:ln w="12700">
            <a:solidFill>
              <a:srgbClr val="5B3FD0"/>
            </a:solidFill>
            <a:prstDash val="solid"/>
          </a:ln>
        </p:spPr>
      </p:sp>
      <p:pic>
        <p:nvPicPr>
          <p:cNvPr id="6" name="Image 0" descr="preencoded.png">    </p:cNvPr>
          <p:cNvPicPr>
            <a:picLocks noChangeAspect="1"/>
          </p:cNvPicPr>
          <p:nvPr/>
        </p:nvPicPr>
        <p:blipFill>
          <a:blip r:embed="rId1"/>
          <a:stretch>
            <a:fillRect/>
          </a:stretch>
        </p:blipFill>
        <p:spPr>
          <a:xfrm>
            <a:off x="1440180" y="1668780"/>
            <a:ext cx="411480" cy="411480"/>
          </a:xfrm>
          <a:prstGeom prst="rect">
            <a:avLst/>
          </a:prstGeom>
        </p:spPr>
      </p:pic>
      <p:sp>
        <p:nvSpPr>
          <p:cNvPr id="7" name="Text 3"/>
          <p:cNvSpPr txBox="1"/>
          <p:nvPr/>
        </p:nvSpPr>
        <p:spPr>
          <a:xfrm>
            <a:off x="548640" y="237744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aws sso login</a:t>
            </a:r>
            <a:endParaRPr lang="en-US" sz="1600" dirty="0"/>
          </a:p>
        </p:txBody>
      </p:sp>
      <p:sp>
        <p:nvSpPr>
          <p:cNvPr id="8" name="Text 4"/>
          <p:cNvSpPr txBox="1"/>
          <p:nvPr/>
        </p:nvSpPr>
        <p:spPr>
          <a:xfrm>
            <a:off x="548640" y="2788920"/>
            <a:ext cx="2194560" cy="45720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login nel browser, con MFA</a:t>
            </a:r>
            <a:endParaRPr lang="en-US" sz="1400" dirty="0"/>
          </a:p>
        </p:txBody>
      </p:sp>
      <p:sp>
        <p:nvSpPr>
          <p:cNvPr id="9" name="Shape 5"/>
          <p:cNvSpPr/>
          <p:nvPr/>
        </p:nvSpPr>
        <p:spPr>
          <a:xfrm>
            <a:off x="2194560" y="1874520"/>
            <a:ext cx="1463040" cy="0"/>
          </a:xfrm>
          <a:prstGeom prst="line">
            <a:avLst/>
          </a:prstGeom>
          <a:noFill/>
          <a:ln w="25400">
            <a:solidFill>
              <a:srgbClr val="D9D6EC"/>
            </a:solidFill>
            <a:prstDash val="solid"/>
            <a:tailEnd type="triangle"/>
          </a:ln>
        </p:spPr>
      </p:sp>
      <p:sp>
        <p:nvSpPr>
          <p:cNvPr id="10" name="Shape 6"/>
          <p:cNvSpPr/>
          <p:nvPr/>
        </p:nvSpPr>
        <p:spPr>
          <a:xfrm>
            <a:off x="3749040" y="1463040"/>
            <a:ext cx="822960" cy="822960"/>
          </a:xfrm>
          <a:prstGeom prst="ellipse">
            <a:avLst/>
          </a:prstGeom>
          <a:solidFill>
            <a:srgbClr val="5B3FD0"/>
          </a:solidFill>
          <a:ln w="12700">
            <a:solidFill>
              <a:srgbClr val="5B3FD0"/>
            </a:solidFill>
            <a:prstDash val="solid"/>
          </a:ln>
        </p:spPr>
      </p:sp>
      <p:pic>
        <p:nvPicPr>
          <p:cNvPr id="11" name="Image 1" descr="preencoded.png">    </p:cNvPr>
          <p:cNvPicPr>
            <a:picLocks noChangeAspect="1"/>
          </p:cNvPicPr>
          <p:nvPr/>
        </p:nvPicPr>
        <p:blipFill>
          <a:blip r:embed="rId2"/>
          <a:stretch>
            <a:fillRect/>
          </a:stretch>
        </p:blipFill>
        <p:spPr>
          <a:xfrm>
            <a:off x="3954780" y="1668780"/>
            <a:ext cx="411480" cy="411480"/>
          </a:xfrm>
          <a:prstGeom prst="rect">
            <a:avLst/>
          </a:prstGeom>
        </p:spPr>
      </p:pic>
      <p:sp>
        <p:nvSpPr>
          <p:cNvPr id="12" name="Text 7"/>
          <p:cNvSpPr txBox="1"/>
          <p:nvPr/>
        </p:nvSpPr>
        <p:spPr>
          <a:xfrm>
            <a:off x="3063240" y="237744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Credenziali temporanee</a:t>
            </a:r>
            <a:endParaRPr lang="en-US" sz="1600" dirty="0"/>
          </a:p>
        </p:txBody>
      </p:sp>
      <p:sp>
        <p:nvSpPr>
          <p:cNvPr id="13" name="Text 8"/>
          <p:cNvSpPr txBox="1"/>
          <p:nvPr/>
        </p:nvSpPr>
        <p:spPr>
          <a:xfrm>
            <a:off x="3063240" y="2788920"/>
            <a:ext cx="2194560" cy="45720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scadono da sole</a:t>
            </a:r>
            <a:endParaRPr lang="en-US" sz="1400" dirty="0"/>
          </a:p>
        </p:txBody>
      </p:sp>
      <p:sp>
        <p:nvSpPr>
          <p:cNvPr id="14" name="Shape 9"/>
          <p:cNvSpPr/>
          <p:nvPr/>
        </p:nvSpPr>
        <p:spPr>
          <a:xfrm>
            <a:off x="4709160" y="1874520"/>
            <a:ext cx="1463040" cy="0"/>
          </a:xfrm>
          <a:prstGeom prst="line">
            <a:avLst/>
          </a:prstGeom>
          <a:noFill/>
          <a:ln w="25400">
            <a:solidFill>
              <a:srgbClr val="D9D6EC"/>
            </a:solidFill>
            <a:prstDash val="solid"/>
            <a:tailEnd type="triangle"/>
          </a:ln>
        </p:spPr>
      </p:sp>
      <p:sp>
        <p:nvSpPr>
          <p:cNvPr id="15" name="Shape 10"/>
          <p:cNvSpPr/>
          <p:nvPr/>
        </p:nvSpPr>
        <p:spPr>
          <a:xfrm>
            <a:off x="6263640" y="1463040"/>
            <a:ext cx="822960" cy="822960"/>
          </a:xfrm>
          <a:prstGeom prst="ellipse">
            <a:avLst/>
          </a:prstGeom>
          <a:solidFill>
            <a:srgbClr val="5B3FD0"/>
          </a:solidFill>
          <a:ln w="12700">
            <a:solidFill>
              <a:srgbClr val="5B3FD0"/>
            </a:solidFill>
            <a:prstDash val="solid"/>
          </a:ln>
        </p:spPr>
      </p:sp>
      <p:pic>
        <p:nvPicPr>
          <p:cNvPr id="16" name="Image 2" descr="preencoded.png">    </p:cNvPr>
          <p:cNvPicPr>
            <a:picLocks noChangeAspect="1"/>
          </p:cNvPicPr>
          <p:nvPr/>
        </p:nvPicPr>
        <p:blipFill>
          <a:blip r:embed="rId3"/>
          <a:stretch>
            <a:fillRect/>
          </a:stretch>
        </p:blipFill>
        <p:spPr>
          <a:xfrm>
            <a:off x="6469380" y="1668780"/>
            <a:ext cx="411480" cy="411480"/>
          </a:xfrm>
          <a:prstGeom prst="rect">
            <a:avLst/>
          </a:prstGeom>
        </p:spPr>
      </p:pic>
      <p:sp>
        <p:nvSpPr>
          <p:cNvPr id="17" name="Text 11"/>
          <p:cNvSpPr txBox="1"/>
          <p:nvPr/>
        </p:nvSpPr>
        <p:spPr>
          <a:xfrm>
            <a:off x="5577840" y="237744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Terraform e CLI</a:t>
            </a:r>
            <a:endParaRPr lang="en-US" sz="1600" dirty="0"/>
          </a:p>
        </p:txBody>
      </p:sp>
      <p:sp>
        <p:nvSpPr>
          <p:cNvPr id="18" name="Text 12"/>
          <p:cNvSpPr txBox="1"/>
          <p:nvPr/>
        </p:nvSpPr>
        <p:spPr>
          <a:xfrm>
            <a:off x="5577840" y="2788920"/>
            <a:ext cx="2194560" cy="45720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le usano dal profilo corso</a:t>
            </a:r>
            <a:endParaRPr lang="en-US" sz="1400" dirty="0"/>
          </a:p>
        </p:txBody>
      </p:sp>
      <p:sp>
        <p:nvSpPr>
          <p:cNvPr id="19" name="Shape 13"/>
          <p:cNvSpPr/>
          <p:nvPr/>
        </p:nvSpPr>
        <p:spPr>
          <a:xfrm>
            <a:off x="548640" y="3657600"/>
            <a:ext cx="7223760" cy="1737360"/>
          </a:xfrm>
          <a:prstGeom prst="roundRect">
            <a:avLst>
              <a:gd name="adj" fmla="val 4211"/>
            </a:avLst>
          </a:prstGeom>
          <a:solidFill>
            <a:srgbClr val="1E1E2E"/>
          </a:solidFill>
          <a:ln w="12700">
            <a:solidFill>
              <a:srgbClr val="1E1E2E"/>
            </a:solidFill>
            <a:prstDash val="solid"/>
          </a:ln>
        </p:spPr>
      </p:sp>
      <p:sp>
        <p:nvSpPr>
          <p:cNvPr id="20" name="Text 14"/>
          <p:cNvSpPr txBox="1"/>
          <p:nvPr/>
        </p:nvSpPr>
        <p:spPr>
          <a:xfrm>
            <a:off x="731520" y="3794760"/>
            <a:ext cx="6858000" cy="146304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aws sso login --profile corso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export AWS_PROFILE=corso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aws sts get-caller-identity   </a:t>
            </a:r>
            <a:pPr indent="0" marL="0">
              <a:buNone/>
            </a:pPr>
            <a:r>
              <a:rPr lang="en-US" sz="1600" dirty="0">
                <a:solidFill>
                  <a:srgbClr val="8FD694"/>
                </a:solidFill>
                <a:latin typeface="Courier New" pitchFamily="34" charset="0"/>
                <a:ea typeface="Courier New" pitchFamily="34" charset="-122"/>
                <a:cs typeface="Courier New" pitchFamily="34" charset="-120"/>
              </a:rPr>
              <a:t># chi sono?</a:t>
            </a:r>
            <a:endParaRPr lang="en-US" sz="1600" dirty="0"/>
          </a:p>
        </p:txBody>
      </p:sp>
      <p:sp>
        <p:nvSpPr>
          <p:cNvPr id="21" name="Shape 15"/>
          <p:cNvSpPr/>
          <p:nvPr/>
        </p:nvSpPr>
        <p:spPr>
          <a:xfrm>
            <a:off x="8138160" y="1463040"/>
            <a:ext cx="3502152" cy="3931920"/>
          </a:xfrm>
          <a:prstGeom prst="roundRect">
            <a:avLst>
              <a:gd name="adj" fmla="val 3133"/>
            </a:avLst>
          </a:prstGeom>
          <a:solidFill>
            <a:srgbClr val="FBE9E9"/>
          </a:solidFill>
          <a:ln w="12700">
            <a:solidFill>
              <a:srgbClr val="FBE9E9"/>
            </a:solidFill>
            <a:prstDash val="solid"/>
          </a:ln>
        </p:spPr>
      </p:sp>
      <p:sp>
        <p:nvSpPr>
          <p:cNvPr id="22" name="Shape 16"/>
          <p:cNvSpPr/>
          <p:nvPr/>
        </p:nvSpPr>
        <p:spPr>
          <a:xfrm>
            <a:off x="8366760" y="1691640"/>
            <a:ext cx="548640" cy="548640"/>
          </a:xfrm>
          <a:prstGeom prst="ellipse">
            <a:avLst/>
          </a:prstGeom>
          <a:solidFill>
            <a:srgbClr val="D64545"/>
          </a:solidFill>
          <a:ln w="12700">
            <a:solidFill>
              <a:srgbClr val="D64545"/>
            </a:solidFill>
            <a:prstDash val="solid"/>
          </a:ln>
        </p:spPr>
      </p:sp>
      <p:pic>
        <p:nvPicPr>
          <p:cNvPr id="23" name="Image 3" descr="preencoded.png">    </p:cNvPr>
          <p:cNvPicPr>
            <a:picLocks noChangeAspect="1"/>
          </p:cNvPicPr>
          <p:nvPr/>
        </p:nvPicPr>
        <p:blipFill>
          <a:blip r:embed="rId4"/>
          <a:stretch>
            <a:fillRect/>
          </a:stretch>
        </p:blipFill>
        <p:spPr>
          <a:xfrm>
            <a:off x="8503920" y="1828800"/>
            <a:ext cx="274320" cy="274320"/>
          </a:xfrm>
          <a:prstGeom prst="rect">
            <a:avLst/>
          </a:prstGeom>
        </p:spPr>
      </p:pic>
      <p:sp>
        <p:nvSpPr>
          <p:cNvPr id="24" name="Text 17"/>
          <p:cNvSpPr txBox="1"/>
          <p:nvPr/>
        </p:nvSpPr>
        <p:spPr>
          <a:xfrm>
            <a:off x="9098280" y="1691640"/>
            <a:ext cx="231343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Mai</a:t>
            </a:r>
            <a:endParaRPr lang="en-US" sz="1800" dirty="0"/>
          </a:p>
        </p:txBody>
      </p:sp>
      <p:sp>
        <p:nvSpPr>
          <p:cNvPr id="25" name="Text 18"/>
          <p:cNvSpPr txBox="1"/>
          <p:nvPr/>
        </p:nvSpPr>
        <p:spPr>
          <a:xfrm>
            <a:off x="8366760" y="2377440"/>
            <a:ext cx="3044952" cy="283464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Access key nel codice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Chiavi permanenti sul portatile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L'utente root</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508760"/>
            <a:ext cx="640080" cy="640080"/>
          </a:xfrm>
          <a:prstGeom prst="ellipse">
            <a:avLst/>
          </a:prstGeom>
          <a:solidFill>
            <a:srgbClr val="5B3FD0"/>
          </a:solidFill>
          <a:ln w="12700">
            <a:solidFill>
              <a:srgbClr val="5B3FD0"/>
            </a:solidFill>
            <a:prstDash val="solid"/>
          </a:ln>
        </p:spPr>
      </p:sp>
      <p:sp>
        <p:nvSpPr>
          <p:cNvPr id="6" name="Text 3"/>
          <p:cNvSpPr txBox="1"/>
          <p:nvPr/>
        </p:nvSpPr>
        <p:spPr>
          <a:xfrm>
            <a:off x="548640" y="1508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7" name="Text 4"/>
          <p:cNvSpPr txBox="1"/>
          <p:nvPr/>
        </p:nvSpPr>
        <p:spPr>
          <a:xfrm>
            <a:off x="1371600" y="1417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init e plan</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quante risorse? perché tre?</a:t>
            </a:r>
            <a:endParaRPr lang="en-US" sz="1800" dirty="0"/>
          </a:p>
        </p:txBody>
      </p:sp>
      <p:sp>
        <p:nvSpPr>
          <p:cNvPr id="8" name="Shape 5"/>
          <p:cNvSpPr/>
          <p:nvPr/>
        </p:nvSpPr>
        <p:spPr>
          <a:xfrm>
            <a:off x="548640" y="2651760"/>
            <a:ext cx="640080" cy="640080"/>
          </a:xfrm>
          <a:prstGeom prst="ellipse">
            <a:avLst/>
          </a:prstGeom>
          <a:solidFill>
            <a:srgbClr val="5B3FD0"/>
          </a:solidFill>
          <a:ln w="12700">
            <a:solidFill>
              <a:srgbClr val="5B3FD0"/>
            </a:solidFill>
            <a:prstDash val="solid"/>
          </a:ln>
        </p:spPr>
      </p:sp>
      <p:sp>
        <p:nvSpPr>
          <p:cNvPr id="9" name="Text 6"/>
          <p:cNvSpPr txBox="1"/>
          <p:nvPr/>
        </p:nvSpPr>
        <p:spPr>
          <a:xfrm>
            <a:off x="548640" y="2651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7"/>
          <p:cNvSpPr txBox="1"/>
          <p:nvPr/>
        </p:nvSpPr>
        <p:spPr>
          <a:xfrm>
            <a:off x="1371600" y="2560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apply</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controlla i tag in console</a:t>
            </a:r>
            <a:endParaRPr lang="en-US" sz="1800" dirty="0"/>
          </a:p>
        </p:txBody>
      </p:sp>
      <p:sp>
        <p:nvSpPr>
          <p:cNvPr id="11" name="Shape 8"/>
          <p:cNvSpPr/>
          <p:nvPr/>
        </p:nvSpPr>
        <p:spPr>
          <a:xfrm>
            <a:off x="548640" y="3794760"/>
            <a:ext cx="640080" cy="640080"/>
          </a:xfrm>
          <a:prstGeom prst="ellipse">
            <a:avLst/>
          </a:prstGeom>
          <a:solidFill>
            <a:srgbClr val="5B3FD0"/>
          </a:solidFill>
          <a:ln w="12700">
            <a:solidFill>
              <a:srgbClr val="5B3FD0"/>
            </a:solidFill>
            <a:prstDash val="solid"/>
          </a:ln>
        </p:spPr>
      </p:sp>
      <p:sp>
        <p:nvSpPr>
          <p:cNvPr id="12" name="Text 9"/>
          <p:cNvSpPr txBox="1"/>
          <p:nvPr/>
        </p:nvSpPr>
        <p:spPr>
          <a:xfrm>
            <a:off x="548640" y="3794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3" name="Text 10"/>
          <p:cNvSpPr txBox="1"/>
          <p:nvPr/>
        </p:nvSpPr>
        <p:spPr>
          <a:xfrm>
            <a:off x="1371600" y="3703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aggiungi un tag</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atteso: ~</a:t>
            </a:r>
            <a:endParaRPr lang="en-US" sz="1800" dirty="0"/>
          </a:p>
        </p:txBody>
      </p:sp>
      <p:sp>
        <p:nvSpPr>
          <p:cNvPr id="14" name="Shape 11"/>
          <p:cNvSpPr/>
          <p:nvPr/>
        </p:nvSpPr>
        <p:spPr>
          <a:xfrm>
            <a:off x="548640" y="4937760"/>
            <a:ext cx="640080" cy="640080"/>
          </a:xfrm>
          <a:prstGeom prst="ellipse">
            <a:avLst/>
          </a:prstGeom>
          <a:solidFill>
            <a:srgbClr val="5B3FD0"/>
          </a:solidFill>
          <a:ln w="12700">
            <a:solidFill>
              <a:srgbClr val="5B3FD0"/>
            </a:solidFill>
            <a:prstDash val="solid"/>
          </a:ln>
        </p:spPr>
      </p:sp>
      <p:sp>
        <p:nvSpPr>
          <p:cNvPr id="15" name="Text 12"/>
          <p:cNvSpPr txBox="1"/>
          <p:nvPr/>
        </p:nvSpPr>
        <p:spPr>
          <a:xfrm>
            <a:off x="548640" y="4937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6" name="Text 13"/>
          <p:cNvSpPr txBox="1"/>
          <p:nvPr/>
        </p:nvSpPr>
        <p:spPr>
          <a:xfrm>
            <a:off x="1371600" y="4846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cambia il nome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atteso: -/+ (non applicare)</a:t>
            </a:r>
            <a:endParaRPr lang="en-US" sz="1800" dirty="0"/>
          </a:p>
        </p:txBody>
      </p:sp>
      <p:sp>
        <p:nvSpPr>
          <p:cNvPr id="17" name="Shape 14"/>
          <p:cNvSpPr/>
          <p:nvPr/>
        </p:nvSpPr>
        <p:spPr>
          <a:xfrm>
            <a:off x="6172200" y="1508760"/>
            <a:ext cx="640080" cy="640080"/>
          </a:xfrm>
          <a:prstGeom prst="ellipse">
            <a:avLst/>
          </a:prstGeom>
          <a:solidFill>
            <a:srgbClr val="5B3FD0"/>
          </a:solidFill>
          <a:ln w="12700">
            <a:solidFill>
              <a:srgbClr val="5B3FD0"/>
            </a:solidFill>
            <a:prstDash val="solid"/>
          </a:ln>
        </p:spPr>
      </p:sp>
      <p:sp>
        <p:nvSpPr>
          <p:cNvPr id="18" name="Text 15"/>
          <p:cNvSpPr txBox="1"/>
          <p:nvPr/>
        </p:nvSpPr>
        <p:spPr>
          <a:xfrm>
            <a:off x="6172200" y="1508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19" name="Text 16"/>
          <p:cNvSpPr txBox="1"/>
          <p:nvPr/>
        </p:nvSpPr>
        <p:spPr>
          <a:xfrm>
            <a:off x="6995160" y="1417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tag a mano in console</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Terraform vede il drift?</a:t>
            </a:r>
            <a:endParaRPr lang="en-US" sz="1800" dirty="0"/>
          </a:p>
        </p:txBody>
      </p:sp>
      <p:sp>
        <p:nvSpPr>
          <p:cNvPr id="20" name="Shape 17"/>
          <p:cNvSpPr/>
          <p:nvPr/>
        </p:nvSpPr>
        <p:spPr>
          <a:xfrm>
            <a:off x="6172200" y="2651760"/>
            <a:ext cx="640080" cy="640080"/>
          </a:xfrm>
          <a:prstGeom prst="ellipse">
            <a:avLst/>
          </a:prstGeom>
          <a:solidFill>
            <a:srgbClr val="5B3FD0"/>
          </a:solidFill>
          <a:ln w="12700">
            <a:solidFill>
              <a:srgbClr val="5B3FD0"/>
            </a:solidFill>
            <a:prstDash val="solid"/>
          </a:ln>
        </p:spPr>
      </p:sp>
      <p:sp>
        <p:nvSpPr>
          <p:cNvPr id="21" name="Text 18"/>
          <p:cNvSpPr txBox="1"/>
          <p:nvPr/>
        </p:nvSpPr>
        <p:spPr>
          <a:xfrm>
            <a:off x="6172200" y="2651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22" name="Text 19"/>
          <p:cNvSpPr txBox="1"/>
          <p:nvPr/>
        </p:nvSpPr>
        <p:spPr>
          <a:xfrm>
            <a:off x="6995160" y="2560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 state list</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cosa conosce Terraform?</a:t>
            </a:r>
            <a:endParaRPr lang="en-US" sz="1800" dirty="0"/>
          </a:p>
        </p:txBody>
      </p:sp>
      <p:sp>
        <p:nvSpPr>
          <p:cNvPr id="23" name="Shape 20"/>
          <p:cNvSpPr/>
          <p:nvPr/>
        </p:nvSpPr>
        <p:spPr>
          <a:xfrm>
            <a:off x="6172200" y="3794760"/>
            <a:ext cx="640080" cy="640080"/>
          </a:xfrm>
          <a:prstGeom prst="ellipse">
            <a:avLst/>
          </a:prstGeom>
          <a:solidFill>
            <a:srgbClr val="5B3FD0"/>
          </a:solidFill>
          <a:ln w="12700">
            <a:solidFill>
              <a:srgbClr val="5B3FD0"/>
            </a:solidFill>
            <a:prstDash val="solid"/>
          </a:ln>
        </p:spPr>
      </p:sp>
      <p:sp>
        <p:nvSpPr>
          <p:cNvPr id="24" name="Text 21"/>
          <p:cNvSpPr txBox="1"/>
          <p:nvPr/>
        </p:nvSpPr>
        <p:spPr>
          <a:xfrm>
            <a:off x="6172200" y="3794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25" name="Text 22"/>
          <p:cNvSpPr txBox="1"/>
          <p:nvPr/>
        </p:nvSpPr>
        <p:spPr>
          <a:xfrm>
            <a:off x="6995160" y="3703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sposta lo state su S3</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init -migrate-state</a:t>
            </a:r>
            <a:endParaRPr lang="en-US" sz="1800" dirty="0"/>
          </a:p>
        </p:txBody>
      </p:sp>
      <p:sp>
        <p:nvSpPr>
          <p:cNvPr id="26" name="Shape 23"/>
          <p:cNvSpPr/>
          <p:nvPr/>
        </p:nvSpPr>
        <p:spPr>
          <a:xfrm>
            <a:off x="6172200" y="4937760"/>
            <a:ext cx="640080" cy="640080"/>
          </a:xfrm>
          <a:prstGeom prst="ellipse">
            <a:avLst/>
          </a:prstGeom>
          <a:solidFill>
            <a:srgbClr val="5B3FD0"/>
          </a:solidFill>
          <a:ln w="12700">
            <a:solidFill>
              <a:srgbClr val="5B3FD0"/>
            </a:solidFill>
            <a:prstDash val="solid"/>
          </a:ln>
        </p:spPr>
      </p:sp>
      <p:sp>
        <p:nvSpPr>
          <p:cNvPr id="27" name="Text 24"/>
          <p:cNvSpPr txBox="1"/>
          <p:nvPr/>
        </p:nvSpPr>
        <p:spPr>
          <a:xfrm>
            <a:off x="6172200" y="49377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28" name="Text 25"/>
          <p:cNvSpPr txBox="1"/>
          <p:nvPr/>
        </p:nvSpPr>
        <p:spPr>
          <a:xfrm>
            <a:off x="6995160" y="4846320"/>
            <a:ext cx="4572000" cy="86868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destroy</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si chiude sempre così</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8229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Riepilogo</a:t>
            </a:r>
            <a:endParaRPr lang="en-US" sz="3600" dirty="0"/>
          </a:p>
        </p:txBody>
      </p:sp>
      <p:sp>
        <p:nvSpPr>
          <p:cNvPr id="3" name="Text 1"/>
          <p:cNvSpPr txBox="1"/>
          <p:nvPr/>
        </p:nvSpPr>
        <p:spPr>
          <a:xfrm>
            <a:off x="548640" y="1463040"/>
            <a:ext cx="6949440" cy="42062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Terraform descrive lo stato desiderato, non i passi</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Le dipendenze nascono dai riferimenti tra risorse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Il plan si legge sempre: un -/+ inatteso è un allarme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Lo state è remoto, cifrato, con lock, fuori da Git</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Credenziali temporanee via SSO, mai nel codice</a:t>
            </a:r>
            <a:endParaRPr lang="en-US" sz="1800" dirty="0"/>
          </a:p>
        </p:txBody>
      </p:sp>
      <p:sp>
        <p:nvSpPr>
          <p:cNvPr id="4" name="Shape 2"/>
          <p:cNvSpPr/>
          <p:nvPr/>
        </p:nvSpPr>
        <p:spPr>
          <a:xfrm>
            <a:off x="7955280" y="1463040"/>
            <a:ext cx="3685032" cy="2103120"/>
          </a:xfrm>
          <a:prstGeom prst="roundRect">
            <a:avLst>
              <a:gd name="adj" fmla="val 5217"/>
            </a:avLst>
          </a:prstGeom>
          <a:solidFill>
            <a:srgbClr val="2A2F55"/>
          </a:solidFill>
          <a:ln w="12700">
            <a:solidFill>
              <a:srgbClr val="2A2F55"/>
            </a:solidFill>
            <a:prstDash val="solid"/>
          </a:ln>
        </p:spPr>
      </p:sp>
      <p:sp>
        <p:nvSpPr>
          <p:cNvPr id="5" name="Text 3"/>
          <p:cNvSpPr txBox="1"/>
          <p:nvPr/>
        </p:nvSpPr>
        <p:spPr>
          <a:xfrm>
            <a:off x="8183880" y="1645920"/>
            <a:ext cx="3291840" cy="1737360"/>
          </a:xfrm>
          <a:prstGeom prst="rect">
            <a:avLst/>
          </a:prstGeom>
          <a:noFill/>
          <a:ln/>
        </p:spPr>
        <p:txBody>
          <a:bodyPr wrap="square" lIns="0" tIns="0" rIns="0" bIns="0" rtlCol="0" anchor="t"/>
          <a:lstStyle/>
          <a:p>
            <a:pPr indent="0" marL="0">
              <a:buNone/>
            </a:pPr>
            <a:r>
              <a:rPr lang="en-US" sz="1600" b="1" dirty="0">
                <a:solidFill>
                  <a:srgbClr val="F28C28"/>
                </a:solidFill>
                <a:latin typeface="Calibri" pitchFamily="34" charset="0"/>
                <a:ea typeface="Calibri" pitchFamily="34" charset="-122"/>
                <a:cs typeface="Calibri" pitchFamily="34" charset="-120"/>
              </a:rPr>
              <a:t>Materiale di studio</a:t>
            </a:r>
            <a:endParaRPr lang="en-US" sz="1600" dirty="0"/>
          </a:p>
          <a:p>
            <a:pPr indent="0" marL="0">
              <a:buNone/>
            </a:pPr>
            <a:r>
              <a:rPr lang="en-US" sz="1400" dirty="0">
                <a:solidFill>
                  <a:srgbClr val="FFFFFF"/>
                </a:solidFill>
                <a:latin typeface="Courier New" pitchFamily="34" charset="0"/>
                <a:ea typeface="Courier New" pitchFamily="34" charset="-122"/>
                <a:cs typeface="Courier New" pitchFamily="34" charset="-120"/>
              </a:rPr>
              <a:t>dispense/dispensa-0-terraform.md</a:t>
            </a:r>
            <a:endParaRPr lang="en-US" sz="1600" dirty="0"/>
          </a:p>
        </p:txBody>
      </p:sp>
      <p:sp>
        <p:nvSpPr>
          <p:cNvPr id="6" name="Shape 4"/>
          <p:cNvSpPr/>
          <p:nvPr/>
        </p:nvSpPr>
        <p:spPr>
          <a:xfrm>
            <a:off x="7955280" y="3840480"/>
            <a:ext cx="3685032" cy="1463040"/>
          </a:xfrm>
          <a:prstGeom prst="roundRect">
            <a:avLst>
              <a:gd name="adj" fmla="val 7500"/>
            </a:avLst>
          </a:prstGeom>
          <a:solidFill>
            <a:srgbClr val="5B3FD0"/>
          </a:solidFill>
          <a:ln w="12700">
            <a:solidFill>
              <a:srgbClr val="5B3FD0"/>
            </a:solidFill>
            <a:prstDash val="solid"/>
          </a:ln>
        </p:spPr>
      </p:sp>
      <p:sp>
        <p:nvSpPr>
          <p:cNvPr id="7" name="Text 5"/>
          <p:cNvSpPr txBox="1"/>
          <p:nvPr/>
        </p:nvSpPr>
        <p:spPr>
          <a:xfrm>
            <a:off x="8183880" y="4023360"/>
            <a:ext cx="3291840" cy="1097280"/>
          </a:xfrm>
          <a:prstGeom prst="rect">
            <a:avLst/>
          </a:prstGeom>
          <a:noFill/>
          <a:ln/>
        </p:spPr>
        <p:txBody>
          <a:bodyPr wrap="square" lIns="0" tIns="0" rIns="0" bIns="0" rtlCol="0" anchor="t"/>
          <a:lstStyle/>
          <a:p>
            <a:pPr indent="0" marL="0">
              <a:buNone/>
            </a:pPr>
            <a:r>
              <a:rPr lang="en-US" sz="1400" b="1" dirty="0">
                <a:solidFill>
                  <a:srgbClr val="D9D2FF"/>
                </a:solidFill>
                <a:latin typeface="Calibri" pitchFamily="34" charset="0"/>
                <a:ea typeface="Calibri" pitchFamily="34" charset="-122"/>
                <a:cs typeface="Calibri" pitchFamily="34" charset="-120"/>
              </a:rPr>
              <a:t>Prossima lezione</a:t>
            </a:r>
            <a:endParaRPr lang="en-US" sz="1400" dirty="0"/>
          </a:p>
          <a:p>
            <a:pPr indent="0" marL="0">
              <a:buNone/>
            </a:pPr>
            <a:r>
              <a:rPr lang="en-US" sz="1800" b="1" dirty="0">
                <a:solidFill>
                  <a:srgbClr val="FFFFFF"/>
                </a:solidFill>
                <a:latin typeface="Calibri" pitchFamily="34" charset="0"/>
                <a:ea typeface="Calibri" pitchFamily="34" charset="-122"/>
                <a:cs typeface="Calibri" pitchFamily="34" charset="-120"/>
              </a:rPr>
              <a:t>IAM: chi può fare cosa</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cereZ23</dc:creator>
  <cp:lastModifiedBy>cereZ23</cp:lastModifiedBy>
  <cp:revision>1</cp:revision>
  <dcterms:created xsi:type="dcterms:W3CDTF">2026-09-30T13:23:06Z</dcterms:created>
  <dcterms:modified xsi:type="dcterms:W3CDTF">2026-09-30T13:23:06Z</dcterms:modified>
</cp:coreProperties>
</file>