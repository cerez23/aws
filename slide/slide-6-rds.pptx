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rete, firewall, server e accesso da casa. Manca il posto dove l'applicazione conserva i dati: il database. Oggi vediamo RDS, il PostgreSQL gestito da AWS: dove lo mettiamo, come sopravvive alla caduta di un data center, come si fanno backup e ripristini, dove sta la password, e come lo proteggiamo da una cancellazione per sbaglio. Alla fine lo facciamo cadere apposta.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cosa vogliamo dal database. Nelle subnet database, senza indirizzo pubblico. Che sopravviva alla caduta di un data center. Con backup automatici e la possibilità di tornare a un minuto preciso. Cifrato. Con una password che nessuno scrive, né nel codice né nello state. Che non si possa cancellare per sbaglio. E che accetti connessioni solo dall'applicazione e dagli amministratori: questo lo abbiamo già scritto nelle lezioni 3 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è un programma: lo potreste installare su un server EC2. Ma poi toccherebbe a voi tutto: aggiornarlo, fare i backup, tenere una copia in un'altra AZ e passarci se il server cade. È come comprare casa: è vostra, ma la caldaia rotta la riparate voi. RDS è come affittare con portineria e manutenzione incluse: scegliete l'appartamento e lo arredate, cioè tabelle e dati; al resto pensa AWS. In cambio, nel locale tecnico non si entra: su RDS non c'è un terminale, né SSM né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 server EC2 si dà una subnet. A RDS no: il database si può spostare tra le AZ, proprio per sopravvivere alla caduta di una. Quindi gli diamo l'elenco delle subnet in cui AWS può metterlo: il DB subnet group. Il nostro contiene le subnet database della lezione 2, una per AZ, che non hanno nessuna strada verso internet. Deve sempre contenere almeno due AZ, anche senza Multi-AZ: per questo nella lezione 2 abbiamo creato le subnet database in tutte le 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Alta affidabilità vuol dire che il database resta disponibile anche se si rompe qualcosa, fino a un intero data center. Il trucco è avere una copia pronta altrove. RDS offre tre modi. Multi-AZ istanza: un primario e uno standby in un'altra AZ; ogni scrittura è copiata sullo standby prima di dire fatto, è la replica sincrona. Come un notaio che detta a due segretari in due stanze e firma solo quando entrambi hanno scritto. Lo standby non si può leggere: è solo una riserva. Multi-AZ DB cluster: due standby in tre AZ, leggibili, passaggio più rapido, ma servono tre AZ e macchine più grandi. Read replica: una copia in sola lettura, asincrona, che può essere un po' indietro; serve per distribuire le letture, non sostituisce il primario da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tabella mette in fila le differenze. Quella che conta di più è l'ultima riga di comportamento: se il primario cade. Con il Multi-AZ, istanza o cluster, il passaggio alla riserva è automatico. Con la read replica no: va promossa a mano, ed è un database nuovo con un altro indirizzo. Per questo la read replica non è alta affidabilità. Nel corso usiamo il Multi-AZ istanza; il cluster richiederebbe tre AZ e macchine che non esistono nella taglia piccola t4g.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scegliere bastano due domande. Prima: il database deve sopravvivere alla caduta di un'AZ? Se no, per esempio in un ambiente di prova, basta un'istanza singola. Se sì: servono anche letture in più o un passaggio più rapido? Se no, Multi-AZ istanza, il nostro caso. Se sì, Multi-AZ DB cluster. La read replica è un'aggiunta, quando servono letture in un'altra regione o per i report; non sostituisce le altre.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Failover vuol dire passaggio alla riserva. RDS lo fa da solo quando il primario non risponde: si guasta la macchina, si ferma l'AZ. L'applicazione non si collega a un indirizzo IP ma all'endpoint, un nome DNS. Il nome resta sempre lo stesso; cambia l'indirizzo a cui punta. Prima del failover il nome porta al primario nell'AZ-a, 10.20.20.x. RDS promuove lo standby e sposta il nome: ora porta a 10.20.21.x, nell'AZ-b. In genere uno o due minuti, e nessun dato confermato è perso, perché la replica era sincrona.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failover lo fa AWS, ma la riconnessione la deve fare l'applicazione. Le connessioni aperte si interrompono e chi le usava riceve un errore. Un'applicazione fatta bene: riprova quando una connessione fallisce, aspettando qualche secondo; si collega sempre al nome, mai all'indirizzo IP; non ricorda per sempre l'indirizzo, lo richiede a ogni nuova connessione; e se usa un pool, cioè un gruppo di connessioni tenute aperte e riusate, controlla che siano ancora vive. Le transazioni in corso al momento del guasto falliscono e vanno ripetute.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Multi-AZ protegge dai guasti, non dagli errori: se qualcuno cancella una tabella, la cancellazione arriva subito anche sullo standby. Per gli errori servono i backup. RDS fa una foto completa del disco ogni giorno, nella finestra di backup, e salva di continuo il registro di ogni modifica. Insieme permettono il PITR, Point-In-Time Recovery: ridammi il database com'era alle 14:32 di ieri, un minuto prima dell'errore. Attenzione: il ripristino crea sempre un database nuovo, con un altro endpoint. Noi teniamo i backup 7 giorni.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database è cifrato: disco, backup, snapshot e standby. Chi ottenesse una copia del disco, senza la chiave, vedrebbe solo dati senza senso. Le chiavi le custodisce KMS, Key Management Service: un caveau di chiavi che non escono mai da lì. RDS chiede a KMS di cifrare e decifrare per lui. Noi usiamo la chiave gestita da AWS, aws/rds: si crea da sola ed è inclusa. Una chiave nostra servirebbe, per esempio, per condividere uno snapshot con un altro account; la vediamo nell'appendice. Regola: la cifratura si sceglie alla creazione, dopo non si può più accendere.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disco cifrato protegge i dati fermi. Ma i dati viaggiano anche sulla rete: le query, i risultati, e soprattutto la password al login. Li protegge TLS, la stessa cifratura dei siti https. Due cose diverse. Cifrare: chi sta sulla strada non legge, è la busta chiusa; si ottiene con sslmode require. Verificare: stai parlando con il database vero e non con un impostore, è il controllo del documento di chi riceve la busta; si ottiene con sslmode verify-full e il certificato di AWS. Una busta chiusa consegnata all'impostore la apre l'impostore: servono tutte e due. Dal lato del database, rds.force_ssl a 1 rifiuta le connessioni in chiaro. E Tailscale? Cifra solo da casa al router; TLS cifra tutto il percorso, anche dal server dell'applicazione.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database ha un utente amministratore con una password. Dove la mettiamo? Scritta nel codice finisce in Git. In una variabile nel tfvars non va in Git, ma finisce comunque nello state, come abbiamo visto nella lezione 0. Generata da Terraform con random_password, stesso problema: nello state. La soluzione: la genera RDS e la mette in Secrets Manager. Nessuno la scrive, e nello state c'è solo l'indirizzo del segreto.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Manager è il servizio AWS per custodire segreti. Con manage_master_user_password RDS genera la password, la chiude in un segreto e la cambia da solo ogni 7 giorni. Terraform conosce solo l'ARN del segreto, il numero della cassetta. Per aprirla serve il badge giusto, cioè il permesso IAM. Lo diamo al server dell'applicazione, solo su quel segreto: è il file secrets.tf. Gli amministratori la leggono con il loro login AWS. Siccome cambia ogni 7 giorni, nessuno la copia in un file: si legge dal segreto ogni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protezioni. deletion_protection: AWS rifiuta di cancellare il database, a chiunque lo chieda, Terraform, console o CLI. Per cancellarlo bisogna prima togliere la protezione con una modifica a parte: una scelta, non un incidente. Lo snapshot finale: anche quando la cancellazione è voluta, RDS fa un'ultima foto, che resta dopo. Il nome deve essere unico nell'account, per questo gli aggiungiamo un suffisso casuale con random_id, come per il bucket della lezione 0. Attenzione: lo snapshot finale resta finché non lo cancellate voi, e si paga.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regole di rete per il database le abbiamo scritte prima di averlo, e ora le usiamo senza toccarle. Le subnet database non hanno strade verso internet, lezione 2. La NACL accetta la 5432 dalle subnet private e fa uscire le risposte verso le porte effimere, lezione 3. Il Security Group db accetta la 5432 solo da chi ha il SG app o il SG vpn, lezione 3. E la policy di Tailscale fa passare la 5432 solo agli amministratori, lezione 5. In più publicly_accessible false e connessioni solo cifrate.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in due parti. Il subnet group: l'elenco delle subnet database, con un'espressione for come nella lezione 3. Poi il database: identifier è il nome in AWS; engine postgres; engine_version 18, solo la versione principale, la minore la sceglie e aggiorna AWS; instance_class db.t4g.micro, piccola e Graviton come il server. Il disco: 20 GB iniziali, cresce da solo fino a 100, gp3, cifrato. Il primo database si chiama app, l'utente dbadmin, e la password non c'è: la genera 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dentro lo stesso blocco. La rete: il subnet group, il Security Group db e nessun indirizzo pubblico. multi_az da una variabile. I backup: 7 giorni; la finestra di backup e quella di manutenzione, in UTC, che non devono sovrapporsi. Le protezioni che abbiamo visto. E apply_immediately: alcune modifiche richiedono un riavvio, e senza questa riga RDS le rimanda alla finestra di manutenzione; in laboratorio le vogliamo subito, in produzione si toglie.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un PostgreSQL normale le impostazioni stanno in un file di configurazione; su RDS il file non si tocca, e le impostazioni si scrivono in un parameter group, collegato al database. La famiglia è legata alla versione principale: con 18 diventa postgres18. Un solo parametro: rds.force_ssl uguale 1, tra virgolette come testo. Dalla versione 15 è già il default, ma lo scriviamo: un'impostazione di sicurezza che dipende da un default invisibile può sparire. create_before_destroy serve quando si cambia versione: prima si crea il gruppo nuovo e lo si collega, poi si cancella il vecchio, che altrimenti non si potrebbe cancellare perché in uso. Nel database, parameter_group_name lo collega.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file secrets.tf dà al server il permesso di leggere la password. Una permission policy, lezione 1, con una sola azione, GetSecretValue, su una sola risorsa: il segreto del database. Privilegio minimo. La risorsa è un attributo calcolato da AWS: master_user_secret, una lista con un solo elemento, per questo c'è zero tra quadre, e dentro secret_arn. La policy si crea e si attacca al role del server della lezione 4, che ora ha due policy: SSM e questa.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con tutti i comandi, è nella dispensa 6. Prima parte. Uno: plan e apply, poi 15-20 minuti di attesa; c'è una password nel plan? No. Due: in Secrets Manager trovate il segreto creato da RDS, con la rotazione ogni 7 giorni; nello state c'è solo l'ARN. Tre: dal server, con SSM, scaricate il certificato di AWS, leggete la password dal segreto e vi collegate con psql in verify-full; poi provate senza cifratura e con l'indirizzo IP al posto del nome: entrambe rifiutate, la prima dal database, la seconda dal client. Quattro: da casa, come amministratore via Tailscale, funziona. Cinque: come sviluppatore la connessione scade, la blocca Tailscale. Sei: togliete le porte effimere dalla NACL, stavolta applicando, e la connessione dal server resta appesa. Poi rimettetele.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Sette: sul server lanciate un ciclo che ogni 2 secondi si collega e stampa l'indirizzo del database che ha risposto. Dal vostro computer provocate il failover con reboot-db-instance e force-failover. Guardate il ciclo: prima 10.20.20, poi errori per uno o due minuti, poi 10.20.21. Si è riconnesso da solo perché ogni volta apre una connessione nuova e rilegge il nome. Otto: negli eventi di RDS trovate inizio e fine del failover. Nove: provate a cancellare il database dalla CLI, AWS rifiuta. Dieci: pulizia in due tempi, togliete la protezione nel tfvars, apply, destroy, e cancellate lo snapshot finale che resta.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6, con il codice completo di rds.tf e secrets.tf spiegato blocco per blocco e l'esercizio con tutti i comandi. La prossima volta prepariamo i due magazzini da cui il server prenderà l'applicazione: ECR per le immagini e S3 per i file di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6</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6 · RDS PostgreSQL in alta affidabilità</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RDS PostgreSQL in alta affidabilità</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Il database: dove sta, come sopravvive a un guasto, dove tiene la password, come non si perde</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di oggi: un database che non si perde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760720"/>
                <a:gridCol w="5330952"/>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Vogliamo che il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Perché</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stia nelle subnet DATABASE, senza indirizzo pubblico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da internet non si deve raggiungere in nessun modo (lezione 2)</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sopravviva alla caduta di un data center (AZ)</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l'applicazione riparte in un paio di minuti, senza perdere dati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abbia backup automatici e si possa tornare a un minuto preciso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errore umano deve essere rimediabile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sia CIFRATO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una copia del disco, da sola, non si deve poter leggere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abbia una password che NESSUNO scrive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niente password nel codice, nel tfvars o nello state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non si possa cancellare per sbaglio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destroy nella cartella sbagliata non deve distruggere i dati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Cos'è RDS: PostgreSQL con la manutenzione inclusa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RDS = il servizio AWS dei database GESTITI: scegli il motore e la taglia, al resto pensa AWS.</a:t>
            </a:r>
            <a:endParaRPr lang="en-US" sz="1800" dirty="0"/>
          </a:p>
        </p:txBody>
      </p:sp>
      <p:sp>
        <p:nvSpPr>
          <p:cNvPr id="7" name="Shape 4"/>
          <p:cNvSpPr/>
          <p:nvPr/>
        </p:nvSpPr>
        <p:spPr>
          <a:xfrm>
            <a:off x="548640" y="2240280"/>
            <a:ext cx="5440680" cy="2514600"/>
          </a:xfrm>
          <a:prstGeom prst="roundRect">
            <a:avLst>
              <a:gd name="adj" fmla="val 4364"/>
            </a:avLst>
          </a:prstGeom>
          <a:solidFill>
            <a:srgbClr val="FDF0E3"/>
          </a:solidFill>
          <a:ln w="12700">
            <a:solidFill>
              <a:srgbClr val="FDF0E3"/>
            </a:solidFill>
            <a:prstDash val="solid"/>
          </a:ln>
        </p:spPr>
      </p:sp>
      <p:sp>
        <p:nvSpPr>
          <p:cNvPr id="8" name="Shape 5"/>
          <p:cNvSpPr/>
          <p:nvPr/>
        </p:nvSpPr>
        <p:spPr>
          <a:xfrm>
            <a:off x="777240" y="2468880"/>
            <a:ext cx="548640" cy="548640"/>
          </a:xfrm>
          <a:prstGeom prst="ellipse">
            <a:avLst/>
          </a:prstGeom>
          <a:solidFill>
            <a:srgbClr val="F28C28"/>
          </a:solidFill>
          <a:ln w="12700">
            <a:solidFill>
              <a:srgbClr val="F28C28"/>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PostgreSQL su EC2 = comprare casa</a:t>
            </a:r>
            <a:endParaRPr lang="en-US" sz="1800" dirty="0"/>
          </a:p>
        </p:txBody>
      </p:sp>
      <p:sp>
        <p:nvSpPr>
          <p:cNvPr id="11" name="Text 7"/>
          <p:cNvSpPr txBox="1"/>
          <p:nvPr/>
        </p:nvSpPr>
        <p:spPr>
          <a:xfrm>
            <a:off x="777240" y="3154680"/>
            <a:ext cx="4983480" cy="1417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Aggiornamenti, backup, copia di riserva: tutto tuo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Hai accesso a tutto, anche al sistema operativo</a:t>
            </a:r>
            <a:endParaRPr lang="en-US" sz="1600" dirty="0"/>
          </a:p>
        </p:txBody>
      </p:sp>
      <p:sp>
        <p:nvSpPr>
          <p:cNvPr id="12" name="Shape 8"/>
          <p:cNvSpPr/>
          <p:nvPr/>
        </p:nvSpPr>
        <p:spPr>
          <a:xfrm>
            <a:off x="6172200" y="2240280"/>
            <a:ext cx="5468112" cy="2514600"/>
          </a:xfrm>
          <a:prstGeom prst="roundRect">
            <a:avLst>
              <a:gd name="adj" fmla="val 4364"/>
            </a:avLst>
          </a:prstGeom>
          <a:solidFill>
            <a:srgbClr val="E5F4EC"/>
          </a:solidFill>
          <a:ln w="12700">
            <a:solidFill>
              <a:srgbClr val="E5F4EC"/>
            </a:solidFill>
            <a:prstDash val="solid"/>
          </a:ln>
        </p:spPr>
      </p:sp>
      <p:sp>
        <p:nvSpPr>
          <p:cNvPr id="13" name="Shape 9"/>
          <p:cNvSpPr/>
          <p:nvPr/>
        </p:nvSpPr>
        <p:spPr>
          <a:xfrm>
            <a:off x="6400800" y="2468880"/>
            <a:ext cx="548640" cy="54864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RDS = affitto con manutenzione</a:t>
            </a:r>
            <a:endParaRPr lang="en-US" sz="1800" dirty="0"/>
          </a:p>
        </p:txBody>
      </p:sp>
      <p:sp>
        <p:nvSpPr>
          <p:cNvPr id="16" name="Text 11"/>
          <p:cNvSpPr txBox="1"/>
          <p:nvPr/>
        </p:nvSpPr>
        <p:spPr>
          <a:xfrm>
            <a:off x="6400800" y="3154680"/>
            <a:ext cx="5010912" cy="1417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Aggiornamenti e backup automatici</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 copia di riserva è un'opzione: multi_az = true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Nessun terminale sul server</a:t>
            </a:r>
            <a:endParaRPr lang="en-US" sz="1600" dirty="0"/>
          </a:p>
        </p:txBody>
      </p:sp>
      <p:sp>
        <p:nvSpPr>
          <p:cNvPr id="17" name="Shape 12"/>
          <p:cNvSpPr/>
          <p:nvPr/>
        </p:nvSpPr>
        <p:spPr>
          <a:xfrm>
            <a:off x="548640" y="5029200"/>
            <a:ext cx="11094415" cy="914400"/>
          </a:xfrm>
          <a:prstGeom prst="roundRect">
            <a:avLst>
              <a:gd name="adj" fmla="val 10000"/>
            </a:avLst>
          </a:prstGeom>
          <a:solidFill>
            <a:srgbClr val="FDF0E3"/>
          </a:solidFill>
          <a:ln w="12700">
            <a:solidFill>
              <a:srgbClr val="FDF0E3"/>
            </a:solidFill>
            <a:prstDash val="solid"/>
          </a:ln>
        </p:spPr>
      </p:sp>
      <p:sp>
        <p:nvSpPr>
          <p:cNvPr id="18" name="Text 13"/>
          <p:cNvSpPr txBox="1"/>
          <p:nvPr/>
        </p:nvSpPr>
        <p:spPr>
          <a:xfrm>
            <a:off x="822960" y="502920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Si usa RDS quasi sempre. Ci si collega a un ENDPOINT: un nome DNS fisso, non un indirizzo IP.</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Dove vive: il DB subnet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DB subnet group = l'ELENCO delle subnet in cui AWS può mettere il database (almeno 2 AZ).</a:t>
            </a:r>
            <a:endParaRPr lang="en-US" sz="1800" dirty="0"/>
          </a:p>
        </p:txBody>
      </p:sp>
      <p:sp>
        <p:nvSpPr>
          <p:cNvPr id="7" name="Shape 4"/>
          <p:cNvSpPr/>
          <p:nvPr/>
        </p:nvSpPr>
        <p:spPr>
          <a:xfrm>
            <a:off x="548640" y="2240280"/>
            <a:ext cx="11094415" cy="2651760"/>
          </a:xfrm>
          <a:prstGeom prst="roundRect">
            <a:avLst>
              <a:gd name="adj" fmla="val 4138"/>
            </a:avLst>
          </a:prstGeom>
          <a:solidFill>
            <a:srgbClr val="F7F6FD"/>
          </a:solidFill>
          <a:ln w="12700">
            <a:solidFill>
              <a:srgbClr val="D9D6EC"/>
            </a:solidFill>
            <a:prstDash val="solid"/>
          </a:ln>
        </p:spPr>
      </p:sp>
      <p:sp>
        <p:nvSpPr>
          <p:cNvPr id="8" name="Text 5"/>
          <p:cNvSpPr txBox="1"/>
          <p:nvPr/>
        </p:nvSpPr>
        <p:spPr>
          <a:xfrm>
            <a:off x="822960" y="2286000"/>
            <a:ext cx="5486400" cy="411480"/>
          </a:xfrm>
          <a:prstGeom prst="rect">
            <a:avLst/>
          </a:prstGeom>
          <a:noFill/>
          <a:ln/>
        </p:spPr>
        <p:txBody>
          <a:bodyPr wrap="square" lIns="0" tIns="0" rIns="0" bIns="0" rtlCol="0" anchor="ctr"/>
          <a:lstStyle/>
          <a:p>
            <a:pPr algn="l" indent="0" marL="0">
              <a:buNone/>
            </a:pPr>
            <a:r>
              <a:rPr lang="en-US" sz="1500" b="1" dirty="0">
                <a:solidFill>
                  <a:srgbClr val="5B3FD0"/>
                </a:solidFill>
                <a:latin typeface="Courier New" pitchFamily="34" charset="0"/>
                <a:ea typeface="Courier New" pitchFamily="34" charset="-122"/>
                <a:cs typeface="Courier New" pitchFamily="34" charset="-120"/>
              </a:rPr>
              <a:t>aws_db_subnet_group.main  =  le subnet database</a:t>
            </a:r>
            <a:endParaRPr lang="en-US" sz="1500" dirty="0"/>
          </a:p>
        </p:txBody>
      </p:sp>
      <p:sp>
        <p:nvSpPr>
          <p:cNvPr id="9" name="Shape 6"/>
          <p:cNvSpPr/>
          <p:nvPr/>
        </p:nvSpPr>
        <p:spPr>
          <a:xfrm>
            <a:off x="914400" y="2788920"/>
            <a:ext cx="4846320" cy="1874520"/>
          </a:xfrm>
          <a:prstGeom prst="roundRect">
            <a:avLst>
              <a:gd name="adj" fmla="val 4878"/>
            </a:avLst>
          </a:prstGeom>
          <a:solidFill>
            <a:srgbClr val="FFFFFF"/>
          </a:solidFill>
          <a:ln w="19050">
            <a:solidFill>
              <a:srgbClr val="5B3FD0"/>
            </a:solidFill>
            <a:prstDash val="solid"/>
          </a:ln>
        </p:spPr>
      </p:sp>
      <p:sp>
        <p:nvSpPr>
          <p:cNvPr id="10" name="Text 7"/>
          <p:cNvSpPr txBox="1"/>
          <p:nvPr/>
        </p:nvSpPr>
        <p:spPr>
          <a:xfrm>
            <a:off x="914400" y="2788920"/>
            <a:ext cx="4846320" cy="18745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AZ-a  ·  10.20.20.0/24</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subnet database: nessuna strada verso internet</a:t>
            </a:r>
            <a:endParaRPr lang="en-US" sz="1700" dirty="0"/>
          </a:p>
          <a:p>
            <a:pPr algn="ctr" indent="0" marL="0">
              <a:buNone/>
            </a:pPr>
            <a:r>
              <a:rPr lang="en-US" sz="1700" b="1" dirty="0">
                <a:solidFill>
                  <a:srgbClr val="5B3FD0"/>
                </a:solidFill>
                <a:latin typeface="Calibri" pitchFamily="34" charset="0"/>
                <a:ea typeface="Calibri" pitchFamily="34" charset="-122"/>
                <a:cs typeface="Calibri" pitchFamily="34" charset="-120"/>
              </a:rPr>
              <a:t>Primario</a:t>
            </a:r>
            <a:endParaRPr lang="en-US" sz="1700" dirty="0"/>
          </a:p>
        </p:txBody>
      </p:sp>
      <p:sp>
        <p:nvSpPr>
          <p:cNvPr id="11" name="Shape 8"/>
          <p:cNvSpPr/>
          <p:nvPr/>
        </p:nvSpPr>
        <p:spPr>
          <a:xfrm>
            <a:off x="6400800" y="2788920"/>
            <a:ext cx="4846320" cy="1874520"/>
          </a:xfrm>
          <a:prstGeom prst="roundRect">
            <a:avLst>
              <a:gd name="adj" fmla="val 4878"/>
            </a:avLst>
          </a:prstGeom>
          <a:solidFill>
            <a:srgbClr val="FFFFFF"/>
          </a:solidFill>
          <a:ln w="19050">
            <a:solidFill>
              <a:srgbClr val="F28C28"/>
            </a:solidFill>
            <a:prstDash val="solid"/>
          </a:ln>
        </p:spPr>
      </p:sp>
      <p:sp>
        <p:nvSpPr>
          <p:cNvPr id="12" name="Text 9"/>
          <p:cNvSpPr txBox="1"/>
          <p:nvPr/>
        </p:nvSpPr>
        <p:spPr>
          <a:xfrm>
            <a:off x="6400800" y="2788920"/>
            <a:ext cx="4846320" cy="18745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AZ-b  ·  10.20.21.0/24</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subnet database: nessuna strada verso internet</a:t>
            </a:r>
            <a:endParaRPr lang="en-US" sz="1700" dirty="0"/>
          </a:p>
          <a:p>
            <a:pPr algn="ctr" indent="0" marL="0">
              <a:buNone/>
            </a:pPr>
            <a:r>
              <a:rPr lang="en-US" sz="1700" b="1" dirty="0">
                <a:solidFill>
                  <a:srgbClr val="F28C28"/>
                </a:solidFill>
                <a:latin typeface="Calibri" pitchFamily="34" charset="0"/>
                <a:ea typeface="Calibri" pitchFamily="34" charset="-122"/>
                <a:cs typeface="Calibri" pitchFamily="34" charset="-120"/>
              </a:rPr>
              <a:t>Standby</a:t>
            </a:r>
            <a:endParaRPr lang="en-US" sz="1700" dirty="0"/>
          </a:p>
        </p:txBody>
      </p:sp>
      <p:sp>
        <p:nvSpPr>
          <p:cNvPr id="13" name="Shape 10"/>
          <p:cNvSpPr/>
          <p:nvPr/>
        </p:nvSpPr>
        <p:spPr>
          <a:xfrm>
            <a:off x="5486400" y="3730752"/>
            <a:ext cx="868680" cy="0"/>
          </a:xfrm>
          <a:prstGeom prst="line">
            <a:avLst/>
          </a:prstGeom>
          <a:noFill/>
          <a:ln w="25400">
            <a:solidFill>
              <a:srgbClr val="F28C28"/>
            </a:solidFill>
            <a:prstDash val="solid"/>
            <a:tailEnd type="triangle"/>
          </a:ln>
        </p:spPr>
      </p:sp>
      <p:sp>
        <p:nvSpPr>
          <p:cNvPr id="14" name="Text 11"/>
          <p:cNvSpPr txBox="1"/>
          <p:nvPr/>
        </p:nvSpPr>
        <p:spPr>
          <a:xfrm>
            <a:off x="5303520" y="3246120"/>
            <a:ext cx="1234440" cy="411480"/>
          </a:xfrm>
          <a:prstGeom prst="rect">
            <a:avLst/>
          </a:prstGeom>
          <a:noFill/>
          <a:ln/>
        </p:spPr>
        <p:txBody>
          <a:bodyPr wrap="square" lIns="0" tIns="0" rIns="0" bIns="0" rtlCol="0" anchor="ctr"/>
          <a:lstStyle/>
          <a:p>
            <a:pPr algn="ctr" indent="0" marL="0">
              <a:buNone/>
            </a:pPr>
            <a:r>
              <a:rPr lang="en-US" sz="1300" i="1" dirty="0">
                <a:solidFill>
                  <a:srgbClr val="F28C28"/>
                </a:solidFill>
                <a:latin typeface="Calibri" pitchFamily="34" charset="0"/>
                <a:ea typeface="Calibri" pitchFamily="34" charset="-122"/>
                <a:cs typeface="Calibri" pitchFamily="34" charset="-120"/>
              </a:rPr>
              <a:t>copia</a:t>
            </a:r>
            <a:endParaRPr lang="en-US" sz="1300" dirty="0"/>
          </a:p>
        </p:txBody>
      </p:sp>
      <p:sp>
        <p:nvSpPr>
          <p:cNvPr id="15" name="Text 12"/>
          <p:cNvSpPr txBox="1"/>
          <p:nvPr/>
        </p:nvSpPr>
        <p:spPr>
          <a:xfrm>
            <a:off x="548640" y="5120640"/>
            <a:ext cx="11094415" cy="822960"/>
          </a:xfrm>
          <a:prstGeom prst="rect">
            <a:avLst/>
          </a:prstGeom>
          <a:noFill/>
          <a:ln/>
        </p:spPr>
        <p:txBody>
          <a:bodyPr wrap="square" lIns="0" tIns="0" rIns="0" bIns="0" rtlCol="0" anchor="ctr"/>
          <a:lstStyle/>
          <a:p>
            <a:pPr algn="l" indent="0" marL="0">
              <a:buNone/>
            </a:pPr>
            <a:r>
              <a:rPr lang="en-US" sz="1700" i="1" dirty="0">
                <a:solidFill>
                  <a:srgbClr val="5F6478"/>
                </a:solidFill>
                <a:latin typeface="Calibri" pitchFamily="34" charset="0"/>
                <a:ea typeface="Calibri" pitchFamily="34" charset="-122"/>
                <a:cs typeface="Calibri" pitchFamily="34" charset="-120"/>
              </a:rPr>
              <a:t>A un server EC2 dai UNA subnet (subnet_id). Al database dai un ELENCO, perché può spostarsi tra le AZ.</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Alta affidabilità: tre modi per avere una copia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71600"/>
            <a:ext cx="3566160" cy="3520440"/>
          </a:xfrm>
          <a:prstGeom prst="roundRect">
            <a:avLst>
              <a:gd name="adj" fmla="val 3117"/>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Multi-AZ istanza</a:t>
            </a:r>
            <a:endParaRPr lang="en-US" sz="1800" dirty="0"/>
          </a:p>
        </p:txBody>
      </p:sp>
      <p:sp>
        <p:nvSpPr>
          <p:cNvPr id="9" name="Text 5"/>
          <p:cNvSpPr txBox="1"/>
          <p:nvPr/>
        </p:nvSpPr>
        <p:spPr>
          <a:xfrm>
            <a:off x="777240" y="2286000"/>
            <a:ext cx="310896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1 primario + 1 standby in un'altra AZ</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Replica SINCRONA</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Lo standby non si legge</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Il nostro caso: multi_az = true</a:t>
            </a:r>
            <a:endParaRPr lang="en-US" sz="1500" dirty="0"/>
          </a:p>
        </p:txBody>
      </p:sp>
      <p:sp>
        <p:nvSpPr>
          <p:cNvPr id="10" name="Shape 6"/>
          <p:cNvSpPr/>
          <p:nvPr/>
        </p:nvSpPr>
        <p:spPr>
          <a:xfrm>
            <a:off x="4297680" y="1371600"/>
            <a:ext cx="3566160" cy="3520440"/>
          </a:xfrm>
          <a:prstGeom prst="roundRect">
            <a:avLst>
              <a:gd name="adj" fmla="val 3117"/>
            </a:avLst>
          </a:prstGeom>
          <a:solidFill>
            <a:srgbClr val="FDF0E3"/>
          </a:solidFill>
          <a:ln w="12700">
            <a:solidFill>
              <a:srgbClr val="FDF0E3"/>
            </a:solidFill>
            <a:prstDash val="solid"/>
          </a:ln>
        </p:spPr>
      </p:sp>
      <p:sp>
        <p:nvSpPr>
          <p:cNvPr id="11" name="Shape 7"/>
          <p:cNvSpPr/>
          <p:nvPr/>
        </p:nvSpPr>
        <p:spPr>
          <a:xfrm>
            <a:off x="452628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3" name="Text 8"/>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Multi-AZ DB cluster</a:t>
            </a:r>
            <a:endParaRPr lang="en-US" sz="1800" dirty="0"/>
          </a:p>
        </p:txBody>
      </p:sp>
      <p:sp>
        <p:nvSpPr>
          <p:cNvPr id="14" name="Text 9"/>
          <p:cNvSpPr txBox="1"/>
          <p:nvPr/>
        </p:nvSpPr>
        <p:spPr>
          <a:xfrm>
            <a:off x="4526280" y="2286000"/>
            <a:ext cx="310896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1 primario + 2 standby, 3 AZ</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Gli standby si leggono</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Passaggio più rapido</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Servono 3 AZ e macchine più grandi</a:t>
            </a:r>
            <a:endParaRPr lang="en-US" sz="1500" dirty="0"/>
          </a:p>
        </p:txBody>
      </p:sp>
      <p:sp>
        <p:nvSpPr>
          <p:cNvPr id="15" name="Shape 10"/>
          <p:cNvSpPr/>
          <p:nvPr/>
        </p:nvSpPr>
        <p:spPr>
          <a:xfrm>
            <a:off x="8046720" y="1371600"/>
            <a:ext cx="3566160" cy="3520440"/>
          </a:xfrm>
          <a:prstGeom prst="roundRect">
            <a:avLst>
              <a:gd name="adj" fmla="val 3117"/>
            </a:avLst>
          </a:prstGeom>
          <a:solidFill>
            <a:srgbClr val="F2F2F5"/>
          </a:solidFill>
          <a:ln w="12700">
            <a:solidFill>
              <a:srgbClr val="F2F2F5"/>
            </a:solidFill>
            <a:prstDash val="solid"/>
          </a:ln>
        </p:spPr>
      </p:sp>
      <p:sp>
        <p:nvSpPr>
          <p:cNvPr id="16" name="Shape 11"/>
          <p:cNvSpPr/>
          <p:nvPr/>
        </p:nvSpPr>
        <p:spPr>
          <a:xfrm>
            <a:off x="8275320" y="1600200"/>
            <a:ext cx="548640" cy="548640"/>
          </a:xfrm>
          <a:prstGeom prst="ellipse">
            <a:avLst/>
          </a:prstGeom>
          <a:solidFill>
            <a:srgbClr val="5F6478"/>
          </a:solidFill>
          <a:ln w="12700">
            <a:solidFill>
              <a:srgbClr val="5F6478"/>
            </a:solidFill>
            <a:prstDash val="solid"/>
          </a:ln>
        </p:spPr>
      </p:sp>
      <p:pic>
        <p:nvPicPr>
          <p:cNvPr id="17"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18" name="Text 12"/>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Read replica</a:t>
            </a:r>
            <a:endParaRPr lang="en-US" sz="1800" dirty="0"/>
          </a:p>
        </p:txBody>
      </p:sp>
      <p:sp>
        <p:nvSpPr>
          <p:cNvPr id="19" name="Text 13"/>
          <p:cNvSpPr txBox="1"/>
          <p:nvPr/>
        </p:nvSpPr>
        <p:spPr>
          <a:xfrm>
            <a:off x="8275320" y="2286000"/>
            <a:ext cx="310896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Copia in SOLA LETTURA</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Asincrona: può essere indietro</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Anche in un'altra regione</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NON prende il posto del primario da sola</a:t>
            </a:r>
            <a:endParaRPr lang="en-US" sz="1500" dirty="0"/>
          </a:p>
        </p:txBody>
      </p:sp>
      <p:sp>
        <p:nvSpPr>
          <p:cNvPr id="20" name="Shape 14"/>
          <p:cNvSpPr/>
          <p:nvPr/>
        </p:nvSpPr>
        <p:spPr>
          <a:xfrm>
            <a:off x="548640" y="5120640"/>
            <a:ext cx="11094415" cy="914400"/>
          </a:xfrm>
          <a:prstGeom prst="roundRect">
            <a:avLst>
              <a:gd name="adj" fmla="val 10000"/>
            </a:avLst>
          </a:prstGeom>
          <a:solidFill>
            <a:srgbClr val="FDF0E3"/>
          </a:solidFill>
          <a:ln w="12700">
            <a:solidFill>
              <a:srgbClr val="FDF0E3"/>
            </a:solidFill>
            <a:prstDash val="solid"/>
          </a:ln>
        </p:spPr>
      </p:sp>
      <p:sp>
        <p:nvSpPr>
          <p:cNvPr id="21" name="Text 15"/>
          <p:cNvSpPr txBox="1"/>
          <p:nvPr/>
        </p:nvSpPr>
        <p:spPr>
          <a:xfrm>
            <a:off x="822960" y="512064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Replica sincrona = un notaio che detta a DUE segretari in due stanze, e firma solo quando entrambi hanno scritto.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tre a confronto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560320"/>
                <a:gridCol w="2834640"/>
                <a:gridCol w="2926080"/>
                <a:gridCol w="2770632"/>
              </a:tblGrid>
              <a:tr h="621792">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Multi-AZ istanza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Multi-AZ DB cluster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Read replica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A cosa serve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sopravvivere a un guasto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guasto + letture in più</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letture in più, altra regione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Copie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1 standby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2 standby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una o più</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Replica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sincrona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sincrona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asincrona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La copia si legge?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Se il primario cade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passaggio AUTOMATICO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AUTOMATICO, più rapido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D64545"/>
                          </a:solidFill>
                          <a:latin typeface="Calibri" pitchFamily="34" charset="0"/>
                          <a:ea typeface="Calibri" pitchFamily="34" charset="-122"/>
                          <a:cs typeface="Calibri" pitchFamily="34" charset="-120"/>
                        </a:rPr>
                        <a:t>promozione MANUALE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Nel corso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no (3 AZ, macchine grandi)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Text 2"/>
          <p:cNvSpPr txBox="1"/>
          <p:nvPr/>
        </p:nvSpPr>
        <p:spPr>
          <a:xfrm>
            <a:off x="548640" y="5852160"/>
            <a:ext cx="11094415" cy="41148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Negli ambienti di prova si può spegnere il Multi-AZ e risparmiare metà: per questo è una variabile, db_multi_az.</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Quale scegliere: due domande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463040"/>
            <a:ext cx="4754880" cy="1097280"/>
          </a:xfrm>
          <a:prstGeom prst="roundRect">
            <a:avLst>
              <a:gd name="adj" fmla="val 8333"/>
            </a:avLst>
          </a:prstGeom>
          <a:solidFill>
            <a:srgbClr val="EEEAFB"/>
          </a:solidFill>
          <a:ln w="12700">
            <a:solidFill>
              <a:srgbClr val="EEEAFB"/>
            </a:solidFill>
            <a:prstDash val="solid"/>
          </a:ln>
        </p:spPr>
      </p:sp>
      <p:sp>
        <p:nvSpPr>
          <p:cNvPr id="6" name="Text 3"/>
          <p:cNvSpPr txBox="1"/>
          <p:nvPr/>
        </p:nvSpPr>
        <p:spPr>
          <a:xfrm>
            <a:off x="548640" y="1463040"/>
            <a:ext cx="4754880"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Il database deve sopravvivere</a:t>
            </a:r>
            <a:endParaRPr lang="en-US" sz="1700" dirty="0"/>
          </a:p>
          <a:p>
            <a:pPr algn="ctr" indent="0" marL="0">
              <a:buNone/>
            </a:pPr>
            <a:r>
              <a:rPr lang="en-US" sz="1700" b="1" dirty="0">
                <a:solidFill>
                  <a:srgbClr val="22253A"/>
                </a:solidFill>
                <a:latin typeface="Calibri" pitchFamily="34" charset="0"/>
                <a:ea typeface="Calibri" pitchFamily="34" charset="-122"/>
                <a:cs typeface="Calibri" pitchFamily="34" charset="-120"/>
              </a:rPr>
              <a:t>alla caduta di un'AZ?</a:t>
            </a:r>
            <a:endParaRPr lang="en-US" sz="1700" dirty="0"/>
          </a:p>
        </p:txBody>
      </p:sp>
      <p:sp>
        <p:nvSpPr>
          <p:cNvPr id="7" name="Shape 4"/>
          <p:cNvSpPr/>
          <p:nvPr/>
        </p:nvSpPr>
        <p:spPr>
          <a:xfrm>
            <a:off x="5349240" y="2011680"/>
            <a:ext cx="1097280" cy="0"/>
          </a:xfrm>
          <a:prstGeom prst="line">
            <a:avLst/>
          </a:prstGeom>
          <a:noFill/>
          <a:ln w="25400">
            <a:solidFill>
              <a:srgbClr val="5F6478"/>
            </a:solidFill>
            <a:prstDash val="solid"/>
            <a:tailEnd type="triangle"/>
          </a:ln>
        </p:spPr>
      </p:sp>
      <p:sp>
        <p:nvSpPr>
          <p:cNvPr id="8" name="Text 5"/>
          <p:cNvSpPr txBox="1"/>
          <p:nvPr/>
        </p:nvSpPr>
        <p:spPr>
          <a:xfrm>
            <a:off x="5349240" y="1554480"/>
            <a:ext cx="1097280" cy="411480"/>
          </a:xfrm>
          <a:prstGeom prst="rect">
            <a:avLst/>
          </a:prstGeom>
          <a:noFill/>
          <a:ln/>
        </p:spPr>
        <p:txBody>
          <a:bodyPr wrap="square" lIns="0" tIns="0" rIns="0" bIns="0" rtlCol="0" anchor="ctr"/>
          <a:lstStyle/>
          <a:p>
            <a:pPr algn="ctr" indent="0" marL="0">
              <a:buNone/>
            </a:pPr>
            <a:r>
              <a:rPr lang="en-US" sz="1500" b="1" dirty="0">
                <a:solidFill>
                  <a:srgbClr val="5F6478"/>
                </a:solidFill>
                <a:latin typeface="Calibri" pitchFamily="34" charset="0"/>
                <a:ea typeface="Calibri" pitchFamily="34" charset="-122"/>
                <a:cs typeface="Calibri" pitchFamily="34" charset="-120"/>
              </a:rPr>
              <a:t>no</a:t>
            </a:r>
            <a:endParaRPr lang="en-US" sz="1500" dirty="0"/>
          </a:p>
        </p:txBody>
      </p:sp>
      <p:sp>
        <p:nvSpPr>
          <p:cNvPr id="9" name="Shape 6"/>
          <p:cNvSpPr/>
          <p:nvPr/>
        </p:nvSpPr>
        <p:spPr>
          <a:xfrm>
            <a:off x="6492240" y="1463040"/>
            <a:ext cx="5148072" cy="1097280"/>
          </a:xfrm>
          <a:prstGeom prst="roundRect">
            <a:avLst>
              <a:gd name="adj" fmla="val 8333"/>
            </a:avLst>
          </a:prstGeom>
          <a:solidFill>
            <a:srgbClr val="F2F2F5"/>
          </a:solidFill>
          <a:ln w="12700">
            <a:solidFill>
              <a:srgbClr val="F2F2F5"/>
            </a:solidFill>
            <a:prstDash val="solid"/>
          </a:ln>
        </p:spPr>
      </p:sp>
      <p:sp>
        <p:nvSpPr>
          <p:cNvPr id="10" name="Text 7"/>
          <p:cNvSpPr txBox="1"/>
          <p:nvPr/>
        </p:nvSpPr>
        <p:spPr>
          <a:xfrm>
            <a:off x="6492240" y="1463040"/>
            <a:ext cx="5148072"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Istanza singola</a:t>
            </a:r>
            <a:endParaRPr lang="en-US" sz="1700" dirty="0"/>
          </a:p>
          <a:p>
            <a:pPr algn="ctr" indent="0" marL="0">
              <a:buNone/>
            </a:pPr>
            <a:r>
              <a:rPr lang="en-US" sz="1400" dirty="0">
                <a:solidFill>
                  <a:srgbClr val="5F6478"/>
                </a:solidFill>
                <a:latin typeface="Courier New" pitchFamily="34" charset="0"/>
                <a:ea typeface="Courier New" pitchFamily="34" charset="-122"/>
                <a:cs typeface="Courier New" pitchFamily="34" charset="-120"/>
              </a:rPr>
              <a:t>multi_az = false · es. ambiente di prova</a:t>
            </a:r>
            <a:endParaRPr lang="en-US" sz="1700" dirty="0"/>
          </a:p>
        </p:txBody>
      </p:sp>
      <p:sp>
        <p:nvSpPr>
          <p:cNvPr id="11" name="Shape 8"/>
          <p:cNvSpPr/>
          <p:nvPr/>
        </p:nvSpPr>
        <p:spPr>
          <a:xfrm>
            <a:off x="2926080" y="2606040"/>
            <a:ext cx="0" cy="502920"/>
          </a:xfrm>
          <a:prstGeom prst="line">
            <a:avLst/>
          </a:prstGeom>
          <a:noFill/>
          <a:ln w="25400">
            <a:solidFill>
              <a:srgbClr val="5B3FD0"/>
            </a:solidFill>
            <a:prstDash val="solid"/>
            <a:tailEnd type="triangle"/>
          </a:ln>
        </p:spPr>
      </p:sp>
      <p:sp>
        <p:nvSpPr>
          <p:cNvPr id="12" name="Text 9"/>
          <p:cNvSpPr txBox="1"/>
          <p:nvPr/>
        </p:nvSpPr>
        <p:spPr>
          <a:xfrm>
            <a:off x="3063240" y="2606040"/>
            <a:ext cx="548640" cy="457200"/>
          </a:xfrm>
          <a:prstGeom prst="rect">
            <a:avLst/>
          </a:prstGeom>
          <a:noFill/>
          <a:ln/>
        </p:spPr>
        <p:txBody>
          <a:bodyPr wrap="square" lIns="0" tIns="0" rIns="0" bIns="0" rtlCol="0" anchor="ctr"/>
          <a:lstStyle/>
          <a:p>
            <a:pPr algn="l" indent="0" marL="0">
              <a:buNone/>
            </a:pPr>
            <a:r>
              <a:rPr lang="en-US" sz="1500" b="1" dirty="0">
                <a:solidFill>
                  <a:srgbClr val="5B3FD0"/>
                </a:solidFill>
                <a:latin typeface="Calibri" pitchFamily="34" charset="0"/>
                <a:ea typeface="Calibri" pitchFamily="34" charset="-122"/>
                <a:cs typeface="Calibri" pitchFamily="34" charset="-120"/>
              </a:rPr>
              <a:t>sì</a:t>
            </a:r>
            <a:endParaRPr lang="en-US" sz="1500" dirty="0"/>
          </a:p>
        </p:txBody>
      </p:sp>
      <p:sp>
        <p:nvSpPr>
          <p:cNvPr id="13" name="Shape 10"/>
          <p:cNvSpPr/>
          <p:nvPr/>
        </p:nvSpPr>
        <p:spPr>
          <a:xfrm>
            <a:off x="548640" y="3154680"/>
            <a:ext cx="4754880" cy="1097280"/>
          </a:xfrm>
          <a:prstGeom prst="roundRect">
            <a:avLst>
              <a:gd name="adj" fmla="val 8333"/>
            </a:avLst>
          </a:prstGeom>
          <a:solidFill>
            <a:srgbClr val="EEEAFB"/>
          </a:solidFill>
          <a:ln w="12700">
            <a:solidFill>
              <a:srgbClr val="EEEAFB"/>
            </a:solidFill>
            <a:prstDash val="solid"/>
          </a:ln>
        </p:spPr>
      </p:sp>
      <p:sp>
        <p:nvSpPr>
          <p:cNvPr id="14" name="Text 11"/>
          <p:cNvSpPr txBox="1"/>
          <p:nvPr/>
        </p:nvSpPr>
        <p:spPr>
          <a:xfrm>
            <a:off x="548640" y="3154680"/>
            <a:ext cx="4754880"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Servono anche letture in più,</a:t>
            </a:r>
            <a:endParaRPr lang="en-US" sz="1700" dirty="0"/>
          </a:p>
          <a:p>
            <a:pPr algn="ctr" indent="0" marL="0">
              <a:buNone/>
            </a:pPr>
            <a:r>
              <a:rPr lang="en-US" sz="1700" b="1" dirty="0">
                <a:solidFill>
                  <a:srgbClr val="22253A"/>
                </a:solidFill>
                <a:latin typeface="Calibri" pitchFamily="34" charset="0"/>
                <a:ea typeface="Calibri" pitchFamily="34" charset="-122"/>
                <a:cs typeface="Calibri" pitchFamily="34" charset="-120"/>
              </a:rPr>
              <a:t>o un passaggio più rapido?</a:t>
            </a:r>
            <a:endParaRPr lang="en-US" sz="1700" dirty="0"/>
          </a:p>
        </p:txBody>
      </p:sp>
      <p:sp>
        <p:nvSpPr>
          <p:cNvPr id="15" name="Shape 12"/>
          <p:cNvSpPr/>
          <p:nvPr/>
        </p:nvSpPr>
        <p:spPr>
          <a:xfrm>
            <a:off x="5349240" y="3703320"/>
            <a:ext cx="1097280" cy="0"/>
          </a:xfrm>
          <a:prstGeom prst="line">
            <a:avLst/>
          </a:prstGeom>
          <a:noFill/>
          <a:ln w="25400">
            <a:solidFill>
              <a:srgbClr val="F28C28"/>
            </a:solidFill>
            <a:prstDash val="solid"/>
            <a:tailEnd type="triangle"/>
          </a:ln>
        </p:spPr>
      </p:sp>
      <p:sp>
        <p:nvSpPr>
          <p:cNvPr id="16" name="Text 13"/>
          <p:cNvSpPr txBox="1"/>
          <p:nvPr/>
        </p:nvSpPr>
        <p:spPr>
          <a:xfrm>
            <a:off x="5349240" y="3246120"/>
            <a:ext cx="1097280" cy="411480"/>
          </a:xfrm>
          <a:prstGeom prst="rect">
            <a:avLst/>
          </a:prstGeom>
          <a:noFill/>
          <a:ln/>
        </p:spPr>
        <p:txBody>
          <a:bodyPr wrap="square" lIns="0" tIns="0" rIns="0" bIns="0" rtlCol="0" anchor="ctr"/>
          <a:lstStyle/>
          <a:p>
            <a:pPr algn="ctr" indent="0" marL="0">
              <a:buNone/>
            </a:pPr>
            <a:r>
              <a:rPr lang="en-US" sz="1500" b="1" dirty="0">
                <a:solidFill>
                  <a:srgbClr val="F28C28"/>
                </a:solidFill>
                <a:latin typeface="Calibri" pitchFamily="34" charset="0"/>
                <a:ea typeface="Calibri" pitchFamily="34" charset="-122"/>
                <a:cs typeface="Calibri" pitchFamily="34" charset="-120"/>
              </a:rPr>
              <a:t>sì</a:t>
            </a:r>
            <a:endParaRPr lang="en-US" sz="1500" dirty="0"/>
          </a:p>
        </p:txBody>
      </p:sp>
      <p:sp>
        <p:nvSpPr>
          <p:cNvPr id="17" name="Shape 14"/>
          <p:cNvSpPr/>
          <p:nvPr/>
        </p:nvSpPr>
        <p:spPr>
          <a:xfrm>
            <a:off x="6492240" y="3154680"/>
            <a:ext cx="5148072" cy="1097280"/>
          </a:xfrm>
          <a:prstGeom prst="roundRect">
            <a:avLst>
              <a:gd name="adj" fmla="val 8333"/>
            </a:avLst>
          </a:prstGeom>
          <a:solidFill>
            <a:srgbClr val="FDF0E3"/>
          </a:solidFill>
          <a:ln w="12700">
            <a:solidFill>
              <a:srgbClr val="FDF0E3"/>
            </a:solidFill>
            <a:prstDash val="solid"/>
          </a:ln>
        </p:spPr>
      </p:sp>
      <p:sp>
        <p:nvSpPr>
          <p:cNvPr id="18" name="Text 15"/>
          <p:cNvSpPr txBox="1"/>
          <p:nvPr/>
        </p:nvSpPr>
        <p:spPr>
          <a:xfrm>
            <a:off x="6492240" y="3154680"/>
            <a:ext cx="5148072"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Multi-AZ DB cluster</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3 AZ, macchine più grandi</a:t>
            </a:r>
            <a:endParaRPr lang="en-US" sz="1700" dirty="0"/>
          </a:p>
        </p:txBody>
      </p:sp>
      <p:sp>
        <p:nvSpPr>
          <p:cNvPr id="19" name="Shape 16"/>
          <p:cNvSpPr/>
          <p:nvPr/>
        </p:nvSpPr>
        <p:spPr>
          <a:xfrm>
            <a:off x="2926080" y="4297680"/>
            <a:ext cx="0" cy="502920"/>
          </a:xfrm>
          <a:prstGeom prst="line">
            <a:avLst/>
          </a:prstGeom>
          <a:noFill/>
          <a:ln w="25400">
            <a:solidFill>
              <a:srgbClr val="2E9E6B"/>
            </a:solidFill>
            <a:prstDash val="solid"/>
            <a:tailEnd type="triangle"/>
          </a:ln>
        </p:spPr>
      </p:sp>
      <p:sp>
        <p:nvSpPr>
          <p:cNvPr id="20" name="Text 17"/>
          <p:cNvSpPr txBox="1"/>
          <p:nvPr/>
        </p:nvSpPr>
        <p:spPr>
          <a:xfrm>
            <a:off x="3063240" y="4297680"/>
            <a:ext cx="548640" cy="457200"/>
          </a:xfrm>
          <a:prstGeom prst="rect">
            <a:avLst/>
          </a:prstGeom>
          <a:noFill/>
          <a:ln/>
        </p:spPr>
        <p:txBody>
          <a:bodyPr wrap="square" lIns="0" tIns="0" rIns="0" bIns="0" rtlCol="0" anchor="ctr"/>
          <a:lstStyle/>
          <a:p>
            <a:pPr algn="l" indent="0" marL="0">
              <a:buNone/>
            </a:pPr>
            <a:r>
              <a:rPr lang="en-US" sz="1500" b="1" dirty="0">
                <a:solidFill>
                  <a:srgbClr val="2E9E6B"/>
                </a:solidFill>
                <a:latin typeface="Calibri" pitchFamily="34" charset="0"/>
                <a:ea typeface="Calibri" pitchFamily="34" charset="-122"/>
                <a:cs typeface="Calibri" pitchFamily="34" charset="-120"/>
              </a:rPr>
              <a:t>no</a:t>
            </a:r>
            <a:endParaRPr lang="en-US" sz="1500" dirty="0"/>
          </a:p>
        </p:txBody>
      </p:sp>
      <p:sp>
        <p:nvSpPr>
          <p:cNvPr id="21" name="Shape 18"/>
          <p:cNvSpPr/>
          <p:nvPr/>
        </p:nvSpPr>
        <p:spPr>
          <a:xfrm>
            <a:off x="548640" y="4846320"/>
            <a:ext cx="4754880" cy="1097280"/>
          </a:xfrm>
          <a:prstGeom prst="roundRect">
            <a:avLst>
              <a:gd name="adj" fmla="val 8333"/>
            </a:avLst>
          </a:prstGeom>
          <a:solidFill>
            <a:srgbClr val="E5F4EC"/>
          </a:solidFill>
          <a:ln w="25400">
            <a:solidFill>
              <a:srgbClr val="2E9E6B"/>
            </a:solidFill>
            <a:prstDash val="solid"/>
          </a:ln>
        </p:spPr>
      </p:sp>
      <p:sp>
        <p:nvSpPr>
          <p:cNvPr id="22" name="Text 19"/>
          <p:cNvSpPr txBox="1"/>
          <p:nvPr/>
        </p:nvSpPr>
        <p:spPr>
          <a:xfrm>
            <a:off x="548640" y="4846320"/>
            <a:ext cx="4754880" cy="109728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Multi-AZ istanza</a:t>
            </a:r>
            <a:endParaRPr lang="en-US" sz="1800" dirty="0"/>
          </a:p>
          <a:p>
            <a:pPr algn="ctr" indent="0" marL="0">
              <a:buNone/>
            </a:pPr>
            <a:r>
              <a:rPr lang="en-US" sz="1400" dirty="0">
                <a:solidFill>
                  <a:srgbClr val="22253A"/>
                </a:solidFill>
                <a:latin typeface="Courier New" pitchFamily="34" charset="0"/>
                <a:ea typeface="Courier New" pitchFamily="34" charset="-122"/>
                <a:cs typeface="Courier New" pitchFamily="34" charset="-120"/>
              </a:rPr>
              <a:t>multi_az = true · il nostro caso</a:t>
            </a:r>
            <a:endParaRPr lang="en-US" sz="1800" dirty="0"/>
          </a:p>
        </p:txBody>
      </p:sp>
      <p:sp>
        <p:nvSpPr>
          <p:cNvPr id="23" name="Shape 20"/>
          <p:cNvSpPr/>
          <p:nvPr/>
        </p:nvSpPr>
        <p:spPr>
          <a:xfrm>
            <a:off x="6492240" y="4572000"/>
            <a:ext cx="5148072" cy="1371600"/>
          </a:xfrm>
          <a:prstGeom prst="roundRect">
            <a:avLst>
              <a:gd name="adj" fmla="val 8000"/>
            </a:avLst>
          </a:prstGeom>
          <a:solidFill>
            <a:srgbClr val="F2F2F5"/>
          </a:solidFill>
          <a:ln w="12700">
            <a:solidFill>
              <a:srgbClr val="F2F2F5"/>
            </a:solidFill>
            <a:prstDash val="solid"/>
          </a:ln>
        </p:spPr>
      </p:sp>
      <p:sp>
        <p:nvSpPr>
          <p:cNvPr id="24" name="Shape 21"/>
          <p:cNvSpPr/>
          <p:nvPr/>
        </p:nvSpPr>
        <p:spPr>
          <a:xfrm>
            <a:off x="6720840" y="4800600"/>
            <a:ext cx="548640" cy="548640"/>
          </a:xfrm>
          <a:prstGeom prst="ellipse">
            <a:avLst/>
          </a:prstGeom>
          <a:solidFill>
            <a:srgbClr val="5F6478"/>
          </a:solidFill>
          <a:ln w="12700">
            <a:solidFill>
              <a:srgbClr val="5F6478"/>
            </a:solidFill>
            <a:prstDash val="solid"/>
          </a:ln>
        </p:spPr>
      </p:sp>
      <p:pic>
        <p:nvPicPr>
          <p:cNvPr id="25" name="Image 0" descr="preencoded.png">    </p:cNvPr>
          <p:cNvPicPr>
            <a:picLocks noChangeAspect="1"/>
          </p:cNvPicPr>
          <p:nvPr/>
        </p:nvPicPr>
        <p:blipFill>
          <a:blip r:embed="rId1"/>
          <a:stretch>
            <a:fillRect/>
          </a:stretch>
        </p:blipFill>
        <p:spPr>
          <a:xfrm>
            <a:off x="6858000" y="4937760"/>
            <a:ext cx="274320" cy="274320"/>
          </a:xfrm>
          <a:prstGeom prst="rect">
            <a:avLst/>
          </a:prstGeom>
        </p:spPr>
      </p:pic>
      <p:sp>
        <p:nvSpPr>
          <p:cNvPr id="26" name="Text 22"/>
          <p:cNvSpPr txBox="1"/>
          <p:nvPr/>
        </p:nvSpPr>
        <p:spPr>
          <a:xfrm>
            <a:off x="7452360" y="4800600"/>
            <a:ext cx="395935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 più, se serve: read replica</a:t>
            </a:r>
            <a:endParaRPr lang="en-US" sz="1800" dirty="0"/>
          </a:p>
        </p:txBody>
      </p:sp>
      <p:sp>
        <p:nvSpPr>
          <p:cNvPr id="27" name="Text 23"/>
          <p:cNvSpPr txBox="1"/>
          <p:nvPr/>
        </p:nvSpPr>
        <p:spPr>
          <a:xfrm>
            <a:off x="6720840" y="5486400"/>
            <a:ext cx="4690872" cy="2743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letture in un'altra regione o per i report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failover: cambia l'indirizzo, non il nome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Failover = passaggio alla riserva. Lo fa RDS, da solo, se il primario non risponde.</a:t>
            </a:r>
            <a:endParaRPr lang="en-US" sz="1900" dirty="0"/>
          </a:p>
        </p:txBody>
      </p:sp>
      <p:sp>
        <p:nvSpPr>
          <p:cNvPr id="7" name="Shape 4"/>
          <p:cNvSpPr/>
          <p:nvPr/>
        </p:nvSpPr>
        <p:spPr>
          <a:xfrm>
            <a:off x="548640" y="2194560"/>
            <a:ext cx="11094415" cy="777240"/>
          </a:xfrm>
          <a:prstGeom prst="roundRect">
            <a:avLst>
              <a:gd name="adj" fmla="val 9412"/>
            </a:avLst>
          </a:prstGeom>
          <a:solidFill>
            <a:srgbClr val="1E1E2E"/>
          </a:solidFill>
          <a:ln w="12700">
            <a:solidFill>
              <a:srgbClr val="1E1E2E"/>
            </a:solidFill>
            <a:prstDash val="solid"/>
          </a:ln>
        </p:spPr>
      </p:sp>
      <p:sp>
        <p:nvSpPr>
          <p:cNvPr id="8" name="Text 5"/>
          <p:cNvSpPr txBox="1"/>
          <p:nvPr/>
        </p:nvSpPr>
        <p:spPr>
          <a:xfrm>
            <a:off x="731520" y="22677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l'endpoint: un nome DNS che non cambia</a:t>
            </a:r>
            <a:endParaRPr lang="en-US" sz="1300" dirty="0"/>
          </a:p>
        </p:txBody>
      </p:sp>
      <p:sp>
        <p:nvSpPr>
          <p:cNvPr id="9" name="Text 6"/>
          <p:cNvSpPr txBox="1"/>
          <p:nvPr/>
        </p:nvSpPr>
        <p:spPr>
          <a:xfrm>
            <a:off x="731520" y="2606040"/>
            <a:ext cx="10728655" cy="228600"/>
          </a:xfrm>
          <a:prstGeom prst="rect">
            <a:avLst/>
          </a:prstGeom>
          <a:noFill/>
          <a:ln/>
        </p:spPr>
        <p:txBody>
          <a:bodyPr wrap="square" lIns="0" tIns="0" rIns="0" bIns="0" rtlCol="0" anchor="t"/>
          <a:lstStyle/>
          <a:p>
            <a:pPr indent="0" marL="0">
              <a:buNone/>
            </a:pPr>
            <a:r>
              <a:rPr lang="en-US" sz="1800" dirty="0">
                <a:solidFill>
                  <a:srgbClr val="E6E6F0"/>
                </a:solidFill>
                <a:latin typeface="Courier New" pitchFamily="34" charset="0"/>
                <a:ea typeface="Courier New" pitchFamily="34" charset="-122"/>
                <a:cs typeface="Courier New" pitchFamily="34" charset="-120"/>
              </a:rPr>
              <a:t>corso-aws-db.abc123xyz.eu-south-1.rds.amazonaws.com</a:t>
            </a:r>
            <a:endParaRPr lang="en-US" sz="1800" dirty="0"/>
          </a:p>
        </p:txBody>
      </p:sp>
      <p:sp>
        <p:nvSpPr>
          <p:cNvPr id="10" name="Shape 7"/>
          <p:cNvSpPr/>
          <p:nvPr/>
        </p:nvSpPr>
        <p:spPr>
          <a:xfrm>
            <a:off x="548640" y="3291840"/>
            <a:ext cx="3429000" cy="1508760"/>
          </a:xfrm>
          <a:prstGeom prst="roundRect">
            <a:avLst>
              <a:gd name="adj" fmla="val 6061"/>
            </a:avLst>
          </a:prstGeom>
          <a:solidFill>
            <a:srgbClr val="EEEAFB"/>
          </a:solidFill>
          <a:ln w="12700">
            <a:solidFill>
              <a:srgbClr val="EEEAFB"/>
            </a:solidFill>
            <a:prstDash val="solid"/>
          </a:ln>
        </p:spPr>
      </p:sp>
      <p:sp>
        <p:nvSpPr>
          <p:cNvPr id="11" name="Text 8"/>
          <p:cNvSpPr txBox="1"/>
          <p:nvPr/>
        </p:nvSpPr>
        <p:spPr>
          <a:xfrm>
            <a:off x="548640" y="3291840"/>
            <a:ext cx="3429000" cy="15087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Prima</a:t>
            </a:r>
            <a:endParaRPr lang="en-US" sz="1500" dirty="0"/>
          </a:p>
          <a:p>
            <a:pPr algn="ctr" indent="0" marL="0">
              <a:buNone/>
            </a:pPr>
            <a:r>
              <a:rPr lang="en-US" sz="1500" dirty="0">
                <a:solidFill>
                  <a:srgbClr val="22253A"/>
                </a:solidFill>
                <a:latin typeface="Calibri" pitchFamily="34" charset="0"/>
                <a:ea typeface="Calibri" pitchFamily="34" charset="-122"/>
                <a:cs typeface="Calibri" pitchFamily="34" charset="-120"/>
              </a:rPr>
              <a:t>il nome porta a 10.20.20.x</a:t>
            </a:r>
            <a:endParaRPr lang="en-US" sz="1500" dirty="0"/>
          </a:p>
          <a:p>
            <a:pPr algn="ctr" indent="0" marL="0">
              <a:buNone/>
            </a:pPr>
            <a:r>
              <a:rPr lang="en-US" sz="1400" dirty="0">
                <a:solidFill>
                  <a:srgbClr val="5F6478"/>
                </a:solidFill>
                <a:latin typeface="Calibri" pitchFamily="34" charset="0"/>
                <a:ea typeface="Calibri" pitchFamily="34" charset="-122"/>
                <a:cs typeface="Calibri" pitchFamily="34" charset="-120"/>
              </a:rPr>
              <a:t>primario nell'AZ-a</a:t>
            </a:r>
            <a:endParaRPr lang="en-US" sz="1500" dirty="0"/>
          </a:p>
        </p:txBody>
      </p:sp>
      <p:sp>
        <p:nvSpPr>
          <p:cNvPr id="12" name="Shape 9"/>
          <p:cNvSpPr/>
          <p:nvPr/>
        </p:nvSpPr>
        <p:spPr>
          <a:xfrm>
            <a:off x="4005072" y="4041648"/>
            <a:ext cx="274320" cy="0"/>
          </a:xfrm>
          <a:prstGeom prst="line">
            <a:avLst/>
          </a:prstGeom>
          <a:noFill/>
          <a:ln w="25400">
            <a:solidFill>
              <a:srgbClr val="5B3FD0"/>
            </a:solidFill>
            <a:prstDash val="solid"/>
            <a:tailEnd type="triangle"/>
          </a:ln>
        </p:spPr>
      </p:sp>
      <p:sp>
        <p:nvSpPr>
          <p:cNvPr id="13" name="Shape 10"/>
          <p:cNvSpPr/>
          <p:nvPr/>
        </p:nvSpPr>
        <p:spPr>
          <a:xfrm>
            <a:off x="4297680" y="3291840"/>
            <a:ext cx="3429000" cy="1508760"/>
          </a:xfrm>
          <a:prstGeom prst="roundRect">
            <a:avLst>
              <a:gd name="adj" fmla="val 6061"/>
            </a:avLst>
          </a:prstGeom>
          <a:solidFill>
            <a:srgbClr val="FBE9E9"/>
          </a:solidFill>
          <a:ln w="12700">
            <a:solidFill>
              <a:srgbClr val="FBE9E9"/>
            </a:solidFill>
            <a:prstDash val="solid"/>
          </a:ln>
        </p:spPr>
      </p:sp>
      <p:sp>
        <p:nvSpPr>
          <p:cNvPr id="14" name="Text 11"/>
          <p:cNvSpPr txBox="1"/>
          <p:nvPr/>
        </p:nvSpPr>
        <p:spPr>
          <a:xfrm>
            <a:off x="4297680" y="3291840"/>
            <a:ext cx="3429000" cy="15087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Durante</a:t>
            </a:r>
            <a:endParaRPr lang="en-US" sz="1500" dirty="0"/>
          </a:p>
          <a:p>
            <a:pPr algn="ctr" indent="0" marL="0">
              <a:buNone/>
            </a:pPr>
            <a:r>
              <a:rPr lang="en-US" sz="1500" dirty="0">
                <a:solidFill>
                  <a:srgbClr val="22253A"/>
                </a:solidFill>
                <a:latin typeface="Calibri" pitchFamily="34" charset="0"/>
                <a:ea typeface="Calibri" pitchFamily="34" charset="-122"/>
                <a:cs typeface="Calibri" pitchFamily="34" charset="-120"/>
              </a:rPr>
              <a:t>il primario cade: errori di connessione</a:t>
            </a:r>
            <a:endParaRPr lang="en-US" sz="1500" dirty="0"/>
          </a:p>
          <a:p>
            <a:pPr algn="ctr" indent="0" marL="0">
              <a:buNone/>
            </a:pPr>
            <a:r>
              <a:rPr lang="en-US" sz="1400" dirty="0">
                <a:solidFill>
                  <a:srgbClr val="5F6478"/>
                </a:solidFill>
                <a:latin typeface="Calibri" pitchFamily="34" charset="0"/>
                <a:ea typeface="Calibri" pitchFamily="34" charset="-122"/>
                <a:cs typeface="Calibri" pitchFamily="34" charset="-120"/>
              </a:rPr>
              <a:t>RDS promuove lo standby</a:t>
            </a:r>
            <a:endParaRPr lang="en-US" sz="1500" dirty="0"/>
          </a:p>
        </p:txBody>
      </p:sp>
      <p:sp>
        <p:nvSpPr>
          <p:cNvPr id="15" name="Shape 12"/>
          <p:cNvSpPr/>
          <p:nvPr/>
        </p:nvSpPr>
        <p:spPr>
          <a:xfrm>
            <a:off x="7754112" y="4041648"/>
            <a:ext cx="274320" cy="0"/>
          </a:xfrm>
          <a:prstGeom prst="line">
            <a:avLst/>
          </a:prstGeom>
          <a:noFill/>
          <a:ln w="25400">
            <a:solidFill>
              <a:srgbClr val="5B3FD0"/>
            </a:solidFill>
            <a:prstDash val="solid"/>
            <a:tailEnd type="triangle"/>
          </a:ln>
        </p:spPr>
      </p:sp>
      <p:sp>
        <p:nvSpPr>
          <p:cNvPr id="16" name="Shape 13"/>
          <p:cNvSpPr/>
          <p:nvPr/>
        </p:nvSpPr>
        <p:spPr>
          <a:xfrm>
            <a:off x="8046720" y="3291840"/>
            <a:ext cx="3429000" cy="1508760"/>
          </a:xfrm>
          <a:prstGeom prst="roundRect">
            <a:avLst>
              <a:gd name="adj" fmla="val 6061"/>
            </a:avLst>
          </a:prstGeom>
          <a:solidFill>
            <a:srgbClr val="E5F4EC"/>
          </a:solidFill>
          <a:ln w="12700">
            <a:solidFill>
              <a:srgbClr val="E5F4EC"/>
            </a:solidFill>
            <a:prstDash val="solid"/>
          </a:ln>
        </p:spPr>
      </p:sp>
      <p:sp>
        <p:nvSpPr>
          <p:cNvPr id="17" name="Text 14"/>
          <p:cNvSpPr txBox="1"/>
          <p:nvPr/>
        </p:nvSpPr>
        <p:spPr>
          <a:xfrm>
            <a:off x="8046720" y="3291840"/>
            <a:ext cx="3429000" cy="15087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Dopo</a:t>
            </a:r>
            <a:endParaRPr lang="en-US" sz="1500" dirty="0"/>
          </a:p>
          <a:p>
            <a:pPr algn="ctr" indent="0" marL="0">
              <a:buNone/>
            </a:pPr>
            <a:r>
              <a:rPr lang="en-US" sz="1500" dirty="0">
                <a:solidFill>
                  <a:srgbClr val="22253A"/>
                </a:solidFill>
                <a:latin typeface="Calibri" pitchFamily="34" charset="0"/>
                <a:ea typeface="Calibri" pitchFamily="34" charset="-122"/>
                <a:cs typeface="Calibri" pitchFamily="34" charset="-120"/>
              </a:rPr>
              <a:t>il nome porta a 10.20.21.x</a:t>
            </a:r>
            <a:endParaRPr lang="en-US" sz="1500" dirty="0"/>
          </a:p>
          <a:p>
            <a:pPr algn="ctr" indent="0" marL="0">
              <a:buNone/>
            </a:pPr>
            <a:r>
              <a:rPr lang="en-US" sz="1400" dirty="0">
                <a:solidFill>
                  <a:srgbClr val="5F6478"/>
                </a:solidFill>
                <a:latin typeface="Calibri" pitchFamily="34" charset="0"/>
                <a:ea typeface="Calibri" pitchFamily="34" charset="-122"/>
                <a:cs typeface="Calibri" pitchFamily="34" charset="-120"/>
              </a:rPr>
              <a:t>nuovo primario nell'AZ-b</a:t>
            </a:r>
            <a:endParaRPr lang="en-US" sz="1500" dirty="0"/>
          </a:p>
        </p:txBody>
      </p:sp>
      <p:sp>
        <p:nvSpPr>
          <p:cNvPr id="18" name="Shape 15"/>
          <p:cNvSpPr/>
          <p:nvPr/>
        </p:nvSpPr>
        <p:spPr>
          <a:xfrm>
            <a:off x="548640" y="5120640"/>
            <a:ext cx="11094415" cy="868680"/>
          </a:xfrm>
          <a:prstGeom prst="roundRect">
            <a:avLst>
              <a:gd name="adj" fmla="val 10526"/>
            </a:avLst>
          </a:prstGeom>
          <a:solidFill>
            <a:srgbClr val="FDF0E3"/>
          </a:solidFill>
          <a:ln w="12700">
            <a:solidFill>
              <a:srgbClr val="FDF0E3"/>
            </a:solidFill>
            <a:prstDash val="solid"/>
          </a:ln>
        </p:spPr>
      </p:sp>
      <p:sp>
        <p:nvSpPr>
          <p:cNvPr id="19" name="Text 16"/>
          <p:cNvSpPr txBox="1"/>
          <p:nvPr/>
        </p:nvSpPr>
        <p:spPr>
          <a:xfrm>
            <a:off x="822960" y="5120640"/>
            <a:ext cx="10545775" cy="86868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In genere 1-2 minuti. Nessun dato confermato è perso: lo standby aveva già tutto (replica sincrona).</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riconnessione la fa l'applicazione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50876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508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7160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Riprova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se la connessione fallisce, aspetta qualche secondo e ritenta</a:t>
            </a:r>
            <a:endParaRPr lang="en-US" sz="1700" dirty="0"/>
          </a:p>
        </p:txBody>
      </p:sp>
      <p:sp>
        <p:nvSpPr>
          <p:cNvPr id="8" name="Shape 5"/>
          <p:cNvSpPr/>
          <p:nvPr/>
        </p:nvSpPr>
        <p:spPr>
          <a:xfrm>
            <a:off x="548640" y="246888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4688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3317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Usa sempre il NOME dell'endpoint</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mai l'indirizzo IP scritto da qualche parte</a:t>
            </a:r>
            <a:endParaRPr lang="en-US" sz="1700" dirty="0"/>
          </a:p>
        </p:txBody>
      </p:sp>
      <p:sp>
        <p:nvSpPr>
          <p:cNvPr id="11" name="Shape 8"/>
          <p:cNvSpPr/>
          <p:nvPr/>
        </p:nvSpPr>
        <p:spPr>
          <a:xfrm>
            <a:off x="548640" y="342900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4290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29184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Non ricorda l'indirizzo per sempre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lo richiede al DNS a ogni nuova connessione</a:t>
            </a:r>
            <a:endParaRPr lang="en-US" sz="1700" dirty="0"/>
          </a:p>
        </p:txBody>
      </p:sp>
      <p:sp>
        <p:nvSpPr>
          <p:cNvPr id="14" name="Shape 11"/>
          <p:cNvSpPr/>
          <p:nvPr/>
        </p:nvSpPr>
        <p:spPr>
          <a:xfrm>
            <a:off x="548640" y="438912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3891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2519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Controlla le connessioni del pool</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pool = connessioni tenute aperte e riusate: prima di usarne una, è ancora viva?</a:t>
            </a:r>
            <a:endParaRPr lang="en-US" sz="1700" dirty="0"/>
          </a:p>
        </p:txBody>
      </p:sp>
      <p:sp>
        <p:nvSpPr>
          <p:cNvPr id="17" name="Shape 14"/>
          <p:cNvSpPr/>
          <p:nvPr/>
        </p:nvSpPr>
        <p:spPr>
          <a:xfrm>
            <a:off x="548640" y="5349240"/>
            <a:ext cx="11094415" cy="777240"/>
          </a:xfrm>
          <a:prstGeom prst="roundRect">
            <a:avLst>
              <a:gd name="adj" fmla="val 11765"/>
            </a:avLst>
          </a:prstGeom>
          <a:solidFill>
            <a:srgbClr val="FDF0E3"/>
          </a:solidFill>
          <a:ln w="12700">
            <a:solidFill>
              <a:srgbClr val="FDF0E3"/>
            </a:solidFill>
            <a:prstDash val="solid"/>
          </a:ln>
        </p:spPr>
      </p:sp>
      <p:sp>
        <p:nvSpPr>
          <p:cNvPr id="18" name="Text 15"/>
          <p:cNvSpPr txBox="1"/>
          <p:nvPr/>
        </p:nvSpPr>
        <p:spPr>
          <a:xfrm>
            <a:off x="822960" y="5349240"/>
            <a:ext cx="10545775" cy="77724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Le transazioni in corso durante il guasto falliscono e vanno ripetute. Quelle già confermate ci sono tutte.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Backup e ritorno a un minuto preciso (PITR)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Il Multi-AZ protegge dai GUASTI. Dagli ERRORI (una tabella cancellata) proteggono i backup.</a:t>
            </a:r>
            <a:endParaRPr lang="en-US" sz="1800" dirty="0"/>
          </a:p>
        </p:txBody>
      </p:sp>
      <p:sp>
        <p:nvSpPr>
          <p:cNvPr id="7" name="Shape 4"/>
          <p:cNvSpPr/>
          <p:nvPr/>
        </p:nvSpPr>
        <p:spPr>
          <a:xfrm>
            <a:off x="548640" y="2286000"/>
            <a:ext cx="2377440" cy="1143000"/>
          </a:xfrm>
          <a:prstGeom prst="roundRect">
            <a:avLst>
              <a:gd name="adj" fmla="val 8000"/>
            </a:avLst>
          </a:prstGeom>
          <a:solidFill>
            <a:srgbClr val="EEEAFB"/>
          </a:solidFill>
          <a:ln w="12700">
            <a:solidFill>
              <a:srgbClr val="EEEAFB"/>
            </a:solidFill>
            <a:prstDash val="solid"/>
          </a:ln>
        </p:spPr>
      </p:sp>
      <p:sp>
        <p:nvSpPr>
          <p:cNvPr id="8" name="Text 5"/>
          <p:cNvSpPr txBox="1"/>
          <p:nvPr/>
        </p:nvSpPr>
        <p:spPr>
          <a:xfrm>
            <a:off x="548640" y="2286000"/>
            <a:ext cx="2377440" cy="11430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Snapshot</a:t>
            </a:r>
            <a:endParaRPr lang="en-US" sz="1600" dirty="0"/>
          </a:p>
          <a:p>
            <a:pPr algn="ctr" indent="0" marL="0">
              <a:buNone/>
            </a:pPr>
            <a:r>
              <a:rPr lang="en-US" sz="1400" dirty="0">
                <a:solidFill>
                  <a:srgbClr val="5F6478"/>
                </a:solidFill>
                <a:latin typeface="Calibri" pitchFamily="34" charset="0"/>
                <a:ea typeface="Calibri" pitchFamily="34" charset="-122"/>
                <a:cs typeface="Calibri" pitchFamily="34" charset="-120"/>
              </a:rPr>
              <a:t>lunedì 01:00</a:t>
            </a:r>
            <a:endParaRPr lang="en-US" sz="1600" dirty="0"/>
          </a:p>
        </p:txBody>
      </p:sp>
      <p:sp>
        <p:nvSpPr>
          <p:cNvPr id="9" name="Shape 6"/>
          <p:cNvSpPr/>
          <p:nvPr/>
        </p:nvSpPr>
        <p:spPr>
          <a:xfrm>
            <a:off x="2944368" y="2852928"/>
            <a:ext cx="237744" cy="0"/>
          </a:xfrm>
          <a:prstGeom prst="line">
            <a:avLst/>
          </a:prstGeom>
          <a:noFill/>
          <a:ln w="25400">
            <a:solidFill>
              <a:srgbClr val="5F6478"/>
            </a:solidFill>
            <a:prstDash val="solid"/>
            <a:tailEnd type="triangle"/>
          </a:ln>
        </p:spPr>
      </p:sp>
      <p:sp>
        <p:nvSpPr>
          <p:cNvPr id="10" name="Shape 7"/>
          <p:cNvSpPr/>
          <p:nvPr/>
        </p:nvSpPr>
        <p:spPr>
          <a:xfrm>
            <a:off x="3200400" y="2286000"/>
            <a:ext cx="3017520" cy="1143000"/>
          </a:xfrm>
          <a:prstGeom prst="roundRect">
            <a:avLst>
              <a:gd name="adj" fmla="val 8000"/>
            </a:avLst>
          </a:prstGeom>
          <a:solidFill>
            <a:srgbClr val="EEEAFB"/>
          </a:solidFill>
          <a:ln w="12700">
            <a:solidFill>
              <a:srgbClr val="EEEAFB"/>
            </a:solidFill>
            <a:prstDash val="solid"/>
          </a:ln>
        </p:spPr>
      </p:sp>
      <p:sp>
        <p:nvSpPr>
          <p:cNvPr id="11" name="Text 8"/>
          <p:cNvSpPr txBox="1"/>
          <p:nvPr/>
        </p:nvSpPr>
        <p:spPr>
          <a:xfrm>
            <a:off x="3200400" y="2286000"/>
            <a:ext cx="3017520" cy="11430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Log delle modifiche</a:t>
            </a:r>
            <a:endParaRPr lang="en-US" sz="1600" dirty="0"/>
          </a:p>
          <a:p>
            <a:pPr algn="ctr" indent="0" marL="0">
              <a:buNone/>
            </a:pPr>
            <a:r>
              <a:rPr lang="en-US" sz="1400" dirty="0">
                <a:solidFill>
                  <a:srgbClr val="5F6478"/>
                </a:solidFill>
                <a:latin typeface="Calibri" pitchFamily="34" charset="0"/>
                <a:ea typeface="Calibri" pitchFamily="34" charset="-122"/>
                <a:cs typeface="Calibri" pitchFamily="34" charset="-120"/>
              </a:rPr>
              <a:t>salvati di continuo</a:t>
            </a:r>
            <a:endParaRPr lang="en-US" sz="1600" dirty="0"/>
          </a:p>
        </p:txBody>
      </p:sp>
      <p:sp>
        <p:nvSpPr>
          <p:cNvPr id="12" name="Shape 9"/>
          <p:cNvSpPr/>
          <p:nvPr/>
        </p:nvSpPr>
        <p:spPr>
          <a:xfrm>
            <a:off x="6236208" y="2852928"/>
            <a:ext cx="237744" cy="0"/>
          </a:xfrm>
          <a:prstGeom prst="line">
            <a:avLst/>
          </a:prstGeom>
          <a:noFill/>
          <a:ln w="25400">
            <a:solidFill>
              <a:srgbClr val="5F6478"/>
            </a:solidFill>
            <a:prstDash val="solid"/>
            <a:tailEnd type="triangle"/>
          </a:ln>
        </p:spPr>
      </p:sp>
      <p:sp>
        <p:nvSpPr>
          <p:cNvPr id="13" name="Shape 10"/>
          <p:cNvSpPr/>
          <p:nvPr/>
        </p:nvSpPr>
        <p:spPr>
          <a:xfrm>
            <a:off x="6492240" y="2286000"/>
            <a:ext cx="2194560" cy="1143000"/>
          </a:xfrm>
          <a:prstGeom prst="roundRect">
            <a:avLst>
              <a:gd name="adj" fmla="val 8000"/>
            </a:avLst>
          </a:prstGeom>
          <a:solidFill>
            <a:srgbClr val="E5F4EC"/>
          </a:solidFill>
          <a:ln w="12700">
            <a:solidFill>
              <a:srgbClr val="E5F4EC"/>
            </a:solidFill>
            <a:prstDash val="solid"/>
          </a:ln>
        </p:spPr>
      </p:sp>
      <p:sp>
        <p:nvSpPr>
          <p:cNvPr id="14" name="Text 11"/>
          <p:cNvSpPr txBox="1"/>
          <p:nvPr/>
        </p:nvSpPr>
        <p:spPr>
          <a:xfrm>
            <a:off x="6492240" y="2286000"/>
            <a:ext cx="2194560" cy="11430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14:32</a:t>
            </a:r>
            <a:endParaRPr lang="en-US" sz="1600" dirty="0"/>
          </a:p>
          <a:p>
            <a:pPr algn="ctr" indent="0" marL="0">
              <a:buNone/>
            </a:pPr>
            <a:r>
              <a:rPr lang="en-US" sz="1400" dirty="0">
                <a:solidFill>
                  <a:srgbClr val="5F6478"/>
                </a:solidFill>
                <a:latin typeface="Calibri" pitchFamily="34" charset="0"/>
                <a:ea typeface="Calibri" pitchFamily="34" charset="-122"/>
                <a:cs typeface="Calibri" pitchFamily="34" charset="-120"/>
              </a:rPr>
              <a:t>il momento scelto</a:t>
            </a:r>
            <a:endParaRPr lang="en-US" sz="1600" dirty="0"/>
          </a:p>
        </p:txBody>
      </p:sp>
      <p:sp>
        <p:nvSpPr>
          <p:cNvPr id="15" name="Shape 12"/>
          <p:cNvSpPr/>
          <p:nvPr/>
        </p:nvSpPr>
        <p:spPr>
          <a:xfrm>
            <a:off x="8705088" y="2852928"/>
            <a:ext cx="237744" cy="0"/>
          </a:xfrm>
          <a:prstGeom prst="line">
            <a:avLst/>
          </a:prstGeom>
          <a:noFill/>
          <a:ln w="25400">
            <a:solidFill>
              <a:srgbClr val="5F6478"/>
            </a:solidFill>
            <a:prstDash val="solid"/>
            <a:tailEnd type="triangle"/>
          </a:ln>
        </p:spPr>
      </p:sp>
      <p:sp>
        <p:nvSpPr>
          <p:cNvPr id="16" name="Shape 13"/>
          <p:cNvSpPr/>
          <p:nvPr/>
        </p:nvSpPr>
        <p:spPr>
          <a:xfrm>
            <a:off x="8961120" y="2286000"/>
            <a:ext cx="2651760" cy="1143000"/>
          </a:xfrm>
          <a:prstGeom prst="roundRect">
            <a:avLst>
              <a:gd name="adj" fmla="val 8000"/>
            </a:avLst>
          </a:prstGeom>
          <a:solidFill>
            <a:srgbClr val="FBE9E9"/>
          </a:solidFill>
          <a:ln w="12700">
            <a:solidFill>
              <a:srgbClr val="FBE9E9"/>
            </a:solidFill>
            <a:prstDash val="solid"/>
          </a:ln>
        </p:spPr>
      </p:sp>
      <p:sp>
        <p:nvSpPr>
          <p:cNvPr id="17" name="Text 14"/>
          <p:cNvSpPr txBox="1"/>
          <p:nvPr/>
        </p:nvSpPr>
        <p:spPr>
          <a:xfrm>
            <a:off x="8961120" y="2286000"/>
            <a:ext cx="2651760" cy="11430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14:33</a:t>
            </a:r>
            <a:endParaRPr lang="en-US" sz="1600" dirty="0"/>
          </a:p>
          <a:p>
            <a:pPr algn="ctr" indent="0" marL="0">
              <a:buNone/>
            </a:pPr>
            <a:r>
              <a:rPr lang="en-US" sz="1400" dirty="0">
                <a:solidFill>
                  <a:srgbClr val="5F6478"/>
                </a:solidFill>
                <a:latin typeface="Calibri" pitchFamily="34" charset="0"/>
                <a:ea typeface="Calibri" pitchFamily="34" charset="-122"/>
                <a:cs typeface="Calibri" pitchFamily="34" charset="-120"/>
              </a:rPr>
              <a:t>DROP TABLE sbagliato</a:t>
            </a:r>
            <a:endParaRPr lang="en-US" sz="1600" dirty="0"/>
          </a:p>
        </p:txBody>
      </p:sp>
      <p:sp>
        <p:nvSpPr>
          <p:cNvPr id="18" name="Shape 15"/>
          <p:cNvSpPr/>
          <p:nvPr/>
        </p:nvSpPr>
        <p:spPr>
          <a:xfrm>
            <a:off x="6492240" y="3474720"/>
            <a:ext cx="0" cy="548640"/>
          </a:xfrm>
          <a:prstGeom prst="line">
            <a:avLst/>
          </a:prstGeom>
          <a:noFill/>
          <a:ln w="25400">
            <a:solidFill>
              <a:srgbClr val="2E9E6B"/>
            </a:solidFill>
            <a:prstDash val="solid"/>
            <a:tailEnd type="triangle"/>
          </a:ln>
        </p:spPr>
      </p:sp>
      <p:sp>
        <p:nvSpPr>
          <p:cNvPr id="19" name="Shape 16"/>
          <p:cNvSpPr/>
          <p:nvPr/>
        </p:nvSpPr>
        <p:spPr>
          <a:xfrm>
            <a:off x="3840480" y="4069080"/>
            <a:ext cx="5303520" cy="868680"/>
          </a:xfrm>
          <a:prstGeom prst="roundRect">
            <a:avLst>
              <a:gd name="adj" fmla="val 10526"/>
            </a:avLst>
          </a:prstGeom>
          <a:solidFill>
            <a:srgbClr val="E5F4EC"/>
          </a:solidFill>
          <a:ln w="19050">
            <a:solidFill>
              <a:srgbClr val="2E9E6B"/>
            </a:solidFill>
            <a:prstDash val="solid"/>
          </a:ln>
        </p:spPr>
      </p:sp>
      <p:sp>
        <p:nvSpPr>
          <p:cNvPr id="20" name="Text 17"/>
          <p:cNvSpPr txBox="1"/>
          <p:nvPr/>
        </p:nvSpPr>
        <p:spPr>
          <a:xfrm>
            <a:off x="3840480" y="4069080"/>
            <a:ext cx="5303520" cy="86868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PITR: foto + modifiche fino alle 14:32  →  database NUOVO</a:t>
            </a:r>
            <a:endParaRPr lang="en-US" sz="1600" dirty="0"/>
          </a:p>
        </p:txBody>
      </p:sp>
      <p:sp>
        <p:nvSpPr>
          <p:cNvPr id="21" name="Shape 18"/>
          <p:cNvSpPr/>
          <p:nvPr/>
        </p:nvSpPr>
        <p:spPr>
          <a:xfrm>
            <a:off x="548640" y="5166360"/>
            <a:ext cx="11094415" cy="868680"/>
          </a:xfrm>
          <a:prstGeom prst="roundRect">
            <a:avLst>
              <a:gd name="adj" fmla="val 10526"/>
            </a:avLst>
          </a:prstGeom>
          <a:solidFill>
            <a:srgbClr val="FDF0E3"/>
          </a:solidFill>
          <a:ln w="12700">
            <a:solidFill>
              <a:srgbClr val="FDF0E3"/>
            </a:solidFill>
            <a:prstDash val="solid"/>
          </a:ln>
        </p:spPr>
      </p:sp>
      <p:sp>
        <p:nvSpPr>
          <p:cNvPr id="22" name="Text 19"/>
          <p:cNvSpPr txBox="1"/>
          <p:nvPr/>
        </p:nvSpPr>
        <p:spPr>
          <a:xfrm>
            <a:off x="822960" y="5166360"/>
            <a:ext cx="10545775" cy="8686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backup_retention_period = 7: si torna indietro fino a 7 giorni (massimo 35). Il ripristino crea un database NUOVO, con un altro endpoint.</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Cifrato con KMS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KMS = il caveau delle chiavi di cifratura. Le chiavi non escono mai: i servizi gli chiedono di cifrare per loro.</a:t>
            </a:r>
            <a:endParaRPr lang="en-US" sz="1700" dirty="0"/>
          </a:p>
        </p:txBody>
      </p:sp>
      <p:sp>
        <p:nvSpPr>
          <p:cNvPr id="7" name="Shape 4"/>
          <p:cNvSpPr/>
          <p:nvPr/>
        </p:nvSpPr>
        <p:spPr>
          <a:xfrm>
            <a:off x="548640" y="2240280"/>
            <a:ext cx="5440680" cy="2331720"/>
          </a:xfrm>
          <a:prstGeom prst="roundRect">
            <a:avLst>
              <a:gd name="adj" fmla="val 4706"/>
            </a:avLst>
          </a:prstGeom>
          <a:solidFill>
            <a:srgbClr val="E5F4EC"/>
          </a:solidFill>
          <a:ln w="12700">
            <a:solidFill>
              <a:srgbClr val="E5F4EC"/>
            </a:solidFill>
            <a:prstDash val="solid"/>
          </a:ln>
        </p:spPr>
      </p:sp>
      <p:sp>
        <p:nvSpPr>
          <p:cNvPr id="8" name="Shape 5"/>
          <p:cNvSpPr/>
          <p:nvPr/>
        </p:nvSpPr>
        <p:spPr>
          <a:xfrm>
            <a:off x="777240" y="2468880"/>
            <a:ext cx="548640" cy="548640"/>
          </a:xfrm>
          <a:prstGeom prst="ellipse">
            <a:avLst/>
          </a:prstGeom>
          <a:solidFill>
            <a:srgbClr val="2E9E6B"/>
          </a:solidFill>
          <a:ln w="12700">
            <a:solidFill>
              <a:srgbClr val="2E9E6B"/>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Chiave gestita da AWS: aws/rds</a:t>
            </a:r>
            <a:endParaRPr lang="en-US" sz="1800" dirty="0"/>
          </a:p>
        </p:txBody>
      </p:sp>
      <p:sp>
        <p:nvSpPr>
          <p:cNvPr id="11" name="Text 7"/>
          <p:cNvSpPr txBox="1"/>
          <p:nvPr/>
        </p:nvSpPr>
        <p:spPr>
          <a:xfrm>
            <a:off x="777240" y="3154680"/>
            <a:ext cx="4983480" cy="1234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 crea AWS, da sola, ed è inclusa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Basta storage_encrypted = true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nostro caso</a:t>
            </a:r>
            <a:endParaRPr lang="en-US" sz="1600" dirty="0"/>
          </a:p>
        </p:txBody>
      </p:sp>
      <p:sp>
        <p:nvSpPr>
          <p:cNvPr id="12" name="Shape 8"/>
          <p:cNvSpPr/>
          <p:nvPr/>
        </p:nvSpPr>
        <p:spPr>
          <a:xfrm>
            <a:off x="6172200" y="2240280"/>
            <a:ext cx="5468112" cy="2331720"/>
          </a:xfrm>
          <a:prstGeom prst="roundRect">
            <a:avLst>
              <a:gd name="adj" fmla="val 4706"/>
            </a:avLst>
          </a:prstGeom>
          <a:solidFill>
            <a:srgbClr val="EEEAFB"/>
          </a:solidFill>
          <a:ln w="12700">
            <a:solidFill>
              <a:srgbClr val="EEEAFB"/>
            </a:solidFill>
            <a:prstDash val="solid"/>
          </a:ln>
        </p:spPr>
      </p:sp>
      <p:sp>
        <p:nvSpPr>
          <p:cNvPr id="13" name="Shape 9"/>
          <p:cNvSpPr/>
          <p:nvPr/>
        </p:nvSpPr>
        <p:spPr>
          <a:xfrm>
            <a:off x="640080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Chiave tua (customer managed)</a:t>
            </a:r>
            <a:endParaRPr lang="en-US" sz="1800" dirty="0"/>
          </a:p>
        </p:txBody>
      </p:sp>
      <p:sp>
        <p:nvSpPr>
          <p:cNvPr id="16" name="Text 11"/>
          <p:cNvSpPr txBox="1"/>
          <p:nvPr/>
        </p:nvSpPr>
        <p:spPr>
          <a:xfrm>
            <a:off x="6400800" y="3154680"/>
            <a:ext cx="5010912" cy="1234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Decidi tu chi la usa (key policy)</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Serve per condividere snapshot con un altro account</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Nell'appendice</a:t>
            </a:r>
            <a:endParaRPr lang="en-US" sz="1600" dirty="0"/>
          </a:p>
        </p:txBody>
      </p:sp>
      <p:sp>
        <p:nvSpPr>
          <p:cNvPr id="17" name="Shape 12"/>
          <p:cNvSpPr/>
          <p:nvPr/>
        </p:nvSpPr>
        <p:spPr>
          <a:xfrm>
            <a:off x="548640" y="4892040"/>
            <a:ext cx="11094415" cy="1005840"/>
          </a:xfrm>
          <a:prstGeom prst="roundRect">
            <a:avLst>
              <a:gd name="adj" fmla="val 9091"/>
            </a:avLst>
          </a:prstGeom>
          <a:solidFill>
            <a:srgbClr val="FDF0E3"/>
          </a:solidFill>
          <a:ln w="12700">
            <a:solidFill>
              <a:srgbClr val="FDF0E3"/>
            </a:solidFill>
            <a:prstDash val="solid"/>
          </a:ln>
        </p:spPr>
      </p:sp>
      <p:sp>
        <p:nvSpPr>
          <p:cNvPr id="18" name="Text 13"/>
          <p:cNvSpPr txBox="1"/>
          <p:nvPr/>
        </p:nvSpPr>
        <p:spPr>
          <a:xfrm>
            <a:off x="822960" y="4892040"/>
            <a:ext cx="10545775" cy="10058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La cifratura si sceglie ALLA CREAZIONE. Un database nato non cifrato non si cifra dopo: si cifra sempre, da subito.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viaggio: TLS, cifrato E verificato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Il disco cifrato protegge i dati FERMI. I dati IN VIAGGIO (query, risultati, password) li protegge TLS.</a:t>
            </a:r>
            <a:endParaRPr lang="en-US" sz="1700" dirty="0"/>
          </a:p>
        </p:txBody>
      </p:sp>
      <p:sp>
        <p:nvSpPr>
          <p:cNvPr id="7" name="Shape 4"/>
          <p:cNvSpPr/>
          <p:nvPr/>
        </p:nvSpPr>
        <p:spPr>
          <a:xfrm>
            <a:off x="548640" y="2240280"/>
            <a:ext cx="5440680" cy="2103120"/>
          </a:xfrm>
          <a:prstGeom prst="roundRect">
            <a:avLst>
              <a:gd name="adj" fmla="val 5217"/>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Cifrare = la busta chiusa</a:t>
            </a:r>
            <a:endParaRPr lang="en-US" sz="1800" dirty="0"/>
          </a:p>
        </p:txBody>
      </p:sp>
      <p:sp>
        <p:nvSpPr>
          <p:cNvPr id="11" name="Text 7"/>
          <p:cNvSpPr txBox="1"/>
          <p:nvPr/>
        </p:nvSpPr>
        <p:spPr>
          <a:xfrm>
            <a:off x="777240" y="3154680"/>
            <a:ext cx="4983480" cy="10058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Chi sta sulla strada non legge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sslmode=require</a:t>
            </a:r>
            <a:endParaRPr lang="en-US" sz="1600" dirty="0"/>
          </a:p>
        </p:txBody>
      </p:sp>
      <p:sp>
        <p:nvSpPr>
          <p:cNvPr id="12" name="Shape 8"/>
          <p:cNvSpPr/>
          <p:nvPr/>
        </p:nvSpPr>
        <p:spPr>
          <a:xfrm>
            <a:off x="6172200" y="2240280"/>
            <a:ext cx="5468112" cy="2103120"/>
          </a:xfrm>
          <a:prstGeom prst="roundRect">
            <a:avLst>
              <a:gd name="adj" fmla="val 5217"/>
            </a:avLst>
          </a:prstGeom>
          <a:solidFill>
            <a:srgbClr val="E5F4EC"/>
          </a:solidFill>
          <a:ln w="12700">
            <a:solidFill>
              <a:srgbClr val="E5F4EC"/>
            </a:solidFill>
            <a:prstDash val="solid"/>
          </a:ln>
        </p:spPr>
      </p:sp>
      <p:sp>
        <p:nvSpPr>
          <p:cNvPr id="13" name="Shape 9"/>
          <p:cNvSpPr/>
          <p:nvPr/>
        </p:nvSpPr>
        <p:spPr>
          <a:xfrm>
            <a:off x="6400800" y="2468880"/>
            <a:ext cx="548640" cy="54864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Verificare = controllare il documento</a:t>
            </a:r>
            <a:endParaRPr lang="en-US" sz="1800" dirty="0"/>
          </a:p>
        </p:txBody>
      </p:sp>
      <p:sp>
        <p:nvSpPr>
          <p:cNvPr id="16" name="Text 11"/>
          <p:cNvSpPr txBox="1"/>
          <p:nvPr/>
        </p:nvSpPr>
        <p:spPr>
          <a:xfrm>
            <a:off x="6400800" y="3154680"/>
            <a:ext cx="5010912" cy="10058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Parli con il database VERO, non con un impostore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sslmode=verify-full + certificato di AWS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4415" cy="914400"/>
        </p:xfrm>
        <a:graphic>
          <a:graphicData uri="http://schemas.openxmlformats.org/drawingml/2006/table">
            <a:tbl>
              <a:tblPr/>
              <a:tblGrid>
                <a:gridCol w="2743200"/>
                <a:gridCol w="8348472"/>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Cosa facciamo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475488">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database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rds.force_ssl = 1: rifiuta ogni connessione in chiaro (nel nostro parameter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applicazione e admin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sslmode=verify-full con global-bundle.pem, collegandosi al NOME dell'endpoint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password: dove NON metterla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0"/>
                <a:gridCol w="5605272"/>
              </a:tblGrid>
              <a:tr h="7772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Dove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Problema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password = "…" nel file .tf</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D64545"/>
                          </a:solidFill>
                          <a:latin typeface="Calibri" pitchFamily="34" charset="0"/>
                          <a:ea typeface="Calibri" pitchFamily="34" charset="-122"/>
                          <a:cs typeface="Calibri" pitchFamily="34" charset="-120"/>
                        </a:rPr>
                        <a:t>finisce in Git: chi legge il codice la conosce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una variabile, nel tfvars</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D64545"/>
                          </a:solidFill>
                          <a:latin typeface="Calibri" pitchFamily="34" charset="0"/>
                          <a:ea typeface="Calibri" pitchFamily="34" charset="-122"/>
                          <a:cs typeface="Calibri" pitchFamily="34" charset="-120"/>
                        </a:rPr>
                        <a:t>non è in Git, ma finisce nello STATE (lezione 0)</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random_password di Terraform</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D64545"/>
                          </a:solidFill>
                          <a:latin typeface="Calibri" pitchFamily="34" charset="0"/>
                          <a:ea typeface="Calibri" pitchFamily="34" charset="-122"/>
                          <a:cs typeface="Calibri" pitchFamily="34" charset="-120"/>
                        </a:rPr>
                        <a:t>stesso problema: finisce nello state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la genera RDS, la custodisce Secrets Manager</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nessuno la scrive, NON è nello state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5440680"/>
            <a:ext cx="11094415" cy="731520"/>
          </a:xfrm>
          <a:prstGeom prst="roundRect">
            <a:avLst>
              <a:gd name="adj" fmla="val 10000"/>
            </a:avLst>
          </a:prstGeom>
          <a:solidFill>
            <a:srgbClr val="1E1E2E"/>
          </a:solidFill>
          <a:ln w="12700">
            <a:solidFill>
              <a:srgbClr val="1E1E2E"/>
            </a:solidFill>
            <a:prstDash val="solid"/>
          </a:ln>
        </p:spPr>
      </p:sp>
      <p:sp>
        <p:nvSpPr>
          <p:cNvPr id="7" name="Text 3"/>
          <p:cNvSpPr txBox="1"/>
          <p:nvPr/>
        </p:nvSpPr>
        <p:spPr>
          <a:xfrm>
            <a:off x="731520" y="5577840"/>
            <a:ext cx="10728655" cy="457200"/>
          </a:xfrm>
          <a:prstGeom prst="rect">
            <a:avLst/>
          </a:prstGeom>
          <a:noFill/>
          <a:ln/>
        </p:spPr>
        <p:txBody>
          <a:bodyPr wrap="square" lIns="0" tIns="0" rIns="0" bIns="0" rtlCol="0" anchor="t"/>
          <a:lstStyle/>
          <a:p>
            <a:pPr indent="0" marL="0">
              <a:buNone/>
            </a:pPr>
            <a:r>
              <a:rPr lang="en-US" sz="1800" dirty="0">
                <a:solidFill>
                  <a:srgbClr val="E6E6F0"/>
                </a:solidFill>
                <a:latin typeface="Courier New" pitchFamily="34" charset="0"/>
                <a:ea typeface="Courier New" pitchFamily="34" charset="-122"/>
                <a:cs typeface="Courier New" pitchFamily="34" charset="-120"/>
              </a:rPr>
              <a:t>manage_master_user_password = true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Secrets Manager: la cassetta di sicurezza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Come una cassetta di sicurezza: la combinazione la sceglie il fabbro, Terraform ha solo il NUMERO della cassetta.</a:t>
            </a:r>
            <a:endParaRPr lang="en-US" sz="1700" dirty="0"/>
          </a:p>
        </p:txBody>
      </p:sp>
      <p:sp>
        <p:nvSpPr>
          <p:cNvPr id="7" name="Shape 4"/>
          <p:cNvSpPr/>
          <p:nvPr/>
        </p:nvSpPr>
        <p:spPr>
          <a:xfrm>
            <a:off x="1828800" y="2240280"/>
            <a:ext cx="914400" cy="91440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2057400" y="2468880"/>
            <a:ext cx="457200" cy="457200"/>
          </a:xfrm>
          <a:prstGeom prst="rect">
            <a:avLst/>
          </a:prstGeom>
        </p:spPr>
      </p:pic>
      <p:sp>
        <p:nvSpPr>
          <p:cNvPr id="9" name="Text 5"/>
          <p:cNvSpPr txBox="1"/>
          <p:nvPr/>
        </p:nvSpPr>
        <p:spPr>
          <a:xfrm>
            <a:off x="548640" y="324612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RDS</a:t>
            </a:r>
            <a:endParaRPr lang="en-US" sz="1900" dirty="0"/>
          </a:p>
        </p:txBody>
      </p:sp>
      <p:sp>
        <p:nvSpPr>
          <p:cNvPr id="10" name="Text 6"/>
          <p:cNvSpPr txBox="1"/>
          <p:nvPr/>
        </p:nvSpPr>
        <p:spPr>
          <a:xfrm>
            <a:off x="548640" y="3703320"/>
            <a:ext cx="3566160" cy="64008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genera la password</a:t>
            </a:r>
            <a:endParaRPr lang="en-US" sz="1500" dirty="0"/>
          </a:p>
        </p:txBody>
      </p:sp>
      <p:sp>
        <p:nvSpPr>
          <p:cNvPr id="11" name="Shape 7"/>
          <p:cNvSpPr/>
          <p:nvPr/>
        </p:nvSpPr>
        <p:spPr>
          <a:xfrm>
            <a:off x="2926080" y="2697480"/>
            <a:ext cx="2194560" cy="0"/>
          </a:xfrm>
          <a:prstGeom prst="line">
            <a:avLst/>
          </a:prstGeom>
          <a:noFill/>
          <a:ln w="25400">
            <a:solidFill>
              <a:srgbClr val="D9D6EC"/>
            </a:solidFill>
            <a:prstDash val="solid"/>
            <a:tailEnd type="triangle"/>
          </a:ln>
        </p:spPr>
      </p:sp>
      <p:sp>
        <p:nvSpPr>
          <p:cNvPr id="12" name="Shape 8"/>
          <p:cNvSpPr/>
          <p:nvPr/>
        </p:nvSpPr>
        <p:spPr>
          <a:xfrm>
            <a:off x="5577840" y="2240280"/>
            <a:ext cx="914400" cy="914400"/>
          </a:xfrm>
          <a:prstGeom prst="ellipse">
            <a:avLst/>
          </a:prstGeom>
          <a:solidFill>
            <a:srgbClr val="F28C28"/>
          </a:solidFill>
          <a:ln w="12700">
            <a:solidFill>
              <a:srgbClr val="F28C28"/>
            </a:solidFill>
            <a:prstDash val="solid"/>
          </a:ln>
        </p:spPr>
      </p:sp>
      <p:pic>
        <p:nvPicPr>
          <p:cNvPr id="13" name="Image 1" descr="preencoded.png">    </p:cNvPr>
          <p:cNvPicPr>
            <a:picLocks noChangeAspect="1"/>
          </p:cNvPicPr>
          <p:nvPr/>
        </p:nvPicPr>
        <p:blipFill>
          <a:blip r:embed="rId2"/>
          <a:stretch>
            <a:fillRect/>
          </a:stretch>
        </p:blipFill>
        <p:spPr>
          <a:xfrm>
            <a:off x="5806440" y="2468880"/>
            <a:ext cx="457200" cy="457200"/>
          </a:xfrm>
          <a:prstGeom prst="rect">
            <a:avLst/>
          </a:prstGeom>
        </p:spPr>
      </p:pic>
      <p:sp>
        <p:nvSpPr>
          <p:cNvPr id="14" name="Text 9"/>
          <p:cNvSpPr txBox="1"/>
          <p:nvPr/>
        </p:nvSpPr>
        <p:spPr>
          <a:xfrm>
            <a:off x="4297680" y="324612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Secrets Manager</a:t>
            </a:r>
            <a:endParaRPr lang="en-US" sz="1900" dirty="0"/>
          </a:p>
        </p:txBody>
      </p:sp>
      <p:sp>
        <p:nvSpPr>
          <p:cNvPr id="15" name="Text 10"/>
          <p:cNvSpPr txBox="1"/>
          <p:nvPr/>
        </p:nvSpPr>
        <p:spPr>
          <a:xfrm>
            <a:off x="4297680" y="3703320"/>
            <a:ext cx="3566160" cy="64008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la custodisce e la cambia ogni 7 giorni</a:t>
            </a:r>
            <a:endParaRPr lang="en-US" sz="1500" dirty="0"/>
          </a:p>
        </p:txBody>
      </p:sp>
      <p:sp>
        <p:nvSpPr>
          <p:cNvPr id="16" name="Shape 11"/>
          <p:cNvSpPr/>
          <p:nvPr/>
        </p:nvSpPr>
        <p:spPr>
          <a:xfrm>
            <a:off x="6675120" y="2697480"/>
            <a:ext cx="2194560" cy="0"/>
          </a:xfrm>
          <a:prstGeom prst="line">
            <a:avLst/>
          </a:prstGeom>
          <a:noFill/>
          <a:ln w="25400">
            <a:solidFill>
              <a:srgbClr val="D9D6EC"/>
            </a:solidFill>
            <a:prstDash val="solid"/>
            <a:tailEnd type="triangle"/>
          </a:ln>
        </p:spPr>
      </p:sp>
      <p:sp>
        <p:nvSpPr>
          <p:cNvPr id="17" name="Shape 12"/>
          <p:cNvSpPr/>
          <p:nvPr/>
        </p:nvSpPr>
        <p:spPr>
          <a:xfrm>
            <a:off x="9326880" y="2240280"/>
            <a:ext cx="914400" cy="91440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9555480" y="2468880"/>
            <a:ext cx="457200" cy="457200"/>
          </a:xfrm>
          <a:prstGeom prst="rect">
            <a:avLst/>
          </a:prstGeom>
        </p:spPr>
      </p:pic>
      <p:sp>
        <p:nvSpPr>
          <p:cNvPr id="19" name="Text 13"/>
          <p:cNvSpPr txBox="1"/>
          <p:nvPr/>
        </p:nvSpPr>
        <p:spPr>
          <a:xfrm>
            <a:off x="8046720" y="324612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Server app</a:t>
            </a:r>
            <a:endParaRPr lang="en-US" sz="1900" dirty="0"/>
          </a:p>
        </p:txBody>
      </p:sp>
      <p:sp>
        <p:nvSpPr>
          <p:cNvPr id="20" name="Text 14"/>
          <p:cNvSpPr txBox="1"/>
          <p:nvPr/>
        </p:nvSpPr>
        <p:spPr>
          <a:xfrm>
            <a:off x="8046720" y="3703320"/>
            <a:ext cx="3566160" cy="64008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la legge con il permesso IAM (secrets.tf)</a:t>
            </a:r>
            <a:endParaRPr lang="en-US" sz="1500" dirty="0"/>
          </a:p>
        </p:txBody>
      </p:sp>
      <p:sp>
        <p:nvSpPr>
          <p:cNvPr id="21" name="Shape 15"/>
          <p:cNvSpPr/>
          <p:nvPr/>
        </p:nvSpPr>
        <p:spPr>
          <a:xfrm>
            <a:off x="548640" y="4572000"/>
            <a:ext cx="5440680" cy="1463040"/>
          </a:xfrm>
          <a:prstGeom prst="roundRect">
            <a:avLst>
              <a:gd name="adj" fmla="val 7500"/>
            </a:avLst>
          </a:prstGeom>
          <a:solidFill>
            <a:srgbClr val="EEEAFB"/>
          </a:solidFill>
          <a:ln w="12700">
            <a:solidFill>
              <a:srgbClr val="EEEAFB"/>
            </a:solidFill>
            <a:prstDash val="solid"/>
          </a:ln>
        </p:spPr>
      </p:sp>
      <p:sp>
        <p:nvSpPr>
          <p:cNvPr id="22" name="Shape 16"/>
          <p:cNvSpPr/>
          <p:nvPr/>
        </p:nvSpPr>
        <p:spPr>
          <a:xfrm>
            <a:off x="777240" y="4800600"/>
            <a:ext cx="548640" cy="548640"/>
          </a:xfrm>
          <a:prstGeom prst="ellipse">
            <a:avLst/>
          </a:prstGeom>
          <a:solidFill>
            <a:srgbClr val="5B3FD0"/>
          </a:solidFill>
          <a:ln w="12700">
            <a:solidFill>
              <a:srgbClr val="5B3FD0"/>
            </a:solidFill>
            <a:prstDash val="solid"/>
          </a:ln>
        </p:spPr>
      </p:sp>
      <p:pic>
        <p:nvPicPr>
          <p:cNvPr id="23" name="Image 3" descr="preencoded.png">    </p:cNvPr>
          <p:cNvPicPr>
            <a:picLocks noChangeAspect="1"/>
          </p:cNvPicPr>
          <p:nvPr/>
        </p:nvPicPr>
        <p:blipFill>
          <a:blip r:embed="rId4"/>
          <a:stretch>
            <a:fillRect/>
          </a:stretch>
        </p:blipFill>
        <p:spPr>
          <a:xfrm>
            <a:off x="914400" y="4937760"/>
            <a:ext cx="274320" cy="274320"/>
          </a:xfrm>
          <a:prstGeom prst="rect">
            <a:avLst/>
          </a:prstGeom>
        </p:spPr>
      </p:pic>
      <p:sp>
        <p:nvSpPr>
          <p:cNvPr id="24" name="Text 17"/>
          <p:cNvSpPr txBox="1"/>
          <p:nvPr/>
        </p:nvSpPr>
        <p:spPr>
          <a:xfrm>
            <a:off x="1508760" y="48006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vede solo l'ARN</a:t>
            </a:r>
            <a:endParaRPr lang="en-US" sz="1800" dirty="0"/>
          </a:p>
        </p:txBody>
      </p:sp>
      <p:sp>
        <p:nvSpPr>
          <p:cNvPr id="25" name="Text 18"/>
          <p:cNvSpPr txBox="1"/>
          <p:nvPr/>
        </p:nvSpPr>
        <p:spPr>
          <a:xfrm>
            <a:off x="777240" y="5486400"/>
            <a:ext cx="4983480" cy="3657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l'indirizzo del segreto: master_user_secret[0].secret_arn</a:t>
            </a:r>
            <a:endParaRPr lang="en-US" sz="1500" dirty="0"/>
          </a:p>
        </p:txBody>
      </p:sp>
      <p:sp>
        <p:nvSpPr>
          <p:cNvPr id="26" name="Shape 19"/>
          <p:cNvSpPr/>
          <p:nvPr/>
        </p:nvSpPr>
        <p:spPr>
          <a:xfrm>
            <a:off x="6172200" y="4572000"/>
            <a:ext cx="5468112" cy="1463040"/>
          </a:xfrm>
          <a:prstGeom prst="roundRect">
            <a:avLst>
              <a:gd name="adj" fmla="val 7500"/>
            </a:avLst>
          </a:prstGeom>
          <a:solidFill>
            <a:srgbClr val="FDF0E3"/>
          </a:solidFill>
          <a:ln w="12700">
            <a:solidFill>
              <a:srgbClr val="FDF0E3"/>
            </a:solidFill>
            <a:prstDash val="solid"/>
          </a:ln>
        </p:spPr>
      </p:sp>
      <p:sp>
        <p:nvSpPr>
          <p:cNvPr id="27" name="Shape 20"/>
          <p:cNvSpPr/>
          <p:nvPr/>
        </p:nvSpPr>
        <p:spPr>
          <a:xfrm>
            <a:off x="6400800" y="4800600"/>
            <a:ext cx="548640" cy="548640"/>
          </a:xfrm>
          <a:prstGeom prst="ellipse">
            <a:avLst/>
          </a:prstGeom>
          <a:solidFill>
            <a:srgbClr val="F28C28"/>
          </a:solidFill>
          <a:ln w="12700">
            <a:solidFill>
              <a:srgbClr val="F28C28"/>
            </a:solidFill>
            <a:prstDash val="solid"/>
          </a:ln>
        </p:spPr>
      </p:sp>
      <p:pic>
        <p:nvPicPr>
          <p:cNvPr id="28" name="Image 4" descr="preencoded.png">    </p:cNvPr>
          <p:cNvPicPr>
            <a:picLocks noChangeAspect="1"/>
          </p:cNvPicPr>
          <p:nvPr/>
        </p:nvPicPr>
        <p:blipFill>
          <a:blip r:embed="rId5"/>
          <a:stretch>
            <a:fillRect/>
          </a:stretch>
        </p:blipFill>
        <p:spPr>
          <a:xfrm>
            <a:off x="6537960" y="4937760"/>
            <a:ext cx="274320" cy="274320"/>
          </a:xfrm>
          <a:prstGeom prst="rect">
            <a:avLst/>
          </a:prstGeom>
        </p:spPr>
      </p:pic>
      <p:sp>
        <p:nvSpPr>
          <p:cNvPr id="29" name="Text 21"/>
          <p:cNvSpPr txBox="1"/>
          <p:nvPr/>
        </p:nvSpPr>
        <p:spPr>
          <a:xfrm>
            <a:off x="7132320" y="48006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Cambia ogni 7 giorni</a:t>
            </a:r>
            <a:endParaRPr lang="en-US" sz="1800" dirty="0"/>
          </a:p>
        </p:txBody>
      </p:sp>
      <p:sp>
        <p:nvSpPr>
          <p:cNvPr id="30" name="Text 22"/>
          <p:cNvSpPr txBox="1"/>
          <p:nvPr/>
        </p:nvSpPr>
        <p:spPr>
          <a:xfrm>
            <a:off x="6400800" y="5486400"/>
            <a:ext cx="5010912" cy="3657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mai copiarla in un file: si legge dal segreto ogni volta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protezioni contro la cancellazione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71600"/>
            <a:ext cx="5440680" cy="2743200"/>
          </a:xfrm>
          <a:prstGeom prst="roundRect">
            <a:avLst>
              <a:gd name="adj" fmla="val 4000"/>
            </a:avLst>
          </a:prstGeom>
          <a:solidFill>
            <a:srgbClr val="E5F4EC"/>
          </a:solidFill>
          <a:ln w="12700">
            <a:solidFill>
              <a:srgbClr val="E5F4EC"/>
            </a:solidFill>
            <a:prstDash val="solid"/>
          </a:ln>
        </p:spPr>
      </p:sp>
      <p:sp>
        <p:nvSpPr>
          <p:cNvPr id="6" name="Shape 3"/>
          <p:cNvSpPr/>
          <p:nvPr/>
        </p:nvSpPr>
        <p:spPr>
          <a:xfrm>
            <a:off x="777240" y="1600200"/>
            <a:ext cx="548640" cy="548640"/>
          </a:xfrm>
          <a:prstGeom prst="ellipse">
            <a:avLst/>
          </a:prstGeom>
          <a:solidFill>
            <a:srgbClr val="2E9E6B"/>
          </a:solidFill>
          <a:ln w="12700">
            <a:solidFill>
              <a:srgbClr val="2E9E6B"/>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deletion_protection = true</a:t>
            </a:r>
            <a:endParaRPr lang="en-US" sz="1800" dirty="0"/>
          </a:p>
        </p:txBody>
      </p:sp>
      <p:sp>
        <p:nvSpPr>
          <p:cNvPr id="9" name="Text 5"/>
          <p:cNvSpPr txBox="1"/>
          <p:nvPr/>
        </p:nvSpPr>
        <p:spPr>
          <a:xfrm>
            <a:off x="777240" y="228600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AWS RIFIUTA la cancellazione: Terraform, console, CLI</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Per cancellare: prima togli la protezione, con un apply a parte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Un destroy nella cartella sbagliata si ferma con un errore</a:t>
            </a:r>
            <a:endParaRPr lang="en-US" sz="1600" dirty="0"/>
          </a:p>
        </p:txBody>
      </p:sp>
      <p:sp>
        <p:nvSpPr>
          <p:cNvPr id="10" name="Shape 6"/>
          <p:cNvSpPr/>
          <p:nvPr/>
        </p:nvSpPr>
        <p:spPr>
          <a:xfrm>
            <a:off x="6172200" y="1371600"/>
            <a:ext cx="5468112" cy="2743200"/>
          </a:xfrm>
          <a:prstGeom prst="roundRect">
            <a:avLst>
              <a:gd name="adj" fmla="val 4000"/>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Lo snapshot finale</a:t>
            </a:r>
            <a:endParaRPr lang="en-US" sz="1800" dirty="0"/>
          </a:p>
        </p:txBody>
      </p:sp>
      <p:sp>
        <p:nvSpPr>
          <p:cNvPr id="14" name="Text 9"/>
          <p:cNvSpPr txBox="1"/>
          <p:nvPr/>
        </p:nvSpPr>
        <p:spPr>
          <a:xfrm>
            <a:off x="6400800" y="2286000"/>
            <a:ext cx="5010912"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Un'ultima foto prima di cancellare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Resta DOPO la cancellazione (e si paga)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Nome unico: suffisso casuale con random_id</a:t>
            </a:r>
            <a:endParaRPr lang="en-US" sz="1600" dirty="0"/>
          </a:p>
        </p:txBody>
      </p:sp>
      <p:sp>
        <p:nvSpPr>
          <p:cNvPr id="15" name="Shape 10"/>
          <p:cNvSpPr/>
          <p:nvPr/>
        </p:nvSpPr>
        <p:spPr>
          <a:xfrm>
            <a:off x="548640" y="4389120"/>
            <a:ext cx="11094415" cy="1600200"/>
          </a:xfrm>
          <a:prstGeom prst="roundRect">
            <a:avLst>
              <a:gd name="adj" fmla="val 4571"/>
            </a:avLst>
          </a:prstGeom>
          <a:solidFill>
            <a:srgbClr val="1E1E2E"/>
          </a:solidFill>
          <a:ln w="12700">
            <a:solidFill>
              <a:srgbClr val="1E1E2E"/>
            </a:solidFill>
            <a:prstDash val="solid"/>
          </a:ln>
        </p:spPr>
      </p:sp>
      <p:sp>
        <p:nvSpPr>
          <p:cNvPr id="16" name="Text 11"/>
          <p:cNvSpPr txBox="1"/>
          <p:nvPr/>
        </p:nvSpPr>
        <p:spPr>
          <a:xfrm>
            <a:off x="731520" y="446227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rds.tf</a:t>
            </a:r>
            <a:endParaRPr lang="en-US" sz="1300" dirty="0"/>
          </a:p>
        </p:txBody>
      </p:sp>
      <p:sp>
        <p:nvSpPr>
          <p:cNvPr id="17" name="Text 12"/>
          <p:cNvSpPr txBox="1"/>
          <p:nvPr/>
        </p:nvSpPr>
        <p:spPr>
          <a:xfrm>
            <a:off x="731520" y="4800600"/>
            <a:ext cx="10728655" cy="1051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deletion_protection       = var.db_deletion_protection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skip_final_snapshot       = false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final_snapshot_identifier = "${var.project}-db-final-${random_id.db_final_snapshot.hex}"</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Chi può collegarsi: lo abbiamo già deciso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8960"/>
                <a:gridCol w="6885432"/>
                <a:gridCol w="1097280"/>
              </a:tblGrid>
              <a:tr h="71323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Livello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Regola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1323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Rete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 subnet database non hanno strade verso internet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1323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NACL delle subnet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5432 dalle subnet private; risposte verso le porte effimere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1323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Security Group db</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5432 solo da chi ha il SG app o il SG vpn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1323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Policy del tailnet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solo group:admin raggiunge la 5432; group:dev 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1323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Il database stesso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publicly_accessible = false · rds.force_ssl = 1 · client con verify-full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760720"/>
            <a:ext cx="11094415" cy="41148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Nessuna regola nuova: il database "indossa" il SG db e sta nelle subnet database.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(1/2): dove sta e com'è fatto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25880"/>
            <a:ext cx="11094415" cy="4983480"/>
          </a:xfrm>
          <a:prstGeom prst="roundRect">
            <a:avLst>
              <a:gd name="adj" fmla="val 1468"/>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rds.tf</a:t>
            </a:r>
            <a:endParaRPr lang="en-US" sz="1300" dirty="0"/>
          </a:p>
        </p:txBody>
      </p:sp>
      <p:sp>
        <p:nvSpPr>
          <p:cNvPr id="7" name="Text 4"/>
          <p:cNvSpPr txBox="1"/>
          <p:nvPr/>
        </p:nvSpPr>
        <p:spPr>
          <a:xfrm>
            <a:off x="731520" y="1737360"/>
            <a:ext cx="10728655" cy="443484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"aws_db_subnet_group" "main"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"${var.project}-db"</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subnet_ids = [for s in aws_subnet.db : s.id]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"aws_db_instance" "main"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identifier     = "${var.project}-db"</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engine         = "postgres"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engine_version = var.db_engine_version   </a:t>
            </a:r>
            <a:pPr indent="0" marL="0">
              <a:buNone/>
            </a:pPr>
            <a:r>
              <a:rPr lang="en-US" sz="1600" dirty="0">
                <a:solidFill>
                  <a:srgbClr val="8FD694"/>
                </a:solidFill>
                <a:latin typeface="Courier New" pitchFamily="34" charset="0"/>
                <a:ea typeface="Courier New" pitchFamily="34" charset="-122"/>
                <a:cs typeface="Courier New" pitchFamily="34" charset="-120"/>
              </a:rPr>
              <a:t># "18"</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instance_class = var.db_instance_class   </a:t>
            </a:r>
            <a:pPr indent="0" marL="0">
              <a:buNone/>
            </a:pPr>
            <a:r>
              <a:rPr lang="en-US" sz="1600" dirty="0">
                <a:solidFill>
                  <a:srgbClr val="8FD694"/>
                </a:solidFill>
                <a:latin typeface="Courier New" pitchFamily="34" charset="0"/>
                <a:ea typeface="Courier New" pitchFamily="34" charset="-122"/>
                <a:cs typeface="Courier New" pitchFamily="34" charset="-120"/>
              </a:rPr>
              <a:t># "db.t4g.micro"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allocated_storage     = 20      </a:t>
            </a:r>
            <a:pPr indent="0" marL="0">
              <a:buNone/>
            </a:pPr>
            <a:r>
              <a:rPr lang="en-US" sz="1600" dirty="0">
                <a:solidFill>
                  <a:srgbClr val="8FD694"/>
                </a:solidFill>
                <a:latin typeface="Courier New" pitchFamily="34" charset="0"/>
                <a:ea typeface="Courier New" pitchFamily="34" charset="-122"/>
                <a:cs typeface="Courier New" pitchFamily="34" charset="-120"/>
              </a:rPr>
              <a:t># GB iniziali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max_allocated_storage = 100     </a:t>
            </a:r>
            <a:pPr indent="0" marL="0">
              <a:buNone/>
            </a:pPr>
            <a:r>
              <a:rPr lang="en-US" sz="1600" dirty="0">
                <a:solidFill>
                  <a:srgbClr val="8FD694"/>
                </a:solidFill>
                <a:latin typeface="Courier New" pitchFamily="34" charset="0"/>
                <a:ea typeface="Courier New" pitchFamily="34" charset="-122"/>
                <a:cs typeface="Courier New" pitchFamily="34" charset="-120"/>
              </a:rPr>
              <a:t># cresce da solo fino a qui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storage_type          = "gp3"</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storage_encrypted     = true    </a:t>
            </a:r>
            <a:pPr indent="0" marL="0">
              <a:buNone/>
            </a:pPr>
            <a:r>
              <a:rPr lang="en-US" sz="1600" dirty="0">
                <a:solidFill>
                  <a:srgbClr val="8FD694"/>
                </a:solidFill>
                <a:latin typeface="Courier New" pitchFamily="34" charset="0"/>
                <a:ea typeface="Courier New" pitchFamily="34" charset="-122"/>
                <a:cs typeface="Courier New" pitchFamily="34" charset="-120"/>
              </a:rPr>
              <a:t># chiave aws/rds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db_name                     = "app"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username                    = "dbadmin"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manage_master_user_password = true   </a:t>
            </a:r>
            <a:pPr indent="0" marL="0">
              <a:buNone/>
            </a:pPr>
            <a:r>
              <a:rPr lang="en-US" sz="1600" dirty="0">
                <a:solidFill>
                  <a:srgbClr val="8FD694"/>
                </a:solidFill>
                <a:latin typeface="Courier New" pitchFamily="34" charset="0"/>
                <a:ea typeface="Courier New" pitchFamily="34" charset="-122"/>
                <a:cs typeface="Courier New" pitchFamily="34" charset="-120"/>
              </a:rPr>
              <a:t># nessuna password nel codice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(2/2): rete, copia, backup, protezioni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25880"/>
            <a:ext cx="11094415" cy="4434840"/>
          </a:xfrm>
          <a:prstGeom prst="roundRect">
            <a:avLst>
              <a:gd name="adj" fmla="val 1649"/>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rds.tf (continua)</a:t>
            </a:r>
            <a:endParaRPr lang="en-US" sz="1300" dirty="0"/>
          </a:p>
        </p:txBody>
      </p:sp>
      <p:sp>
        <p:nvSpPr>
          <p:cNvPr id="7" name="Text 4"/>
          <p:cNvSpPr txBox="1"/>
          <p:nvPr/>
        </p:nvSpPr>
        <p:spPr>
          <a:xfrm>
            <a:off x="731520" y="1737360"/>
            <a:ext cx="10728655" cy="38862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  db_subnet_group_name   = aws_db_subnet_group.main.name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vpc_security_group_ids = [aws_security_group.db.id]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publicly_accessible    = false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multi_az = var.db_multi_az               </a:t>
            </a:r>
            <a:pPr indent="0" marL="0">
              <a:buNone/>
            </a:pPr>
            <a:r>
              <a:rPr lang="en-US" sz="1600" dirty="0">
                <a:solidFill>
                  <a:srgbClr val="8FD694"/>
                </a:solidFill>
                <a:latin typeface="Courier New" pitchFamily="34" charset="0"/>
                <a:ea typeface="Courier New" pitchFamily="34" charset="-122"/>
                <a:cs typeface="Courier New" pitchFamily="34" charset="-120"/>
              </a:rPr>
              <a:t># true: standby nell'altra AZ</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backup_retention_period    = 7           </a:t>
            </a:r>
            <a:pPr indent="0" marL="0">
              <a:buNone/>
            </a:pPr>
            <a:r>
              <a:rPr lang="en-US" sz="1600" dirty="0">
                <a:solidFill>
                  <a:srgbClr val="8FD694"/>
                </a:solidFill>
                <a:latin typeface="Courier New" pitchFamily="34" charset="0"/>
                <a:ea typeface="Courier New" pitchFamily="34" charset="-122"/>
                <a:cs typeface="Courier New" pitchFamily="34" charset="-120"/>
              </a:rPr>
              <a:t># PITR fino a 7 giorni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backup_window              = "01:00-02:00"           </a:t>
            </a:r>
            <a:pPr indent="0" marL="0">
              <a:buNone/>
            </a:pPr>
            <a:r>
              <a:rPr lang="en-US" sz="1600" dirty="0">
                <a:solidFill>
                  <a:srgbClr val="8FD694"/>
                </a:solidFill>
                <a:latin typeface="Courier New" pitchFamily="34" charset="0"/>
                <a:ea typeface="Courier New" pitchFamily="34" charset="-122"/>
                <a:cs typeface="Courier New" pitchFamily="34" charset="-120"/>
              </a:rPr>
              <a:t># UTC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maintenance_window         = "sun:03:00-sun:04:00"   </a:t>
            </a:r>
            <a:pPr indent="0" marL="0">
              <a:buNone/>
            </a:pPr>
            <a:r>
              <a:rPr lang="en-US" sz="1600" dirty="0">
                <a:solidFill>
                  <a:srgbClr val="8FD694"/>
                </a:solidFill>
                <a:latin typeface="Courier New" pitchFamily="34" charset="0"/>
                <a:ea typeface="Courier New" pitchFamily="34" charset="-122"/>
                <a:cs typeface="Courier New" pitchFamily="34" charset="-120"/>
              </a:rPr>
              <a:t># UTC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auto_minor_version_upgrade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pPr indent="0" marL="0">
              <a:buNone/>
            </a:pPr>
            <a:r>
              <a:rPr lang="en-US" sz="1600" dirty="0">
                <a:solidFill>
                  <a:srgbClr val="8FD694"/>
                </a:solidFill>
                <a:latin typeface="Courier New" pitchFamily="34" charset="0"/>
                <a:ea typeface="Courier New" pitchFamily="34" charset="-122"/>
                <a:cs typeface="Courier New" pitchFamily="34" charset="-120"/>
              </a:rPr>
              <a:t># + deletion_protection e snapshot finale (slide precedente)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apply_immediately = true                 </a:t>
            </a:r>
            <a:pPr indent="0" marL="0">
              <a:buNone/>
            </a:pPr>
            <a:r>
              <a:rPr lang="en-US" sz="1600" dirty="0">
                <a:solidFill>
                  <a:srgbClr val="8FD694"/>
                </a:solidFill>
                <a:latin typeface="Courier New" pitchFamily="34" charset="0"/>
                <a:ea typeface="Courier New" pitchFamily="34" charset="-122"/>
                <a:cs typeface="Courier New" pitchFamily="34" charset="-120"/>
              </a:rPr>
              <a:t># in produzione: no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5943600"/>
            <a:ext cx="11094415" cy="36576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Le due finestre sono in UTC (un'ora o due indietro rispetto all'Italia) e non devono sovrapporsi.</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connessioni solo cifrate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25880"/>
            <a:ext cx="11094415" cy="4572000"/>
          </a:xfrm>
          <a:prstGeom prst="roundRect">
            <a:avLst>
              <a:gd name="adj" fmla="val 1600"/>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rds.tf</a:t>
            </a:r>
            <a:endParaRPr lang="en-US" sz="1300" dirty="0"/>
          </a:p>
        </p:txBody>
      </p:sp>
      <p:sp>
        <p:nvSpPr>
          <p:cNvPr id="7" name="Text 4"/>
          <p:cNvSpPr txBox="1"/>
          <p:nvPr/>
        </p:nvSpPr>
        <p:spPr>
          <a:xfrm>
            <a:off x="731520" y="1737360"/>
            <a:ext cx="10728655" cy="40233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"aws_db_parameter_group" "main"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"${var.project}-postgres${var.db_engine_version}"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family = "postgres${var.db_engine_version}"   </a:t>
            </a:r>
            <a:pPr indent="0" marL="0">
              <a:buNone/>
            </a:pPr>
            <a:r>
              <a:rPr lang="en-US" sz="1600" dirty="0">
                <a:solidFill>
                  <a:srgbClr val="8FD694"/>
                </a:solidFill>
                <a:latin typeface="Courier New" pitchFamily="34" charset="0"/>
                <a:ea typeface="Courier New" pitchFamily="34" charset="-122"/>
                <a:cs typeface="Courier New" pitchFamily="34" charset="-120"/>
              </a:rPr>
              <a:t># "postgres18"</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parameter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"rds.force_ssl"</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 = "1"        </a:t>
            </a:r>
            <a:pPr indent="0" marL="0">
              <a:buNone/>
            </a:pPr>
            <a:r>
              <a:rPr lang="en-US" sz="1600" dirty="0">
                <a:solidFill>
                  <a:srgbClr val="8FD694"/>
                </a:solidFill>
                <a:latin typeface="Courier New" pitchFamily="34" charset="0"/>
                <a:ea typeface="Courier New" pitchFamily="34" charset="-122"/>
                <a:cs typeface="Courier New" pitchFamily="34" charset="-120"/>
              </a:rPr>
              <a:t># rifiuta le connessioni in chiaro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lifecycle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create_before_destroy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D694"/>
                </a:solidFill>
                <a:latin typeface="Courier New" pitchFamily="34" charset="0"/>
                <a:ea typeface="Courier New" pitchFamily="34" charset="-122"/>
                <a:cs typeface="Courier New" pitchFamily="34" charset="-120"/>
              </a:rPr>
              <a:t># nel blocco aws_db_instance.main: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parameter_group_name = aws_db_parameter_group.main.name</a:t>
            </a:r>
            <a:endParaRPr lang="en-US" sz="1600" dirty="0"/>
          </a:p>
        </p:txBody>
      </p:sp>
      <p:sp>
        <p:nvSpPr>
          <p:cNvPr id="8" name="Text 5"/>
          <p:cNvSpPr txBox="1"/>
          <p:nvPr/>
        </p:nvSpPr>
        <p:spPr>
          <a:xfrm>
            <a:off x="548640" y="5989320"/>
            <a:ext cx="11094415" cy="41148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Già attivo di default dalla versione 15, ma lo scriviamo: un default invisibile può sparire.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secrets.tf: il server legge SOLO quel segreto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25880"/>
            <a:ext cx="11094415" cy="4526280"/>
          </a:xfrm>
          <a:prstGeom prst="roundRect">
            <a:avLst>
              <a:gd name="adj" fmla="val 1616"/>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secrets.tf</a:t>
            </a:r>
            <a:endParaRPr lang="en-US" sz="1300" dirty="0"/>
          </a:p>
        </p:txBody>
      </p:sp>
      <p:sp>
        <p:nvSpPr>
          <p:cNvPr id="7" name="Text 4"/>
          <p:cNvSpPr txBox="1"/>
          <p:nvPr/>
        </p:nvSpPr>
        <p:spPr>
          <a:xfrm>
            <a:off x="731520" y="1737360"/>
            <a:ext cx="10728655" cy="397764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data "aws_iam_policy_document" "app_read_db_secret"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["secretsmanager:GetSecretValue"]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[aws_db_instance.main.master_user_secret[0].secret_arn]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"aws_iam_policy" "app_read_db_secret"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"${var.project}-app-read-db-secret"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policy = data.aws_iam_policy_document.app_read_db_secret.json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"aws_iam_role_policy_attachment" "app_read_db_secret"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role       = aws_iam_role.app.name        </a:t>
            </a:r>
            <a:pPr indent="0" marL="0">
              <a:buNone/>
            </a:pPr>
            <a:r>
              <a:rPr lang="en-US" sz="1600" dirty="0">
                <a:solidFill>
                  <a:srgbClr val="8FD694"/>
                </a:solidFill>
                <a:latin typeface="Courier New" pitchFamily="34" charset="0"/>
                <a:ea typeface="Courier New" pitchFamily="34" charset="-122"/>
                <a:cs typeface="Courier New" pitchFamily="34" charset="-120"/>
              </a:rPr>
              <a:t># lezione 4</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policy_arn = aws_iam_policy.app_read_db_secret.arn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Shape 5"/>
          <p:cNvSpPr/>
          <p:nvPr/>
        </p:nvSpPr>
        <p:spPr>
          <a:xfrm>
            <a:off x="548640" y="5943600"/>
            <a:ext cx="11094415" cy="548640"/>
          </a:xfrm>
          <a:prstGeom prst="roundRect">
            <a:avLst>
              <a:gd name="adj" fmla="val 16667"/>
            </a:avLst>
          </a:prstGeom>
          <a:solidFill>
            <a:srgbClr val="E5F4EC"/>
          </a:solidFill>
          <a:ln w="12700">
            <a:solidFill>
              <a:srgbClr val="E5F4EC"/>
            </a:solidFill>
            <a:prstDash val="solid"/>
          </a:ln>
        </p:spPr>
      </p:sp>
      <p:sp>
        <p:nvSpPr>
          <p:cNvPr id="9" name="Text 6"/>
          <p:cNvSpPr txBox="1"/>
          <p:nvPr/>
        </p:nvSpPr>
        <p:spPr>
          <a:xfrm>
            <a:off x="822960" y="5943600"/>
            <a:ext cx="10545775" cy="54864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Una sola azione (GetSecretValue) su una sola risorsa (il segreto del database): privilegio minimo.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crea, collegati, fatti bloccare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41732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2801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 poi 15-20 minuti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C'è una password nel plan? (no)</a:t>
            </a:r>
            <a:endParaRPr lang="en-US" sz="1700" dirty="0"/>
          </a:p>
        </p:txBody>
      </p:sp>
      <p:sp>
        <p:nvSpPr>
          <p:cNvPr id="8" name="Shape 5"/>
          <p:cNvSpPr/>
          <p:nvPr/>
        </p:nvSpPr>
        <p:spPr>
          <a:xfrm>
            <a:off x="548640" y="2221992"/>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22199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084832"/>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Secrets Manager: il segreto rds!db-…</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rotazione ogni 7 giorni; nello state solo l'ARN</a:t>
            </a:r>
            <a:endParaRPr lang="en-US" sz="1700" dirty="0"/>
          </a:p>
        </p:txBody>
      </p:sp>
      <p:sp>
        <p:nvSpPr>
          <p:cNvPr id="11" name="Shape 8"/>
          <p:cNvSpPr/>
          <p:nvPr/>
        </p:nvSpPr>
        <p:spPr>
          <a:xfrm>
            <a:off x="548640" y="3026664"/>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026664"/>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2889504"/>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Dal server (SSM): certificato + password, poi psql con verify-full</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funziona; senza TLS o con l'IP invece del nome: rifiutato</a:t>
            </a:r>
            <a:endParaRPr lang="en-US" sz="1700" dirty="0"/>
          </a:p>
        </p:txBody>
      </p:sp>
      <p:sp>
        <p:nvSpPr>
          <p:cNvPr id="14" name="Shape 11"/>
          <p:cNvSpPr/>
          <p:nvPr/>
        </p:nvSpPr>
        <p:spPr>
          <a:xfrm>
            <a:off x="548640" y="3831336"/>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383133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3694176"/>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Da casa come amministratore (Tailscale)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funziona: il nome porta a 10.20.20.x, attraverso il router</a:t>
            </a:r>
            <a:endParaRPr lang="en-US" sz="1700" dirty="0"/>
          </a:p>
        </p:txBody>
      </p:sp>
      <p:sp>
        <p:nvSpPr>
          <p:cNvPr id="17" name="Shape 14"/>
          <p:cNvSpPr/>
          <p:nvPr/>
        </p:nvSpPr>
        <p:spPr>
          <a:xfrm>
            <a:off x="548640" y="4636008"/>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463600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498848"/>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Da casa come sviluppatore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la connessione scade: la blocca Tailscale, non il SG</a:t>
            </a:r>
            <a:endParaRPr lang="en-US" sz="1700" dirty="0"/>
          </a:p>
        </p:txBody>
      </p:sp>
      <p:sp>
        <p:nvSpPr>
          <p:cNvPr id="20" name="Shape 17"/>
          <p:cNvSpPr/>
          <p:nvPr/>
        </p:nvSpPr>
        <p:spPr>
          <a:xfrm>
            <a:off x="548640" y="5440680"/>
            <a:ext cx="594360" cy="594360"/>
          </a:xfrm>
          <a:prstGeom prst="ellipse">
            <a:avLst/>
          </a:prstGeom>
          <a:solidFill>
            <a:srgbClr val="D64545"/>
          </a:solidFill>
          <a:ln w="12700">
            <a:solidFill>
              <a:srgbClr val="D64545"/>
            </a:solidFill>
            <a:prstDash val="solid"/>
          </a:ln>
        </p:spPr>
      </p:sp>
      <p:sp>
        <p:nvSpPr>
          <p:cNvPr id="21" name="Text 18"/>
          <p:cNvSpPr txBox="1"/>
          <p:nvPr/>
        </p:nvSpPr>
        <p:spPr>
          <a:xfrm>
            <a:off x="548640" y="54406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Text 19"/>
          <p:cNvSpPr txBox="1"/>
          <p:nvPr/>
        </p:nvSpPr>
        <p:spPr>
          <a:xfrm>
            <a:off x="1325880" y="53035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Togli le porte effimere dalla NACL (lezione 3) e applica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la risposta non esce: psql resta appeso. Poi rimettile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fallo cadere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sp>
        <p:nvSpPr>
          <p:cNvPr id="5" name="Shape 2"/>
          <p:cNvSpPr/>
          <p:nvPr/>
        </p:nvSpPr>
        <p:spPr>
          <a:xfrm>
            <a:off x="548640" y="1325880"/>
            <a:ext cx="11094415" cy="1554480"/>
          </a:xfrm>
          <a:prstGeom prst="roundRect">
            <a:avLst>
              <a:gd name="adj" fmla="val 4706"/>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sul server (SSM)</a:t>
            </a:r>
            <a:endParaRPr lang="en-US" sz="1300" dirty="0"/>
          </a:p>
        </p:txBody>
      </p:sp>
      <p:sp>
        <p:nvSpPr>
          <p:cNvPr id="7" name="Text 4"/>
          <p:cNvSpPr txBox="1"/>
          <p:nvPr/>
        </p:nvSpPr>
        <p:spPr>
          <a:xfrm>
            <a:off x="731520" y="1737360"/>
            <a:ext cx="10728655" cy="100584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while true; do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echo "$(date +%T)  $(psql "$DB" -tAc 'select inet_server_addr();' 2&gt;&amp;1 | head -1)"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sleep 2</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done</a:t>
            </a:r>
            <a:endParaRPr lang="en-US" sz="1600" dirty="0"/>
          </a:p>
        </p:txBody>
      </p:sp>
      <p:sp>
        <p:nvSpPr>
          <p:cNvPr id="8" name="Shape 5"/>
          <p:cNvSpPr/>
          <p:nvPr/>
        </p:nvSpPr>
        <p:spPr>
          <a:xfrm>
            <a:off x="548640" y="3017520"/>
            <a:ext cx="11094415" cy="777240"/>
          </a:xfrm>
          <a:prstGeom prst="roundRect">
            <a:avLst>
              <a:gd name="adj" fmla="val 9412"/>
            </a:avLst>
          </a:prstGeom>
          <a:solidFill>
            <a:srgbClr val="1E1E2E"/>
          </a:solidFill>
          <a:ln w="12700">
            <a:solidFill>
              <a:srgbClr val="1E1E2E"/>
            </a:solidFill>
            <a:prstDash val="solid"/>
          </a:ln>
        </p:spPr>
      </p:sp>
      <p:sp>
        <p:nvSpPr>
          <p:cNvPr id="9" name="Text 6"/>
          <p:cNvSpPr txBox="1"/>
          <p:nvPr/>
        </p:nvSpPr>
        <p:spPr>
          <a:xfrm>
            <a:off x="731520" y="309067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dal tuo computer</a:t>
            </a:r>
            <a:endParaRPr lang="en-US" sz="1300" dirty="0"/>
          </a:p>
        </p:txBody>
      </p:sp>
      <p:sp>
        <p:nvSpPr>
          <p:cNvPr id="10" name="Text 7"/>
          <p:cNvSpPr txBox="1"/>
          <p:nvPr/>
        </p:nvSpPr>
        <p:spPr>
          <a:xfrm>
            <a:off x="731520" y="3429000"/>
            <a:ext cx="10728655" cy="2286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aws rds reboot-db-instance --db-instance-identifier corso-aws-db --force-failover</a:t>
            </a:r>
            <a:endParaRPr lang="en-US" sz="1600" dirty="0"/>
          </a:p>
        </p:txBody>
      </p:sp>
      <p:sp>
        <p:nvSpPr>
          <p:cNvPr id="11" name="Shape 8"/>
          <p:cNvSpPr/>
          <p:nvPr/>
        </p:nvSpPr>
        <p:spPr>
          <a:xfrm>
            <a:off x="548640" y="416052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41605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3" name="Text 10"/>
          <p:cNvSpPr txBox="1"/>
          <p:nvPr/>
        </p:nvSpPr>
        <p:spPr>
          <a:xfrm>
            <a:off x="1325880" y="4023360"/>
            <a:ext cx="466344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Guarda il ciclo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10.20.20.x → errori per 1-2 minuti → 10.20.21.x</a:t>
            </a:r>
            <a:endParaRPr lang="en-US" sz="1700" dirty="0"/>
          </a:p>
        </p:txBody>
      </p:sp>
      <p:sp>
        <p:nvSpPr>
          <p:cNvPr id="14" name="Shape 11"/>
          <p:cNvSpPr/>
          <p:nvPr/>
        </p:nvSpPr>
        <p:spPr>
          <a:xfrm>
            <a:off x="6172200" y="416052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6172200" y="41605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16" name="Text 13"/>
          <p:cNvSpPr txBox="1"/>
          <p:nvPr/>
        </p:nvSpPr>
        <p:spPr>
          <a:xfrm>
            <a:off x="6949440" y="4023360"/>
            <a:ext cx="466344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Eventi di RDS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Logs &amp; events: inizio e fine del failover</a:t>
            </a:r>
            <a:endParaRPr lang="en-US" sz="1700" dirty="0"/>
          </a:p>
        </p:txBody>
      </p:sp>
      <p:sp>
        <p:nvSpPr>
          <p:cNvPr id="17" name="Shape 14"/>
          <p:cNvSpPr/>
          <p:nvPr/>
        </p:nvSpPr>
        <p:spPr>
          <a:xfrm>
            <a:off x="548640" y="525780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52578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9" name="Text 16"/>
          <p:cNvSpPr txBox="1"/>
          <p:nvPr/>
        </p:nvSpPr>
        <p:spPr>
          <a:xfrm>
            <a:off x="1325880" y="5120640"/>
            <a:ext cx="466344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Prova a cancellarlo dalla CLI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AWS rifiuta: protected DB Instance</a:t>
            </a:r>
            <a:endParaRPr lang="en-US" sz="1700" dirty="0"/>
          </a:p>
        </p:txBody>
      </p:sp>
      <p:sp>
        <p:nvSpPr>
          <p:cNvPr id="20" name="Shape 17"/>
          <p:cNvSpPr/>
          <p:nvPr/>
        </p:nvSpPr>
        <p:spPr>
          <a:xfrm>
            <a:off x="6172200" y="5257800"/>
            <a:ext cx="594360" cy="594360"/>
          </a:xfrm>
          <a:prstGeom prst="ellipse">
            <a:avLst/>
          </a:prstGeom>
          <a:solidFill>
            <a:srgbClr val="D64545"/>
          </a:solidFill>
          <a:ln w="12700">
            <a:solidFill>
              <a:srgbClr val="D64545"/>
            </a:solidFill>
            <a:prstDash val="solid"/>
          </a:ln>
        </p:spPr>
      </p:sp>
      <p:sp>
        <p:nvSpPr>
          <p:cNvPr id="21" name="Text 18"/>
          <p:cNvSpPr txBox="1"/>
          <p:nvPr/>
        </p:nvSpPr>
        <p:spPr>
          <a:xfrm>
            <a:off x="6172200" y="52578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22" name="Text 19"/>
          <p:cNvSpPr txBox="1"/>
          <p:nvPr/>
        </p:nvSpPr>
        <p:spPr>
          <a:xfrm>
            <a:off x="6949440" y="5120640"/>
            <a:ext cx="466344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Pulizia in due tempi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protezione false + apply, poi destroy; cancella lo snapshot finale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6 · RDS PostgreSQL in alta affidabilità</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3429000"/>
                <a:gridCol w="2377440"/>
                <a:gridCol w="30906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RDS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database gestito da AWS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failover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passaggio automatico alla riserva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endpoint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nome DNS fisso del database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PITR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ripristino a un minuto preciso (in un DB nuovo)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DB subnet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l'elenco delle subnet del database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snapshot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una foto completa del database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Multi-AZ</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primario + standby in un'altra AZ</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KMS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caveau delle chiavi di cifratura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replica sincrona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"fatto" solo quando anche la copia ha scritto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Secrets Manager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cassetta dei segreti, con rotazione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read replica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copia asincrona in sola lettura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deletion_protection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AWS rifiuta la cancellazione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RDS = PostgreSQL gestito, nelle subnet database (DB subnet group)</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Multi-AZ: standby sincrono in un'altra AZ, failover automatico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Ci si collega al NOME dell'endpoint; l'app deve riprovare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Backup e PITR; disco cifrato (KMS), connessioni TLS verificate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Password generata da RDS, in Secrets Manager: mai nello state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deletion_protection + snapshot finale</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dispense/dispensa-6-rds.md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Immagini e artefatti: ECR e S3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2026-10-08T12:03:58Z</dcterms:created>
  <dcterms:modified xsi:type="dcterms:W3CDTF">2026-10-08T12:03:58Z</dcterms:modified>
</cp:coreProperties>
</file>