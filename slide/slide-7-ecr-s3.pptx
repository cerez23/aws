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server c'è, il database pure. Ma sul server gira ancora una pagina finta, scritta nello script di avvio. Un'applicazione vera va costruita da qualche parte, conservata in un posto sicuro e scaricata dal server. Oggi prepariamo i due magazzini: ECR per le immagini dei container, S3 per i file di deploy. Nella prossima lezione li usiamo per il deploy vero.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Oggi il codice dell'applicazione sta dentro il user_data. Per una pagina di prova va bene, per un'applicazione vera no. Il server dovrebbe installarsi da solo tutto quello che serve: lento, e ogni server rischia di venire diverso. Non c'è una versione precisa: alla domanda cosa gira in produzione non c'è una risposta sicura. E il user_data è un foglio di istruzioni, non un magazzino. La soluzione usata ovunque: si costruisce l'applicazione una volta, in un pacchetto completo con un nome di versione; il pacchetto si conserva in un magazzino; il server lo scarica e lo avvia.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Ecco il percorso che costruiamo tra oggi e la prossima lezione. Uno: dal codice si costruisce una volta un'immagine, con un nome di versione. Due: l'immagine si conserva in ECR, il magazzino delle immagini; i file di deploy, come il docker-compose, si conservano in S3. Tre: il server, all'avvio, scarica l'immagine e i file, e legge la password da Secrets Manager. Oggi costruiamo i due magazzini. Nella lezione 8 il passo uno lo farà da solo GitHub Actions, e il passo tre il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container impacchetta un'applicazione insieme a tutto ciò che le serve: il linguaggio, le librerie, la configurazione. Gira uguale ovunque, perché si porta dietro il suo ambiente. È come un piatto pronto surgelato: dentro c'è già tutto, chi lo riceve non deve sapere la ricetta, lo scalda e lo serve. Il Dockerfile è la ricetta. L'immagine è la confezione surgelata, che non cambia più. Il container è il piatto servito, cioè l'immagine in esecuzione. Il tag è l'etichetta con il lotto, il nome della versione. Il registry è il magazzino. Docker è la cucina, il programma che costruisce e fa girare i container.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Un'immagine si indica con tre pezzi: l'indirizzo del registry, il nome, il tag. Il registry ECR ha un indirizzo che contiene il numero del vostro account e la regione. Poi il nome del repository, nel nostro caso corso-aws barra app: la barra non crea una cartella, fa solo parte del nome. Poi, dopo i due punti, il tag. Quando il server scarica corso-aws/app:v1 sa esattamente quale versione sta prendendo.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ECR, Elastic Container Registry, è il registry di AWS. Ogni applicazione ha il suo repository, uno scaffale con tutte le versioni. Rispetto a Docker Hub è privato, serve un permesso IAM per scaricare, e sta nella stessa regione del server. Quattro scelte per il nostro repository: tag immutabili, scansione delle vulnerabilità al caricamento, pulizia automatica delle immagini vecchie, cifratura con la chiave di AWS. Le vediamo una per una.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 default un tag si può sovrascrivere: caricate una nuova immagine con il tag v1 e la vecchia v1 sparisce. Vuol dire che v1 oggi e v1 domani possono essere due programmi diversi, e un server ricreato stanotte potrebbe scaricare una versione che nessuno ha mai provato. Con i tag immutabili un tag usato non si riusa più: ogni versione ha il suo nome per sempre. È il numero di lotto: due confezioni con lo stesso numero devono essere identiche. Per una versione nuova, un tag nuovo: nella lezione 8 useremo il codice del commit.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 magazzini, tre tipi di cose. Il programma con tutto ciò che gli serve va in ECR, come immagine. I file di deploy non segreti, come il docker-compose o le configurazioni, vanno in S3. Password, chiavi e token vanno in Secrets Manager, che abbiamo visto nella lezione 6: permessi per singolo segreto, rotazione, ogni lettura registrata. Mai mischiare: una password dentro un'immagine o in un file su S3 è una password che finisce dove non deve.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bucket con i file di deploy è un bersaglio: chi potesse scriverci deciderebbe cosa gira sul server. Lo chiudiamo con quattro protezioni. Block Public Access: niente accesso pubblico, mai, nemmeno per errore. Versioning, che conoscete dalla lezione 0: un file sbagliato non cancella quello buono. Cifratura SSE-S3, gratuita e trasparente. E una bucket policy che rifiuta ogni richiesta non cifrata.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bucket può diventare pubblico in due modi: con una bucket policy che dà accesso a tutti, o con le ACL, un vecchio sistema di permessi per singolo file. Il Block Public Access è un interruttore generale con quattro levette, e vince su tutto: con tutte e quattro accese, nessuna policy e nessuna ACL può rendere pubblico il bucket. In più spegniamo del tutto le ACL, così i permessi si decidono in un posto solo. Sui bucket nuovi AWS lo fa già, ma lo scriviamo: come rds.force_ssl, un default invisibile può sparire.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bucket policy è una resource-based policy, lezione 1: sta sul bucket. La nostra ha una sola regola, un Deny. Chiunque, per qualunque operazione, se la richiesta non arriva cifrata: rifiuta. La condizione si chiama aws:SecureTransport, che vale vero se la richiesta viaggia in TLS. È lo stesso principio di rds.force_ssl: i dati in viaggio si cifrano sempre, e lo si impone. E ricordate: un Deny esplicito vince su qualunque Allow, anche su un amministratore.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Mettiamo insieme le protezioni, seguendo una richiesta. Arriva da internet senza login AWS? La ferma il Block Public Access. È in chiaro, non HTTPS? La ferma il Deny della bucket policy. Chi chiede ha il permesso IAM per quell'operazione? Se no, nessun Allow, rifiutata. Solo se supera tutti e tre i controlli passa.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server sta in una subnet privata: per arrivare a S3 oggi passa dal NAT, come per internet. Funziona, ma il NAT si paga per ogni GB, e il traffico esce dalla nostra rete per poi rientrare in AWS. Il Gateway Endpoint per S3 è una scorciatoia: una rotta in più nelle route table private, che porta il traffico per S3 direttamente a S3, dentro la rete di AWS. È gratuito. La rotta ha come destinazione una prefix list, l'elenco degli indirizzi di S3 mantenuto da AWS. Il server non cambia niente. E c'è un vantaggio nascosto: ECR conserva i pezzi delle immagini in S3, quindi anche la parte pesante dei download delle immagini passa dalla scorciatoia.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server deve scaricare l'immagine e leggere i file di deploy. Niente di più. La policy pronta di AWS per ECR permette di leggere tutti i repository dell'account: ne scriviamo una nostra. Il login al registry, che AWS accetta solo su tutto, l'asterisco, perché non riguarda un repository preciso. Lo scaricamento dell'immagine, solo dal nostro repository. La lettura dei file, solo quelli sotto deploy nel nostro bucket. E notate cosa manca: elencare i file, scrivere, caricare immagini. Le immagini le caricherà GitHub Actions, con un altro role, nella lezione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repository. Il nome è corso-aws/app. image_tag_mutability IMMUTABLE rende i tag immutabili. Il blocco di scansione accende il controllo al caricamento. La cifratura KMS, senza indicare una chiave, usa quella di AWS; attenzione, si sceglie alla creazione, come per il database. force_delete permette al destroy di cancellare il repository anche se contiene immagini: comodo in laboratorio, in produzione si toglie, perché è come un deletion_protection spento.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regole di pulizia sono un documento JSON, costruito con jsonencode come la policy di Tailscale nella lezione 5. Ogni regola ha una priorità, si applica prima il numero più basso; una selezione, cioè quali immagini; e un'azione, expire, cancella. Regola uno: le immagini senza tag, via dopo un giorno. Regola due: si tengono le ultime 20. La regola con tagStatus any deve avere il numero più alto: AWS lo pretende.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bucket. Il nome contiene il numero dell'account, dalla lezione 1, perché i nomi dei bucket sono unici al mondo. force_destroy solo per il laboratorio. Poi ogni aspetto del bucket è una risorsa separata, che lo indica con bucket uguale aws_s3_bucket.artifacts.id. Qui il Block Public Access con le quattro levette e il versioning. Le altre tre configurazioni sono nella prossima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altre configurazioni del bucket, in breve: le ACL spente, la cifratura AES256 che è il nome tecnico di SSE-S3, e la pulizia delle versioni vecchie dopo 30 giorni; filter vuoto vuol dire per tutti i file. La bucket policy si attacca con aws_s3_bucket_policy; depends_on dice a Terraform di creare prima le levette del Block Public Access. Poi la scorciatoia: il servizio S3 della nostra regione, di tipo Gateway, sulle route table private con un'espressione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policy del server, con tre statement. sid è un'etichetta facoltativa, utile solo a chi legge. Il login al registry su tutto. Lo scaricamento solo dal nostro repository, con il suo ARN. La lettura solo dei file sotto deploy. Poi, come nella lezione 6, la policy si crea con aws_iam_policy e si attacca al role del server con aws_iam_role_policy_attachment: ora il role ha tre policy, SSM, password del database e artefatti.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L'esercizio completo è nella dispensa 7. Prima parte, con Docker sul vostro computer. Uno: plan e apply. Due: in console controllate le impostazioni del repository e del bucket. Tre: costruite una piccola immagine, la stessa pagina della lezione 4 dentro un container, per processori ARM, e la caricate con il tag v1. Quattro: ricaricate con lo stesso tag v1: errore, il tag è immutabile; con v2 funziona. Cinque: guardate i risultati della scansione.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Seconda parte. Sei: caricate un file sotto deploy e provate ad aprirlo dal browser: AccessDenied, non è pubblico. Sette: ricaricatelo forzando HTTP: AccessDenied anche con tutti i permessi, è il Deny della bucket policy. Otto: ricaricatelo cambiato e guardate le due versioni. Nove: dal server, con SSM, leggere funziona, elencare e scrivere no, il login al registry sì. Dieci: nelle route table private trovate la rotta verso la prefix list di S3; in quella del database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ripasso delle parole della lezione, una riga ciascuna.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Riassumendo. Il materiale di studio è la dispensa 7, con ecr.tf e s3.tf spiegati blocco per blocco e l'esercizio con tutti i comandi. La prossima volta mettiamo tutto insieme: GitHub Actions costruisce l'immagine senza chiavi salvate, la carica su ECR, e il server si ricrea da solo con la nuova versione.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F3B"/>
        </a:solidFill>
      </p:bgPr>
    </p:bg>
    <p:spTree>
      <p:nvGrpSpPr>
        <p:cNvPr id="1" name=""/>
        <p:cNvGrpSpPr/>
        <p:nvPr/>
      </p:nvGrpSpPr>
      <p:grpSpPr>
        <a:xfrm>
          <a:off x="0" y="0"/>
          <a:ext cx="0" cy="0"/>
          <a:chOff x="0" y="0"/>
          <a:chExt cx="0" cy="0"/>
        </a:xfrm>
      </p:grpSpPr>
      <p:sp>
        <p:nvSpPr>
          <p:cNvPr id="2" name="Text 0"/>
          <p:cNvSpPr txBox="1"/>
          <p:nvPr/>
        </p:nvSpPr>
        <p:spPr>
          <a:xfrm>
            <a:off x="7589520" y="548640"/>
            <a:ext cx="4206240" cy="5669280"/>
          </a:xfrm>
          <a:prstGeom prst="rect">
            <a:avLst/>
          </a:prstGeom>
          <a:noFill/>
          <a:ln/>
        </p:spPr>
        <p:txBody>
          <a:bodyPr wrap="square" lIns="0" tIns="0" rIns="0" bIns="0" rtlCol="0" anchor="ctr"/>
          <a:lstStyle/>
          <a:p>
            <a:pPr algn="r" indent="0" marL="0">
              <a:buNone/>
            </a:pPr>
            <a:r>
              <a:rPr lang="en-US" sz="30000" b="1" dirty="0">
                <a:solidFill>
                  <a:srgbClr val="5B3FD0"/>
                </a:solidFill>
                <a:latin typeface="Calibri" pitchFamily="34" charset="0"/>
                <a:ea typeface="Calibri" pitchFamily="34" charset="-122"/>
                <a:cs typeface="Calibri" pitchFamily="34" charset="-120"/>
              </a:rPr>
              <a:t>7</a:t>
            </a:r>
            <a:endParaRPr lang="en-US" sz="30000" dirty="0"/>
          </a:p>
        </p:txBody>
      </p:sp>
      <p:sp>
        <p:nvSpPr>
          <p:cNvPr id="3" name="Text 1"/>
          <p:cNvSpPr txBox="1"/>
          <p:nvPr/>
        </p:nvSpPr>
        <p:spPr>
          <a:xfrm>
            <a:off x="548640" y="1280160"/>
            <a:ext cx="7315200" cy="365760"/>
          </a:xfrm>
          <a:prstGeom prst="rect">
            <a:avLst/>
          </a:prstGeom>
          <a:noFill/>
          <a:ln/>
        </p:spPr>
        <p:txBody>
          <a:bodyPr wrap="square" lIns="0" tIns="0" rIns="0" bIns="0" rtlCol="0" anchor="ctr"/>
          <a:lstStyle/>
          <a:p>
            <a:pPr indent="0" marL="0">
              <a:buNone/>
            </a:pPr>
            <a:r>
              <a:rPr lang="en-US" sz="1600" b="1" dirty="0">
                <a:solidFill>
                  <a:srgbClr val="F28C28"/>
                </a:solidFill>
                <a:latin typeface="Calibri" pitchFamily="34" charset="0"/>
                <a:ea typeface="Calibri" pitchFamily="34" charset="-122"/>
                <a:cs typeface="Calibri" pitchFamily="34" charset="-120"/>
              </a:rPr>
              <a:t>Dispensa 7 · Immagini e artefatti: ECR e S3</a:t>
            </a:r>
            <a:endParaRPr lang="en-US" sz="1600" dirty="0"/>
          </a:p>
        </p:txBody>
      </p:sp>
      <p:sp>
        <p:nvSpPr>
          <p:cNvPr id="4" name="Text 2"/>
          <p:cNvSpPr txBox="1"/>
          <p:nvPr/>
        </p:nvSpPr>
        <p:spPr>
          <a:xfrm>
            <a:off x="548640" y="1828800"/>
            <a:ext cx="7772400" cy="2011680"/>
          </a:xfrm>
          <a:prstGeom prst="rect">
            <a:avLst/>
          </a:prstGeom>
          <a:noFill/>
          <a:ln/>
        </p:spPr>
        <p:txBody>
          <a:bodyPr wrap="square" lIns="0" tIns="0" rIns="0" bIns="0" rtlCol="0" anchor="t"/>
          <a:lstStyle/>
          <a:p>
            <a:pPr indent="0" marL="0">
              <a:buNone/>
            </a:pPr>
            <a:r>
              <a:rPr lang="en-US" sz="4800" b="1" dirty="0">
                <a:solidFill>
                  <a:srgbClr val="FFFFFF"/>
                </a:solidFill>
                <a:latin typeface="Calibri" pitchFamily="34" charset="0"/>
                <a:ea typeface="Calibri" pitchFamily="34" charset="-122"/>
                <a:cs typeface="Calibri" pitchFamily="34" charset="-120"/>
              </a:rPr>
              <a:t>Immagini e artefatti: ECR e S3</a:t>
            </a:r>
            <a:endParaRPr lang="en-US" sz="4800" dirty="0"/>
          </a:p>
        </p:txBody>
      </p:sp>
      <p:sp>
        <p:nvSpPr>
          <p:cNvPr id="5" name="Text 3"/>
          <p:cNvSpPr txBox="1"/>
          <p:nvPr/>
        </p:nvSpPr>
        <p:spPr>
          <a:xfrm>
            <a:off x="548640" y="4023360"/>
            <a:ext cx="7315200" cy="1097280"/>
          </a:xfrm>
          <a:prstGeom prst="rect">
            <a:avLst/>
          </a:prstGeom>
          <a:noFill/>
          <a:ln/>
        </p:spPr>
        <p:txBody>
          <a:bodyPr wrap="square" lIns="0" tIns="0" rIns="0" bIns="0" rtlCol="0" anchor="t"/>
          <a:lstStyle/>
          <a:p>
            <a:pPr indent="0" marL="0">
              <a:buNone/>
            </a:pPr>
            <a:r>
              <a:rPr lang="en-US" sz="2000" dirty="0">
                <a:solidFill>
                  <a:srgbClr val="C9CBE0"/>
                </a:solidFill>
                <a:latin typeface="Calibri" pitchFamily="34" charset="0"/>
                <a:ea typeface="Calibri" pitchFamily="34" charset="-122"/>
                <a:cs typeface="Calibri" pitchFamily="34" charset="-120"/>
              </a:rPr>
              <a:t>I due magazzini da cui il server prenderà l'applicazione</a:t>
            </a:r>
            <a:endParaRPr lang="en-US" sz="2000" dirty="0"/>
          </a:p>
        </p:txBody>
      </p:sp>
      <p:sp>
        <p:nvSpPr>
          <p:cNvPr id="6" name="Text 4"/>
          <p:cNvSpPr txBox="1"/>
          <p:nvPr/>
        </p:nvSpPr>
        <p:spPr>
          <a:xfrm>
            <a:off x="548640" y="6035040"/>
            <a:ext cx="7315200" cy="365760"/>
          </a:xfrm>
          <a:prstGeom prst="rect">
            <a:avLst/>
          </a:prstGeom>
          <a:noFill/>
          <a:ln/>
        </p:spPr>
        <p:txBody>
          <a:bodyPr wrap="square" lIns="0" tIns="0" rIns="0" bIns="0" rtlCol="0" anchor="ctr"/>
          <a:lstStyle/>
          <a:p>
            <a:pPr indent="0" marL="0">
              <a:buNone/>
            </a:pPr>
            <a:r>
              <a:rPr lang="en-US" sz="1200" dirty="0">
                <a:solidFill>
                  <a:srgbClr val="9A9DB8"/>
                </a:solidFill>
                <a:latin typeface="Calibri" pitchFamily="34" charset="0"/>
                <a:ea typeface="Calibri" pitchFamily="34" charset="-122"/>
                <a:cs typeface="Calibri" pitchFamily="34" charset="-120"/>
              </a:rPr>
              <a:t>Corso: Infrastruttura AWS con Terraform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Il problema: l'app dentro lo script di avvio</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7 · Immagini e artefatti: ECR e S3</a:t>
            </a:r>
            <a:endParaRPr lang="en-US" sz="1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5486400"/>
                <a:gridCol w="5605272"/>
              </a:tblGrid>
              <a:tr h="685800">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Con l'app dentro il user_data…</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Perché è un problema</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r>
              <a:tr h="685800">
                <a:tc>
                  <a:txBody>
                    <a:bodyPr/>
                    <a:lstStyle/>
                    <a:p>
                      <a:pPr indent="0" marL="0">
                        <a:buNone/>
                      </a:pPr>
                      <a:r>
                        <a:rPr lang="en-US" sz="1700" dirty="0">
                          <a:solidFill>
                            <a:srgbClr val="22253A"/>
                          </a:solidFill>
                          <a:latin typeface="Calibri" pitchFamily="34" charset="0"/>
                          <a:ea typeface="Calibri" pitchFamily="34" charset="-122"/>
                          <a:cs typeface="Calibri" pitchFamily="34" charset="-120"/>
                        </a:rPr>
                        <a:t>il server si installa da solo tutto ciò che serve</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700" dirty="0">
                          <a:solidFill>
                            <a:srgbClr val="22253A"/>
                          </a:solidFill>
                          <a:latin typeface="Calibri" pitchFamily="34" charset="0"/>
                          <a:ea typeface="Calibri" pitchFamily="34" charset="-122"/>
                          <a:cs typeface="Calibri" pitchFamily="34" charset="-120"/>
                        </a:rPr>
                        <a:t>lento, e ogni server rischia di venire diverso</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685800">
                <a:tc>
                  <a:txBody>
                    <a:bodyPr/>
                    <a:lstStyle/>
                    <a:p>
                      <a:pPr indent="0" marL="0">
                        <a:buNone/>
                      </a:pPr>
                      <a:r>
                        <a:rPr lang="en-US" sz="1700" dirty="0">
                          <a:solidFill>
                            <a:srgbClr val="22253A"/>
                          </a:solidFill>
                          <a:latin typeface="Calibri" pitchFamily="34" charset="0"/>
                          <a:ea typeface="Calibri" pitchFamily="34" charset="-122"/>
                          <a:cs typeface="Calibri" pitchFamily="34" charset="-120"/>
                        </a:rPr>
                        <a:t>non c'è una versione precisa</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700" dirty="0">
                          <a:solidFill>
                            <a:srgbClr val="22253A"/>
                          </a:solidFill>
                          <a:latin typeface="Calibri" pitchFamily="34" charset="0"/>
                          <a:ea typeface="Calibri" pitchFamily="34" charset="-122"/>
                          <a:cs typeface="Calibri" pitchFamily="34" charset="-120"/>
                        </a:rPr>
                        <a:t>"cosa gira in produzione?" non ha una risposta sicura</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r h="685800">
                <a:tc>
                  <a:txBody>
                    <a:bodyPr/>
                    <a:lstStyle/>
                    <a:p>
                      <a:pPr indent="0" marL="0">
                        <a:buNone/>
                      </a:pPr>
                      <a:r>
                        <a:rPr lang="en-US" sz="1700" dirty="0">
                          <a:solidFill>
                            <a:srgbClr val="22253A"/>
                          </a:solidFill>
                          <a:latin typeface="Calibri" pitchFamily="34" charset="0"/>
                          <a:ea typeface="Calibri" pitchFamily="34" charset="-122"/>
                          <a:cs typeface="Calibri" pitchFamily="34" charset="-120"/>
                        </a:rPr>
                        <a:t>il user_data contiene il programma</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700" dirty="0">
                          <a:solidFill>
                            <a:srgbClr val="22253A"/>
                          </a:solidFill>
                          <a:latin typeface="Calibri" pitchFamily="34" charset="0"/>
                          <a:ea typeface="Calibri" pitchFamily="34" charset="-122"/>
                          <a:cs typeface="Calibri" pitchFamily="34" charset="-120"/>
                        </a:rPr>
                        <a:t>è un foglio di istruzioni, non un magazzino</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bl>
          </a:graphicData>
        </a:graphic>
      </p:graphicFrame>
      <p:sp>
        <p:nvSpPr>
          <p:cNvPr id="6" name="Shape 2"/>
          <p:cNvSpPr/>
          <p:nvPr/>
        </p:nvSpPr>
        <p:spPr>
          <a:xfrm>
            <a:off x="548640" y="4480560"/>
            <a:ext cx="11094415" cy="1005840"/>
          </a:xfrm>
          <a:prstGeom prst="roundRect">
            <a:avLst>
              <a:gd name="adj" fmla="val 9091"/>
            </a:avLst>
          </a:prstGeom>
          <a:solidFill>
            <a:srgbClr val="5B3FD0"/>
          </a:solidFill>
          <a:ln w="12700">
            <a:solidFill>
              <a:srgbClr val="5B3FD0"/>
            </a:solidFill>
            <a:prstDash val="solid"/>
          </a:ln>
        </p:spPr>
      </p:sp>
      <p:sp>
        <p:nvSpPr>
          <p:cNvPr id="7" name="Text 3"/>
          <p:cNvSpPr txBox="1"/>
          <p:nvPr/>
        </p:nvSpPr>
        <p:spPr>
          <a:xfrm>
            <a:off x="822960" y="4480560"/>
            <a:ext cx="10545775" cy="1005840"/>
          </a:xfrm>
          <a:prstGeom prst="rect">
            <a:avLst/>
          </a:prstGeom>
          <a:noFill/>
          <a:ln/>
        </p:spPr>
        <p:txBody>
          <a:bodyPr wrap="square" lIns="0" tIns="0" rIns="0" bIns="0"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Si COSTRUISCE una volta, si CONSERVA in un magazzino, il server lo SCARICA e lo avvia.</a:t>
            </a:r>
            <a:endParaRPr lang="en-US" sz="21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Costruisci, conserva, scarica</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7 · Immagini e artefatti: ECR e S3</a:t>
            </a:r>
            <a:endParaRPr lang="en-US" sz="1000" dirty="0"/>
          </a:p>
        </p:txBody>
      </p:sp>
      <p:sp>
        <p:nvSpPr>
          <p:cNvPr id="5" name="Shape 2"/>
          <p:cNvSpPr/>
          <p:nvPr/>
        </p:nvSpPr>
        <p:spPr>
          <a:xfrm>
            <a:off x="1828800" y="1508760"/>
            <a:ext cx="914400" cy="914400"/>
          </a:xfrm>
          <a:prstGeom prst="ellipse">
            <a:avLst/>
          </a:prstGeom>
          <a:solidFill>
            <a:srgbClr val="5B3FD0"/>
          </a:solidFill>
          <a:ln w="12700">
            <a:solidFill>
              <a:srgbClr val="5B3FD0"/>
            </a:solidFill>
            <a:prstDash val="solid"/>
          </a:ln>
        </p:spPr>
      </p:sp>
      <p:pic>
        <p:nvPicPr>
          <p:cNvPr id="6" name="Image 0" descr="preencoded.png">    </p:cNvPr>
          <p:cNvPicPr>
            <a:picLocks noChangeAspect="1"/>
          </p:cNvPicPr>
          <p:nvPr/>
        </p:nvPicPr>
        <p:blipFill>
          <a:blip r:embed="rId1"/>
          <a:stretch>
            <a:fillRect/>
          </a:stretch>
        </p:blipFill>
        <p:spPr>
          <a:xfrm>
            <a:off x="2057400" y="1737360"/>
            <a:ext cx="457200" cy="457200"/>
          </a:xfrm>
          <a:prstGeom prst="rect">
            <a:avLst/>
          </a:prstGeom>
        </p:spPr>
      </p:pic>
      <p:sp>
        <p:nvSpPr>
          <p:cNvPr id="7" name="Text 3"/>
          <p:cNvSpPr txBox="1"/>
          <p:nvPr/>
        </p:nvSpPr>
        <p:spPr>
          <a:xfrm>
            <a:off x="548640" y="2560320"/>
            <a:ext cx="3566160" cy="457200"/>
          </a:xfrm>
          <a:prstGeom prst="rect">
            <a:avLst/>
          </a:prstGeom>
          <a:noFill/>
          <a:ln/>
        </p:spPr>
        <p:txBody>
          <a:bodyPr wrap="square" lIns="0" tIns="0" rIns="0" bIns="0" rtlCol="0" anchor="ctr"/>
          <a:lstStyle/>
          <a:p>
            <a:pPr algn="ctr" indent="0" marL="0">
              <a:buNone/>
            </a:pPr>
            <a:r>
              <a:rPr lang="en-US" sz="2000" b="1" dirty="0">
                <a:solidFill>
                  <a:srgbClr val="22253A"/>
                </a:solidFill>
                <a:latin typeface="Calibri" pitchFamily="34" charset="0"/>
                <a:ea typeface="Calibri" pitchFamily="34" charset="-122"/>
                <a:cs typeface="Calibri" pitchFamily="34" charset="-120"/>
              </a:rPr>
              <a:t>1. Costruisci</a:t>
            </a:r>
            <a:endParaRPr lang="en-US" sz="2000" dirty="0"/>
          </a:p>
        </p:txBody>
      </p:sp>
      <p:sp>
        <p:nvSpPr>
          <p:cNvPr id="8" name="Text 4"/>
          <p:cNvSpPr txBox="1"/>
          <p:nvPr/>
        </p:nvSpPr>
        <p:spPr>
          <a:xfrm>
            <a:off x="731520" y="3017520"/>
            <a:ext cx="3200400" cy="1005840"/>
          </a:xfrm>
          <a:prstGeom prst="rect">
            <a:avLst/>
          </a:prstGeom>
          <a:noFill/>
          <a:ln/>
        </p:spPr>
        <p:txBody>
          <a:bodyPr wrap="square" lIns="0" tIns="0" rIns="0" bIns="0" rtlCol="0" anchor="t"/>
          <a:lstStyle/>
          <a:p>
            <a:pPr algn="ctr" indent="0" marL="0">
              <a:buNone/>
            </a:pPr>
            <a:r>
              <a:rPr lang="en-US" sz="1500" dirty="0">
                <a:solidFill>
                  <a:srgbClr val="5F6478"/>
                </a:solidFill>
                <a:latin typeface="Calibri" pitchFamily="34" charset="0"/>
                <a:ea typeface="Calibri" pitchFamily="34" charset="-122"/>
                <a:cs typeface="Calibri" pitchFamily="34" charset="-120"/>
              </a:rPr>
              <a:t>una volta: il codice diventa un'immagine con un nome di versione (app:v1)</a:t>
            </a:r>
            <a:endParaRPr lang="en-US" sz="1500" dirty="0"/>
          </a:p>
        </p:txBody>
      </p:sp>
      <p:sp>
        <p:nvSpPr>
          <p:cNvPr id="9" name="Shape 5"/>
          <p:cNvSpPr/>
          <p:nvPr/>
        </p:nvSpPr>
        <p:spPr>
          <a:xfrm>
            <a:off x="2926080" y="1965960"/>
            <a:ext cx="2194560" cy="0"/>
          </a:xfrm>
          <a:prstGeom prst="line">
            <a:avLst/>
          </a:prstGeom>
          <a:noFill/>
          <a:ln w="25400">
            <a:solidFill>
              <a:srgbClr val="D9D6EC"/>
            </a:solidFill>
            <a:prstDash val="solid"/>
            <a:tailEnd type="triangle"/>
          </a:ln>
        </p:spPr>
      </p:sp>
      <p:sp>
        <p:nvSpPr>
          <p:cNvPr id="10" name="Shape 6"/>
          <p:cNvSpPr/>
          <p:nvPr/>
        </p:nvSpPr>
        <p:spPr>
          <a:xfrm>
            <a:off x="5577840" y="1508760"/>
            <a:ext cx="914400" cy="914400"/>
          </a:xfrm>
          <a:prstGeom prst="ellipse">
            <a:avLst/>
          </a:prstGeom>
          <a:solidFill>
            <a:srgbClr val="F28C28"/>
          </a:solidFill>
          <a:ln w="12700">
            <a:solidFill>
              <a:srgbClr val="F28C28"/>
            </a:solidFill>
            <a:prstDash val="solid"/>
          </a:ln>
        </p:spPr>
      </p:sp>
      <p:pic>
        <p:nvPicPr>
          <p:cNvPr id="11" name="Image 1" descr="preencoded.png">    </p:cNvPr>
          <p:cNvPicPr>
            <a:picLocks noChangeAspect="1"/>
          </p:cNvPicPr>
          <p:nvPr/>
        </p:nvPicPr>
        <p:blipFill>
          <a:blip r:embed="rId2"/>
          <a:stretch>
            <a:fillRect/>
          </a:stretch>
        </p:blipFill>
        <p:spPr>
          <a:xfrm>
            <a:off x="5806440" y="1737360"/>
            <a:ext cx="457200" cy="457200"/>
          </a:xfrm>
          <a:prstGeom prst="rect">
            <a:avLst/>
          </a:prstGeom>
        </p:spPr>
      </p:pic>
      <p:sp>
        <p:nvSpPr>
          <p:cNvPr id="12" name="Text 7"/>
          <p:cNvSpPr txBox="1"/>
          <p:nvPr/>
        </p:nvSpPr>
        <p:spPr>
          <a:xfrm>
            <a:off x="4297680" y="2560320"/>
            <a:ext cx="3566160" cy="457200"/>
          </a:xfrm>
          <a:prstGeom prst="rect">
            <a:avLst/>
          </a:prstGeom>
          <a:noFill/>
          <a:ln/>
        </p:spPr>
        <p:txBody>
          <a:bodyPr wrap="square" lIns="0" tIns="0" rIns="0" bIns="0" rtlCol="0" anchor="ctr"/>
          <a:lstStyle/>
          <a:p>
            <a:pPr algn="ctr" indent="0" marL="0">
              <a:buNone/>
            </a:pPr>
            <a:r>
              <a:rPr lang="en-US" sz="2000" b="1" dirty="0">
                <a:solidFill>
                  <a:srgbClr val="22253A"/>
                </a:solidFill>
                <a:latin typeface="Calibri" pitchFamily="34" charset="0"/>
                <a:ea typeface="Calibri" pitchFamily="34" charset="-122"/>
                <a:cs typeface="Calibri" pitchFamily="34" charset="-120"/>
              </a:rPr>
              <a:t>2. Conserva</a:t>
            </a:r>
            <a:endParaRPr lang="en-US" sz="2000" dirty="0"/>
          </a:p>
        </p:txBody>
      </p:sp>
      <p:sp>
        <p:nvSpPr>
          <p:cNvPr id="13" name="Text 8"/>
          <p:cNvSpPr txBox="1"/>
          <p:nvPr/>
        </p:nvSpPr>
        <p:spPr>
          <a:xfrm>
            <a:off x="4480560" y="3017520"/>
            <a:ext cx="3200400" cy="1005840"/>
          </a:xfrm>
          <a:prstGeom prst="rect">
            <a:avLst/>
          </a:prstGeom>
          <a:noFill/>
          <a:ln/>
        </p:spPr>
        <p:txBody>
          <a:bodyPr wrap="square" lIns="0" tIns="0" rIns="0" bIns="0" rtlCol="0" anchor="t"/>
          <a:lstStyle/>
          <a:p>
            <a:pPr algn="ctr" indent="0" marL="0">
              <a:buNone/>
            </a:pPr>
            <a:r>
              <a:rPr lang="en-US" sz="1500" dirty="0">
                <a:solidFill>
                  <a:srgbClr val="5F6478"/>
                </a:solidFill>
                <a:latin typeface="Calibri" pitchFamily="34" charset="0"/>
                <a:ea typeface="Calibri" pitchFamily="34" charset="-122"/>
                <a:cs typeface="Calibri" pitchFamily="34" charset="-120"/>
              </a:rPr>
              <a:t>l'immagine in ECR, i file di deploy in S3</a:t>
            </a:r>
            <a:endParaRPr lang="en-US" sz="1500" dirty="0"/>
          </a:p>
        </p:txBody>
      </p:sp>
      <p:sp>
        <p:nvSpPr>
          <p:cNvPr id="14" name="Shape 9"/>
          <p:cNvSpPr/>
          <p:nvPr/>
        </p:nvSpPr>
        <p:spPr>
          <a:xfrm>
            <a:off x="6675120" y="1965960"/>
            <a:ext cx="2194560" cy="0"/>
          </a:xfrm>
          <a:prstGeom prst="line">
            <a:avLst/>
          </a:prstGeom>
          <a:noFill/>
          <a:ln w="25400">
            <a:solidFill>
              <a:srgbClr val="D9D6EC"/>
            </a:solidFill>
            <a:prstDash val="solid"/>
            <a:tailEnd type="triangle"/>
          </a:ln>
        </p:spPr>
      </p:sp>
      <p:sp>
        <p:nvSpPr>
          <p:cNvPr id="15" name="Shape 10"/>
          <p:cNvSpPr/>
          <p:nvPr/>
        </p:nvSpPr>
        <p:spPr>
          <a:xfrm>
            <a:off x="9326880" y="1508760"/>
            <a:ext cx="914400" cy="914400"/>
          </a:xfrm>
          <a:prstGeom prst="ellipse">
            <a:avLst/>
          </a:prstGeom>
          <a:solidFill>
            <a:srgbClr val="2E9E6B"/>
          </a:solidFill>
          <a:ln w="12700">
            <a:solidFill>
              <a:srgbClr val="2E9E6B"/>
            </a:solidFill>
            <a:prstDash val="solid"/>
          </a:ln>
        </p:spPr>
      </p:sp>
      <p:pic>
        <p:nvPicPr>
          <p:cNvPr id="16" name="Image 2" descr="preencoded.png">    </p:cNvPr>
          <p:cNvPicPr>
            <a:picLocks noChangeAspect="1"/>
          </p:cNvPicPr>
          <p:nvPr/>
        </p:nvPicPr>
        <p:blipFill>
          <a:blip r:embed="rId3"/>
          <a:stretch>
            <a:fillRect/>
          </a:stretch>
        </p:blipFill>
        <p:spPr>
          <a:xfrm>
            <a:off x="9555480" y="1737360"/>
            <a:ext cx="457200" cy="457200"/>
          </a:xfrm>
          <a:prstGeom prst="rect">
            <a:avLst/>
          </a:prstGeom>
        </p:spPr>
      </p:pic>
      <p:sp>
        <p:nvSpPr>
          <p:cNvPr id="17" name="Text 11"/>
          <p:cNvSpPr txBox="1"/>
          <p:nvPr/>
        </p:nvSpPr>
        <p:spPr>
          <a:xfrm>
            <a:off x="8046720" y="2560320"/>
            <a:ext cx="3566160" cy="457200"/>
          </a:xfrm>
          <a:prstGeom prst="rect">
            <a:avLst/>
          </a:prstGeom>
          <a:noFill/>
          <a:ln/>
        </p:spPr>
        <p:txBody>
          <a:bodyPr wrap="square" lIns="0" tIns="0" rIns="0" bIns="0" rtlCol="0" anchor="ctr"/>
          <a:lstStyle/>
          <a:p>
            <a:pPr algn="ctr" indent="0" marL="0">
              <a:buNone/>
            </a:pPr>
            <a:r>
              <a:rPr lang="en-US" sz="2000" b="1" dirty="0">
                <a:solidFill>
                  <a:srgbClr val="22253A"/>
                </a:solidFill>
                <a:latin typeface="Calibri" pitchFamily="34" charset="0"/>
                <a:ea typeface="Calibri" pitchFamily="34" charset="-122"/>
                <a:cs typeface="Calibri" pitchFamily="34" charset="-120"/>
              </a:rPr>
              <a:t>3. Scarica</a:t>
            </a:r>
            <a:endParaRPr lang="en-US" sz="2000" dirty="0"/>
          </a:p>
        </p:txBody>
      </p:sp>
      <p:sp>
        <p:nvSpPr>
          <p:cNvPr id="18" name="Text 12"/>
          <p:cNvSpPr txBox="1"/>
          <p:nvPr/>
        </p:nvSpPr>
        <p:spPr>
          <a:xfrm>
            <a:off x="8229600" y="3017520"/>
            <a:ext cx="3200400" cy="1005840"/>
          </a:xfrm>
          <a:prstGeom prst="rect">
            <a:avLst/>
          </a:prstGeom>
          <a:noFill/>
          <a:ln/>
        </p:spPr>
        <p:txBody>
          <a:bodyPr wrap="square" lIns="0" tIns="0" rIns="0" bIns="0" rtlCol="0" anchor="t"/>
          <a:lstStyle/>
          <a:p>
            <a:pPr algn="ctr" indent="0" marL="0">
              <a:buNone/>
            </a:pPr>
            <a:r>
              <a:rPr lang="en-US" sz="1500" dirty="0">
                <a:solidFill>
                  <a:srgbClr val="5F6478"/>
                </a:solidFill>
                <a:latin typeface="Calibri" pitchFamily="34" charset="0"/>
                <a:ea typeface="Calibri" pitchFamily="34" charset="-122"/>
                <a:cs typeface="Calibri" pitchFamily="34" charset="-120"/>
              </a:rPr>
              <a:t>il server prende immagine e file, e la password da Secrets Manager</a:t>
            </a:r>
            <a:endParaRPr lang="en-US" sz="15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4206240"/>
          <a:ext cx="11094415" cy="914400"/>
        </p:xfrm>
        <a:graphic>
          <a:graphicData uri="http://schemas.openxmlformats.org/drawingml/2006/table">
            <a:tbl>
              <a:tblPr/>
              <a:tblGrid>
                <a:gridCol w="2377440"/>
                <a:gridCol w="4480560"/>
                <a:gridCol w="4233672"/>
              </a:tblGrid>
              <a:tr h="502920">
                <a:tc>
                  <a:txBody>
                    <a:bodyPr/>
                    <a:lstStyle/>
                    <a:p>
                      <a:pPr indent="0" marL="0">
                        <a:buNone/>
                      </a:pP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Oggi (lezione 7)</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Lezione 8</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r>
              <a:tr h="502920">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Costruire</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a mano, dal tuo computer, con Docker</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da solo: GitHub Actions</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502920">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Conservare</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creiamo ECR e S3</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r h="502920">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Scaricare</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proviamo i permessi del server</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il server, a ogni avvio</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Container e immagini, in breve</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7 · Immagini e artefatti: ECR e S3</a:t>
            </a:r>
            <a:endParaRPr lang="en-US" sz="1000" dirty="0"/>
          </a:p>
        </p:txBody>
      </p:sp>
      <p:sp>
        <p:nvSpPr>
          <p:cNvPr id="5" name="Shape 2"/>
          <p:cNvSpPr/>
          <p:nvPr/>
        </p:nvSpPr>
        <p:spPr>
          <a:xfrm>
            <a:off x="548640" y="1280160"/>
            <a:ext cx="11094415" cy="731520"/>
          </a:xfrm>
          <a:prstGeom prst="roundRect">
            <a:avLst>
              <a:gd name="adj" fmla="val 12500"/>
            </a:avLst>
          </a:prstGeom>
          <a:solidFill>
            <a:srgbClr val="5B3FD0"/>
          </a:solidFill>
          <a:ln w="12700">
            <a:solidFill>
              <a:srgbClr val="5B3FD0"/>
            </a:solidFill>
            <a:prstDash val="solid"/>
          </a:ln>
        </p:spPr>
      </p:sp>
      <p:sp>
        <p:nvSpPr>
          <p:cNvPr id="6" name="Text 3"/>
          <p:cNvSpPr txBox="1"/>
          <p:nvPr/>
        </p:nvSpPr>
        <p:spPr>
          <a:xfrm>
            <a:off x="822960" y="1280160"/>
            <a:ext cx="10545775" cy="731520"/>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Container = l'app impacchettata con TUTTO ciò che le serve. Come un piatto pronto surgelato.</a:t>
            </a:r>
            <a:endParaRPr lang="en-US" sz="1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2240280"/>
          <a:ext cx="11094415" cy="914400"/>
        </p:xfrm>
        <a:graphic>
          <a:graphicData uri="http://schemas.openxmlformats.org/drawingml/2006/table">
            <a:tbl>
              <a:tblPr/>
              <a:tblGrid>
                <a:gridCol w="2194560"/>
                <a:gridCol w="5669280"/>
                <a:gridCol w="3227832"/>
              </a:tblGrid>
              <a:tr h="54864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Parola</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Cos'è</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Analogia</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r>
              <a:tr h="548640">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Dockerfile</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il file che dice come costruire l'immagine</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la ricetta</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548640">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Immagine</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il pacchetto costruito, che non cambia più</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la confezione surgelata</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r h="548640">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Container</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un'immagine IN ESECUZIONE</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il piatto servito</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548640">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Tag</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il nome di versione: v1, o il codice di un commit</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l'etichetta con il lotto</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r h="548640">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Registry</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dove le immagini si caricano (push) e si scaricano (pull)</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il magazzino</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548640">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Docker</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il programma che costruisce e fa girare i container</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la cucina</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Come si legge il nome di un'immagine</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7 · Immagini e artefatti: ECR e S3</a:t>
            </a:r>
            <a:endParaRPr lang="en-US" sz="1000" dirty="0"/>
          </a:p>
        </p:txBody>
      </p:sp>
      <p:sp>
        <p:nvSpPr>
          <p:cNvPr id="5" name="Shape 2"/>
          <p:cNvSpPr/>
          <p:nvPr/>
        </p:nvSpPr>
        <p:spPr>
          <a:xfrm>
            <a:off x="548640" y="1463040"/>
            <a:ext cx="11094415" cy="914400"/>
          </a:xfrm>
          <a:prstGeom prst="roundRect">
            <a:avLst>
              <a:gd name="adj" fmla="val 8000"/>
            </a:avLst>
          </a:prstGeom>
          <a:solidFill>
            <a:srgbClr val="1E1E2E"/>
          </a:solidFill>
          <a:ln w="12700">
            <a:solidFill>
              <a:srgbClr val="1E1E2E"/>
            </a:solidFill>
            <a:prstDash val="solid"/>
          </a:ln>
        </p:spPr>
      </p:sp>
      <p:sp>
        <p:nvSpPr>
          <p:cNvPr id="6" name="Text 3"/>
          <p:cNvSpPr txBox="1"/>
          <p:nvPr/>
        </p:nvSpPr>
        <p:spPr>
          <a:xfrm>
            <a:off x="731520" y="1600200"/>
            <a:ext cx="10728655" cy="640080"/>
          </a:xfrm>
          <a:prstGeom prst="rect">
            <a:avLst/>
          </a:prstGeom>
          <a:noFill/>
          <a:ln/>
        </p:spPr>
        <p:txBody>
          <a:bodyPr wrap="square" lIns="0" tIns="0" rIns="0" bIns="0" rtlCol="0" anchor="t"/>
          <a:lstStyle/>
          <a:p>
            <a:pPr indent="0" marL="0">
              <a:buNone/>
            </a:pPr>
            <a:r>
              <a:rPr lang="en-US" sz="2200" dirty="0">
                <a:solidFill>
                  <a:srgbClr val="E6E6F0"/>
                </a:solidFill>
                <a:latin typeface="Courier New" pitchFamily="34" charset="0"/>
                <a:ea typeface="Courier New" pitchFamily="34" charset="-122"/>
                <a:cs typeface="Courier New" pitchFamily="34" charset="-120"/>
              </a:rPr>
              <a:t>123456789012.dkr.ecr.eu-south-1.amazonaws.com/corso-aws/app:v1</a:t>
            </a:r>
            <a:endParaRPr lang="en-US" sz="2200" dirty="0"/>
          </a:p>
        </p:txBody>
      </p:sp>
      <p:sp>
        <p:nvSpPr>
          <p:cNvPr id="7" name="Shape 4"/>
          <p:cNvSpPr/>
          <p:nvPr/>
        </p:nvSpPr>
        <p:spPr>
          <a:xfrm>
            <a:off x="548640" y="2743200"/>
            <a:ext cx="3566160" cy="1280160"/>
          </a:xfrm>
          <a:prstGeom prst="roundRect">
            <a:avLst>
              <a:gd name="adj" fmla="val 7143"/>
            </a:avLst>
          </a:prstGeom>
          <a:solidFill>
            <a:srgbClr val="EEEAFB"/>
          </a:solidFill>
          <a:ln w="12700">
            <a:solidFill>
              <a:srgbClr val="EEEAFB"/>
            </a:solidFill>
            <a:prstDash val="solid"/>
          </a:ln>
        </p:spPr>
      </p:sp>
      <p:sp>
        <p:nvSpPr>
          <p:cNvPr id="8" name="Text 5"/>
          <p:cNvSpPr txBox="1"/>
          <p:nvPr/>
        </p:nvSpPr>
        <p:spPr>
          <a:xfrm>
            <a:off x="548640" y="2743200"/>
            <a:ext cx="3566160" cy="1280160"/>
          </a:xfrm>
          <a:prstGeom prst="rect">
            <a:avLst/>
          </a:prstGeom>
          <a:noFill/>
          <a:ln/>
        </p:spPr>
        <p:txBody>
          <a:bodyPr wrap="square" lIns="76200" tIns="76200" rIns="76200" bIns="76200" rtlCol="0" anchor="ctr"/>
          <a:lstStyle/>
          <a:p>
            <a:pPr algn="ctr" indent="0" marL="0">
              <a:buNone/>
            </a:pPr>
            <a:r>
              <a:rPr lang="en-US" sz="1900" b="1" dirty="0">
                <a:solidFill>
                  <a:srgbClr val="22253A"/>
                </a:solidFill>
                <a:latin typeface="Calibri" pitchFamily="34" charset="0"/>
                <a:ea typeface="Calibri" pitchFamily="34" charset="-122"/>
                <a:cs typeface="Calibri" pitchFamily="34" charset="-120"/>
              </a:rPr>
              <a:t>il registry</a:t>
            </a:r>
            <a:endParaRPr lang="en-US" sz="1500" dirty="0"/>
          </a:p>
          <a:p>
            <a:pPr algn="ctr" indent="0" marL="0">
              <a:buNone/>
            </a:pPr>
            <a:r>
              <a:rPr lang="en-US" sz="1500" dirty="0">
                <a:solidFill>
                  <a:srgbClr val="5F6478"/>
                </a:solidFill>
                <a:latin typeface="Calibri" pitchFamily="34" charset="0"/>
                <a:ea typeface="Calibri" pitchFamily="34" charset="-122"/>
                <a:cs typeface="Calibri" pitchFamily="34" charset="-120"/>
              </a:rPr>
              <a:t>il magazzino ECR del tuo account, a Milano</a:t>
            </a:r>
            <a:endParaRPr lang="en-US" sz="1500" dirty="0"/>
          </a:p>
        </p:txBody>
      </p:sp>
      <p:sp>
        <p:nvSpPr>
          <p:cNvPr id="9" name="Shape 6"/>
          <p:cNvSpPr/>
          <p:nvPr/>
        </p:nvSpPr>
        <p:spPr>
          <a:xfrm>
            <a:off x="4297680" y="2743200"/>
            <a:ext cx="3566160" cy="1280160"/>
          </a:xfrm>
          <a:prstGeom prst="roundRect">
            <a:avLst>
              <a:gd name="adj" fmla="val 7143"/>
            </a:avLst>
          </a:prstGeom>
          <a:solidFill>
            <a:srgbClr val="FDF0E3"/>
          </a:solidFill>
          <a:ln w="12700">
            <a:solidFill>
              <a:srgbClr val="FDF0E3"/>
            </a:solidFill>
            <a:prstDash val="solid"/>
          </a:ln>
        </p:spPr>
      </p:sp>
      <p:sp>
        <p:nvSpPr>
          <p:cNvPr id="10" name="Text 7"/>
          <p:cNvSpPr txBox="1"/>
          <p:nvPr/>
        </p:nvSpPr>
        <p:spPr>
          <a:xfrm>
            <a:off x="4297680" y="2743200"/>
            <a:ext cx="3566160" cy="1280160"/>
          </a:xfrm>
          <a:prstGeom prst="rect">
            <a:avLst/>
          </a:prstGeom>
          <a:noFill/>
          <a:ln/>
        </p:spPr>
        <p:txBody>
          <a:bodyPr wrap="square" lIns="76200" tIns="76200" rIns="76200" bIns="76200" rtlCol="0" anchor="ctr"/>
          <a:lstStyle/>
          <a:p>
            <a:pPr algn="ctr" indent="0" marL="0">
              <a:buNone/>
            </a:pPr>
            <a:r>
              <a:rPr lang="en-US" sz="1900" b="1" dirty="0">
                <a:solidFill>
                  <a:srgbClr val="22253A"/>
                </a:solidFill>
                <a:latin typeface="Calibri" pitchFamily="34" charset="0"/>
                <a:ea typeface="Calibri" pitchFamily="34" charset="-122"/>
                <a:cs typeface="Calibri" pitchFamily="34" charset="-120"/>
              </a:rPr>
              <a:t>il nome</a:t>
            </a:r>
            <a:endParaRPr lang="en-US" sz="1500" dirty="0"/>
          </a:p>
          <a:p>
            <a:pPr algn="ctr" indent="0" marL="0">
              <a:buNone/>
            </a:pPr>
            <a:r>
              <a:rPr lang="en-US" sz="1500" dirty="0">
                <a:solidFill>
                  <a:srgbClr val="5F6478"/>
                </a:solidFill>
                <a:latin typeface="Calibri" pitchFamily="34" charset="0"/>
                <a:ea typeface="Calibri" pitchFamily="34" charset="-122"/>
                <a:cs typeface="Calibri" pitchFamily="34" charset="-120"/>
              </a:rPr>
              <a:t>corso-aws/app: la barra fa parte del nome</a:t>
            </a:r>
            <a:endParaRPr lang="en-US" sz="1500" dirty="0"/>
          </a:p>
        </p:txBody>
      </p:sp>
      <p:sp>
        <p:nvSpPr>
          <p:cNvPr id="11" name="Shape 8"/>
          <p:cNvSpPr/>
          <p:nvPr/>
        </p:nvSpPr>
        <p:spPr>
          <a:xfrm>
            <a:off x="8046720" y="2743200"/>
            <a:ext cx="3566160" cy="1280160"/>
          </a:xfrm>
          <a:prstGeom prst="roundRect">
            <a:avLst>
              <a:gd name="adj" fmla="val 7143"/>
            </a:avLst>
          </a:prstGeom>
          <a:solidFill>
            <a:srgbClr val="E5F4EC"/>
          </a:solidFill>
          <a:ln w="12700">
            <a:solidFill>
              <a:srgbClr val="E5F4EC"/>
            </a:solidFill>
            <a:prstDash val="solid"/>
          </a:ln>
        </p:spPr>
      </p:sp>
      <p:sp>
        <p:nvSpPr>
          <p:cNvPr id="12" name="Text 9"/>
          <p:cNvSpPr txBox="1"/>
          <p:nvPr/>
        </p:nvSpPr>
        <p:spPr>
          <a:xfrm>
            <a:off x="8046720" y="2743200"/>
            <a:ext cx="3566160" cy="1280160"/>
          </a:xfrm>
          <a:prstGeom prst="rect">
            <a:avLst/>
          </a:prstGeom>
          <a:noFill/>
          <a:ln/>
        </p:spPr>
        <p:txBody>
          <a:bodyPr wrap="square" lIns="76200" tIns="76200" rIns="76200" bIns="76200" rtlCol="0" anchor="ctr"/>
          <a:lstStyle/>
          <a:p>
            <a:pPr algn="ctr" indent="0" marL="0">
              <a:buNone/>
            </a:pPr>
            <a:r>
              <a:rPr lang="en-US" sz="1900" b="1" dirty="0">
                <a:solidFill>
                  <a:srgbClr val="22253A"/>
                </a:solidFill>
                <a:latin typeface="Calibri" pitchFamily="34" charset="0"/>
                <a:ea typeface="Calibri" pitchFamily="34" charset="-122"/>
                <a:cs typeface="Calibri" pitchFamily="34" charset="-120"/>
              </a:rPr>
              <a:t>il tag</a:t>
            </a:r>
            <a:endParaRPr lang="en-US" sz="1500" dirty="0"/>
          </a:p>
          <a:p>
            <a:pPr algn="ctr" indent="0" marL="0">
              <a:buNone/>
            </a:pPr>
            <a:r>
              <a:rPr lang="en-US" sz="1500" dirty="0">
                <a:solidFill>
                  <a:srgbClr val="5F6478"/>
                </a:solidFill>
                <a:latin typeface="Calibri" pitchFamily="34" charset="0"/>
                <a:ea typeface="Calibri" pitchFamily="34" charset="-122"/>
                <a:cs typeface="Calibri" pitchFamily="34" charset="-120"/>
              </a:rPr>
              <a:t>la versione: v1</a:t>
            </a:r>
            <a:endParaRPr lang="en-US" sz="1500" dirty="0"/>
          </a:p>
        </p:txBody>
      </p:sp>
      <p:sp>
        <p:nvSpPr>
          <p:cNvPr id="13" name="Shape 10"/>
          <p:cNvSpPr/>
          <p:nvPr/>
        </p:nvSpPr>
        <p:spPr>
          <a:xfrm>
            <a:off x="548640" y="4389120"/>
            <a:ext cx="11094415" cy="914400"/>
          </a:xfrm>
          <a:prstGeom prst="roundRect">
            <a:avLst>
              <a:gd name="adj" fmla="val 10000"/>
            </a:avLst>
          </a:prstGeom>
          <a:solidFill>
            <a:srgbClr val="FDF0E3"/>
          </a:solidFill>
          <a:ln w="12700">
            <a:solidFill>
              <a:srgbClr val="FDF0E3"/>
            </a:solidFill>
            <a:prstDash val="solid"/>
          </a:ln>
        </p:spPr>
      </p:sp>
      <p:sp>
        <p:nvSpPr>
          <p:cNvPr id="14" name="Text 11"/>
          <p:cNvSpPr txBox="1"/>
          <p:nvPr/>
        </p:nvSpPr>
        <p:spPr>
          <a:xfrm>
            <a:off x="822960" y="4389120"/>
            <a:ext cx="10545775" cy="914400"/>
          </a:xfrm>
          <a:prstGeom prst="rect">
            <a:avLst/>
          </a:prstGeom>
          <a:noFill/>
          <a:ln/>
        </p:spPr>
        <p:txBody>
          <a:bodyPr wrap="square" lIns="0" tIns="0" rIns="0" bIns="0" rtlCol="0" anchor="ctr"/>
          <a:lstStyle/>
          <a:p>
            <a:pPr algn="l" indent="0" marL="0">
              <a:buNone/>
            </a:pPr>
            <a:r>
              <a:rPr lang="en-US" sz="1900" b="1" dirty="0">
                <a:solidFill>
                  <a:srgbClr val="22253A"/>
                </a:solidFill>
                <a:latin typeface="Calibri" pitchFamily="34" charset="0"/>
                <a:ea typeface="Calibri" pitchFamily="34" charset="-122"/>
                <a:cs typeface="Calibri" pitchFamily="34" charset="-120"/>
              </a:rPr>
              <a:t>registry / nome : tag   →   il server sa ESATTAMENTE quale versione sta scaricando.</a:t>
            </a:r>
            <a:endParaRPr lang="en-US" sz="1900" dirty="0"/>
          </a:p>
        </p:txBody>
      </p:sp>
      <p:sp>
        <p:nvSpPr>
          <p:cNvPr id="15" name="Text 12"/>
          <p:cNvSpPr txBox="1"/>
          <p:nvPr/>
        </p:nvSpPr>
        <p:spPr>
          <a:xfrm>
            <a:off x="548640" y="5532120"/>
            <a:ext cx="11094415" cy="457200"/>
          </a:xfrm>
          <a:prstGeom prst="rect">
            <a:avLst/>
          </a:prstGeom>
          <a:noFill/>
          <a:ln/>
        </p:spPr>
        <p:txBody>
          <a:bodyPr wrap="square" lIns="0" tIns="0" rIns="0" bIns="0" rtlCol="0" anchor="ctr"/>
          <a:lstStyle/>
          <a:p>
            <a:pPr algn="l" indent="0" marL="0">
              <a:buNone/>
            </a:pPr>
            <a:r>
              <a:rPr lang="en-US" sz="1500" i="1" dirty="0">
                <a:solidFill>
                  <a:srgbClr val="5F6478"/>
                </a:solidFill>
                <a:latin typeface="Calibri" pitchFamily="34" charset="0"/>
                <a:ea typeface="Calibri" pitchFamily="34" charset="-122"/>
                <a:cs typeface="Calibri" pitchFamily="34" charset="-120"/>
              </a:rPr>
              <a:t>Più container insieme sullo stesso server (app, cache…): docker compose, nella lezione 8.</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ECR: il magazzino delle immagini</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7 · Immagini e artefatti: ECR e S3</a:t>
            </a:r>
            <a:endParaRPr lang="en-US" sz="1000" dirty="0"/>
          </a:p>
        </p:txBody>
      </p:sp>
      <p:sp>
        <p:nvSpPr>
          <p:cNvPr id="5" name="Shape 2"/>
          <p:cNvSpPr/>
          <p:nvPr/>
        </p:nvSpPr>
        <p:spPr>
          <a:xfrm>
            <a:off x="548640" y="1280160"/>
            <a:ext cx="11094415" cy="731520"/>
          </a:xfrm>
          <a:prstGeom prst="roundRect">
            <a:avLst>
              <a:gd name="adj" fmla="val 12500"/>
            </a:avLst>
          </a:prstGeom>
          <a:solidFill>
            <a:srgbClr val="5B3FD0"/>
          </a:solidFill>
          <a:ln w="12700">
            <a:solidFill>
              <a:srgbClr val="5B3FD0"/>
            </a:solidFill>
            <a:prstDash val="solid"/>
          </a:ln>
        </p:spPr>
      </p:sp>
      <p:sp>
        <p:nvSpPr>
          <p:cNvPr id="6" name="Text 3"/>
          <p:cNvSpPr txBox="1"/>
          <p:nvPr/>
        </p:nvSpPr>
        <p:spPr>
          <a:xfrm>
            <a:off x="822960" y="1280160"/>
            <a:ext cx="10545775" cy="731520"/>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ECR = il registry di AWS: PRIVATO (serve un permesso IAM) e nella stessa regione del server.</a:t>
            </a:r>
            <a:endParaRPr lang="en-US" sz="1800" dirty="0"/>
          </a:p>
        </p:txBody>
      </p:sp>
      <p:sp>
        <p:nvSpPr>
          <p:cNvPr id="7" name="Shape 4"/>
          <p:cNvSpPr/>
          <p:nvPr/>
        </p:nvSpPr>
        <p:spPr>
          <a:xfrm>
            <a:off x="548640" y="2240280"/>
            <a:ext cx="5440680" cy="1783080"/>
          </a:xfrm>
          <a:prstGeom prst="roundRect">
            <a:avLst>
              <a:gd name="adj" fmla="val 6154"/>
            </a:avLst>
          </a:prstGeom>
          <a:solidFill>
            <a:srgbClr val="FDF0E3"/>
          </a:solidFill>
          <a:ln w="12700">
            <a:solidFill>
              <a:srgbClr val="FDF0E3"/>
            </a:solidFill>
            <a:prstDash val="solid"/>
          </a:ln>
        </p:spPr>
      </p:sp>
      <p:sp>
        <p:nvSpPr>
          <p:cNvPr id="8" name="Shape 5"/>
          <p:cNvSpPr/>
          <p:nvPr/>
        </p:nvSpPr>
        <p:spPr>
          <a:xfrm>
            <a:off x="777240" y="2468880"/>
            <a:ext cx="548640" cy="548640"/>
          </a:xfrm>
          <a:prstGeom prst="ellipse">
            <a:avLst/>
          </a:prstGeom>
          <a:solidFill>
            <a:srgbClr val="F28C28"/>
          </a:solidFill>
          <a:ln w="12700">
            <a:solidFill>
              <a:srgbClr val="F28C28"/>
            </a:solidFill>
            <a:prstDash val="solid"/>
          </a:ln>
        </p:spPr>
      </p:sp>
      <p:pic>
        <p:nvPicPr>
          <p:cNvPr id="9" name="Image 0" descr="preencoded.png">    </p:cNvPr>
          <p:cNvPicPr>
            <a:picLocks noChangeAspect="1"/>
          </p:cNvPicPr>
          <p:nvPr/>
        </p:nvPicPr>
        <p:blipFill>
          <a:blip r:embed="rId1"/>
          <a:stretch>
            <a:fillRect/>
          </a:stretch>
        </p:blipFill>
        <p:spPr>
          <a:xfrm>
            <a:off x="914400" y="2606040"/>
            <a:ext cx="274320" cy="274320"/>
          </a:xfrm>
          <a:prstGeom prst="rect">
            <a:avLst/>
          </a:prstGeom>
        </p:spPr>
      </p:pic>
      <p:sp>
        <p:nvSpPr>
          <p:cNvPr id="10" name="Text 6"/>
          <p:cNvSpPr txBox="1"/>
          <p:nvPr/>
        </p:nvSpPr>
        <p:spPr>
          <a:xfrm>
            <a:off x="1508760" y="2468880"/>
            <a:ext cx="4251960" cy="548640"/>
          </a:xfrm>
          <a:prstGeom prst="rect">
            <a:avLst/>
          </a:prstGeom>
          <a:noFill/>
          <a:ln/>
        </p:spPr>
        <p:txBody>
          <a:bodyPr wrap="square" lIns="0" tIns="0" rIns="0" bIns="0" rtlCol="0" anchor="ctr"/>
          <a:lstStyle/>
          <a:p>
            <a:pPr indent="0" marL="0">
              <a:buNone/>
            </a:pPr>
            <a:r>
              <a:rPr lang="en-US" sz="1900" b="1" dirty="0">
                <a:solidFill>
                  <a:srgbClr val="22253A"/>
                </a:solidFill>
                <a:latin typeface="Calibri" pitchFamily="34" charset="0"/>
                <a:ea typeface="Calibri" pitchFamily="34" charset="-122"/>
                <a:cs typeface="Calibri" pitchFamily="34" charset="-120"/>
              </a:rPr>
              <a:t>Tag immutabili</a:t>
            </a:r>
            <a:endParaRPr lang="en-US" sz="1900" dirty="0"/>
          </a:p>
        </p:txBody>
      </p:sp>
      <p:sp>
        <p:nvSpPr>
          <p:cNvPr id="11" name="Text 7"/>
          <p:cNvSpPr txBox="1"/>
          <p:nvPr/>
        </p:nvSpPr>
        <p:spPr>
          <a:xfrm>
            <a:off x="777240" y="3154680"/>
            <a:ext cx="4983480" cy="685800"/>
          </a:xfrm>
          <a:prstGeom prst="rect">
            <a:avLst/>
          </a:prstGeom>
          <a:noFill/>
          <a:ln/>
        </p:spPr>
        <p:txBody>
          <a:bodyPr wrap="square" lIns="0" tIns="0" rIns="0" bIns="0" rtlCol="0" anchor="t"/>
          <a:lstStyle/>
          <a:p>
            <a:pPr indent="0" marL="0">
              <a:spcAft>
                <a:spcPts val="600"/>
              </a:spcAft>
              <a:buNone/>
            </a:pPr>
            <a:r>
              <a:rPr lang="en-US" sz="1600" dirty="0">
                <a:solidFill>
                  <a:srgbClr val="22253A"/>
                </a:solidFill>
                <a:latin typeface="Calibri" pitchFamily="34" charset="0"/>
                <a:ea typeface="Calibri" pitchFamily="34" charset="-122"/>
                <a:cs typeface="Calibri" pitchFamily="34" charset="-120"/>
              </a:rPr>
              <a:t>una versione, un nome, per sempre</a:t>
            </a:r>
            <a:endParaRPr lang="en-US" sz="1600" dirty="0"/>
          </a:p>
        </p:txBody>
      </p:sp>
      <p:sp>
        <p:nvSpPr>
          <p:cNvPr id="12" name="Shape 8"/>
          <p:cNvSpPr/>
          <p:nvPr/>
        </p:nvSpPr>
        <p:spPr>
          <a:xfrm>
            <a:off x="6172200" y="2240280"/>
            <a:ext cx="5440680" cy="1783080"/>
          </a:xfrm>
          <a:prstGeom prst="roundRect">
            <a:avLst>
              <a:gd name="adj" fmla="val 6154"/>
            </a:avLst>
          </a:prstGeom>
          <a:solidFill>
            <a:srgbClr val="EEEAFB"/>
          </a:solidFill>
          <a:ln w="12700">
            <a:solidFill>
              <a:srgbClr val="EEEAFB"/>
            </a:solidFill>
            <a:prstDash val="solid"/>
          </a:ln>
        </p:spPr>
      </p:sp>
      <p:sp>
        <p:nvSpPr>
          <p:cNvPr id="13" name="Shape 9"/>
          <p:cNvSpPr/>
          <p:nvPr/>
        </p:nvSpPr>
        <p:spPr>
          <a:xfrm>
            <a:off x="6400800" y="2468880"/>
            <a:ext cx="548640" cy="548640"/>
          </a:xfrm>
          <a:prstGeom prst="ellipse">
            <a:avLst/>
          </a:prstGeom>
          <a:solidFill>
            <a:srgbClr val="5B3FD0"/>
          </a:solidFill>
          <a:ln w="12700">
            <a:solidFill>
              <a:srgbClr val="5B3FD0"/>
            </a:solidFill>
            <a:prstDash val="solid"/>
          </a:ln>
        </p:spPr>
      </p:sp>
      <p:pic>
        <p:nvPicPr>
          <p:cNvPr id="14" name="Image 1" descr="preencoded.png">    </p:cNvPr>
          <p:cNvPicPr>
            <a:picLocks noChangeAspect="1"/>
          </p:cNvPicPr>
          <p:nvPr/>
        </p:nvPicPr>
        <p:blipFill>
          <a:blip r:embed="rId2"/>
          <a:stretch>
            <a:fillRect/>
          </a:stretch>
        </p:blipFill>
        <p:spPr>
          <a:xfrm>
            <a:off x="6537960" y="2606040"/>
            <a:ext cx="274320" cy="274320"/>
          </a:xfrm>
          <a:prstGeom prst="rect">
            <a:avLst/>
          </a:prstGeom>
        </p:spPr>
      </p:pic>
      <p:sp>
        <p:nvSpPr>
          <p:cNvPr id="15" name="Text 10"/>
          <p:cNvSpPr txBox="1"/>
          <p:nvPr/>
        </p:nvSpPr>
        <p:spPr>
          <a:xfrm>
            <a:off x="7132320" y="2468880"/>
            <a:ext cx="4251960" cy="548640"/>
          </a:xfrm>
          <a:prstGeom prst="rect">
            <a:avLst/>
          </a:prstGeom>
          <a:noFill/>
          <a:ln/>
        </p:spPr>
        <p:txBody>
          <a:bodyPr wrap="square" lIns="0" tIns="0" rIns="0" bIns="0" rtlCol="0" anchor="ctr"/>
          <a:lstStyle/>
          <a:p>
            <a:pPr indent="0" marL="0">
              <a:buNone/>
            </a:pPr>
            <a:r>
              <a:rPr lang="en-US" sz="1900" b="1" dirty="0">
                <a:solidFill>
                  <a:srgbClr val="22253A"/>
                </a:solidFill>
                <a:latin typeface="Calibri" pitchFamily="34" charset="0"/>
                <a:ea typeface="Calibri" pitchFamily="34" charset="-122"/>
                <a:cs typeface="Calibri" pitchFamily="34" charset="-120"/>
              </a:rPr>
              <a:t>Scansione al caricamento</a:t>
            </a:r>
            <a:endParaRPr lang="en-US" sz="1900" dirty="0"/>
          </a:p>
        </p:txBody>
      </p:sp>
      <p:sp>
        <p:nvSpPr>
          <p:cNvPr id="16" name="Text 11"/>
          <p:cNvSpPr txBox="1"/>
          <p:nvPr/>
        </p:nvSpPr>
        <p:spPr>
          <a:xfrm>
            <a:off x="6400800" y="3154680"/>
            <a:ext cx="4983480" cy="685800"/>
          </a:xfrm>
          <a:prstGeom prst="rect">
            <a:avLst/>
          </a:prstGeom>
          <a:noFill/>
          <a:ln/>
        </p:spPr>
        <p:txBody>
          <a:bodyPr wrap="square" lIns="0" tIns="0" rIns="0" bIns="0" rtlCol="0" anchor="t"/>
          <a:lstStyle/>
          <a:p>
            <a:pPr indent="0" marL="0">
              <a:spcAft>
                <a:spcPts val="600"/>
              </a:spcAft>
              <a:buNone/>
            </a:pPr>
            <a:r>
              <a:rPr lang="en-US" sz="1600" dirty="0">
                <a:solidFill>
                  <a:srgbClr val="22253A"/>
                </a:solidFill>
                <a:latin typeface="Calibri" pitchFamily="34" charset="0"/>
                <a:ea typeface="Calibri" pitchFamily="34" charset="-122"/>
                <a:cs typeface="Calibri" pitchFamily="34" charset="-120"/>
              </a:rPr>
              <a:t>cerca le vulnerabilità note nei pacchetti</a:t>
            </a:r>
            <a:endParaRPr lang="en-US" sz="1600" dirty="0"/>
          </a:p>
        </p:txBody>
      </p:sp>
      <p:sp>
        <p:nvSpPr>
          <p:cNvPr id="17" name="Shape 12"/>
          <p:cNvSpPr/>
          <p:nvPr/>
        </p:nvSpPr>
        <p:spPr>
          <a:xfrm>
            <a:off x="548640" y="4206240"/>
            <a:ext cx="5440680" cy="1783080"/>
          </a:xfrm>
          <a:prstGeom prst="roundRect">
            <a:avLst>
              <a:gd name="adj" fmla="val 6154"/>
            </a:avLst>
          </a:prstGeom>
          <a:solidFill>
            <a:srgbClr val="EEEAFB"/>
          </a:solidFill>
          <a:ln w="12700">
            <a:solidFill>
              <a:srgbClr val="EEEAFB"/>
            </a:solidFill>
            <a:prstDash val="solid"/>
          </a:ln>
        </p:spPr>
      </p:sp>
      <p:sp>
        <p:nvSpPr>
          <p:cNvPr id="18" name="Shape 13"/>
          <p:cNvSpPr/>
          <p:nvPr/>
        </p:nvSpPr>
        <p:spPr>
          <a:xfrm>
            <a:off x="777240" y="4434840"/>
            <a:ext cx="548640" cy="548640"/>
          </a:xfrm>
          <a:prstGeom prst="ellipse">
            <a:avLst/>
          </a:prstGeom>
          <a:solidFill>
            <a:srgbClr val="5B3FD0"/>
          </a:solidFill>
          <a:ln w="12700">
            <a:solidFill>
              <a:srgbClr val="5B3FD0"/>
            </a:solidFill>
            <a:prstDash val="solid"/>
          </a:ln>
        </p:spPr>
      </p:sp>
      <p:pic>
        <p:nvPicPr>
          <p:cNvPr id="19" name="Image 2" descr="preencoded.png">    </p:cNvPr>
          <p:cNvPicPr>
            <a:picLocks noChangeAspect="1"/>
          </p:cNvPicPr>
          <p:nvPr/>
        </p:nvPicPr>
        <p:blipFill>
          <a:blip r:embed="rId3"/>
          <a:stretch>
            <a:fillRect/>
          </a:stretch>
        </p:blipFill>
        <p:spPr>
          <a:xfrm>
            <a:off x="914400" y="4572000"/>
            <a:ext cx="274320" cy="274320"/>
          </a:xfrm>
          <a:prstGeom prst="rect">
            <a:avLst/>
          </a:prstGeom>
        </p:spPr>
      </p:pic>
      <p:sp>
        <p:nvSpPr>
          <p:cNvPr id="20" name="Text 14"/>
          <p:cNvSpPr txBox="1"/>
          <p:nvPr/>
        </p:nvSpPr>
        <p:spPr>
          <a:xfrm>
            <a:off x="1508760" y="4434840"/>
            <a:ext cx="4251960" cy="548640"/>
          </a:xfrm>
          <a:prstGeom prst="rect">
            <a:avLst/>
          </a:prstGeom>
          <a:noFill/>
          <a:ln/>
        </p:spPr>
        <p:txBody>
          <a:bodyPr wrap="square" lIns="0" tIns="0" rIns="0" bIns="0" rtlCol="0" anchor="ctr"/>
          <a:lstStyle/>
          <a:p>
            <a:pPr indent="0" marL="0">
              <a:buNone/>
            </a:pPr>
            <a:r>
              <a:rPr lang="en-US" sz="1900" b="1" dirty="0">
                <a:solidFill>
                  <a:srgbClr val="22253A"/>
                </a:solidFill>
                <a:latin typeface="Calibri" pitchFamily="34" charset="0"/>
                <a:ea typeface="Calibri" pitchFamily="34" charset="-122"/>
                <a:cs typeface="Calibri" pitchFamily="34" charset="-120"/>
              </a:rPr>
              <a:t>Pulizia automatica</a:t>
            </a:r>
            <a:endParaRPr lang="en-US" sz="1900" dirty="0"/>
          </a:p>
        </p:txBody>
      </p:sp>
      <p:sp>
        <p:nvSpPr>
          <p:cNvPr id="21" name="Text 15"/>
          <p:cNvSpPr txBox="1"/>
          <p:nvPr/>
        </p:nvSpPr>
        <p:spPr>
          <a:xfrm>
            <a:off x="777240" y="5120640"/>
            <a:ext cx="4983480" cy="685800"/>
          </a:xfrm>
          <a:prstGeom prst="rect">
            <a:avLst/>
          </a:prstGeom>
          <a:noFill/>
          <a:ln/>
        </p:spPr>
        <p:txBody>
          <a:bodyPr wrap="square" lIns="0" tIns="0" rIns="0" bIns="0" rtlCol="0" anchor="t"/>
          <a:lstStyle/>
          <a:p>
            <a:pPr indent="0" marL="0">
              <a:spcAft>
                <a:spcPts val="600"/>
              </a:spcAft>
              <a:buNone/>
            </a:pPr>
            <a:r>
              <a:rPr lang="en-US" sz="1600" dirty="0">
                <a:solidFill>
                  <a:srgbClr val="22253A"/>
                </a:solidFill>
                <a:latin typeface="Calibri" pitchFamily="34" charset="0"/>
                <a:ea typeface="Calibri" pitchFamily="34" charset="-122"/>
                <a:cs typeface="Calibri" pitchFamily="34" charset="-120"/>
              </a:rPr>
              <a:t>senza tag: via dopo 1 giorno; si tengono le ultime 20</a:t>
            </a:r>
            <a:endParaRPr lang="en-US" sz="1600" dirty="0"/>
          </a:p>
        </p:txBody>
      </p:sp>
      <p:sp>
        <p:nvSpPr>
          <p:cNvPr id="22" name="Shape 16"/>
          <p:cNvSpPr/>
          <p:nvPr/>
        </p:nvSpPr>
        <p:spPr>
          <a:xfrm>
            <a:off x="6172200" y="4206240"/>
            <a:ext cx="5440680" cy="1783080"/>
          </a:xfrm>
          <a:prstGeom prst="roundRect">
            <a:avLst>
              <a:gd name="adj" fmla="val 6154"/>
            </a:avLst>
          </a:prstGeom>
          <a:solidFill>
            <a:srgbClr val="EEEAFB"/>
          </a:solidFill>
          <a:ln w="12700">
            <a:solidFill>
              <a:srgbClr val="EEEAFB"/>
            </a:solidFill>
            <a:prstDash val="solid"/>
          </a:ln>
        </p:spPr>
      </p:sp>
      <p:sp>
        <p:nvSpPr>
          <p:cNvPr id="23" name="Shape 17"/>
          <p:cNvSpPr/>
          <p:nvPr/>
        </p:nvSpPr>
        <p:spPr>
          <a:xfrm>
            <a:off x="6400800" y="4434840"/>
            <a:ext cx="548640" cy="548640"/>
          </a:xfrm>
          <a:prstGeom prst="ellipse">
            <a:avLst/>
          </a:prstGeom>
          <a:solidFill>
            <a:srgbClr val="5B3FD0"/>
          </a:solidFill>
          <a:ln w="12700">
            <a:solidFill>
              <a:srgbClr val="5B3FD0"/>
            </a:solidFill>
            <a:prstDash val="solid"/>
          </a:ln>
        </p:spPr>
      </p:sp>
      <p:pic>
        <p:nvPicPr>
          <p:cNvPr id="24" name="Image 3" descr="preencoded.png">    </p:cNvPr>
          <p:cNvPicPr>
            <a:picLocks noChangeAspect="1"/>
          </p:cNvPicPr>
          <p:nvPr/>
        </p:nvPicPr>
        <p:blipFill>
          <a:blip r:embed="rId4"/>
          <a:stretch>
            <a:fillRect/>
          </a:stretch>
        </p:blipFill>
        <p:spPr>
          <a:xfrm>
            <a:off x="6537960" y="4572000"/>
            <a:ext cx="274320" cy="274320"/>
          </a:xfrm>
          <a:prstGeom prst="rect">
            <a:avLst/>
          </a:prstGeom>
        </p:spPr>
      </p:pic>
      <p:sp>
        <p:nvSpPr>
          <p:cNvPr id="25" name="Text 18"/>
          <p:cNvSpPr txBox="1"/>
          <p:nvPr/>
        </p:nvSpPr>
        <p:spPr>
          <a:xfrm>
            <a:off x="7132320" y="4434840"/>
            <a:ext cx="4251960" cy="548640"/>
          </a:xfrm>
          <a:prstGeom prst="rect">
            <a:avLst/>
          </a:prstGeom>
          <a:noFill/>
          <a:ln/>
        </p:spPr>
        <p:txBody>
          <a:bodyPr wrap="square" lIns="0" tIns="0" rIns="0" bIns="0" rtlCol="0" anchor="ctr"/>
          <a:lstStyle/>
          <a:p>
            <a:pPr indent="0" marL="0">
              <a:buNone/>
            </a:pPr>
            <a:r>
              <a:rPr lang="en-US" sz="1900" b="1" dirty="0">
                <a:solidFill>
                  <a:srgbClr val="22253A"/>
                </a:solidFill>
                <a:latin typeface="Calibri" pitchFamily="34" charset="0"/>
                <a:ea typeface="Calibri" pitchFamily="34" charset="-122"/>
                <a:cs typeface="Calibri" pitchFamily="34" charset="-120"/>
              </a:rPr>
              <a:t>Cifratura KMS</a:t>
            </a:r>
            <a:endParaRPr lang="en-US" sz="1900" dirty="0"/>
          </a:p>
        </p:txBody>
      </p:sp>
      <p:sp>
        <p:nvSpPr>
          <p:cNvPr id="26" name="Text 19"/>
          <p:cNvSpPr txBox="1"/>
          <p:nvPr/>
        </p:nvSpPr>
        <p:spPr>
          <a:xfrm>
            <a:off x="6400800" y="5120640"/>
            <a:ext cx="4983480" cy="685800"/>
          </a:xfrm>
          <a:prstGeom prst="rect">
            <a:avLst/>
          </a:prstGeom>
          <a:noFill/>
          <a:ln/>
        </p:spPr>
        <p:txBody>
          <a:bodyPr wrap="square" lIns="0" tIns="0" rIns="0" bIns="0" rtlCol="0" anchor="t"/>
          <a:lstStyle/>
          <a:p>
            <a:pPr indent="0" marL="0">
              <a:spcAft>
                <a:spcPts val="600"/>
              </a:spcAft>
              <a:buNone/>
            </a:pPr>
            <a:r>
              <a:rPr lang="en-US" sz="1600" dirty="0">
                <a:solidFill>
                  <a:srgbClr val="22253A"/>
                </a:solidFill>
                <a:latin typeface="Calibri" pitchFamily="34" charset="0"/>
                <a:ea typeface="Calibri" pitchFamily="34" charset="-122"/>
                <a:cs typeface="Calibri" pitchFamily="34" charset="-120"/>
              </a:rPr>
              <a:t>chiave gestita da AWS, aws/ecr</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Perché i tag immutabili</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7 · Immagini e artefatti: ECR e S3</a:t>
            </a:r>
            <a:endParaRPr lang="en-US" sz="1000" dirty="0"/>
          </a:p>
        </p:txBody>
      </p:sp>
      <p:sp>
        <p:nvSpPr>
          <p:cNvPr id="5" name="Shape 2"/>
          <p:cNvSpPr/>
          <p:nvPr/>
        </p:nvSpPr>
        <p:spPr>
          <a:xfrm>
            <a:off x="548640" y="1371600"/>
            <a:ext cx="5440680" cy="3017520"/>
          </a:xfrm>
          <a:prstGeom prst="roundRect">
            <a:avLst>
              <a:gd name="adj" fmla="val 3636"/>
            </a:avLst>
          </a:prstGeom>
          <a:solidFill>
            <a:srgbClr val="FBE9E9"/>
          </a:solidFill>
          <a:ln w="12700">
            <a:solidFill>
              <a:srgbClr val="FBE9E9"/>
            </a:solidFill>
            <a:prstDash val="solid"/>
          </a:ln>
        </p:spPr>
      </p:sp>
      <p:sp>
        <p:nvSpPr>
          <p:cNvPr id="6" name="Shape 3"/>
          <p:cNvSpPr/>
          <p:nvPr/>
        </p:nvSpPr>
        <p:spPr>
          <a:xfrm>
            <a:off x="777240" y="1600200"/>
            <a:ext cx="548640" cy="548640"/>
          </a:xfrm>
          <a:prstGeom prst="ellipse">
            <a:avLst/>
          </a:prstGeom>
          <a:solidFill>
            <a:srgbClr val="D64545"/>
          </a:solidFill>
          <a:ln w="12700">
            <a:solidFill>
              <a:srgbClr val="D64545"/>
            </a:solidFill>
            <a:prstDash val="solid"/>
          </a:ln>
        </p:spPr>
      </p:sp>
      <p:pic>
        <p:nvPicPr>
          <p:cNvPr id="7" name="Image 0" descr="preencoded.png">    </p:cNvPr>
          <p:cNvPicPr>
            <a:picLocks noChangeAspect="1"/>
          </p:cNvPicPr>
          <p:nvPr/>
        </p:nvPicPr>
        <p:blipFill>
          <a:blip r:embed="rId1"/>
          <a:stretch>
            <a:fillRect/>
          </a:stretch>
        </p:blipFill>
        <p:spPr>
          <a:xfrm>
            <a:off x="914400" y="1737360"/>
            <a:ext cx="274320" cy="274320"/>
          </a:xfrm>
          <a:prstGeom prst="rect">
            <a:avLst/>
          </a:prstGeom>
        </p:spPr>
      </p:pic>
      <p:sp>
        <p:nvSpPr>
          <p:cNvPr id="8" name="Text 4"/>
          <p:cNvSpPr txBox="1"/>
          <p:nvPr/>
        </p:nvSpPr>
        <p:spPr>
          <a:xfrm>
            <a:off x="1508760" y="1600200"/>
            <a:ext cx="425196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Tag sovrascrivibili (default)</a:t>
            </a:r>
            <a:endParaRPr lang="en-US" sz="1800" dirty="0"/>
          </a:p>
        </p:txBody>
      </p:sp>
      <p:sp>
        <p:nvSpPr>
          <p:cNvPr id="9" name="Text 5"/>
          <p:cNvSpPr txBox="1"/>
          <p:nvPr/>
        </p:nvSpPr>
        <p:spPr>
          <a:xfrm>
            <a:off x="777240" y="2286000"/>
            <a:ext cx="4983480" cy="192024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Lunedì: v1 = la versione provata</a:t>
            </a:r>
            <a:endParaRPr lang="en-US" sz="1600" dirty="0"/>
          </a:p>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Martedì qualcuno ricarica v1</a:t>
            </a:r>
            <a:endParaRPr lang="en-US" sz="1600" dirty="0"/>
          </a:p>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Notte: un server ricreato scarica una v1 MAI PROVATA</a:t>
            </a:r>
            <a:endParaRPr lang="en-US" sz="1600" dirty="0"/>
          </a:p>
        </p:txBody>
      </p:sp>
      <p:sp>
        <p:nvSpPr>
          <p:cNvPr id="10" name="Shape 6"/>
          <p:cNvSpPr/>
          <p:nvPr/>
        </p:nvSpPr>
        <p:spPr>
          <a:xfrm>
            <a:off x="6172200" y="1371600"/>
            <a:ext cx="5468112" cy="3017520"/>
          </a:xfrm>
          <a:prstGeom prst="roundRect">
            <a:avLst>
              <a:gd name="adj" fmla="val 3636"/>
            </a:avLst>
          </a:prstGeom>
          <a:solidFill>
            <a:srgbClr val="E5F4EC"/>
          </a:solidFill>
          <a:ln w="12700">
            <a:solidFill>
              <a:srgbClr val="E5F4EC"/>
            </a:solidFill>
            <a:prstDash val="solid"/>
          </a:ln>
        </p:spPr>
      </p:sp>
      <p:sp>
        <p:nvSpPr>
          <p:cNvPr id="11" name="Shape 7"/>
          <p:cNvSpPr/>
          <p:nvPr/>
        </p:nvSpPr>
        <p:spPr>
          <a:xfrm>
            <a:off x="6400800" y="1600200"/>
            <a:ext cx="548640" cy="548640"/>
          </a:xfrm>
          <a:prstGeom prst="ellipse">
            <a:avLst/>
          </a:prstGeom>
          <a:solidFill>
            <a:srgbClr val="2E9E6B"/>
          </a:solidFill>
          <a:ln w="12700">
            <a:solidFill>
              <a:srgbClr val="2E9E6B"/>
            </a:solidFill>
            <a:prstDash val="solid"/>
          </a:ln>
        </p:spPr>
      </p:sp>
      <p:pic>
        <p:nvPicPr>
          <p:cNvPr id="12" name="Image 1" descr="preencoded.png">    </p:cNvPr>
          <p:cNvPicPr>
            <a:picLocks noChangeAspect="1"/>
          </p:cNvPicPr>
          <p:nvPr/>
        </p:nvPicPr>
        <p:blipFill>
          <a:blip r:embed="rId2"/>
          <a:stretch>
            <a:fillRect/>
          </a:stretch>
        </p:blipFill>
        <p:spPr>
          <a:xfrm>
            <a:off x="6537960" y="1737360"/>
            <a:ext cx="274320" cy="274320"/>
          </a:xfrm>
          <a:prstGeom prst="rect">
            <a:avLst/>
          </a:prstGeom>
        </p:spPr>
      </p:pic>
      <p:sp>
        <p:nvSpPr>
          <p:cNvPr id="13" name="Text 8"/>
          <p:cNvSpPr txBox="1"/>
          <p:nvPr/>
        </p:nvSpPr>
        <p:spPr>
          <a:xfrm>
            <a:off x="7132320" y="1600200"/>
            <a:ext cx="4279392"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Tag immutabili (IMMUTABLE)</a:t>
            </a:r>
            <a:endParaRPr lang="en-US" sz="1800" dirty="0"/>
          </a:p>
        </p:txBody>
      </p:sp>
      <p:sp>
        <p:nvSpPr>
          <p:cNvPr id="14" name="Text 9"/>
          <p:cNvSpPr txBox="1"/>
          <p:nvPr/>
        </p:nvSpPr>
        <p:spPr>
          <a:xfrm>
            <a:off x="6400800" y="2286000"/>
            <a:ext cx="5010912" cy="192024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v1 si usa UNA volta sola</a:t>
            </a:r>
            <a:endParaRPr lang="en-US" sz="1600" dirty="0"/>
          </a:p>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Ricaricare v1: errore</a:t>
            </a:r>
            <a:endParaRPr lang="en-US" sz="1600" dirty="0"/>
          </a:p>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Una versione nuova = un tag nuovo (lezione 8: il commit)</a:t>
            </a:r>
            <a:endParaRPr lang="en-US" sz="1600" dirty="0"/>
          </a:p>
        </p:txBody>
      </p:sp>
      <p:sp>
        <p:nvSpPr>
          <p:cNvPr id="15" name="Shape 10"/>
          <p:cNvSpPr/>
          <p:nvPr/>
        </p:nvSpPr>
        <p:spPr>
          <a:xfrm>
            <a:off x="548640" y="4663440"/>
            <a:ext cx="11094415" cy="914400"/>
          </a:xfrm>
          <a:prstGeom prst="roundRect">
            <a:avLst>
              <a:gd name="adj" fmla="val 10000"/>
            </a:avLst>
          </a:prstGeom>
          <a:solidFill>
            <a:srgbClr val="FDF0E3"/>
          </a:solidFill>
          <a:ln w="12700">
            <a:solidFill>
              <a:srgbClr val="FDF0E3"/>
            </a:solidFill>
            <a:prstDash val="solid"/>
          </a:ln>
        </p:spPr>
      </p:sp>
      <p:sp>
        <p:nvSpPr>
          <p:cNvPr id="16" name="Text 11"/>
          <p:cNvSpPr txBox="1"/>
          <p:nvPr/>
        </p:nvSpPr>
        <p:spPr>
          <a:xfrm>
            <a:off x="822960" y="4663440"/>
            <a:ext cx="10545775" cy="914400"/>
          </a:xfrm>
          <a:prstGeom prst="rect">
            <a:avLst/>
          </a:prstGeom>
          <a:noFill/>
          <a:ln/>
        </p:spPr>
        <p:txBody>
          <a:bodyPr wrap="square" lIns="0" tIns="0" rIns="0" bIns="0" rtlCol="0" anchor="ctr"/>
          <a:lstStyle/>
          <a:p>
            <a:pPr algn="l" indent="0" marL="0">
              <a:buNone/>
            </a:pPr>
            <a:r>
              <a:rPr lang="en-US" sz="2000" b="1" dirty="0">
                <a:solidFill>
                  <a:srgbClr val="22253A"/>
                </a:solidFill>
                <a:latin typeface="Calibri" pitchFamily="34" charset="0"/>
                <a:ea typeface="Calibri" pitchFamily="34" charset="-122"/>
                <a:cs typeface="Calibri" pitchFamily="34" charset="-120"/>
              </a:rPr>
              <a:t>Come il numero di lotto: due confezioni con lo stesso numero devono essere identiche.</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Cosa va dove</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7 · Immagini e artefatti: ECR e S3</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4937760"/>
                <a:gridCol w="2377440"/>
                <a:gridCol w="3776472"/>
              </a:tblGrid>
              <a:tr h="868680">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Cosa</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Dove</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Perché</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r>
              <a:tr h="868680">
                <a:tc>
                  <a:txBody>
                    <a:bodyPr/>
                    <a:lstStyle/>
                    <a:p>
                      <a:pPr indent="0" marL="0">
                        <a:buNone/>
                      </a:pPr>
                      <a:r>
                        <a:rPr lang="en-US" sz="1700" dirty="0">
                          <a:solidFill>
                            <a:srgbClr val="22253A"/>
                          </a:solidFill>
                          <a:latin typeface="Calibri" pitchFamily="34" charset="0"/>
                          <a:ea typeface="Calibri" pitchFamily="34" charset="-122"/>
                          <a:cs typeface="Calibri" pitchFamily="34" charset="-120"/>
                        </a:rPr>
                        <a:t>il programma, con tutto ciò che gli serve</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700" b="1" dirty="0">
                          <a:solidFill>
                            <a:srgbClr val="22253A"/>
                          </a:solidFill>
                          <a:latin typeface="Calibri" pitchFamily="34" charset="0"/>
                          <a:ea typeface="Calibri" pitchFamily="34" charset="-122"/>
                          <a:cs typeface="Calibri" pitchFamily="34" charset="-120"/>
                        </a:rPr>
                        <a:t>ECR (immagine)</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700" dirty="0">
                          <a:solidFill>
                            <a:srgbClr val="22253A"/>
                          </a:solidFill>
                          <a:latin typeface="Calibri" pitchFamily="34" charset="0"/>
                          <a:ea typeface="Calibri" pitchFamily="34" charset="-122"/>
                          <a:cs typeface="Calibri" pitchFamily="34" charset="-120"/>
                        </a:rPr>
                        <a:t>versioni, scansione, pull veloce</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868680">
                <a:tc>
                  <a:txBody>
                    <a:bodyPr/>
                    <a:lstStyle/>
                    <a:p>
                      <a:pPr indent="0" marL="0">
                        <a:buNone/>
                      </a:pPr>
                      <a:r>
                        <a:rPr lang="en-US" sz="1700" dirty="0">
                          <a:solidFill>
                            <a:srgbClr val="22253A"/>
                          </a:solidFill>
                          <a:latin typeface="Calibri" pitchFamily="34" charset="0"/>
                          <a:ea typeface="Calibri" pitchFamily="34" charset="-122"/>
                          <a:cs typeface="Calibri" pitchFamily="34" charset="-120"/>
                        </a:rPr>
                        <a:t>file di deploy NON segreti (docker-compose.yml, configurazioni)</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700" b="1" dirty="0">
                          <a:solidFill>
                            <a:srgbClr val="22253A"/>
                          </a:solidFill>
                          <a:latin typeface="Calibri" pitchFamily="34" charset="0"/>
                          <a:ea typeface="Calibri" pitchFamily="34" charset="-122"/>
                          <a:cs typeface="Calibri" pitchFamily="34" charset="-120"/>
                        </a:rPr>
                        <a:t>S3</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700" dirty="0">
                          <a:solidFill>
                            <a:srgbClr val="22253A"/>
                          </a:solidFill>
                          <a:latin typeface="Calibri" pitchFamily="34" charset="0"/>
                          <a:ea typeface="Calibri" pitchFamily="34" charset="-122"/>
                          <a:cs typeface="Calibri" pitchFamily="34" charset="-120"/>
                        </a:rPr>
                        <a:t>semplici file, con il versioning</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r h="868680">
                <a:tc>
                  <a:txBody>
                    <a:bodyPr/>
                    <a:lstStyle/>
                    <a:p>
                      <a:pPr indent="0" marL="0">
                        <a:buNone/>
                      </a:pPr>
                      <a:r>
                        <a:rPr lang="en-US" sz="1700" dirty="0">
                          <a:solidFill>
                            <a:srgbClr val="22253A"/>
                          </a:solidFill>
                          <a:latin typeface="Calibri" pitchFamily="34" charset="0"/>
                          <a:ea typeface="Calibri" pitchFamily="34" charset="-122"/>
                          <a:cs typeface="Calibri" pitchFamily="34" charset="-120"/>
                        </a:rPr>
                        <a:t>password, chiavi, token</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700" b="1" dirty="0">
                          <a:solidFill>
                            <a:srgbClr val="22253A"/>
                          </a:solidFill>
                          <a:latin typeface="Calibri" pitchFamily="34" charset="0"/>
                          <a:ea typeface="Calibri" pitchFamily="34" charset="-122"/>
                          <a:cs typeface="Calibri" pitchFamily="34" charset="-120"/>
                        </a:rPr>
                        <a:t>Secrets Manager</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700" dirty="0">
                          <a:solidFill>
                            <a:srgbClr val="22253A"/>
                          </a:solidFill>
                          <a:latin typeface="Calibri" pitchFamily="34" charset="0"/>
                          <a:ea typeface="Calibri" pitchFamily="34" charset="-122"/>
                          <a:cs typeface="Calibri" pitchFamily="34" charset="-120"/>
                        </a:rPr>
                        <a:t>permessi per segreto, rotazione, letture registrate (lezione 6)</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bl>
          </a:graphicData>
        </a:graphic>
      </p:graphicFrame>
      <p:sp>
        <p:nvSpPr>
          <p:cNvPr id="6" name="Shape 2"/>
          <p:cNvSpPr/>
          <p:nvPr/>
        </p:nvSpPr>
        <p:spPr>
          <a:xfrm>
            <a:off x="548640" y="5120640"/>
            <a:ext cx="11094415" cy="822960"/>
          </a:xfrm>
          <a:prstGeom prst="roundRect">
            <a:avLst>
              <a:gd name="adj" fmla="val 11111"/>
            </a:avLst>
          </a:prstGeom>
          <a:solidFill>
            <a:srgbClr val="FBE9E9"/>
          </a:solidFill>
          <a:ln w="12700">
            <a:solidFill>
              <a:srgbClr val="FBE9E9"/>
            </a:solidFill>
            <a:prstDash val="solid"/>
          </a:ln>
        </p:spPr>
      </p:sp>
      <p:sp>
        <p:nvSpPr>
          <p:cNvPr id="7" name="Text 3"/>
          <p:cNvSpPr txBox="1"/>
          <p:nvPr/>
        </p:nvSpPr>
        <p:spPr>
          <a:xfrm>
            <a:off x="822960" y="5120640"/>
            <a:ext cx="10545775" cy="822960"/>
          </a:xfrm>
          <a:prstGeom prst="rect">
            <a:avLst/>
          </a:prstGeom>
          <a:noFill/>
          <a:ln/>
        </p:spPr>
        <p:txBody>
          <a:bodyPr wrap="square" lIns="0" tIns="0" rIns="0" bIns="0" rtlCol="0" anchor="ctr"/>
          <a:lstStyle/>
          <a:p>
            <a:pPr algn="l" indent="0" marL="0">
              <a:buNone/>
            </a:pPr>
            <a:r>
              <a:rPr lang="en-US" sz="2000" b="1" dirty="0">
                <a:solidFill>
                  <a:srgbClr val="22253A"/>
                </a:solidFill>
                <a:latin typeface="Calibri" pitchFamily="34" charset="0"/>
                <a:ea typeface="Calibri" pitchFamily="34" charset="-122"/>
                <a:cs typeface="Calibri" pitchFamily="34" charset="-120"/>
              </a:rPr>
              <a:t>Mai una password dentro un'immagine o in un file su S3.</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S3: il bucket dei file di deploy, chiuso a chiave</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7 · Immagini e artefatti: ECR e S3</a:t>
            </a:r>
            <a:endParaRPr lang="en-US" sz="1000" dirty="0"/>
          </a:p>
        </p:txBody>
      </p:sp>
      <p:sp>
        <p:nvSpPr>
          <p:cNvPr id="5" name="Shape 2"/>
          <p:cNvSpPr/>
          <p:nvPr/>
        </p:nvSpPr>
        <p:spPr>
          <a:xfrm>
            <a:off x="548640" y="1280160"/>
            <a:ext cx="11094415" cy="731520"/>
          </a:xfrm>
          <a:prstGeom prst="roundRect">
            <a:avLst>
              <a:gd name="adj" fmla="val 12500"/>
            </a:avLst>
          </a:prstGeom>
          <a:solidFill>
            <a:srgbClr val="5B3FD0"/>
          </a:solidFill>
          <a:ln w="12700">
            <a:solidFill>
              <a:srgbClr val="5B3FD0"/>
            </a:solidFill>
            <a:prstDash val="solid"/>
          </a:ln>
        </p:spPr>
      </p:sp>
      <p:sp>
        <p:nvSpPr>
          <p:cNvPr id="6" name="Text 3"/>
          <p:cNvSpPr txBox="1"/>
          <p:nvPr/>
        </p:nvSpPr>
        <p:spPr>
          <a:xfrm>
            <a:off x="822960" y="1280160"/>
            <a:ext cx="10545775" cy="731520"/>
          </a:xfrm>
          <a:prstGeom prst="rect">
            <a:avLst/>
          </a:prstGeom>
          <a:noFill/>
          <a:ln/>
        </p:spPr>
        <p:txBody>
          <a:bodyPr wrap="square" lIns="0" tIns="0" rIns="0" bIns="0" rtlCol="0" anchor="ctr"/>
          <a:lstStyle/>
          <a:p>
            <a:pPr algn="l" indent="0" marL="0">
              <a:buNone/>
            </a:pPr>
            <a:r>
              <a:rPr lang="en-US" sz="1900" b="1" dirty="0">
                <a:solidFill>
                  <a:srgbClr val="FFFFFF"/>
                </a:solidFill>
                <a:latin typeface="Calibri" pitchFamily="34" charset="0"/>
                <a:ea typeface="Calibri" pitchFamily="34" charset="-122"/>
                <a:cs typeface="Calibri" pitchFamily="34" charset="-120"/>
              </a:rPr>
              <a:t>Chi potesse SCRIVERE in questo bucket deciderebbe cosa gira sul server.</a:t>
            </a:r>
            <a:endParaRPr lang="en-US" sz="1900" dirty="0"/>
          </a:p>
        </p:txBody>
      </p:sp>
      <p:sp>
        <p:nvSpPr>
          <p:cNvPr id="7" name="Shape 4"/>
          <p:cNvSpPr/>
          <p:nvPr/>
        </p:nvSpPr>
        <p:spPr>
          <a:xfrm>
            <a:off x="548640" y="2240280"/>
            <a:ext cx="5440680" cy="1783080"/>
          </a:xfrm>
          <a:prstGeom prst="roundRect">
            <a:avLst>
              <a:gd name="adj" fmla="val 6154"/>
            </a:avLst>
          </a:prstGeom>
          <a:solidFill>
            <a:srgbClr val="EEEAFB"/>
          </a:solidFill>
          <a:ln w="12700">
            <a:solidFill>
              <a:srgbClr val="EEEAFB"/>
            </a:solidFill>
            <a:prstDash val="solid"/>
          </a:ln>
        </p:spPr>
      </p:sp>
      <p:sp>
        <p:nvSpPr>
          <p:cNvPr id="8" name="Shape 5"/>
          <p:cNvSpPr/>
          <p:nvPr/>
        </p:nvSpPr>
        <p:spPr>
          <a:xfrm>
            <a:off x="777240" y="2468880"/>
            <a:ext cx="548640" cy="548640"/>
          </a:xfrm>
          <a:prstGeom prst="ellipse">
            <a:avLst/>
          </a:prstGeom>
          <a:solidFill>
            <a:srgbClr val="5B3FD0"/>
          </a:solidFill>
          <a:ln w="12700">
            <a:solidFill>
              <a:srgbClr val="5B3FD0"/>
            </a:solidFill>
            <a:prstDash val="solid"/>
          </a:ln>
        </p:spPr>
      </p:sp>
      <p:pic>
        <p:nvPicPr>
          <p:cNvPr id="9" name="Image 0" descr="preencoded.png">    </p:cNvPr>
          <p:cNvPicPr>
            <a:picLocks noChangeAspect="1"/>
          </p:cNvPicPr>
          <p:nvPr/>
        </p:nvPicPr>
        <p:blipFill>
          <a:blip r:embed="rId1"/>
          <a:stretch>
            <a:fillRect/>
          </a:stretch>
        </p:blipFill>
        <p:spPr>
          <a:xfrm>
            <a:off x="914400" y="2606040"/>
            <a:ext cx="274320" cy="274320"/>
          </a:xfrm>
          <a:prstGeom prst="rect">
            <a:avLst/>
          </a:prstGeom>
        </p:spPr>
      </p:pic>
      <p:sp>
        <p:nvSpPr>
          <p:cNvPr id="10" name="Text 6"/>
          <p:cNvSpPr txBox="1"/>
          <p:nvPr/>
        </p:nvSpPr>
        <p:spPr>
          <a:xfrm>
            <a:off x="1508760" y="2468880"/>
            <a:ext cx="425196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Block Public Access</a:t>
            </a:r>
            <a:endParaRPr lang="en-US" sz="1800" dirty="0"/>
          </a:p>
        </p:txBody>
      </p:sp>
      <p:sp>
        <p:nvSpPr>
          <p:cNvPr id="11" name="Text 7"/>
          <p:cNvSpPr txBox="1"/>
          <p:nvPr/>
        </p:nvSpPr>
        <p:spPr>
          <a:xfrm>
            <a:off x="777240" y="3154680"/>
            <a:ext cx="4983480" cy="685800"/>
          </a:xfrm>
          <a:prstGeom prst="rect">
            <a:avLst/>
          </a:prstGeom>
          <a:noFill/>
          <a:ln/>
        </p:spPr>
        <p:txBody>
          <a:bodyPr wrap="square" lIns="0" tIns="0" rIns="0" bIns="0" rtlCol="0" anchor="t"/>
          <a:lstStyle/>
          <a:p>
            <a:pPr indent="0" marL="0">
              <a:spcAft>
                <a:spcPts val="600"/>
              </a:spcAft>
              <a:buNone/>
            </a:pPr>
            <a:r>
              <a:rPr lang="en-US" sz="1500" dirty="0">
                <a:solidFill>
                  <a:srgbClr val="22253A"/>
                </a:solidFill>
                <a:latin typeface="Calibri" pitchFamily="34" charset="0"/>
                <a:ea typeface="Calibri" pitchFamily="34" charset="-122"/>
                <a:cs typeface="Calibri" pitchFamily="34" charset="-120"/>
              </a:rPr>
              <a:t>quattro levette: niente pubblico, nemmeno per errore</a:t>
            </a:r>
            <a:endParaRPr lang="en-US" sz="1500" dirty="0"/>
          </a:p>
        </p:txBody>
      </p:sp>
      <p:sp>
        <p:nvSpPr>
          <p:cNvPr id="12" name="Shape 8"/>
          <p:cNvSpPr/>
          <p:nvPr/>
        </p:nvSpPr>
        <p:spPr>
          <a:xfrm>
            <a:off x="6172200" y="2240280"/>
            <a:ext cx="5440680" cy="1783080"/>
          </a:xfrm>
          <a:prstGeom prst="roundRect">
            <a:avLst>
              <a:gd name="adj" fmla="val 6154"/>
            </a:avLst>
          </a:prstGeom>
          <a:solidFill>
            <a:srgbClr val="EEEAFB"/>
          </a:solidFill>
          <a:ln w="12700">
            <a:solidFill>
              <a:srgbClr val="EEEAFB"/>
            </a:solidFill>
            <a:prstDash val="solid"/>
          </a:ln>
        </p:spPr>
      </p:sp>
      <p:sp>
        <p:nvSpPr>
          <p:cNvPr id="13" name="Shape 9"/>
          <p:cNvSpPr/>
          <p:nvPr/>
        </p:nvSpPr>
        <p:spPr>
          <a:xfrm>
            <a:off x="6400800" y="2468880"/>
            <a:ext cx="548640" cy="548640"/>
          </a:xfrm>
          <a:prstGeom prst="ellipse">
            <a:avLst/>
          </a:prstGeom>
          <a:solidFill>
            <a:srgbClr val="5B3FD0"/>
          </a:solidFill>
          <a:ln w="12700">
            <a:solidFill>
              <a:srgbClr val="5B3FD0"/>
            </a:solidFill>
            <a:prstDash val="solid"/>
          </a:ln>
        </p:spPr>
      </p:sp>
      <p:pic>
        <p:nvPicPr>
          <p:cNvPr id="14" name="Image 1" descr="preencoded.png">    </p:cNvPr>
          <p:cNvPicPr>
            <a:picLocks noChangeAspect="1"/>
          </p:cNvPicPr>
          <p:nvPr/>
        </p:nvPicPr>
        <p:blipFill>
          <a:blip r:embed="rId2"/>
          <a:stretch>
            <a:fillRect/>
          </a:stretch>
        </p:blipFill>
        <p:spPr>
          <a:xfrm>
            <a:off x="6537960" y="2606040"/>
            <a:ext cx="274320" cy="274320"/>
          </a:xfrm>
          <a:prstGeom prst="rect">
            <a:avLst/>
          </a:prstGeom>
        </p:spPr>
      </p:pic>
      <p:sp>
        <p:nvSpPr>
          <p:cNvPr id="15" name="Text 10"/>
          <p:cNvSpPr txBox="1"/>
          <p:nvPr/>
        </p:nvSpPr>
        <p:spPr>
          <a:xfrm>
            <a:off x="7132320" y="2468880"/>
            <a:ext cx="425196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Versioning (lezione 0)</a:t>
            </a:r>
            <a:endParaRPr lang="en-US" sz="1800" dirty="0"/>
          </a:p>
        </p:txBody>
      </p:sp>
      <p:sp>
        <p:nvSpPr>
          <p:cNvPr id="16" name="Text 11"/>
          <p:cNvSpPr txBox="1"/>
          <p:nvPr/>
        </p:nvSpPr>
        <p:spPr>
          <a:xfrm>
            <a:off x="6400800" y="3154680"/>
            <a:ext cx="4983480" cy="685800"/>
          </a:xfrm>
          <a:prstGeom prst="rect">
            <a:avLst/>
          </a:prstGeom>
          <a:noFill/>
          <a:ln/>
        </p:spPr>
        <p:txBody>
          <a:bodyPr wrap="square" lIns="0" tIns="0" rIns="0" bIns="0" rtlCol="0" anchor="t"/>
          <a:lstStyle/>
          <a:p>
            <a:pPr indent="0" marL="0">
              <a:spcAft>
                <a:spcPts val="600"/>
              </a:spcAft>
              <a:buNone/>
            </a:pPr>
            <a:r>
              <a:rPr lang="en-US" sz="1500" dirty="0">
                <a:solidFill>
                  <a:srgbClr val="22253A"/>
                </a:solidFill>
                <a:latin typeface="Calibri" pitchFamily="34" charset="0"/>
                <a:ea typeface="Calibri" pitchFamily="34" charset="-122"/>
                <a:cs typeface="Calibri" pitchFamily="34" charset="-120"/>
              </a:rPr>
              <a:t>un file sbagliato non cancella quello buono; versioni vecchie via dopo 30 giorni</a:t>
            </a:r>
            <a:endParaRPr lang="en-US" sz="1500" dirty="0"/>
          </a:p>
        </p:txBody>
      </p:sp>
      <p:sp>
        <p:nvSpPr>
          <p:cNvPr id="17" name="Shape 12"/>
          <p:cNvSpPr/>
          <p:nvPr/>
        </p:nvSpPr>
        <p:spPr>
          <a:xfrm>
            <a:off x="548640" y="4206240"/>
            <a:ext cx="5440680" cy="1783080"/>
          </a:xfrm>
          <a:prstGeom prst="roundRect">
            <a:avLst>
              <a:gd name="adj" fmla="val 6154"/>
            </a:avLst>
          </a:prstGeom>
          <a:solidFill>
            <a:srgbClr val="EEEAFB"/>
          </a:solidFill>
          <a:ln w="12700">
            <a:solidFill>
              <a:srgbClr val="EEEAFB"/>
            </a:solidFill>
            <a:prstDash val="solid"/>
          </a:ln>
        </p:spPr>
      </p:sp>
      <p:sp>
        <p:nvSpPr>
          <p:cNvPr id="18" name="Shape 13"/>
          <p:cNvSpPr/>
          <p:nvPr/>
        </p:nvSpPr>
        <p:spPr>
          <a:xfrm>
            <a:off x="777240" y="4434840"/>
            <a:ext cx="548640" cy="548640"/>
          </a:xfrm>
          <a:prstGeom prst="ellipse">
            <a:avLst/>
          </a:prstGeom>
          <a:solidFill>
            <a:srgbClr val="5B3FD0"/>
          </a:solidFill>
          <a:ln w="12700">
            <a:solidFill>
              <a:srgbClr val="5B3FD0"/>
            </a:solidFill>
            <a:prstDash val="solid"/>
          </a:ln>
        </p:spPr>
      </p:sp>
      <p:pic>
        <p:nvPicPr>
          <p:cNvPr id="19" name="Image 2" descr="preencoded.png">    </p:cNvPr>
          <p:cNvPicPr>
            <a:picLocks noChangeAspect="1"/>
          </p:cNvPicPr>
          <p:nvPr/>
        </p:nvPicPr>
        <p:blipFill>
          <a:blip r:embed="rId3"/>
          <a:stretch>
            <a:fillRect/>
          </a:stretch>
        </p:blipFill>
        <p:spPr>
          <a:xfrm>
            <a:off x="914400" y="4572000"/>
            <a:ext cx="274320" cy="274320"/>
          </a:xfrm>
          <a:prstGeom prst="rect">
            <a:avLst/>
          </a:prstGeom>
        </p:spPr>
      </p:pic>
      <p:sp>
        <p:nvSpPr>
          <p:cNvPr id="20" name="Text 14"/>
          <p:cNvSpPr txBox="1"/>
          <p:nvPr/>
        </p:nvSpPr>
        <p:spPr>
          <a:xfrm>
            <a:off x="1508760" y="4434840"/>
            <a:ext cx="425196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Cifratura SSE-S3</a:t>
            </a:r>
            <a:endParaRPr lang="en-US" sz="1800" dirty="0"/>
          </a:p>
        </p:txBody>
      </p:sp>
      <p:sp>
        <p:nvSpPr>
          <p:cNvPr id="21" name="Text 15"/>
          <p:cNvSpPr txBox="1"/>
          <p:nvPr/>
        </p:nvSpPr>
        <p:spPr>
          <a:xfrm>
            <a:off x="777240" y="5120640"/>
            <a:ext cx="4983480" cy="685800"/>
          </a:xfrm>
          <a:prstGeom prst="rect">
            <a:avLst/>
          </a:prstGeom>
          <a:noFill/>
          <a:ln/>
        </p:spPr>
        <p:txBody>
          <a:bodyPr wrap="square" lIns="0" tIns="0" rIns="0" bIns="0" rtlCol="0" anchor="t"/>
          <a:lstStyle/>
          <a:p>
            <a:pPr indent="0" marL="0">
              <a:spcAft>
                <a:spcPts val="600"/>
              </a:spcAft>
              <a:buNone/>
            </a:pPr>
            <a:r>
              <a:rPr lang="en-US" sz="1500" dirty="0">
                <a:solidFill>
                  <a:srgbClr val="22253A"/>
                </a:solidFill>
                <a:latin typeface="Calibri" pitchFamily="34" charset="0"/>
                <a:ea typeface="Calibri" pitchFamily="34" charset="-122"/>
                <a:cs typeface="Calibri" pitchFamily="34" charset="-120"/>
              </a:rPr>
              <a:t>ogni file cifrato quando viene scritto; gratuita</a:t>
            </a:r>
            <a:endParaRPr lang="en-US" sz="1500" dirty="0"/>
          </a:p>
        </p:txBody>
      </p:sp>
      <p:sp>
        <p:nvSpPr>
          <p:cNvPr id="22" name="Shape 16"/>
          <p:cNvSpPr/>
          <p:nvPr/>
        </p:nvSpPr>
        <p:spPr>
          <a:xfrm>
            <a:off x="6172200" y="4206240"/>
            <a:ext cx="5440680" cy="1783080"/>
          </a:xfrm>
          <a:prstGeom prst="roundRect">
            <a:avLst>
              <a:gd name="adj" fmla="val 6154"/>
            </a:avLst>
          </a:prstGeom>
          <a:solidFill>
            <a:srgbClr val="EEEAFB"/>
          </a:solidFill>
          <a:ln w="12700">
            <a:solidFill>
              <a:srgbClr val="EEEAFB"/>
            </a:solidFill>
            <a:prstDash val="solid"/>
          </a:ln>
        </p:spPr>
      </p:sp>
      <p:sp>
        <p:nvSpPr>
          <p:cNvPr id="23" name="Shape 17"/>
          <p:cNvSpPr/>
          <p:nvPr/>
        </p:nvSpPr>
        <p:spPr>
          <a:xfrm>
            <a:off x="6400800" y="4434840"/>
            <a:ext cx="548640" cy="548640"/>
          </a:xfrm>
          <a:prstGeom prst="ellipse">
            <a:avLst/>
          </a:prstGeom>
          <a:solidFill>
            <a:srgbClr val="5B3FD0"/>
          </a:solidFill>
          <a:ln w="12700">
            <a:solidFill>
              <a:srgbClr val="5B3FD0"/>
            </a:solidFill>
            <a:prstDash val="solid"/>
          </a:ln>
        </p:spPr>
      </p:sp>
      <p:pic>
        <p:nvPicPr>
          <p:cNvPr id="24" name="Image 3" descr="preencoded.png">    </p:cNvPr>
          <p:cNvPicPr>
            <a:picLocks noChangeAspect="1"/>
          </p:cNvPicPr>
          <p:nvPr/>
        </p:nvPicPr>
        <p:blipFill>
          <a:blip r:embed="rId4"/>
          <a:stretch>
            <a:fillRect/>
          </a:stretch>
        </p:blipFill>
        <p:spPr>
          <a:xfrm>
            <a:off x="6537960" y="4572000"/>
            <a:ext cx="274320" cy="274320"/>
          </a:xfrm>
          <a:prstGeom prst="rect">
            <a:avLst/>
          </a:prstGeom>
        </p:spPr>
      </p:pic>
      <p:sp>
        <p:nvSpPr>
          <p:cNvPr id="25" name="Text 18"/>
          <p:cNvSpPr txBox="1"/>
          <p:nvPr/>
        </p:nvSpPr>
        <p:spPr>
          <a:xfrm>
            <a:off x="7132320" y="4434840"/>
            <a:ext cx="425196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Bucket policy: solo HTTPS</a:t>
            </a:r>
            <a:endParaRPr lang="en-US" sz="1800" dirty="0"/>
          </a:p>
        </p:txBody>
      </p:sp>
      <p:sp>
        <p:nvSpPr>
          <p:cNvPr id="26" name="Text 19"/>
          <p:cNvSpPr txBox="1"/>
          <p:nvPr/>
        </p:nvSpPr>
        <p:spPr>
          <a:xfrm>
            <a:off x="6400800" y="5120640"/>
            <a:ext cx="4983480" cy="685800"/>
          </a:xfrm>
          <a:prstGeom prst="rect">
            <a:avLst/>
          </a:prstGeom>
          <a:noFill/>
          <a:ln/>
        </p:spPr>
        <p:txBody>
          <a:bodyPr wrap="square" lIns="0" tIns="0" rIns="0" bIns="0" rtlCol="0" anchor="t"/>
          <a:lstStyle/>
          <a:p>
            <a:pPr indent="0" marL="0">
              <a:spcAft>
                <a:spcPts val="600"/>
              </a:spcAft>
              <a:buNone/>
            </a:pPr>
            <a:r>
              <a:rPr lang="en-US" sz="1500" dirty="0">
                <a:solidFill>
                  <a:srgbClr val="22253A"/>
                </a:solidFill>
                <a:latin typeface="Calibri" pitchFamily="34" charset="0"/>
                <a:ea typeface="Calibri" pitchFamily="34" charset="-122"/>
                <a:cs typeface="Calibri" pitchFamily="34" charset="-120"/>
              </a:rPr>
              <a:t>rifiuta ogni richiesta non cifrata</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Block Public Access: quattro levette che vincono su tutto</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7 · Immagini e artefatti: ECR e S3</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4206240"/>
                <a:gridCol w="6885432"/>
              </a:tblGrid>
              <a:tr h="640080">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Levetta</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Cosa blocca</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r>
              <a:tr h="640080">
                <a:tc>
                  <a:txBody>
                    <a:bodyPr/>
                    <a:lstStyle/>
                    <a:p>
                      <a:pPr indent="0" marL="0">
                        <a:buNone/>
                      </a:pPr>
                      <a:r>
                        <a:rPr lang="en-US" sz="1700" b="1" dirty="0">
                          <a:solidFill>
                            <a:srgbClr val="22253A"/>
                          </a:solidFill>
                          <a:latin typeface="Courier New" pitchFamily="34" charset="0"/>
                          <a:ea typeface="Courier New" pitchFamily="34" charset="-122"/>
                          <a:cs typeface="Courier New" pitchFamily="34" charset="-120"/>
                        </a:rPr>
                        <a:t>block_public_acls</a:t>
                      </a:r>
                      <a:endParaRPr lang="en-US" sz="17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700" dirty="0">
                          <a:solidFill>
                            <a:srgbClr val="22253A"/>
                          </a:solidFill>
                          <a:latin typeface="Calibri" pitchFamily="34" charset="0"/>
                          <a:ea typeface="Calibri" pitchFamily="34" charset="-122"/>
                          <a:cs typeface="Calibri" pitchFamily="34" charset="-120"/>
                        </a:rPr>
                        <a:t>le NUOVE ACL pubbliche</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640080">
                <a:tc>
                  <a:txBody>
                    <a:bodyPr/>
                    <a:lstStyle/>
                    <a:p>
                      <a:pPr indent="0" marL="0">
                        <a:buNone/>
                      </a:pPr>
                      <a:r>
                        <a:rPr lang="en-US" sz="1700" b="1" dirty="0">
                          <a:solidFill>
                            <a:srgbClr val="22253A"/>
                          </a:solidFill>
                          <a:latin typeface="Courier New" pitchFamily="34" charset="0"/>
                          <a:ea typeface="Courier New" pitchFamily="34" charset="-122"/>
                          <a:cs typeface="Courier New" pitchFamily="34" charset="-120"/>
                        </a:rPr>
                        <a:t>ignore_public_acls</a:t>
                      </a:r>
                      <a:endParaRPr lang="en-US" sz="17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700" dirty="0">
                          <a:solidFill>
                            <a:srgbClr val="22253A"/>
                          </a:solidFill>
                          <a:latin typeface="Calibri" pitchFamily="34" charset="0"/>
                          <a:ea typeface="Calibri" pitchFamily="34" charset="-122"/>
                          <a:cs typeface="Calibri" pitchFamily="34" charset="-120"/>
                        </a:rPr>
                        <a:t>le ACL pubbliche GIÀ esistenti</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r h="640080">
                <a:tc>
                  <a:txBody>
                    <a:bodyPr/>
                    <a:lstStyle/>
                    <a:p>
                      <a:pPr indent="0" marL="0">
                        <a:buNone/>
                      </a:pPr>
                      <a:r>
                        <a:rPr lang="en-US" sz="1700" b="1" dirty="0">
                          <a:solidFill>
                            <a:srgbClr val="22253A"/>
                          </a:solidFill>
                          <a:latin typeface="Courier New" pitchFamily="34" charset="0"/>
                          <a:ea typeface="Courier New" pitchFamily="34" charset="-122"/>
                          <a:cs typeface="Courier New" pitchFamily="34" charset="-120"/>
                        </a:rPr>
                        <a:t>block_public_policy</a:t>
                      </a:r>
                      <a:endParaRPr lang="en-US" sz="17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700" dirty="0">
                          <a:solidFill>
                            <a:srgbClr val="22253A"/>
                          </a:solidFill>
                          <a:latin typeface="Calibri" pitchFamily="34" charset="0"/>
                          <a:ea typeface="Calibri" pitchFamily="34" charset="-122"/>
                          <a:cs typeface="Calibri" pitchFamily="34" charset="-120"/>
                        </a:rPr>
                        <a:t>una bucket policy che renderebbe pubblico il bucket</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640080">
                <a:tc>
                  <a:txBody>
                    <a:bodyPr/>
                    <a:lstStyle/>
                    <a:p>
                      <a:pPr indent="0" marL="0">
                        <a:buNone/>
                      </a:pPr>
                      <a:r>
                        <a:rPr lang="en-US" sz="1700" b="1" dirty="0">
                          <a:solidFill>
                            <a:srgbClr val="22253A"/>
                          </a:solidFill>
                          <a:latin typeface="Courier New" pitchFamily="34" charset="0"/>
                          <a:ea typeface="Courier New" pitchFamily="34" charset="-122"/>
                          <a:cs typeface="Courier New" pitchFamily="34" charset="-120"/>
                        </a:rPr>
                        <a:t>restrict_public_buckets</a:t>
                      </a:r>
                      <a:endParaRPr lang="en-US" sz="17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700" dirty="0">
                          <a:solidFill>
                            <a:srgbClr val="22253A"/>
                          </a:solidFill>
                          <a:latin typeface="Calibri" pitchFamily="34" charset="0"/>
                          <a:ea typeface="Calibri" pitchFamily="34" charset="-122"/>
                          <a:cs typeface="Calibri" pitchFamily="34" charset="-120"/>
                        </a:rPr>
                        <a:t>una policy pubblica già esistente: la usano solo AWS e il tuo account</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bl>
          </a:graphicData>
        </a:graphic>
      </p:graphicFrame>
      <p:sp>
        <p:nvSpPr>
          <p:cNvPr id="6" name="Shape 2"/>
          <p:cNvSpPr/>
          <p:nvPr/>
        </p:nvSpPr>
        <p:spPr>
          <a:xfrm>
            <a:off x="548640" y="4754880"/>
            <a:ext cx="5440680" cy="1371600"/>
          </a:xfrm>
          <a:prstGeom prst="roundRect">
            <a:avLst>
              <a:gd name="adj" fmla="val 8000"/>
            </a:avLst>
          </a:prstGeom>
          <a:solidFill>
            <a:srgbClr val="EEEAFB"/>
          </a:solidFill>
          <a:ln w="12700">
            <a:solidFill>
              <a:srgbClr val="EEEAFB"/>
            </a:solidFill>
            <a:prstDash val="solid"/>
          </a:ln>
        </p:spPr>
      </p:sp>
      <p:sp>
        <p:nvSpPr>
          <p:cNvPr id="7" name="Shape 3"/>
          <p:cNvSpPr/>
          <p:nvPr/>
        </p:nvSpPr>
        <p:spPr>
          <a:xfrm>
            <a:off x="777240" y="4983480"/>
            <a:ext cx="548640" cy="548640"/>
          </a:xfrm>
          <a:prstGeom prst="ellipse">
            <a:avLst/>
          </a:prstGeom>
          <a:solidFill>
            <a:srgbClr val="5B3FD0"/>
          </a:solidFill>
          <a:ln w="12700">
            <a:solidFill>
              <a:srgbClr val="5B3FD0"/>
            </a:solidFill>
            <a:prstDash val="solid"/>
          </a:ln>
        </p:spPr>
      </p:sp>
      <p:pic>
        <p:nvPicPr>
          <p:cNvPr id="8" name="Image 0" descr="preencoded.png">    </p:cNvPr>
          <p:cNvPicPr>
            <a:picLocks noChangeAspect="1"/>
          </p:cNvPicPr>
          <p:nvPr/>
        </p:nvPicPr>
        <p:blipFill>
          <a:blip r:embed="rId1"/>
          <a:stretch>
            <a:fillRect/>
          </a:stretch>
        </p:blipFill>
        <p:spPr>
          <a:xfrm>
            <a:off x="914400" y="5120640"/>
            <a:ext cx="274320" cy="274320"/>
          </a:xfrm>
          <a:prstGeom prst="rect">
            <a:avLst/>
          </a:prstGeom>
        </p:spPr>
      </p:pic>
      <p:sp>
        <p:nvSpPr>
          <p:cNvPr id="9" name="Text 4"/>
          <p:cNvSpPr txBox="1"/>
          <p:nvPr/>
        </p:nvSpPr>
        <p:spPr>
          <a:xfrm>
            <a:off x="1508760" y="4983480"/>
            <a:ext cx="425196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ACL spente: BucketOwnerEnforced</a:t>
            </a:r>
            <a:endParaRPr lang="en-US" sz="1800" dirty="0"/>
          </a:p>
        </p:txBody>
      </p:sp>
      <p:sp>
        <p:nvSpPr>
          <p:cNvPr id="10" name="Text 5"/>
          <p:cNvSpPr txBox="1"/>
          <p:nvPr/>
        </p:nvSpPr>
        <p:spPr>
          <a:xfrm>
            <a:off x="777240" y="5669280"/>
            <a:ext cx="4983480" cy="274320"/>
          </a:xfrm>
          <a:prstGeom prst="rect">
            <a:avLst/>
          </a:prstGeom>
          <a:noFill/>
          <a:ln/>
        </p:spPr>
        <p:txBody>
          <a:bodyPr wrap="square" lIns="0" tIns="0" rIns="0" bIns="0" rtlCol="0" anchor="t"/>
          <a:lstStyle/>
          <a:p>
            <a:pPr indent="0" marL="0">
              <a:spcAft>
                <a:spcPts val="600"/>
              </a:spcAft>
              <a:buNone/>
            </a:pPr>
            <a:r>
              <a:rPr lang="en-US" sz="1500" dirty="0">
                <a:solidFill>
                  <a:srgbClr val="22253A"/>
                </a:solidFill>
                <a:latin typeface="Calibri" pitchFamily="34" charset="0"/>
                <a:ea typeface="Calibri" pitchFamily="34" charset="-122"/>
                <a:cs typeface="Calibri" pitchFamily="34" charset="-120"/>
              </a:rPr>
              <a:t>i permessi si decidono solo con le policy</a:t>
            </a:r>
            <a:endParaRPr lang="en-US" sz="1500" dirty="0"/>
          </a:p>
        </p:txBody>
      </p:sp>
      <p:sp>
        <p:nvSpPr>
          <p:cNvPr id="11" name="Shape 6"/>
          <p:cNvSpPr/>
          <p:nvPr/>
        </p:nvSpPr>
        <p:spPr>
          <a:xfrm>
            <a:off x="6172200" y="4754880"/>
            <a:ext cx="5468112" cy="1371600"/>
          </a:xfrm>
          <a:prstGeom prst="roundRect">
            <a:avLst>
              <a:gd name="adj" fmla="val 8000"/>
            </a:avLst>
          </a:prstGeom>
          <a:solidFill>
            <a:srgbClr val="FDF0E3"/>
          </a:solidFill>
          <a:ln w="12700">
            <a:solidFill>
              <a:srgbClr val="FDF0E3"/>
            </a:solidFill>
            <a:prstDash val="solid"/>
          </a:ln>
        </p:spPr>
      </p:sp>
      <p:sp>
        <p:nvSpPr>
          <p:cNvPr id="12" name="Shape 7"/>
          <p:cNvSpPr/>
          <p:nvPr/>
        </p:nvSpPr>
        <p:spPr>
          <a:xfrm>
            <a:off x="6400800" y="4983480"/>
            <a:ext cx="548640" cy="548640"/>
          </a:xfrm>
          <a:prstGeom prst="ellipse">
            <a:avLst/>
          </a:prstGeom>
          <a:solidFill>
            <a:srgbClr val="F28C28"/>
          </a:solidFill>
          <a:ln w="12700">
            <a:solidFill>
              <a:srgbClr val="F28C28"/>
            </a:solidFill>
            <a:prstDash val="solid"/>
          </a:ln>
        </p:spPr>
      </p:sp>
      <p:pic>
        <p:nvPicPr>
          <p:cNvPr id="13" name="Image 1" descr="preencoded.png">    </p:cNvPr>
          <p:cNvPicPr>
            <a:picLocks noChangeAspect="1"/>
          </p:cNvPicPr>
          <p:nvPr/>
        </p:nvPicPr>
        <p:blipFill>
          <a:blip r:embed="rId2"/>
          <a:stretch>
            <a:fillRect/>
          </a:stretch>
        </p:blipFill>
        <p:spPr>
          <a:xfrm>
            <a:off x="6537960" y="5120640"/>
            <a:ext cx="274320" cy="274320"/>
          </a:xfrm>
          <a:prstGeom prst="rect">
            <a:avLst/>
          </a:prstGeom>
        </p:spPr>
      </p:pic>
      <p:sp>
        <p:nvSpPr>
          <p:cNvPr id="14" name="Text 8"/>
          <p:cNvSpPr txBox="1"/>
          <p:nvPr/>
        </p:nvSpPr>
        <p:spPr>
          <a:xfrm>
            <a:off x="7132320" y="4983480"/>
            <a:ext cx="4279392"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Già così di default…</a:t>
            </a:r>
            <a:endParaRPr lang="en-US" sz="1800" dirty="0"/>
          </a:p>
        </p:txBody>
      </p:sp>
      <p:sp>
        <p:nvSpPr>
          <p:cNvPr id="15" name="Text 9"/>
          <p:cNvSpPr txBox="1"/>
          <p:nvPr/>
        </p:nvSpPr>
        <p:spPr>
          <a:xfrm>
            <a:off x="6400800" y="5669280"/>
            <a:ext cx="5010912" cy="274320"/>
          </a:xfrm>
          <a:prstGeom prst="rect">
            <a:avLst/>
          </a:prstGeom>
          <a:noFill/>
          <a:ln/>
        </p:spPr>
        <p:txBody>
          <a:bodyPr wrap="square" lIns="0" tIns="0" rIns="0" bIns="0" rtlCol="0" anchor="t"/>
          <a:lstStyle/>
          <a:p>
            <a:pPr indent="0" marL="0">
              <a:spcAft>
                <a:spcPts val="600"/>
              </a:spcAft>
              <a:buNone/>
            </a:pPr>
            <a:r>
              <a:rPr lang="en-US" sz="1500" dirty="0">
                <a:solidFill>
                  <a:srgbClr val="22253A"/>
                </a:solidFill>
                <a:latin typeface="Calibri" pitchFamily="34" charset="0"/>
                <a:ea typeface="Calibri" pitchFamily="34" charset="-122"/>
                <a:cs typeface="Calibri" pitchFamily="34" charset="-120"/>
              </a:rPr>
              <a:t>…ma lo scriviamo: un default invisibile può sparire</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La bucket policy: chiunque, qualunque cosa, se non è HTTPS: no</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7 · Immagini e artefatti: ECR e S3</a:t>
            </a:r>
            <a:endParaRPr lang="en-US" sz="1000" dirty="0"/>
          </a:p>
        </p:txBody>
      </p:sp>
      <p:sp>
        <p:nvSpPr>
          <p:cNvPr id="5" name="Shape 2"/>
          <p:cNvSpPr/>
          <p:nvPr/>
        </p:nvSpPr>
        <p:spPr>
          <a:xfrm>
            <a:off x="548640" y="1325880"/>
            <a:ext cx="11094415" cy="3931920"/>
          </a:xfrm>
          <a:prstGeom prst="roundRect">
            <a:avLst>
              <a:gd name="adj" fmla="val 1860"/>
            </a:avLst>
          </a:prstGeom>
          <a:solidFill>
            <a:srgbClr val="1E1E2E"/>
          </a:solidFill>
          <a:ln w="12700">
            <a:solidFill>
              <a:srgbClr val="1E1E2E"/>
            </a:solidFill>
            <a:prstDash val="solid"/>
          </a:ln>
        </p:spPr>
      </p:sp>
      <p:sp>
        <p:nvSpPr>
          <p:cNvPr id="6" name="Text 3"/>
          <p:cNvSpPr txBox="1"/>
          <p:nvPr/>
        </p:nvSpPr>
        <p:spPr>
          <a:xfrm>
            <a:off x="731520" y="1399032"/>
            <a:ext cx="10728655" cy="274320"/>
          </a:xfrm>
          <a:prstGeom prst="rect">
            <a:avLst/>
          </a:prstGeom>
          <a:noFill/>
          <a:ln/>
        </p:spPr>
        <p:txBody>
          <a:bodyPr wrap="square" lIns="0" tIns="0" rIns="0" bIns="0" rtlCol="0" anchor="t"/>
          <a:lstStyle/>
          <a:p>
            <a:pPr indent="0" marL="0">
              <a:buNone/>
            </a:pPr>
            <a:r>
              <a:rPr lang="en-US" sz="1300" b="1" dirty="0">
                <a:solidFill>
                  <a:srgbClr val="F2B880"/>
                </a:solidFill>
                <a:latin typeface="Calibri" pitchFamily="34" charset="0"/>
                <a:ea typeface="Calibri" pitchFamily="34" charset="-122"/>
                <a:cs typeface="Calibri" pitchFamily="34" charset="-120"/>
              </a:rPr>
              <a:t>s3.tf</a:t>
            </a:r>
            <a:endParaRPr lang="en-US" sz="1300" dirty="0"/>
          </a:p>
        </p:txBody>
      </p:sp>
      <p:sp>
        <p:nvSpPr>
          <p:cNvPr id="7" name="Text 4"/>
          <p:cNvSpPr txBox="1"/>
          <p:nvPr/>
        </p:nvSpPr>
        <p:spPr>
          <a:xfrm>
            <a:off x="731520" y="1737360"/>
            <a:ext cx="10728655" cy="3383280"/>
          </a:xfrm>
          <a:prstGeom prst="rect">
            <a:avLst/>
          </a:prstGeom>
          <a:noFill/>
          <a:ln/>
        </p:spPr>
        <p:txBody>
          <a:bodyPr wrap="square" lIns="0" tIns="0" rIns="0" bIns="0" rtlCol="0" anchor="t"/>
          <a:lstStyle/>
          <a:p>
            <a:pPr indent="0" marL="0">
              <a:buNone/>
            </a:pPr>
            <a:r>
              <a:rPr lang="en-US" sz="1600" dirty="0">
                <a:solidFill>
                  <a:srgbClr val="E6E6F0"/>
                </a:solidFill>
                <a:latin typeface="Courier New" pitchFamily="34" charset="0"/>
                <a:ea typeface="Courier New" pitchFamily="34" charset="-122"/>
                <a:cs typeface="Courier New" pitchFamily="34" charset="-120"/>
              </a:rPr>
              <a:t>statement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effect    = "Deny"</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actions   = ["s3:*"]                     </a:t>
            </a:r>
            <a:pPr indent="0" marL="0">
              <a:buNone/>
            </a:pPr>
            <a:r>
              <a:rPr lang="en-US" sz="1600" dirty="0">
                <a:solidFill>
                  <a:srgbClr val="8FD694"/>
                </a:solidFill>
                <a:latin typeface="Courier New" pitchFamily="34" charset="0"/>
                <a:ea typeface="Courier New" pitchFamily="34" charset="-122"/>
                <a:cs typeface="Courier New" pitchFamily="34" charset="-120"/>
              </a:rPr>
              <a:t># qualunque operazione</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resources = [aws_s3_bucket.artifacts.arn, "${aws_s3_bucket.artifacts.arn}/*"]</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principals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type        = "*"                      </a:t>
            </a:r>
            <a:pPr indent="0" marL="0">
              <a:buNone/>
            </a:pPr>
            <a:r>
              <a:rPr lang="en-US" sz="1600" dirty="0">
                <a:solidFill>
                  <a:srgbClr val="8FD694"/>
                </a:solidFill>
                <a:latin typeface="Courier New" pitchFamily="34" charset="0"/>
                <a:ea typeface="Courier New" pitchFamily="34" charset="-122"/>
                <a:cs typeface="Courier New" pitchFamily="34" charset="-120"/>
              </a:rPr>
              <a:t># chiunque</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identifiers =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condition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test     = "Bool"</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variable = "aws:SecureTransport"       </a:t>
            </a:r>
            <a:pPr indent="0" marL="0">
              <a:buNone/>
            </a:pPr>
            <a:r>
              <a:rPr lang="en-US" sz="1600" dirty="0">
                <a:solidFill>
                  <a:srgbClr val="8FD694"/>
                </a:solidFill>
                <a:latin typeface="Courier New" pitchFamily="34" charset="0"/>
                <a:ea typeface="Courier New" pitchFamily="34" charset="-122"/>
                <a:cs typeface="Courier New" pitchFamily="34" charset="-120"/>
              </a:rPr>
              <a:t># la richiesta è cifrata?</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values   = ["false"]                   </a:t>
            </a:r>
            <a:pPr indent="0" marL="0">
              <a:buNone/>
            </a:pPr>
            <a:r>
              <a:rPr lang="en-US" sz="1600" dirty="0">
                <a:solidFill>
                  <a:srgbClr val="8FD694"/>
                </a:solidFill>
                <a:latin typeface="Courier New" pitchFamily="34" charset="0"/>
                <a:ea typeface="Courier New" pitchFamily="34" charset="-122"/>
                <a:cs typeface="Courier New" pitchFamily="34" charset="-120"/>
              </a:rPr>
              <a:t># NO → rifiuta</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a:t>
            </a:r>
            <a:endParaRPr lang="en-US" sz="1600" dirty="0"/>
          </a:p>
        </p:txBody>
      </p:sp>
      <p:sp>
        <p:nvSpPr>
          <p:cNvPr id="8" name="Shape 5"/>
          <p:cNvSpPr/>
          <p:nvPr/>
        </p:nvSpPr>
        <p:spPr>
          <a:xfrm>
            <a:off x="548640" y="5440680"/>
            <a:ext cx="11094415" cy="777240"/>
          </a:xfrm>
          <a:prstGeom prst="roundRect">
            <a:avLst>
              <a:gd name="adj" fmla="val 11765"/>
            </a:avLst>
          </a:prstGeom>
          <a:solidFill>
            <a:srgbClr val="FBE9E9"/>
          </a:solidFill>
          <a:ln w="12700">
            <a:solidFill>
              <a:srgbClr val="FBE9E9"/>
            </a:solidFill>
            <a:prstDash val="solid"/>
          </a:ln>
        </p:spPr>
      </p:sp>
      <p:sp>
        <p:nvSpPr>
          <p:cNvPr id="9" name="Text 6"/>
          <p:cNvSpPr txBox="1"/>
          <p:nvPr/>
        </p:nvSpPr>
        <p:spPr>
          <a:xfrm>
            <a:off x="822960" y="5440680"/>
            <a:ext cx="10545775" cy="777240"/>
          </a:xfrm>
          <a:prstGeom prst="rect">
            <a:avLst/>
          </a:prstGeom>
          <a:noFill/>
          <a:ln/>
        </p:spPr>
        <p:txBody>
          <a:bodyPr wrap="square" lIns="0" tIns="0" rIns="0" bIns="0" rtlCol="0" anchor="ctr"/>
          <a:lstStyle/>
          <a:p>
            <a:pPr algn="l" indent="0" marL="0">
              <a:buNone/>
            </a:pPr>
            <a:r>
              <a:rPr lang="en-US" sz="1800" b="1" dirty="0">
                <a:solidFill>
                  <a:srgbClr val="22253A"/>
                </a:solidFill>
                <a:latin typeface="Calibri" pitchFamily="34" charset="0"/>
                <a:ea typeface="Calibri" pitchFamily="34" charset="-122"/>
                <a:cs typeface="Calibri" pitchFamily="34" charset="-120"/>
              </a:rPr>
              <a:t>Un Deny esplicito vince su QUALUNQUE Allow (lezione 1): vale anche per un amministratore.</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Il percorso di una richiesta al bucket</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7 · Immagini e artefatti: ECR e S3</a:t>
            </a:r>
            <a:endParaRPr lang="en-US" sz="1000" dirty="0"/>
          </a:p>
        </p:txBody>
      </p:sp>
      <p:sp>
        <p:nvSpPr>
          <p:cNvPr id="5" name="Shape 2"/>
          <p:cNvSpPr/>
          <p:nvPr/>
        </p:nvSpPr>
        <p:spPr>
          <a:xfrm>
            <a:off x="548640" y="1371600"/>
            <a:ext cx="5669280" cy="914400"/>
          </a:xfrm>
          <a:prstGeom prst="roundRect">
            <a:avLst>
              <a:gd name="adj" fmla="val 10000"/>
            </a:avLst>
          </a:prstGeom>
          <a:solidFill>
            <a:srgbClr val="EEEAFB"/>
          </a:solidFill>
          <a:ln w="12700">
            <a:solidFill>
              <a:srgbClr val="EEEAFB"/>
            </a:solidFill>
            <a:prstDash val="solid"/>
          </a:ln>
        </p:spPr>
      </p:sp>
      <p:sp>
        <p:nvSpPr>
          <p:cNvPr id="6" name="Text 3"/>
          <p:cNvSpPr txBox="1"/>
          <p:nvPr/>
        </p:nvSpPr>
        <p:spPr>
          <a:xfrm>
            <a:off x="548640" y="1371600"/>
            <a:ext cx="5669280" cy="914400"/>
          </a:xfrm>
          <a:prstGeom prst="rect">
            <a:avLst/>
          </a:prstGeom>
          <a:noFill/>
          <a:ln/>
        </p:spPr>
        <p:txBody>
          <a:bodyPr wrap="square" lIns="76200" tIns="76200" rIns="76200" bIns="76200" rtlCol="0" anchor="ctr"/>
          <a:lstStyle/>
          <a:p>
            <a:pPr algn="ctr" indent="0" marL="0">
              <a:buNone/>
            </a:pPr>
            <a:r>
              <a:rPr lang="en-US" sz="1800" b="1" dirty="0">
                <a:solidFill>
                  <a:srgbClr val="22253A"/>
                </a:solidFill>
                <a:latin typeface="Calibri" pitchFamily="34" charset="0"/>
                <a:ea typeface="Calibri" pitchFamily="34" charset="-122"/>
                <a:cs typeface="Calibri" pitchFamily="34" charset="-120"/>
              </a:rPr>
              <a:t>Senza login AWS, da internet?</a:t>
            </a:r>
            <a:endParaRPr lang="en-US" sz="1800" dirty="0"/>
          </a:p>
        </p:txBody>
      </p:sp>
      <p:sp>
        <p:nvSpPr>
          <p:cNvPr id="7" name="Shape 4"/>
          <p:cNvSpPr/>
          <p:nvPr/>
        </p:nvSpPr>
        <p:spPr>
          <a:xfrm>
            <a:off x="6263640" y="1828800"/>
            <a:ext cx="914400" cy="0"/>
          </a:xfrm>
          <a:prstGeom prst="line">
            <a:avLst/>
          </a:prstGeom>
          <a:noFill/>
          <a:ln w="25400">
            <a:solidFill>
              <a:srgbClr val="D64545"/>
            </a:solidFill>
            <a:prstDash val="solid"/>
            <a:tailEnd type="triangle"/>
          </a:ln>
        </p:spPr>
      </p:sp>
      <p:sp>
        <p:nvSpPr>
          <p:cNvPr id="8" name="Text 5"/>
          <p:cNvSpPr txBox="1"/>
          <p:nvPr/>
        </p:nvSpPr>
        <p:spPr>
          <a:xfrm>
            <a:off x="6263640" y="1389888"/>
            <a:ext cx="914400" cy="411480"/>
          </a:xfrm>
          <a:prstGeom prst="rect">
            <a:avLst/>
          </a:prstGeom>
          <a:noFill/>
          <a:ln/>
        </p:spPr>
        <p:txBody>
          <a:bodyPr wrap="square" lIns="0" tIns="0" rIns="0" bIns="0" rtlCol="0" anchor="ctr"/>
          <a:lstStyle/>
          <a:p>
            <a:pPr algn="ctr" indent="0" marL="0">
              <a:buNone/>
            </a:pPr>
            <a:r>
              <a:rPr lang="en-US" sz="1500" b="1" dirty="0">
                <a:solidFill>
                  <a:srgbClr val="D64545"/>
                </a:solidFill>
                <a:latin typeface="Calibri" pitchFamily="34" charset="0"/>
                <a:ea typeface="Calibri" pitchFamily="34" charset="-122"/>
                <a:cs typeface="Calibri" pitchFamily="34" charset="-120"/>
              </a:rPr>
              <a:t>sì</a:t>
            </a:r>
            <a:endParaRPr lang="en-US" sz="1500" dirty="0"/>
          </a:p>
        </p:txBody>
      </p:sp>
      <p:sp>
        <p:nvSpPr>
          <p:cNvPr id="9" name="Shape 6"/>
          <p:cNvSpPr/>
          <p:nvPr/>
        </p:nvSpPr>
        <p:spPr>
          <a:xfrm>
            <a:off x="7315200" y="1371600"/>
            <a:ext cx="4325112" cy="914400"/>
          </a:xfrm>
          <a:prstGeom prst="roundRect">
            <a:avLst>
              <a:gd name="adj" fmla="val 10000"/>
            </a:avLst>
          </a:prstGeom>
          <a:solidFill>
            <a:srgbClr val="FBE9E9"/>
          </a:solidFill>
          <a:ln w="12700">
            <a:solidFill>
              <a:srgbClr val="FBE9E9"/>
            </a:solidFill>
            <a:prstDash val="solid"/>
          </a:ln>
        </p:spPr>
      </p:sp>
      <p:sp>
        <p:nvSpPr>
          <p:cNvPr id="10" name="Text 7"/>
          <p:cNvSpPr txBox="1"/>
          <p:nvPr/>
        </p:nvSpPr>
        <p:spPr>
          <a:xfrm>
            <a:off x="7315200" y="1371600"/>
            <a:ext cx="4325112" cy="914400"/>
          </a:xfrm>
          <a:prstGeom prst="rect">
            <a:avLst/>
          </a:prstGeom>
          <a:noFill/>
          <a:ln/>
        </p:spPr>
        <p:txBody>
          <a:bodyPr wrap="square" lIns="76200" tIns="76200" rIns="76200" bIns="76200" rtlCol="0" anchor="ctr"/>
          <a:lstStyle/>
          <a:p>
            <a:pPr algn="ctr" indent="0" marL="0">
              <a:buNone/>
            </a:pPr>
            <a:r>
              <a:rPr lang="en-US" sz="1700" b="1" dirty="0">
                <a:solidFill>
                  <a:srgbClr val="D64545"/>
                </a:solidFill>
                <a:latin typeface="Calibri" pitchFamily="34" charset="0"/>
                <a:ea typeface="Calibri" pitchFamily="34" charset="-122"/>
                <a:cs typeface="Calibri" pitchFamily="34" charset="-120"/>
              </a:rPr>
              <a:t>Rifiutata</a:t>
            </a:r>
            <a:endParaRPr lang="en-US" sz="1700" dirty="0"/>
          </a:p>
          <a:p>
            <a:pPr algn="ctr" indent="0" marL="0">
              <a:buNone/>
            </a:pPr>
            <a:r>
              <a:rPr lang="en-US" sz="1400" dirty="0">
                <a:solidFill>
                  <a:srgbClr val="5F6478"/>
                </a:solidFill>
                <a:latin typeface="Calibri" pitchFamily="34" charset="0"/>
                <a:ea typeface="Calibri" pitchFamily="34" charset="-122"/>
                <a:cs typeface="Calibri" pitchFamily="34" charset="-120"/>
              </a:rPr>
              <a:t>Block Public Access</a:t>
            </a:r>
            <a:endParaRPr lang="en-US" sz="1700" dirty="0"/>
          </a:p>
        </p:txBody>
      </p:sp>
      <p:sp>
        <p:nvSpPr>
          <p:cNvPr id="11" name="Shape 8"/>
          <p:cNvSpPr/>
          <p:nvPr/>
        </p:nvSpPr>
        <p:spPr>
          <a:xfrm>
            <a:off x="3383280" y="2304288"/>
            <a:ext cx="0" cy="237744"/>
          </a:xfrm>
          <a:prstGeom prst="line">
            <a:avLst/>
          </a:prstGeom>
          <a:noFill/>
          <a:ln w="25400">
            <a:solidFill>
              <a:srgbClr val="2E9E6B"/>
            </a:solidFill>
            <a:prstDash val="solid"/>
            <a:tailEnd type="triangle"/>
          </a:ln>
        </p:spPr>
      </p:sp>
      <p:sp>
        <p:nvSpPr>
          <p:cNvPr id="12" name="Text 9"/>
          <p:cNvSpPr txBox="1"/>
          <p:nvPr/>
        </p:nvSpPr>
        <p:spPr>
          <a:xfrm>
            <a:off x="3520440" y="2267712"/>
            <a:ext cx="548640" cy="320040"/>
          </a:xfrm>
          <a:prstGeom prst="rect">
            <a:avLst/>
          </a:prstGeom>
          <a:noFill/>
          <a:ln/>
        </p:spPr>
        <p:txBody>
          <a:bodyPr wrap="square" lIns="0" tIns="0" rIns="0" bIns="0" rtlCol="0" anchor="ctr"/>
          <a:lstStyle/>
          <a:p>
            <a:pPr algn="l" indent="0" marL="0">
              <a:buNone/>
            </a:pPr>
            <a:r>
              <a:rPr lang="en-US" sz="1300" b="1" dirty="0">
                <a:solidFill>
                  <a:srgbClr val="2E9E6B"/>
                </a:solidFill>
                <a:latin typeface="Calibri" pitchFamily="34" charset="0"/>
                <a:ea typeface="Calibri" pitchFamily="34" charset="-122"/>
                <a:cs typeface="Calibri" pitchFamily="34" charset="-120"/>
              </a:rPr>
              <a:t>no</a:t>
            </a:r>
            <a:endParaRPr lang="en-US" sz="1300" dirty="0"/>
          </a:p>
        </p:txBody>
      </p:sp>
      <p:sp>
        <p:nvSpPr>
          <p:cNvPr id="13" name="Shape 10"/>
          <p:cNvSpPr/>
          <p:nvPr/>
        </p:nvSpPr>
        <p:spPr>
          <a:xfrm>
            <a:off x="548640" y="2560320"/>
            <a:ext cx="5669280" cy="914400"/>
          </a:xfrm>
          <a:prstGeom prst="roundRect">
            <a:avLst>
              <a:gd name="adj" fmla="val 10000"/>
            </a:avLst>
          </a:prstGeom>
          <a:solidFill>
            <a:srgbClr val="EEEAFB"/>
          </a:solidFill>
          <a:ln w="12700">
            <a:solidFill>
              <a:srgbClr val="EEEAFB"/>
            </a:solidFill>
            <a:prstDash val="solid"/>
          </a:ln>
        </p:spPr>
      </p:sp>
      <p:sp>
        <p:nvSpPr>
          <p:cNvPr id="14" name="Text 11"/>
          <p:cNvSpPr txBox="1"/>
          <p:nvPr/>
        </p:nvSpPr>
        <p:spPr>
          <a:xfrm>
            <a:off x="548640" y="2560320"/>
            <a:ext cx="5669280" cy="914400"/>
          </a:xfrm>
          <a:prstGeom prst="rect">
            <a:avLst/>
          </a:prstGeom>
          <a:noFill/>
          <a:ln/>
        </p:spPr>
        <p:txBody>
          <a:bodyPr wrap="square" lIns="76200" tIns="76200" rIns="76200" bIns="76200" rtlCol="0" anchor="ctr"/>
          <a:lstStyle/>
          <a:p>
            <a:pPr algn="ctr" indent="0" marL="0">
              <a:buNone/>
            </a:pPr>
            <a:r>
              <a:rPr lang="en-US" sz="1800" b="1" dirty="0">
                <a:solidFill>
                  <a:srgbClr val="22253A"/>
                </a:solidFill>
                <a:latin typeface="Calibri" pitchFamily="34" charset="0"/>
                <a:ea typeface="Calibri" pitchFamily="34" charset="-122"/>
                <a:cs typeface="Calibri" pitchFamily="34" charset="-120"/>
              </a:rPr>
              <a:t>Non è HTTPS?</a:t>
            </a:r>
            <a:endParaRPr lang="en-US" sz="1800" dirty="0"/>
          </a:p>
        </p:txBody>
      </p:sp>
      <p:sp>
        <p:nvSpPr>
          <p:cNvPr id="15" name="Shape 12"/>
          <p:cNvSpPr/>
          <p:nvPr/>
        </p:nvSpPr>
        <p:spPr>
          <a:xfrm>
            <a:off x="6263640" y="3017520"/>
            <a:ext cx="914400" cy="0"/>
          </a:xfrm>
          <a:prstGeom prst="line">
            <a:avLst/>
          </a:prstGeom>
          <a:noFill/>
          <a:ln w="25400">
            <a:solidFill>
              <a:srgbClr val="D64545"/>
            </a:solidFill>
            <a:prstDash val="solid"/>
            <a:tailEnd type="triangle"/>
          </a:ln>
        </p:spPr>
      </p:sp>
      <p:sp>
        <p:nvSpPr>
          <p:cNvPr id="16" name="Text 13"/>
          <p:cNvSpPr txBox="1"/>
          <p:nvPr/>
        </p:nvSpPr>
        <p:spPr>
          <a:xfrm>
            <a:off x="6263640" y="2578608"/>
            <a:ext cx="914400" cy="411480"/>
          </a:xfrm>
          <a:prstGeom prst="rect">
            <a:avLst/>
          </a:prstGeom>
          <a:noFill/>
          <a:ln/>
        </p:spPr>
        <p:txBody>
          <a:bodyPr wrap="square" lIns="0" tIns="0" rIns="0" bIns="0" rtlCol="0" anchor="ctr"/>
          <a:lstStyle/>
          <a:p>
            <a:pPr algn="ctr" indent="0" marL="0">
              <a:buNone/>
            </a:pPr>
            <a:r>
              <a:rPr lang="en-US" sz="1500" b="1" dirty="0">
                <a:solidFill>
                  <a:srgbClr val="D64545"/>
                </a:solidFill>
                <a:latin typeface="Calibri" pitchFamily="34" charset="0"/>
                <a:ea typeface="Calibri" pitchFamily="34" charset="-122"/>
                <a:cs typeface="Calibri" pitchFamily="34" charset="-120"/>
              </a:rPr>
              <a:t>sì</a:t>
            </a:r>
            <a:endParaRPr lang="en-US" sz="1500" dirty="0"/>
          </a:p>
        </p:txBody>
      </p:sp>
      <p:sp>
        <p:nvSpPr>
          <p:cNvPr id="17" name="Shape 14"/>
          <p:cNvSpPr/>
          <p:nvPr/>
        </p:nvSpPr>
        <p:spPr>
          <a:xfrm>
            <a:off x="7315200" y="2560320"/>
            <a:ext cx="4325112" cy="914400"/>
          </a:xfrm>
          <a:prstGeom prst="roundRect">
            <a:avLst>
              <a:gd name="adj" fmla="val 10000"/>
            </a:avLst>
          </a:prstGeom>
          <a:solidFill>
            <a:srgbClr val="FBE9E9"/>
          </a:solidFill>
          <a:ln w="12700">
            <a:solidFill>
              <a:srgbClr val="FBE9E9"/>
            </a:solidFill>
            <a:prstDash val="solid"/>
          </a:ln>
        </p:spPr>
      </p:sp>
      <p:sp>
        <p:nvSpPr>
          <p:cNvPr id="18" name="Text 15"/>
          <p:cNvSpPr txBox="1"/>
          <p:nvPr/>
        </p:nvSpPr>
        <p:spPr>
          <a:xfrm>
            <a:off x="7315200" y="2560320"/>
            <a:ext cx="4325112" cy="914400"/>
          </a:xfrm>
          <a:prstGeom prst="rect">
            <a:avLst/>
          </a:prstGeom>
          <a:noFill/>
          <a:ln/>
        </p:spPr>
        <p:txBody>
          <a:bodyPr wrap="square" lIns="76200" tIns="76200" rIns="76200" bIns="76200" rtlCol="0" anchor="ctr"/>
          <a:lstStyle/>
          <a:p>
            <a:pPr algn="ctr" indent="0" marL="0">
              <a:buNone/>
            </a:pPr>
            <a:r>
              <a:rPr lang="en-US" sz="1700" b="1" dirty="0">
                <a:solidFill>
                  <a:srgbClr val="D64545"/>
                </a:solidFill>
                <a:latin typeface="Calibri" pitchFamily="34" charset="0"/>
                <a:ea typeface="Calibri" pitchFamily="34" charset="-122"/>
                <a:cs typeface="Calibri" pitchFamily="34" charset="-120"/>
              </a:rPr>
              <a:t>Rifiutata</a:t>
            </a:r>
            <a:endParaRPr lang="en-US" sz="1700" dirty="0"/>
          </a:p>
          <a:p>
            <a:pPr algn="ctr" indent="0" marL="0">
              <a:buNone/>
            </a:pPr>
            <a:r>
              <a:rPr lang="en-US" sz="1400" dirty="0">
                <a:solidFill>
                  <a:srgbClr val="5F6478"/>
                </a:solidFill>
                <a:latin typeface="Calibri" pitchFamily="34" charset="0"/>
                <a:ea typeface="Calibri" pitchFamily="34" charset="-122"/>
                <a:cs typeface="Calibri" pitchFamily="34" charset="-120"/>
              </a:rPr>
              <a:t>Deny della bucket policy</a:t>
            </a:r>
            <a:endParaRPr lang="en-US" sz="1700" dirty="0"/>
          </a:p>
        </p:txBody>
      </p:sp>
      <p:sp>
        <p:nvSpPr>
          <p:cNvPr id="19" name="Shape 16"/>
          <p:cNvSpPr/>
          <p:nvPr/>
        </p:nvSpPr>
        <p:spPr>
          <a:xfrm>
            <a:off x="3383280" y="3493008"/>
            <a:ext cx="0" cy="237744"/>
          </a:xfrm>
          <a:prstGeom prst="line">
            <a:avLst/>
          </a:prstGeom>
          <a:noFill/>
          <a:ln w="25400">
            <a:solidFill>
              <a:srgbClr val="2E9E6B"/>
            </a:solidFill>
            <a:prstDash val="solid"/>
            <a:tailEnd type="triangle"/>
          </a:ln>
        </p:spPr>
      </p:sp>
      <p:sp>
        <p:nvSpPr>
          <p:cNvPr id="20" name="Text 17"/>
          <p:cNvSpPr txBox="1"/>
          <p:nvPr/>
        </p:nvSpPr>
        <p:spPr>
          <a:xfrm>
            <a:off x="3520440" y="3456432"/>
            <a:ext cx="548640" cy="320040"/>
          </a:xfrm>
          <a:prstGeom prst="rect">
            <a:avLst/>
          </a:prstGeom>
          <a:noFill/>
          <a:ln/>
        </p:spPr>
        <p:txBody>
          <a:bodyPr wrap="square" lIns="0" tIns="0" rIns="0" bIns="0" rtlCol="0" anchor="ctr"/>
          <a:lstStyle/>
          <a:p>
            <a:pPr algn="l" indent="0" marL="0">
              <a:buNone/>
            </a:pPr>
            <a:r>
              <a:rPr lang="en-US" sz="1300" b="1" dirty="0">
                <a:solidFill>
                  <a:srgbClr val="2E9E6B"/>
                </a:solidFill>
                <a:latin typeface="Calibri" pitchFamily="34" charset="0"/>
                <a:ea typeface="Calibri" pitchFamily="34" charset="-122"/>
                <a:cs typeface="Calibri" pitchFamily="34" charset="-120"/>
              </a:rPr>
              <a:t>no</a:t>
            </a:r>
            <a:endParaRPr lang="en-US" sz="1300" dirty="0"/>
          </a:p>
        </p:txBody>
      </p:sp>
      <p:sp>
        <p:nvSpPr>
          <p:cNvPr id="21" name="Shape 18"/>
          <p:cNvSpPr/>
          <p:nvPr/>
        </p:nvSpPr>
        <p:spPr>
          <a:xfrm>
            <a:off x="548640" y="3749040"/>
            <a:ext cx="5669280" cy="914400"/>
          </a:xfrm>
          <a:prstGeom prst="roundRect">
            <a:avLst>
              <a:gd name="adj" fmla="val 10000"/>
            </a:avLst>
          </a:prstGeom>
          <a:solidFill>
            <a:srgbClr val="EEEAFB"/>
          </a:solidFill>
          <a:ln w="12700">
            <a:solidFill>
              <a:srgbClr val="EEEAFB"/>
            </a:solidFill>
            <a:prstDash val="solid"/>
          </a:ln>
        </p:spPr>
      </p:sp>
      <p:sp>
        <p:nvSpPr>
          <p:cNvPr id="22" name="Text 19"/>
          <p:cNvSpPr txBox="1"/>
          <p:nvPr/>
        </p:nvSpPr>
        <p:spPr>
          <a:xfrm>
            <a:off x="548640" y="3749040"/>
            <a:ext cx="5669280" cy="914400"/>
          </a:xfrm>
          <a:prstGeom prst="rect">
            <a:avLst/>
          </a:prstGeom>
          <a:noFill/>
          <a:ln/>
        </p:spPr>
        <p:txBody>
          <a:bodyPr wrap="square" lIns="76200" tIns="76200" rIns="76200" bIns="76200" rtlCol="0" anchor="ctr"/>
          <a:lstStyle/>
          <a:p>
            <a:pPr algn="ctr" indent="0" marL="0">
              <a:buNone/>
            </a:pPr>
            <a:r>
              <a:rPr lang="en-US" sz="1800" b="1" dirty="0">
                <a:solidFill>
                  <a:srgbClr val="22253A"/>
                </a:solidFill>
                <a:latin typeface="Calibri" pitchFamily="34" charset="0"/>
                <a:ea typeface="Calibri" pitchFamily="34" charset="-122"/>
                <a:cs typeface="Calibri" pitchFamily="34" charset="-120"/>
              </a:rPr>
              <a:t>Nessun permesso IAM per l'operazione?</a:t>
            </a:r>
            <a:endParaRPr lang="en-US" sz="1800" dirty="0"/>
          </a:p>
        </p:txBody>
      </p:sp>
      <p:sp>
        <p:nvSpPr>
          <p:cNvPr id="23" name="Shape 20"/>
          <p:cNvSpPr/>
          <p:nvPr/>
        </p:nvSpPr>
        <p:spPr>
          <a:xfrm>
            <a:off x="6263640" y="4206240"/>
            <a:ext cx="914400" cy="0"/>
          </a:xfrm>
          <a:prstGeom prst="line">
            <a:avLst/>
          </a:prstGeom>
          <a:noFill/>
          <a:ln w="25400">
            <a:solidFill>
              <a:srgbClr val="D64545"/>
            </a:solidFill>
            <a:prstDash val="solid"/>
            <a:tailEnd type="triangle"/>
          </a:ln>
        </p:spPr>
      </p:sp>
      <p:sp>
        <p:nvSpPr>
          <p:cNvPr id="24" name="Text 21"/>
          <p:cNvSpPr txBox="1"/>
          <p:nvPr/>
        </p:nvSpPr>
        <p:spPr>
          <a:xfrm>
            <a:off x="6263640" y="3767328"/>
            <a:ext cx="914400" cy="411480"/>
          </a:xfrm>
          <a:prstGeom prst="rect">
            <a:avLst/>
          </a:prstGeom>
          <a:noFill/>
          <a:ln/>
        </p:spPr>
        <p:txBody>
          <a:bodyPr wrap="square" lIns="0" tIns="0" rIns="0" bIns="0" rtlCol="0" anchor="ctr"/>
          <a:lstStyle/>
          <a:p>
            <a:pPr algn="ctr" indent="0" marL="0">
              <a:buNone/>
            </a:pPr>
            <a:r>
              <a:rPr lang="en-US" sz="1500" b="1" dirty="0">
                <a:solidFill>
                  <a:srgbClr val="D64545"/>
                </a:solidFill>
                <a:latin typeface="Calibri" pitchFamily="34" charset="0"/>
                <a:ea typeface="Calibri" pitchFamily="34" charset="-122"/>
                <a:cs typeface="Calibri" pitchFamily="34" charset="-120"/>
              </a:rPr>
              <a:t>sì</a:t>
            </a:r>
            <a:endParaRPr lang="en-US" sz="1500" dirty="0"/>
          </a:p>
        </p:txBody>
      </p:sp>
      <p:sp>
        <p:nvSpPr>
          <p:cNvPr id="25" name="Shape 22"/>
          <p:cNvSpPr/>
          <p:nvPr/>
        </p:nvSpPr>
        <p:spPr>
          <a:xfrm>
            <a:off x="7315200" y="3749040"/>
            <a:ext cx="4325112" cy="914400"/>
          </a:xfrm>
          <a:prstGeom prst="roundRect">
            <a:avLst>
              <a:gd name="adj" fmla="val 10000"/>
            </a:avLst>
          </a:prstGeom>
          <a:solidFill>
            <a:srgbClr val="FBE9E9"/>
          </a:solidFill>
          <a:ln w="12700">
            <a:solidFill>
              <a:srgbClr val="FBE9E9"/>
            </a:solidFill>
            <a:prstDash val="solid"/>
          </a:ln>
        </p:spPr>
      </p:sp>
      <p:sp>
        <p:nvSpPr>
          <p:cNvPr id="26" name="Text 23"/>
          <p:cNvSpPr txBox="1"/>
          <p:nvPr/>
        </p:nvSpPr>
        <p:spPr>
          <a:xfrm>
            <a:off x="7315200" y="3749040"/>
            <a:ext cx="4325112" cy="914400"/>
          </a:xfrm>
          <a:prstGeom prst="rect">
            <a:avLst/>
          </a:prstGeom>
          <a:noFill/>
          <a:ln/>
        </p:spPr>
        <p:txBody>
          <a:bodyPr wrap="square" lIns="76200" tIns="76200" rIns="76200" bIns="76200" rtlCol="0" anchor="ctr"/>
          <a:lstStyle/>
          <a:p>
            <a:pPr algn="ctr" indent="0" marL="0">
              <a:buNone/>
            </a:pPr>
            <a:r>
              <a:rPr lang="en-US" sz="1700" b="1" dirty="0">
                <a:solidFill>
                  <a:srgbClr val="D64545"/>
                </a:solidFill>
                <a:latin typeface="Calibri" pitchFamily="34" charset="0"/>
                <a:ea typeface="Calibri" pitchFamily="34" charset="-122"/>
                <a:cs typeface="Calibri" pitchFamily="34" charset="-120"/>
              </a:rPr>
              <a:t>Rifiutata</a:t>
            </a:r>
            <a:endParaRPr lang="en-US" sz="1700" dirty="0"/>
          </a:p>
          <a:p>
            <a:pPr algn="ctr" indent="0" marL="0">
              <a:buNone/>
            </a:pPr>
            <a:r>
              <a:rPr lang="en-US" sz="1400" dirty="0">
                <a:solidFill>
                  <a:srgbClr val="5F6478"/>
                </a:solidFill>
                <a:latin typeface="Calibri" pitchFamily="34" charset="0"/>
                <a:ea typeface="Calibri" pitchFamily="34" charset="-122"/>
                <a:cs typeface="Calibri" pitchFamily="34" charset="-120"/>
              </a:rPr>
              <a:t>nessun Allow</a:t>
            </a:r>
            <a:endParaRPr lang="en-US" sz="1700" dirty="0"/>
          </a:p>
        </p:txBody>
      </p:sp>
      <p:sp>
        <p:nvSpPr>
          <p:cNvPr id="27" name="Shape 24"/>
          <p:cNvSpPr/>
          <p:nvPr/>
        </p:nvSpPr>
        <p:spPr>
          <a:xfrm>
            <a:off x="3383280" y="4681728"/>
            <a:ext cx="0" cy="274320"/>
          </a:xfrm>
          <a:prstGeom prst="line">
            <a:avLst/>
          </a:prstGeom>
          <a:noFill/>
          <a:ln w="25400">
            <a:solidFill>
              <a:srgbClr val="2E9E6B"/>
            </a:solidFill>
            <a:prstDash val="solid"/>
            <a:tailEnd type="triangle"/>
          </a:ln>
        </p:spPr>
      </p:sp>
      <p:sp>
        <p:nvSpPr>
          <p:cNvPr id="28" name="Shape 25"/>
          <p:cNvSpPr/>
          <p:nvPr/>
        </p:nvSpPr>
        <p:spPr>
          <a:xfrm>
            <a:off x="548640" y="4983480"/>
            <a:ext cx="5669280" cy="868680"/>
          </a:xfrm>
          <a:prstGeom prst="roundRect">
            <a:avLst>
              <a:gd name="adj" fmla="val 10526"/>
            </a:avLst>
          </a:prstGeom>
          <a:solidFill>
            <a:srgbClr val="E5F4EC"/>
          </a:solidFill>
          <a:ln w="25400">
            <a:solidFill>
              <a:srgbClr val="2E9E6B"/>
            </a:solidFill>
            <a:prstDash val="solid"/>
          </a:ln>
        </p:spPr>
      </p:sp>
      <p:sp>
        <p:nvSpPr>
          <p:cNvPr id="29" name="Text 26"/>
          <p:cNvSpPr txBox="1"/>
          <p:nvPr/>
        </p:nvSpPr>
        <p:spPr>
          <a:xfrm>
            <a:off x="548640" y="4983480"/>
            <a:ext cx="5669280" cy="868680"/>
          </a:xfrm>
          <a:prstGeom prst="rect">
            <a:avLst/>
          </a:prstGeom>
          <a:noFill/>
          <a:ln/>
        </p:spPr>
        <p:txBody>
          <a:bodyPr wrap="square" lIns="76200" tIns="76200" rIns="76200" bIns="76200" rtlCol="0" anchor="ctr"/>
          <a:lstStyle/>
          <a:p>
            <a:pPr algn="ctr" indent="0" marL="0">
              <a:buNone/>
            </a:pPr>
            <a:r>
              <a:rPr lang="en-US" sz="2000" b="1" dirty="0">
                <a:solidFill>
                  <a:srgbClr val="2E9E6B"/>
                </a:solidFill>
                <a:latin typeface="Calibri" pitchFamily="34" charset="0"/>
                <a:ea typeface="Calibri" pitchFamily="34" charset="-122"/>
                <a:cs typeface="Calibri" pitchFamily="34" charset="-120"/>
              </a:rPr>
              <a:t>Consentita</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Il Gateway Endpoint: una scorciatoia privata verso S3</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7 · Immagini e artefatti: ECR e S3</a:t>
            </a:r>
            <a:endParaRPr lang="en-US" sz="1000" dirty="0"/>
          </a:p>
        </p:txBody>
      </p:sp>
      <p:sp>
        <p:nvSpPr>
          <p:cNvPr id="5" name="Shape 2"/>
          <p:cNvSpPr/>
          <p:nvPr/>
        </p:nvSpPr>
        <p:spPr>
          <a:xfrm>
            <a:off x="548640" y="1280160"/>
            <a:ext cx="11094415" cy="731520"/>
          </a:xfrm>
          <a:prstGeom prst="roundRect">
            <a:avLst>
              <a:gd name="adj" fmla="val 12500"/>
            </a:avLst>
          </a:prstGeom>
          <a:solidFill>
            <a:srgbClr val="5B3FD0"/>
          </a:solidFill>
          <a:ln w="12700">
            <a:solidFill>
              <a:srgbClr val="5B3FD0"/>
            </a:solidFill>
            <a:prstDash val="solid"/>
          </a:ln>
        </p:spPr>
      </p:sp>
      <p:sp>
        <p:nvSpPr>
          <p:cNvPr id="6" name="Text 3"/>
          <p:cNvSpPr txBox="1"/>
          <p:nvPr/>
        </p:nvSpPr>
        <p:spPr>
          <a:xfrm>
            <a:off x="822960" y="1280160"/>
            <a:ext cx="10545775" cy="731520"/>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Una rotta in più nelle route table private: il traffico per S3 va DIRETTO a S3. Gratuito.</a:t>
            </a:r>
            <a:endParaRPr lang="en-US" sz="1800" dirty="0"/>
          </a:p>
        </p:txBody>
      </p:sp>
      <p:sp>
        <p:nvSpPr>
          <p:cNvPr id="7" name="Shape 4"/>
          <p:cNvSpPr/>
          <p:nvPr/>
        </p:nvSpPr>
        <p:spPr>
          <a:xfrm>
            <a:off x="548640" y="3108960"/>
            <a:ext cx="2468880" cy="1188720"/>
          </a:xfrm>
          <a:prstGeom prst="roundRect">
            <a:avLst>
              <a:gd name="adj" fmla="val 7692"/>
            </a:avLst>
          </a:prstGeom>
          <a:solidFill>
            <a:srgbClr val="EEEAFB"/>
          </a:solidFill>
          <a:ln w="12700">
            <a:solidFill>
              <a:srgbClr val="EEEAFB"/>
            </a:solidFill>
            <a:prstDash val="solid"/>
          </a:ln>
        </p:spPr>
      </p:sp>
      <p:sp>
        <p:nvSpPr>
          <p:cNvPr id="8" name="Text 5"/>
          <p:cNvSpPr txBox="1"/>
          <p:nvPr/>
        </p:nvSpPr>
        <p:spPr>
          <a:xfrm>
            <a:off x="548640" y="3108960"/>
            <a:ext cx="2468880" cy="1188720"/>
          </a:xfrm>
          <a:prstGeom prst="rect">
            <a:avLst/>
          </a:prstGeom>
          <a:noFill/>
          <a:ln/>
        </p:spPr>
        <p:txBody>
          <a:bodyPr wrap="square" lIns="76200" tIns="76200" rIns="76200" bIns="76200" rtlCol="0" anchor="ctr"/>
          <a:lstStyle/>
          <a:p>
            <a:pPr algn="ctr" indent="0" marL="0">
              <a:buNone/>
            </a:pPr>
            <a:r>
              <a:rPr lang="en-US" sz="1800" b="1" dirty="0">
                <a:solidFill>
                  <a:srgbClr val="22253A"/>
                </a:solidFill>
                <a:latin typeface="Calibri" pitchFamily="34" charset="0"/>
                <a:ea typeface="Calibri" pitchFamily="34" charset="-122"/>
                <a:cs typeface="Calibri" pitchFamily="34" charset="-120"/>
              </a:rPr>
              <a:t>Server</a:t>
            </a:r>
            <a:endParaRPr lang="en-US" sz="1800" dirty="0"/>
          </a:p>
          <a:p>
            <a:pPr algn="ctr" indent="0" marL="0">
              <a:buNone/>
            </a:pPr>
            <a:r>
              <a:rPr lang="en-US" sz="1400" dirty="0">
                <a:solidFill>
                  <a:srgbClr val="5F6478"/>
                </a:solidFill>
                <a:latin typeface="Calibri" pitchFamily="34" charset="0"/>
                <a:ea typeface="Calibri" pitchFamily="34" charset="-122"/>
                <a:cs typeface="Calibri" pitchFamily="34" charset="-120"/>
              </a:rPr>
              <a:t>subnet privata</a:t>
            </a:r>
            <a:endParaRPr lang="en-US" sz="1800" dirty="0"/>
          </a:p>
        </p:txBody>
      </p:sp>
      <p:sp>
        <p:nvSpPr>
          <p:cNvPr id="9" name="Shape 6"/>
          <p:cNvSpPr/>
          <p:nvPr/>
        </p:nvSpPr>
        <p:spPr>
          <a:xfrm>
            <a:off x="3931920" y="2423160"/>
            <a:ext cx="2194560" cy="731520"/>
          </a:xfrm>
          <a:prstGeom prst="roundRect">
            <a:avLst>
              <a:gd name="adj" fmla="val 12500"/>
            </a:avLst>
          </a:prstGeom>
          <a:solidFill>
            <a:srgbClr val="FBE9E9"/>
          </a:solidFill>
          <a:ln w="12700">
            <a:solidFill>
              <a:srgbClr val="FBE9E9"/>
            </a:solidFill>
            <a:prstDash val="solid"/>
          </a:ln>
        </p:spPr>
      </p:sp>
      <p:sp>
        <p:nvSpPr>
          <p:cNvPr id="10" name="Text 7"/>
          <p:cNvSpPr txBox="1"/>
          <p:nvPr/>
        </p:nvSpPr>
        <p:spPr>
          <a:xfrm>
            <a:off x="3931920" y="2423160"/>
            <a:ext cx="2194560" cy="731520"/>
          </a:xfrm>
          <a:prstGeom prst="rect">
            <a:avLst/>
          </a:prstGeom>
          <a:noFill/>
          <a:ln/>
        </p:spPr>
        <p:txBody>
          <a:bodyPr wrap="square" lIns="76200" tIns="76200" rIns="76200" bIns="76200" rtlCol="0" anchor="ctr"/>
          <a:lstStyle/>
          <a:p>
            <a:pPr algn="ctr" indent="0" marL="0">
              <a:buNone/>
            </a:pPr>
            <a:r>
              <a:rPr lang="en-US" sz="1600" dirty="0">
                <a:solidFill>
                  <a:srgbClr val="22253A"/>
                </a:solidFill>
                <a:latin typeface="Calibri" pitchFamily="34" charset="0"/>
                <a:ea typeface="Calibri" pitchFamily="34" charset="-122"/>
                <a:cs typeface="Calibri" pitchFamily="34" charset="-120"/>
              </a:rPr>
              <a:t>NAT Gateway</a:t>
            </a:r>
            <a:endParaRPr lang="en-US" sz="1600" dirty="0"/>
          </a:p>
        </p:txBody>
      </p:sp>
      <p:sp>
        <p:nvSpPr>
          <p:cNvPr id="11" name="Shape 8"/>
          <p:cNvSpPr/>
          <p:nvPr/>
        </p:nvSpPr>
        <p:spPr>
          <a:xfrm>
            <a:off x="6675120" y="2423160"/>
            <a:ext cx="1828800" cy="731520"/>
          </a:xfrm>
          <a:prstGeom prst="roundRect">
            <a:avLst>
              <a:gd name="adj" fmla="val 12500"/>
            </a:avLst>
          </a:prstGeom>
          <a:solidFill>
            <a:srgbClr val="FBE9E9"/>
          </a:solidFill>
          <a:ln w="12700">
            <a:solidFill>
              <a:srgbClr val="FBE9E9"/>
            </a:solidFill>
            <a:prstDash val="solid"/>
          </a:ln>
        </p:spPr>
      </p:sp>
      <p:sp>
        <p:nvSpPr>
          <p:cNvPr id="12" name="Text 9"/>
          <p:cNvSpPr txBox="1"/>
          <p:nvPr/>
        </p:nvSpPr>
        <p:spPr>
          <a:xfrm>
            <a:off x="6675120" y="2423160"/>
            <a:ext cx="1828800" cy="731520"/>
          </a:xfrm>
          <a:prstGeom prst="rect">
            <a:avLst/>
          </a:prstGeom>
          <a:noFill/>
          <a:ln/>
        </p:spPr>
        <p:txBody>
          <a:bodyPr wrap="square" lIns="76200" tIns="76200" rIns="76200" bIns="76200" rtlCol="0" anchor="ctr"/>
          <a:lstStyle/>
          <a:p>
            <a:pPr algn="ctr" indent="0" marL="0">
              <a:buNone/>
            </a:pPr>
            <a:r>
              <a:rPr lang="en-US" sz="1600" dirty="0">
                <a:solidFill>
                  <a:srgbClr val="22253A"/>
                </a:solidFill>
                <a:latin typeface="Calibri" pitchFamily="34" charset="0"/>
                <a:ea typeface="Calibri" pitchFamily="34" charset="-122"/>
                <a:cs typeface="Calibri" pitchFamily="34" charset="-120"/>
              </a:rPr>
              <a:t>internet</a:t>
            </a:r>
            <a:endParaRPr lang="en-US" sz="1600" dirty="0"/>
          </a:p>
        </p:txBody>
      </p:sp>
      <p:sp>
        <p:nvSpPr>
          <p:cNvPr id="13" name="Shape 10"/>
          <p:cNvSpPr/>
          <p:nvPr/>
        </p:nvSpPr>
        <p:spPr>
          <a:xfrm>
            <a:off x="9144000" y="3108960"/>
            <a:ext cx="2496312" cy="1188720"/>
          </a:xfrm>
          <a:prstGeom prst="roundRect">
            <a:avLst>
              <a:gd name="adj" fmla="val 7692"/>
            </a:avLst>
          </a:prstGeom>
          <a:solidFill>
            <a:srgbClr val="FDF0E3"/>
          </a:solidFill>
          <a:ln w="25400">
            <a:solidFill>
              <a:srgbClr val="F28C28"/>
            </a:solidFill>
            <a:prstDash val="solid"/>
          </a:ln>
        </p:spPr>
      </p:sp>
      <p:sp>
        <p:nvSpPr>
          <p:cNvPr id="14" name="Text 11"/>
          <p:cNvSpPr txBox="1"/>
          <p:nvPr/>
        </p:nvSpPr>
        <p:spPr>
          <a:xfrm>
            <a:off x="9144000" y="3108960"/>
            <a:ext cx="2496312" cy="1188720"/>
          </a:xfrm>
          <a:prstGeom prst="rect">
            <a:avLst/>
          </a:prstGeom>
          <a:noFill/>
          <a:ln/>
        </p:spPr>
        <p:txBody>
          <a:bodyPr wrap="square" lIns="76200" tIns="76200" rIns="76200" bIns="76200" rtlCol="0" anchor="ctr"/>
          <a:lstStyle/>
          <a:p>
            <a:pPr algn="ctr" indent="0" marL="0">
              <a:buNone/>
            </a:pPr>
            <a:r>
              <a:rPr lang="en-US" sz="2600" b="1" dirty="0">
                <a:solidFill>
                  <a:srgbClr val="22253A"/>
                </a:solidFill>
                <a:latin typeface="Calibri" pitchFamily="34" charset="0"/>
                <a:ea typeface="Calibri" pitchFamily="34" charset="-122"/>
                <a:cs typeface="Calibri" pitchFamily="34" charset="-120"/>
              </a:rPr>
              <a:t>S3</a:t>
            </a:r>
            <a:endParaRPr lang="en-US" sz="2600" dirty="0"/>
          </a:p>
        </p:txBody>
      </p:sp>
      <p:sp>
        <p:nvSpPr>
          <p:cNvPr id="15" name="Shape 12"/>
          <p:cNvSpPr/>
          <p:nvPr/>
        </p:nvSpPr>
        <p:spPr>
          <a:xfrm>
            <a:off x="3063240" y="3291840"/>
            <a:ext cx="822960" cy="-502920"/>
          </a:xfrm>
          <a:prstGeom prst="line">
            <a:avLst/>
          </a:prstGeom>
          <a:noFill/>
          <a:ln w="25400">
            <a:solidFill>
              <a:srgbClr val="D64545"/>
            </a:solidFill>
            <a:prstDash val="solid"/>
            <a:tailEnd type="triangle"/>
          </a:ln>
        </p:spPr>
      </p:sp>
      <p:sp>
        <p:nvSpPr>
          <p:cNvPr id="16" name="Shape 13"/>
          <p:cNvSpPr/>
          <p:nvPr/>
        </p:nvSpPr>
        <p:spPr>
          <a:xfrm>
            <a:off x="6172200" y="2788920"/>
            <a:ext cx="457200" cy="0"/>
          </a:xfrm>
          <a:prstGeom prst="line">
            <a:avLst/>
          </a:prstGeom>
          <a:noFill/>
          <a:ln w="25400">
            <a:solidFill>
              <a:srgbClr val="D64545"/>
            </a:solidFill>
            <a:prstDash val="solid"/>
            <a:tailEnd type="triangle"/>
          </a:ln>
        </p:spPr>
      </p:sp>
      <p:sp>
        <p:nvSpPr>
          <p:cNvPr id="17" name="Shape 14"/>
          <p:cNvSpPr/>
          <p:nvPr/>
        </p:nvSpPr>
        <p:spPr>
          <a:xfrm>
            <a:off x="8549640" y="2788920"/>
            <a:ext cx="548640" cy="411480"/>
          </a:xfrm>
          <a:prstGeom prst="line">
            <a:avLst/>
          </a:prstGeom>
          <a:noFill/>
          <a:ln w="25400">
            <a:solidFill>
              <a:srgbClr val="D64545"/>
            </a:solidFill>
            <a:prstDash val="solid"/>
            <a:tailEnd type="triangle"/>
          </a:ln>
        </p:spPr>
      </p:sp>
      <p:sp>
        <p:nvSpPr>
          <p:cNvPr id="18" name="Text 15"/>
          <p:cNvSpPr txBox="1"/>
          <p:nvPr/>
        </p:nvSpPr>
        <p:spPr>
          <a:xfrm>
            <a:off x="3657600" y="2057400"/>
            <a:ext cx="5029200" cy="347472"/>
          </a:xfrm>
          <a:prstGeom prst="rect">
            <a:avLst/>
          </a:prstGeom>
          <a:noFill/>
          <a:ln/>
        </p:spPr>
        <p:txBody>
          <a:bodyPr wrap="square" lIns="0" tIns="0" rIns="0" bIns="0" rtlCol="0" anchor="ctr"/>
          <a:lstStyle/>
          <a:p>
            <a:pPr algn="ctr" indent="0" marL="0">
              <a:buNone/>
            </a:pPr>
            <a:r>
              <a:rPr lang="en-US" sz="1300" i="1" dirty="0">
                <a:solidFill>
                  <a:srgbClr val="D64545"/>
                </a:solidFill>
                <a:latin typeface="Calibri" pitchFamily="34" charset="0"/>
                <a:ea typeface="Calibri" pitchFamily="34" charset="-122"/>
                <a:cs typeface="Calibri" pitchFamily="34" charset="-120"/>
              </a:rPr>
              <a:t>senza endpoint: via NAT, a pagamento per GB</a:t>
            </a:r>
            <a:endParaRPr lang="en-US" sz="1300" dirty="0"/>
          </a:p>
        </p:txBody>
      </p:sp>
      <p:sp>
        <p:nvSpPr>
          <p:cNvPr id="19" name="Shape 16"/>
          <p:cNvSpPr/>
          <p:nvPr/>
        </p:nvSpPr>
        <p:spPr>
          <a:xfrm>
            <a:off x="3063240" y="3703320"/>
            <a:ext cx="6035040" cy="0"/>
          </a:xfrm>
          <a:prstGeom prst="line">
            <a:avLst/>
          </a:prstGeom>
          <a:noFill/>
          <a:ln w="25400">
            <a:solidFill>
              <a:srgbClr val="2E9E6B"/>
            </a:solidFill>
            <a:prstDash val="solid"/>
            <a:tailEnd type="triangle"/>
          </a:ln>
        </p:spPr>
      </p:sp>
      <p:sp>
        <p:nvSpPr>
          <p:cNvPr id="20" name="Text 17"/>
          <p:cNvSpPr txBox="1"/>
          <p:nvPr/>
        </p:nvSpPr>
        <p:spPr>
          <a:xfrm>
            <a:off x="3200400" y="3794760"/>
            <a:ext cx="5852160" cy="411480"/>
          </a:xfrm>
          <a:prstGeom prst="rect">
            <a:avLst/>
          </a:prstGeom>
          <a:noFill/>
          <a:ln/>
        </p:spPr>
        <p:txBody>
          <a:bodyPr wrap="square" lIns="0" tIns="0" rIns="0" bIns="0" rtlCol="0" anchor="ctr"/>
          <a:lstStyle/>
          <a:p>
            <a:pPr algn="ctr" indent="0" marL="0">
              <a:buNone/>
            </a:pPr>
            <a:r>
              <a:rPr lang="en-US" sz="1500" b="1" dirty="0">
                <a:solidFill>
                  <a:srgbClr val="2E9E6B"/>
                </a:solidFill>
                <a:latin typeface="Calibri" pitchFamily="34" charset="0"/>
                <a:ea typeface="Calibri" pitchFamily="34" charset="-122"/>
                <a:cs typeface="Calibri" pitchFamily="34" charset="-120"/>
              </a:rPr>
              <a:t>con il Gateway Endpoint: diretto, dentro AWS, gratuito</a:t>
            </a:r>
            <a:endParaRPr lang="en-US" sz="15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4572000"/>
          <a:ext cx="11094415" cy="914400"/>
        </p:xfrm>
        <a:graphic>
          <a:graphicData uri="http://schemas.openxmlformats.org/drawingml/2006/table">
            <a:tbl>
              <a:tblPr/>
              <a:tblGrid>
                <a:gridCol w="4572000"/>
                <a:gridCol w="6519672"/>
              </a:tblGrid>
              <a:tr h="50292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Da sapere</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r>
              <a:tr h="502920">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la rotta punta a una prefix list (pl-…)</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l'elenco degli indirizzi di S3, mantenuto da AWS: il server non cambia niente</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502920">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i pezzi delle immagini ECR stanno in S3</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anche i download delle immagini passano dalla scorciatoia</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I permessi del server: solo scaricare</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7 · Immagini e artefatti: ECR e S3</a:t>
            </a:r>
            <a:endParaRPr lang="en-US" sz="1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3749040"/>
                <a:gridCol w="3291840"/>
                <a:gridCol w="4050792"/>
              </a:tblGrid>
              <a:tr h="77724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Azione</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Su cosa</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Perché</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r>
              <a:tr h="777240">
                <a:tc>
                  <a:txBody>
                    <a:bodyPr/>
                    <a:lstStyle/>
                    <a:p>
                      <a:pPr indent="0" marL="0">
                        <a:buNone/>
                      </a:pPr>
                      <a:r>
                        <a:rPr lang="en-US" sz="1600" dirty="0">
                          <a:solidFill>
                            <a:srgbClr val="22253A"/>
                          </a:solidFill>
                          <a:latin typeface="Courier New" pitchFamily="34" charset="0"/>
                          <a:ea typeface="Courier New" pitchFamily="34" charset="-122"/>
                          <a:cs typeface="Courier New" pitchFamily="34" charset="-120"/>
                        </a:rPr>
                        <a:t>ecr:GetAuthorizationToken</a:t>
                      </a:r>
                      <a:endParaRPr lang="en-US" sz="16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 (tutto)</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il login al registry: non riguarda un repository, AWS accetta solo *</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777240">
                <a:tc>
                  <a:txBody>
                    <a:bodyPr/>
                    <a:lstStyle/>
                    <a:p>
                      <a:pPr indent="0" marL="0">
                        <a:buNone/>
                      </a:pPr>
                      <a:r>
                        <a:rPr lang="en-US" sz="1600" dirty="0">
                          <a:solidFill>
                            <a:srgbClr val="22253A"/>
                          </a:solidFill>
                          <a:latin typeface="Courier New" pitchFamily="34" charset="0"/>
                          <a:ea typeface="Courier New" pitchFamily="34" charset="-122"/>
                          <a:cs typeface="Courier New" pitchFamily="34" charset="-120"/>
                        </a:rPr>
                        <a:t>ecr:BatchGetImage …</a:t>
                      </a:r>
                      <a:endParaRPr lang="en-US" sz="16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SOLO il nostro repository</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scaricare l'immagine e i suoi pezzi</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r h="777240">
                <a:tc>
                  <a:txBody>
                    <a:bodyPr/>
                    <a:lstStyle/>
                    <a:p>
                      <a:pPr indent="0" marL="0">
                        <a:buNone/>
                      </a:pPr>
                      <a:r>
                        <a:rPr lang="en-US" sz="1600" dirty="0">
                          <a:solidFill>
                            <a:srgbClr val="22253A"/>
                          </a:solidFill>
                          <a:latin typeface="Courier New" pitchFamily="34" charset="0"/>
                          <a:ea typeface="Courier New" pitchFamily="34" charset="-122"/>
                          <a:cs typeface="Courier New" pitchFamily="34" charset="-120"/>
                        </a:rPr>
                        <a:t>s3:GetObject</a:t>
                      </a:r>
                      <a:endParaRPr lang="en-US" sz="16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SOLO deploy/* nel nostro bucket</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leggere i file di deploy</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bl>
          </a:graphicData>
        </a:graphic>
      </p:graphicFrame>
      <p:sp>
        <p:nvSpPr>
          <p:cNvPr id="6" name="Shape 2"/>
          <p:cNvSpPr/>
          <p:nvPr/>
        </p:nvSpPr>
        <p:spPr>
          <a:xfrm>
            <a:off x="548640" y="4663440"/>
            <a:ext cx="11094415" cy="1417320"/>
          </a:xfrm>
          <a:prstGeom prst="roundRect">
            <a:avLst>
              <a:gd name="adj" fmla="val 7742"/>
            </a:avLst>
          </a:prstGeom>
          <a:solidFill>
            <a:srgbClr val="FBE9E9"/>
          </a:solidFill>
          <a:ln w="12700">
            <a:solidFill>
              <a:srgbClr val="FBE9E9"/>
            </a:solidFill>
            <a:prstDash val="solid"/>
          </a:ln>
        </p:spPr>
      </p:sp>
      <p:sp>
        <p:nvSpPr>
          <p:cNvPr id="7" name="Shape 3"/>
          <p:cNvSpPr/>
          <p:nvPr/>
        </p:nvSpPr>
        <p:spPr>
          <a:xfrm>
            <a:off x="777240" y="4892040"/>
            <a:ext cx="548640" cy="548640"/>
          </a:xfrm>
          <a:prstGeom prst="ellipse">
            <a:avLst/>
          </a:prstGeom>
          <a:solidFill>
            <a:srgbClr val="D64545"/>
          </a:solidFill>
          <a:ln w="12700">
            <a:solidFill>
              <a:srgbClr val="D64545"/>
            </a:solidFill>
            <a:prstDash val="solid"/>
          </a:ln>
        </p:spPr>
      </p:sp>
      <p:pic>
        <p:nvPicPr>
          <p:cNvPr id="8" name="Image 0" descr="preencoded.png">    </p:cNvPr>
          <p:cNvPicPr>
            <a:picLocks noChangeAspect="1"/>
          </p:cNvPicPr>
          <p:nvPr/>
        </p:nvPicPr>
        <p:blipFill>
          <a:blip r:embed="rId1"/>
          <a:stretch>
            <a:fillRect/>
          </a:stretch>
        </p:blipFill>
        <p:spPr>
          <a:xfrm>
            <a:off x="914400" y="5029200"/>
            <a:ext cx="274320" cy="274320"/>
          </a:xfrm>
          <a:prstGeom prst="rect">
            <a:avLst/>
          </a:prstGeom>
        </p:spPr>
      </p:pic>
      <p:sp>
        <p:nvSpPr>
          <p:cNvPr id="9" name="Text 4"/>
          <p:cNvSpPr txBox="1"/>
          <p:nvPr/>
        </p:nvSpPr>
        <p:spPr>
          <a:xfrm>
            <a:off x="1508760" y="4892040"/>
            <a:ext cx="9905695"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Cosa MANCA, apposta</a:t>
            </a:r>
            <a:endParaRPr lang="en-US" sz="1800" dirty="0"/>
          </a:p>
        </p:txBody>
      </p:sp>
      <p:sp>
        <p:nvSpPr>
          <p:cNvPr id="10" name="Text 5"/>
          <p:cNvSpPr txBox="1"/>
          <p:nvPr/>
        </p:nvSpPr>
        <p:spPr>
          <a:xfrm>
            <a:off x="777240" y="5577840"/>
            <a:ext cx="10637215" cy="320040"/>
          </a:xfrm>
          <a:prstGeom prst="rect">
            <a:avLst/>
          </a:prstGeom>
          <a:noFill/>
          <a:ln/>
        </p:spPr>
        <p:txBody>
          <a:bodyPr wrap="square" lIns="0" tIns="0" rIns="0" bIns="0" rtlCol="0" anchor="t"/>
          <a:lstStyle/>
          <a:p>
            <a:pPr indent="0" marL="0">
              <a:spcAft>
                <a:spcPts val="600"/>
              </a:spcAft>
              <a:buNone/>
            </a:pPr>
            <a:r>
              <a:rPr lang="en-US" sz="1500" dirty="0">
                <a:solidFill>
                  <a:srgbClr val="22253A"/>
                </a:solidFill>
                <a:latin typeface="Calibri" pitchFamily="34" charset="0"/>
                <a:ea typeface="Calibri" pitchFamily="34" charset="-122"/>
                <a:cs typeface="Calibri" pitchFamily="34" charset="-120"/>
              </a:rPr>
              <a:t>s3:ListBucket (sa già il nome del file) · s3:PutObject (non scrive) · ecr:PutImage (non carica: lo farà GitHub Actions, lezione 8)</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Il codice: il repository ECR</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7 · Immagini e artefatti: ECR e S3</a:t>
            </a:r>
            <a:endParaRPr lang="en-US" sz="1000" dirty="0"/>
          </a:p>
        </p:txBody>
      </p:sp>
      <p:sp>
        <p:nvSpPr>
          <p:cNvPr id="5" name="Shape 2"/>
          <p:cNvSpPr/>
          <p:nvPr/>
        </p:nvSpPr>
        <p:spPr>
          <a:xfrm>
            <a:off x="548640" y="1325880"/>
            <a:ext cx="11094415" cy="4023360"/>
          </a:xfrm>
          <a:prstGeom prst="roundRect">
            <a:avLst>
              <a:gd name="adj" fmla="val 1818"/>
            </a:avLst>
          </a:prstGeom>
          <a:solidFill>
            <a:srgbClr val="1E1E2E"/>
          </a:solidFill>
          <a:ln w="12700">
            <a:solidFill>
              <a:srgbClr val="1E1E2E"/>
            </a:solidFill>
            <a:prstDash val="solid"/>
          </a:ln>
        </p:spPr>
      </p:sp>
      <p:sp>
        <p:nvSpPr>
          <p:cNvPr id="6" name="Text 3"/>
          <p:cNvSpPr txBox="1"/>
          <p:nvPr/>
        </p:nvSpPr>
        <p:spPr>
          <a:xfrm>
            <a:off x="731520" y="1399032"/>
            <a:ext cx="10728655" cy="274320"/>
          </a:xfrm>
          <a:prstGeom prst="rect">
            <a:avLst/>
          </a:prstGeom>
          <a:noFill/>
          <a:ln/>
        </p:spPr>
        <p:txBody>
          <a:bodyPr wrap="square" lIns="0" tIns="0" rIns="0" bIns="0" rtlCol="0" anchor="t"/>
          <a:lstStyle/>
          <a:p>
            <a:pPr indent="0" marL="0">
              <a:buNone/>
            </a:pPr>
            <a:r>
              <a:rPr lang="en-US" sz="1300" b="1" dirty="0">
                <a:solidFill>
                  <a:srgbClr val="F2B880"/>
                </a:solidFill>
                <a:latin typeface="Calibri" pitchFamily="34" charset="0"/>
                <a:ea typeface="Calibri" pitchFamily="34" charset="-122"/>
                <a:cs typeface="Calibri" pitchFamily="34" charset="-120"/>
              </a:rPr>
              <a:t>ecr.tf</a:t>
            </a:r>
            <a:endParaRPr lang="en-US" sz="1300" dirty="0"/>
          </a:p>
        </p:txBody>
      </p:sp>
      <p:sp>
        <p:nvSpPr>
          <p:cNvPr id="7" name="Text 4"/>
          <p:cNvSpPr txBox="1"/>
          <p:nvPr/>
        </p:nvSpPr>
        <p:spPr>
          <a:xfrm>
            <a:off x="731520" y="1737360"/>
            <a:ext cx="10728655" cy="3474720"/>
          </a:xfrm>
          <a:prstGeom prst="rect">
            <a:avLst/>
          </a:prstGeom>
          <a:noFill/>
          <a:ln/>
        </p:spPr>
        <p:txBody>
          <a:bodyPr wrap="square" lIns="0" tIns="0" rIns="0" bIns="0" rtlCol="0" anchor="t"/>
          <a:lstStyle/>
          <a:p>
            <a:pPr indent="0" marL="0">
              <a:buNone/>
            </a:pPr>
            <a:r>
              <a:rPr lang="en-US" sz="1600" dirty="0">
                <a:solidFill>
                  <a:srgbClr val="E6E6F0"/>
                </a:solidFill>
                <a:latin typeface="Courier New" pitchFamily="34" charset="0"/>
                <a:ea typeface="Courier New" pitchFamily="34" charset="-122"/>
                <a:cs typeface="Courier New" pitchFamily="34" charset="-120"/>
              </a:rPr>
              <a:t>resource "aws_ecr_repository" "app"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name                 = "${var.project}/app"</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image_tag_mutability = "IMMUTABLE"</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image_scanning_configuration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scan_on_push = true</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encryption_configuration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encryption_type = "KMS"   </a:t>
            </a:r>
            <a:pPr indent="0" marL="0">
              <a:buNone/>
            </a:pPr>
            <a:r>
              <a:rPr lang="en-US" sz="1600" dirty="0">
                <a:solidFill>
                  <a:srgbClr val="8FD694"/>
                </a:solidFill>
                <a:latin typeface="Courier New" pitchFamily="34" charset="0"/>
                <a:ea typeface="Courier New" pitchFamily="34" charset="-122"/>
                <a:cs typeface="Courier New" pitchFamily="34" charset="-120"/>
              </a:rPr>
              <a:t># chiave gestita da AWS: aws/ecr</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force_delete = true         </a:t>
            </a:r>
            <a:pPr indent="0" marL="0">
              <a:buNone/>
            </a:pPr>
            <a:r>
              <a:rPr lang="en-US" sz="1600" dirty="0">
                <a:solidFill>
                  <a:srgbClr val="8FD694"/>
                </a:solidFill>
                <a:latin typeface="Courier New" pitchFamily="34" charset="0"/>
                <a:ea typeface="Courier New" pitchFamily="34" charset="-122"/>
                <a:cs typeface="Courier New" pitchFamily="34" charset="-120"/>
              </a:rPr>
              <a:t># solo laboratorio: il destroy cancella le immagini</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a:t>
            </a:r>
            <a:endParaRPr lang="en-US" sz="1600" dirty="0"/>
          </a:p>
        </p:txBody>
      </p:sp>
      <p:sp>
        <p:nvSpPr>
          <p:cNvPr id="8" name="Text 5"/>
          <p:cNvSpPr txBox="1"/>
          <p:nvPr/>
        </p:nvSpPr>
        <p:spPr>
          <a:xfrm>
            <a:off x="548640" y="5532120"/>
            <a:ext cx="11094415" cy="548640"/>
          </a:xfrm>
          <a:prstGeom prst="rect">
            <a:avLst/>
          </a:prstGeom>
          <a:noFill/>
          <a:ln/>
        </p:spPr>
        <p:txBody>
          <a:bodyPr wrap="square" lIns="0" tIns="0" rIns="0" bIns="0" rtlCol="0" anchor="ctr"/>
          <a:lstStyle/>
          <a:p>
            <a:pPr algn="l" indent="0" marL="0">
              <a:buNone/>
            </a:pPr>
            <a:r>
              <a:rPr lang="en-US" sz="1600" i="1" dirty="0">
                <a:solidFill>
                  <a:srgbClr val="5F6478"/>
                </a:solidFill>
                <a:latin typeface="Calibri" pitchFamily="34" charset="0"/>
                <a:ea typeface="Calibri" pitchFamily="34" charset="-122"/>
                <a:cs typeface="Calibri" pitchFamily="34" charset="-120"/>
              </a:rPr>
              <a:t>La cifratura si sceglie alla creazione (come per il database). force_delete in produzione si toglie.</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Il codice: la pulizia automatica</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7 · Immagini e artefatti: ECR e S3</a:t>
            </a:r>
            <a:endParaRPr lang="en-US" sz="1000" dirty="0"/>
          </a:p>
        </p:txBody>
      </p:sp>
      <p:sp>
        <p:nvSpPr>
          <p:cNvPr id="5" name="Shape 2"/>
          <p:cNvSpPr/>
          <p:nvPr/>
        </p:nvSpPr>
        <p:spPr>
          <a:xfrm>
            <a:off x="548640" y="1325880"/>
            <a:ext cx="11094415" cy="4160520"/>
          </a:xfrm>
          <a:prstGeom prst="roundRect">
            <a:avLst>
              <a:gd name="adj" fmla="val 1758"/>
            </a:avLst>
          </a:prstGeom>
          <a:solidFill>
            <a:srgbClr val="1E1E2E"/>
          </a:solidFill>
          <a:ln w="12700">
            <a:solidFill>
              <a:srgbClr val="1E1E2E"/>
            </a:solidFill>
            <a:prstDash val="solid"/>
          </a:ln>
        </p:spPr>
      </p:sp>
      <p:sp>
        <p:nvSpPr>
          <p:cNvPr id="6" name="Text 3"/>
          <p:cNvSpPr txBox="1"/>
          <p:nvPr/>
        </p:nvSpPr>
        <p:spPr>
          <a:xfrm>
            <a:off x="731520" y="1399032"/>
            <a:ext cx="10728655" cy="274320"/>
          </a:xfrm>
          <a:prstGeom prst="rect">
            <a:avLst/>
          </a:prstGeom>
          <a:noFill/>
          <a:ln/>
        </p:spPr>
        <p:txBody>
          <a:bodyPr wrap="square" lIns="0" tIns="0" rIns="0" bIns="0" rtlCol="0" anchor="t"/>
          <a:lstStyle/>
          <a:p>
            <a:pPr indent="0" marL="0">
              <a:buNone/>
            </a:pPr>
            <a:r>
              <a:rPr lang="en-US" sz="1300" b="1" dirty="0">
                <a:solidFill>
                  <a:srgbClr val="F2B880"/>
                </a:solidFill>
                <a:latin typeface="Calibri" pitchFamily="34" charset="0"/>
                <a:ea typeface="Calibri" pitchFamily="34" charset="-122"/>
                <a:cs typeface="Calibri" pitchFamily="34" charset="-120"/>
              </a:rPr>
              <a:t>ecr.tf (in forma compatta)</a:t>
            </a:r>
            <a:endParaRPr lang="en-US" sz="1300" dirty="0"/>
          </a:p>
        </p:txBody>
      </p:sp>
      <p:sp>
        <p:nvSpPr>
          <p:cNvPr id="7" name="Text 4"/>
          <p:cNvSpPr txBox="1"/>
          <p:nvPr/>
        </p:nvSpPr>
        <p:spPr>
          <a:xfrm>
            <a:off x="731520" y="1737360"/>
            <a:ext cx="10728655" cy="3611880"/>
          </a:xfrm>
          <a:prstGeom prst="rect">
            <a:avLst/>
          </a:prstGeom>
          <a:noFill/>
          <a:ln/>
        </p:spPr>
        <p:txBody>
          <a:bodyPr wrap="square" lIns="0" tIns="0" rIns="0" bIns="0" rtlCol="0" anchor="t"/>
          <a:lstStyle/>
          <a:p>
            <a:pPr indent="0" marL="0">
              <a:buNone/>
            </a:pPr>
            <a:r>
              <a:rPr lang="en-US" sz="1600" dirty="0">
                <a:solidFill>
                  <a:srgbClr val="E6E6F0"/>
                </a:solidFill>
                <a:latin typeface="Courier New" pitchFamily="34" charset="0"/>
                <a:ea typeface="Courier New" pitchFamily="34" charset="-122"/>
                <a:cs typeface="Courier New" pitchFamily="34" charset="-120"/>
              </a:rPr>
              <a:t>resource "aws_ecr_lifecycle_policy" "app"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repository = aws_ecr_repository.app.name</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policy = jsonencode({</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rules =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 rulePriority = 1, description = "Senza tag: via dopo 1 giorno"</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selection = { tagStatus = "untagged", countType = "sinceImagePushed",</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countUnit = "days", countNumber = 1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action    = { type = "expire" }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 rulePriority = 2, description = "Tieni solo le ultime 20"</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selection = { tagStatus = "any", countType = "imageCountMoreThan",</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countNumber = 20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action    = { type = "expire" }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a:t>
            </a:r>
            <a:endParaRPr lang="en-US" sz="1600" dirty="0"/>
          </a:p>
        </p:txBody>
      </p:sp>
      <p:sp>
        <p:nvSpPr>
          <p:cNvPr id="8" name="Text 5"/>
          <p:cNvSpPr txBox="1"/>
          <p:nvPr/>
        </p:nvSpPr>
        <p:spPr>
          <a:xfrm>
            <a:off x="548640" y="5623560"/>
            <a:ext cx="11094415" cy="548640"/>
          </a:xfrm>
          <a:prstGeom prst="rect">
            <a:avLst/>
          </a:prstGeom>
          <a:noFill/>
          <a:ln/>
        </p:spPr>
        <p:txBody>
          <a:bodyPr wrap="square" lIns="0" tIns="0" rIns="0" bIns="0" rtlCol="0" anchor="ctr"/>
          <a:lstStyle/>
          <a:p>
            <a:pPr algn="l" indent="0" marL="0">
              <a:buNone/>
            </a:pPr>
            <a:r>
              <a:rPr lang="en-US" sz="1500" i="1" dirty="0">
                <a:solidFill>
                  <a:srgbClr val="5F6478"/>
                </a:solidFill>
                <a:latin typeface="Calibri" pitchFamily="34" charset="0"/>
                <a:ea typeface="Calibri" pitchFamily="34" charset="-122"/>
                <a:cs typeface="Calibri" pitchFamily="34" charset="-120"/>
              </a:rPr>
              <a:t>Nella dispensa lo stesso codice è scritto su più righe. La regola "any" deve avere il numero più alto.</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Il codice: il bucket e le sue protezioni</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7 · Immagini e artefatti: ECR e S3</a:t>
            </a:r>
            <a:endParaRPr lang="en-US" sz="1000" dirty="0"/>
          </a:p>
        </p:txBody>
      </p:sp>
      <p:sp>
        <p:nvSpPr>
          <p:cNvPr id="5" name="Shape 2"/>
          <p:cNvSpPr/>
          <p:nvPr/>
        </p:nvSpPr>
        <p:spPr>
          <a:xfrm>
            <a:off x="548640" y="1325880"/>
            <a:ext cx="11094415" cy="4846320"/>
          </a:xfrm>
          <a:prstGeom prst="roundRect">
            <a:avLst>
              <a:gd name="adj" fmla="val 1509"/>
            </a:avLst>
          </a:prstGeom>
          <a:solidFill>
            <a:srgbClr val="1E1E2E"/>
          </a:solidFill>
          <a:ln w="12700">
            <a:solidFill>
              <a:srgbClr val="1E1E2E"/>
            </a:solidFill>
            <a:prstDash val="solid"/>
          </a:ln>
        </p:spPr>
      </p:sp>
      <p:sp>
        <p:nvSpPr>
          <p:cNvPr id="6" name="Text 3"/>
          <p:cNvSpPr txBox="1"/>
          <p:nvPr/>
        </p:nvSpPr>
        <p:spPr>
          <a:xfrm>
            <a:off x="731520" y="1399032"/>
            <a:ext cx="10728655" cy="274320"/>
          </a:xfrm>
          <a:prstGeom prst="rect">
            <a:avLst/>
          </a:prstGeom>
          <a:noFill/>
          <a:ln/>
        </p:spPr>
        <p:txBody>
          <a:bodyPr wrap="square" lIns="0" tIns="0" rIns="0" bIns="0" rtlCol="0" anchor="t"/>
          <a:lstStyle/>
          <a:p>
            <a:pPr indent="0" marL="0">
              <a:buNone/>
            </a:pPr>
            <a:r>
              <a:rPr lang="en-US" sz="1300" b="1" dirty="0">
                <a:solidFill>
                  <a:srgbClr val="F2B880"/>
                </a:solidFill>
                <a:latin typeface="Calibri" pitchFamily="34" charset="0"/>
                <a:ea typeface="Calibri" pitchFamily="34" charset="-122"/>
                <a:cs typeface="Calibri" pitchFamily="34" charset="-120"/>
              </a:rPr>
              <a:t>s3.tf</a:t>
            </a:r>
            <a:endParaRPr lang="en-US" sz="1300" dirty="0"/>
          </a:p>
        </p:txBody>
      </p:sp>
      <p:sp>
        <p:nvSpPr>
          <p:cNvPr id="7" name="Text 4"/>
          <p:cNvSpPr txBox="1"/>
          <p:nvPr/>
        </p:nvSpPr>
        <p:spPr>
          <a:xfrm>
            <a:off x="731520" y="1737360"/>
            <a:ext cx="10728655" cy="4297680"/>
          </a:xfrm>
          <a:prstGeom prst="rect">
            <a:avLst/>
          </a:prstGeom>
          <a:noFill/>
          <a:ln/>
        </p:spPr>
        <p:txBody>
          <a:bodyPr wrap="square" lIns="0" tIns="0" rIns="0" bIns="0" rtlCol="0" anchor="t"/>
          <a:lstStyle/>
          <a:p>
            <a:pPr indent="0" marL="0">
              <a:buNone/>
            </a:pPr>
            <a:r>
              <a:rPr lang="en-US" sz="1600" dirty="0">
                <a:solidFill>
                  <a:srgbClr val="E6E6F0"/>
                </a:solidFill>
                <a:latin typeface="Courier New" pitchFamily="34" charset="0"/>
                <a:ea typeface="Courier New" pitchFamily="34" charset="-122"/>
                <a:cs typeface="Courier New" pitchFamily="34" charset="-120"/>
              </a:rPr>
              <a:t>resource "aws_s3_bucket" "artifacts"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bucket = "${var.project}-artifacts-${data.aws_caller_identity.current.account_id}"</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force_destroy = true </a:t>
            </a:r>
            <a:pPr indent="0" marL="0">
              <a:buNone/>
            </a:pPr>
            <a:r>
              <a:rPr lang="en-US" sz="1600" dirty="0">
                <a:solidFill>
                  <a:srgbClr val="8FD694"/>
                </a:solidFill>
                <a:latin typeface="Courier New" pitchFamily="34" charset="0"/>
                <a:ea typeface="Courier New" pitchFamily="34" charset="-122"/>
                <a:cs typeface="Courier New" pitchFamily="34" charset="-120"/>
              </a:rPr>
              <a:t># solo laboratorio</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resource "aws_s3_bucket_public_access_block" "artifacts"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bucket                  = aws_s3_bucket.artifacts.id</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block_public_acls       = true</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ignore_public_acls      = true</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block_public_policy     = true</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restrict_public_buckets = true</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resource "aws_s3_bucket_versioning" "artifacts"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bucket = aws_s3_bucket.artifacts.id</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versioning_configuration { status = "Enabled"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Il codice: le altre configurazioni e la scorciatoia</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7 · Immagini e artefatti: ECR e S3</a:t>
            </a:r>
            <a:endParaRPr lang="en-US" sz="1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6766560"/>
                <a:gridCol w="4325112"/>
              </a:tblGrid>
              <a:tr h="50292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Risorsa</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Cosa fa</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r>
              <a:tr h="502920">
                <a:tc>
                  <a:txBody>
                    <a:bodyPr/>
                    <a:lstStyle/>
                    <a:p>
                      <a:pPr indent="0" marL="0">
                        <a:buNone/>
                      </a:pPr>
                      <a:r>
                        <a:rPr lang="en-US" sz="1500" dirty="0">
                          <a:solidFill>
                            <a:srgbClr val="22253A"/>
                          </a:solidFill>
                          <a:latin typeface="Courier New" pitchFamily="34" charset="0"/>
                          <a:ea typeface="Courier New" pitchFamily="34" charset="-122"/>
                          <a:cs typeface="Courier New" pitchFamily="34" charset="-120"/>
                        </a:rPr>
                        <a:t>aws_s3_bucket_ownership_controls</a:t>
                      </a:r>
                      <a:endParaRPr lang="en-US" sz="15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BucketOwnerEnforced: ACL spente</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502920">
                <a:tc>
                  <a:txBody>
                    <a:bodyPr/>
                    <a:lstStyle/>
                    <a:p>
                      <a:pPr indent="0" marL="0">
                        <a:buNone/>
                      </a:pPr>
                      <a:r>
                        <a:rPr lang="en-US" sz="1500" dirty="0">
                          <a:solidFill>
                            <a:srgbClr val="22253A"/>
                          </a:solidFill>
                          <a:latin typeface="Courier New" pitchFamily="34" charset="0"/>
                          <a:ea typeface="Courier New" pitchFamily="34" charset="-122"/>
                          <a:cs typeface="Courier New" pitchFamily="34" charset="-120"/>
                        </a:rPr>
                        <a:t>aws_s3_bucket_server_side_encryption_configuration</a:t>
                      </a:r>
                      <a:endParaRPr lang="en-US" sz="15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AES256 = SSE-S3</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r h="502920">
                <a:tc>
                  <a:txBody>
                    <a:bodyPr/>
                    <a:lstStyle/>
                    <a:p>
                      <a:pPr indent="0" marL="0">
                        <a:buNone/>
                      </a:pPr>
                      <a:r>
                        <a:rPr lang="en-US" sz="1500" dirty="0">
                          <a:solidFill>
                            <a:srgbClr val="22253A"/>
                          </a:solidFill>
                          <a:latin typeface="Courier New" pitchFamily="34" charset="0"/>
                          <a:ea typeface="Courier New" pitchFamily="34" charset="-122"/>
                          <a:cs typeface="Courier New" pitchFamily="34" charset="-120"/>
                        </a:rPr>
                        <a:t>aws_s3_bucket_lifecycle_configuration</a:t>
                      </a:r>
                      <a:endParaRPr lang="en-US" sz="15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versioni vecchie via dopo 30 giorni</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502920">
                <a:tc>
                  <a:txBody>
                    <a:bodyPr/>
                    <a:lstStyle/>
                    <a:p>
                      <a:pPr indent="0" marL="0">
                        <a:buNone/>
                      </a:pPr>
                      <a:r>
                        <a:rPr lang="en-US" sz="1500" dirty="0">
                          <a:solidFill>
                            <a:srgbClr val="22253A"/>
                          </a:solidFill>
                          <a:latin typeface="Courier New" pitchFamily="34" charset="0"/>
                          <a:ea typeface="Courier New" pitchFamily="34" charset="-122"/>
                          <a:cs typeface="Courier New" pitchFamily="34" charset="-120"/>
                        </a:rPr>
                        <a:t>aws_s3_bucket_policy  (+ depends_on)</a:t>
                      </a:r>
                      <a:endParaRPr lang="en-US" sz="1500" dirty="0">
                        <a:latin typeface="Courier New" charset="0"/>
                        <a:ea typeface="Courier New" charset="0"/>
                        <a:cs typeface="Courier New"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attacca la policy "solo HTTPS", dopo il Block Public Access</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bl>
          </a:graphicData>
        </a:graphic>
      </p:graphicFrame>
      <p:sp>
        <p:nvSpPr>
          <p:cNvPr id="6" name="Shape 2"/>
          <p:cNvSpPr/>
          <p:nvPr/>
        </p:nvSpPr>
        <p:spPr>
          <a:xfrm>
            <a:off x="548640" y="4069080"/>
            <a:ext cx="11094415" cy="2103120"/>
          </a:xfrm>
          <a:prstGeom prst="roundRect">
            <a:avLst>
              <a:gd name="adj" fmla="val 3478"/>
            </a:avLst>
          </a:prstGeom>
          <a:solidFill>
            <a:srgbClr val="1E1E2E"/>
          </a:solidFill>
          <a:ln w="12700">
            <a:solidFill>
              <a:srgbClr val="1E1E2E"/>
            </a:solidFill>
            <a:prstDash val="solid"/>
          </a:ln>
        </p:spPr>
      </p:sp>
      <p:sp>
        <p:nvSpPr>
          <p:cNvPr id="7" name="Text 3"/>
          <p:cNvSpPr txBox="1"/>
          <p:nvPr/>
        </p:nvSpPr>
        <p:spPr>
          <a:xfrm>
            <a:off x="731520" y="4142232"/>
            <a:ext cx="10728655" cy="274320"/>
          </a:xfrm>
          <a:prstGeom prst="rect">
            <a:avLst/>
          </a:prstGeom>
          <a:noFill/>
          <a:ln/>
        </p:spPr>
        <p:txBody>
          <a:bodyPr wrap="square" lIns="0" tIns="0" rIns="0" bIns="0" rtlCol="0" anchor="t"/>
          <a:lstStyle/>
          <a:p>
            <a:pPr indent="0" marL="0">
              <a:buNone/>
            </a:pPr>
            <a:r>
              <a:rPr lang="en-US" sz="1300" b="1" dirty="0">
                <a:solidFill>
                  <a:srgbClr val="F2B880"/>
                </a:solidFill>
                <a:latin typeface="Calibri" pitchFamily="34" charset="0"/>
                <a:ea typeface="Calibri" pitchFamily="34" charset="-122"/>
                <a:cs typeface="Calibri" pitchFamily="34" charset="-120"/>
              </a:rPr>
              <a:t>s3.tf</a:t>
            </a:r>
            <a:endParaRPr lang="en-US" sz="1300" dirty="0"/>
          </a:p>
        </p:txBody>
      </p:sp>
      <p:sp>
        <p:nvSpPr>
          <p:cNvPr id="8" name="Text 4"/>
          <p:cNvSpPr txBox="1"/>
          <p:nvPr/>
        </p:nvSpPr>
        <p:spPr>
          <a:xfrm>
            <a:off x="731520" y="4480560"/>
            <a:ext cx="10728655" cy="1554480"/>
          </a:xfrm>
          <a:prstGeom prst="rect">
            <a:avLst/>
          </a:prstGeom>
          <a:noFill/>
          <a:ln/>
        </p:spPr>
        <p:txBody>
          <a:bodyPr wrap="square" lIns="0" tIns="0" rIns="0" bIns="0" rtlCol="0" anchor="t"/>
          <a:lstStyle/>
          <a:p>
            <a:pPr indent="0" marL="0">
              <a:buNone/>
            </a:pPr>
            <a:r>
              <a:rPr lang="en-US" sz="1600" dirty="0">
                <a:solidFill>
                  <a:srgbClr val="E6E6F0"/>
                </a:solidFill>
                <a:latin typeface="Courier New" pitchFamily="34" charset="0"/>
                <a:ea typeface="Courier New" pitchFamily="34" charset="-122"/>
                <a:cs typeface="Courier New" pitchFamily="34" charset="-120"/>
              </a:rPr>
              <a:t>resource "aws_vpc_endpoint" "s3"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vpc_id            = aws_vpc.main.id</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service_name      = "com.amazonaws.${var.region}.s3"</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vpc_endpoint_type = "Gateway"</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route_table_ids   = [for rt in aws_route_table.private : rt.id]</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Il codice: i permessi del server</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7 · Immagini e artefatti: ECR e S3</a:t>
            </a:r>
            <a:endParaRPr lang="en-US" sz="1000" dirty="0"/>
          </a:p>
        </p:txBody>
      </p:sp>
      <p:sp>
        <p:nvSpPr>
          <p:cNvPr id="5" name="Shape 2"/>
          <p:cNvSpPr/>
          <p:nvPr/>
        </p:nvSpPr>
        <p:spPr>
          <a:xfrm>
            <a:off x="548640" y="1325880"/>
            <a:ext cx="11094415" cy="4206240"/>
          </a:xfrm>
          <a:prstGeom prst="roundRect">
            <a:avLst>
              <a:gd name="adj" fmla="val 1739"/>
            </a:avLst>
          </a:prstGeom>
          <a:solidFill>
            <a:srgbClr val="1E1E2E"/>
          </a:solidFill>
          <a:ln w="12700">
            <a:solidFill>
              <a:srgbClr val="1E1E2E"/>
            </a:solidFill>
            <a:prstDash val="solid"/>
          </a:ln>
        </p:spPr>
      </p:sp>
      <p:sp>
        <p:nvSpPr>
          <p:cNvPr id="6" name="Text 3"/>
          <p:cNvSpPr txBox="1"/>
          <p:nvPr/>
        </p:nvSpPr>
        <p:spPr>
          <a:xfrm>
            <a:off x="731520" y="1399032"/>
            <a:ext cx="10728655" cy="274320"/>
          </a:xfrm>
          <a:prstGeom prst="rect">
            <a:avLst/>
          </a:prstGeom>
          <a:noFill/>
          <a:ln/>
        </p:spPr>
        <p:txBody>
          <a:bodyPr wrap="square" lIns="0" tIns="0" rIns="0" bIns="0" rtlCol="0" anchor="t"/>
          <a:lstStyle/>
          <a:p>
            <a:pPr indent="0" marL="0">
              <a:buNone/>
            </a:pPr>
            <a:r>
              <a:rPr lang="en-US" sz="1300" b="1" dirty="0">
                <a:solidFill>
                  <a:srgbClr val="F2B880"/>
                </a:solidFill>
                <a:latin typeface="Calibri" pitchFamily="34" charset="0"/>
                <a:ea typeface="Calibri" pitchFamily="34" charset="-122"/>
                <a:cs typeface="Calibri" pitchFamily="34" charset="-120"/>
              </a:rPr>
              <a:t>s3.tf</a:t>
            </a:r>
            <a:endParaRPr lang="en-US" sz="1300" dirty="0"/>
          </a:p>
        </p:txBody>
      </p:sp>
      <p:sp>
        <p:nvSpPr>
          <p:cNvPr id="7" name="Text 4"/>
          <p:cNvSpPr txBox="1"/>
          <p:nvPr/>
        </p:nvSpPr>
        <p:spPr>
          <a:xfrm>
            <a:off x="731520" y="1737360"/>
            <a:ext cx="10728655" cy="3657600"/>
          </a:xfrm>
          <a:prstGeom prst="rect">
            <a:avLst/>
          </a:prstGeom>
          <a:noFill/>
          <a:ln/>
        </p:spPr>
        <p:txBody>
          <a:bodyPr wrap="square" lIns="0" tIns="0" rIns="0" bIns="0" rtlCol="0" anchor="t"/>
          <a:lstStyle/>
          <a:p>
            <a:pPr indent="0" marL="0">
              <a:buNone/>
            </a:pPr>
            <a:r>
              <a:rPr lang="en-US" sz="1600" dirty="0">
                <a:solidFill>
                  <a:srgbClr val="E6E6F0"/>
                </a:solidFill>
                <a:latin typeface="Courier New" pitchFamily="34" charset="0"/>
                <a:ea typeface="Courier New" pitchFamily="34" charset="-122"/>
                <a:cs typeface="Courier New" pitchFamily="34" charset="-120"/>
              </a:rPr>
              <a:t>data "aws_iam_policy_document" "app_read_artifacts"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statement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actions   = ["ecr:GetAuthorizationToken"]</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resources =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statement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actions   = ["ecr:BatchGetImage", "ecr:GetDownloadUrlForLayer",</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"ecr:BatchCheckLayerAvailability"]</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resources = [aws_ecr_repository.app.arn]</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statement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actions   = ["s3:GetObject"]</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resources = ["${aws_s3_bucket.artifacts.arn}/deploy/*"]</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a:t>
            </a:r>
            <a:endParaRPr lang="en-US" sz="1600" dirty="0"/>
          </a:p>
        </p:txBody>
      </p:sp>
      <p:sp>
        <p:nvSpPr>
          <p:cNvPr id="8" name="Text 5"/>
          <p:cNvSpPr txBox="1"/>
          <p:nvPr/>
        </p:nvSpPr>
        <p:spPr>
          <a:xfrm>
            <a:off x="548640" y="5669280"/>
            <a:ext cx="11094415" cy="457200"/>
          </a:xfrm>
          <a:prstGeom prst="rect">
            <a:avLst/>
          </a:prstGeom>
          <a:noFill/>
          <a:ln/>
        </p:spPr>
        <p:txBody>
          <a:bodyPr wrap="square" lIns="0" tIns="0" rIns="0" bIns="0" rtlCol="0" anchor="ctr"/>
          <a:lstStyle/>
          <a:p>
            <a:pPr algn="l" indent="0" marL="0">
              <a:buNone/>
            </a:pPr>
            <a:r>
              <a:rPr lang="en-US" sz="1500" i="1" dirty="0">
                <a:solidFill>
                  <a:srgbClr val="5F6478"/>
                </a:solidFill>
                <a:latin typeface="Calibri" pitchFamily="34" charset="0"/>
                <a:ea typeface="Calibri" pitchFamily="34" charset="-122"/>
                <a:cs typeface="Calibri" pitchFamily="34" charset="-120"/>
              </a:rPr>
              <a:t>Nella dispensa ogni statement ha anche un sid: un'etichetta facoltativa, utile solo a chi legge.</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Esercizio (1/2): immagini</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7 · Immagini e artefatti: ECR e S3</a:t>
            </a:r>
            <a:endParaRPr lang="en-US" sz="1000" dirty="0"/>
          </a:p>
        </p:txBody>
      </p:sp>
      <p:sp>
        <p:nvSpPr>
          <p:cNvPr id="5" name="Shape 2"/>
          <p:cNvSpPr/>
          <p:nvPr/>
        </p:nvSpPr>
        <p:spPr>
          <a:xfrm>
            <a:off x="548640" y="1463040"/>
            <a:ext cx="594360" cy="594360"/>
          </a:xfrm>
          <a:prstGeom prst="ellipse">
            <a:avLst/>
          </a:prstGeom>
          <a:solidFill>
            <a:srgbClr val="5B3FD0"/>
          </a:solidFill>
          <a:ln w="12700">
            <a:solidFill>
              <a:srgbClr val="5B3FD0"/>
            </a:solidFill>
            <a:prstDash val="solid"/>
          </a:ln>
        </p:spPr>
      </p:sp>
      <p:sp>
        <p:nvSpPr>
          <p:cNvPr id="6" name="Text 3"/>
          <p:cNvSpPr txBox="1"/>
          <p:nvPr/>
        </p:nvSpPr>
        <p:spPr>
          <a:xfrm>
            <a:off x="548640" y="146304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4"/>
          <p:cNvSpPr txBox="1"/>
          <p:nvPr/>
        </p:nvSpPr>
        <p:spPr>
          <a:xfrm>
            <a:off x="1325880" y="1325880"/>
            <a:ext cx="10225735"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terraform apply</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repository, bucket con le sue configurazioni, endpoint, policy del server</a:t>
            </a:r>
            <a:endParaRPr lang="en-US" sz="1700" dirty="0"/>
          </a:p>
        </p:txBody>
      </p:sp>
      <p:sp>
        <p:nvSpPr>
          <p:cNvPr id="8" name="Shape 5"/>
          <p:cNvSpPr/>
          <p:nvPr/>
        </p:nvSpPr>
        <p:spPr>
          <a:xfrm>
            <a:off x="548640" y="2377440"/>
            <a:ext cx="594360" cy="594360"/>
          </a:xfrm>
          <a:prstGeom prst="ellipse">
            <a:avLst/>
          </a:prstGeom>
          <a:solidFill>
            <a:srgbClr val="5B3FD0"/>
          </a:solidFill>
          <a:ln w="12700">
            <a:solidFill>
              <a:srgbClr val="5B3FD0"/>
            </a:solidFill>
            <a:prstDash val="solid"/>
          </a:ln>
        </p:spPr>
      </p:sp>
      <p:sp>
        <p:nvSpPr>
          <p:cNvPr id="9" name="Text 6"/>
          <p:cNvSpPr txBox="1"/>
          <p:nvPr/>
        </p:nvSpPr>
        <p:spPr>
          <a:xfrm>
            <a:off x="548640" y="237744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0" name="Text 7"/>
          <p:cNvSpPr txBox="1"/>
          <p:nvPr/>
        </p:nvSpPr>
        <p:spPr>
          <a:xfrm>
            <a:off x="1325880" y="2240280"/>
            <a:ext cx="10225735"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In console: impostazioni di ECR e S3</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Immutable, Scan on push · Block Public Access tutto On, policy con il Deny</a:t>
            </a:r>
            <a:endParaRPr lang="en-US" sz="1700" dirty="0"/>
          </a:p>
        </p:txBody>
      </p:sp>
      <p:sp>
        <p:nvSpPr>
          <p:cNvPr id="11" name="Shape 8"/>
          <p:cNvSpPr/>
          <p:nvPr/>
        </p:nvSpPr>
        <p:spPr>
          <a:xfrm>
            <a:off x="548640" y="3291840"/>
            <a:ext cx="594360" cy="594360"/>
          </a:xfrm>
          <a:prstGeom prst="ellipse">
            <a:avLst/>
          </a:prstGeom>
          <a:solidFill>
            <a:srgbClr val="5B3FD0"/>
          </a:solidFill>
          <a:ln w="12700">
            <a:solidFill>
              <a:srgbClr val="5B3FD0"/>
            </a:solidFill>
            <a:prstDash val="solid"/>
          </a:ln>
        </p:spPr>
      </p:sp>
      <p:sp>
        <p:nvSpPr>
          <p:cNvPr id="12" name="Text 9"/>
          <p:cNvSpPr txBox="1"/>
          <p:nvPr/>
        </p:nvSpPr>
        <p:spPr>
          <a:xfrm>
            <a:off x="548640" y="329184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3" name="Text 10"/>
          <p:cNvSpPr txBox="1"/>
          <p:nvPr/>
        </p:nvSpPr>
        <p:spPr>
          <a:xfrm>
            <a:off x="1325880" y="3154680"/>
            <a:ext cx="10225735"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Costruisci e carica un'immagine: v1</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docker login, poi docker buildx --platform linux/arm64 --push</a:t>
            </a:r>
            <a:endParaRPr lang="en-US" sz="1700" dirty="0"/>
          </a:p>
        </p:txBody>
      </p:sp>
      <p:sp>
        <p:nvSpPr>
          <p:cNvPr id="14" name="Shape 11"/>
          <p:cNvSpPr/>
          <p:nvPr/>
        </p:nvSpPr>
        <p:spPr>
          <a:xfrm>
            <a:off x="548640" y="4206240"/>
            <a:ext cx="594360" cy="594360"/>
          </a:xfrm>
          <a:prstGeom prst="ellipse">
            <a:avLst/>
          </a:prstGeom>
          <a:solidFill>
            <a:srgbClr val="5B3FD0"/>
          </a:solidFill>
          <a:ln w="12700">
            <a:solidFill>
              <a:srgbClr val="5B3FD0"/>
            </a:solidFill>
            <a:prstDash val="solid"/>
          </a:ln>
        </p:spPr>
      </p:sp>
      <p:sp>
        <p:nvSpPr>
          <p:cNvPr id="15" name="Text 12"/>
          <p:cNvSpPr txBox="1"/>
          <p:nvPr/>
        </p:nvSpPr>
        <p:spPr>
          <a:xfrm>
            <a:off x="548640" y="420624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6" name="Text 13"/>
          <p:cNvSpPr txBox="1"/>
          <p:nvPr/>
        </p:nvSpPr>
        <p:spPr>
          <a:xfrm>
            <a:off x="1325880" y="4069080"/>
            <a:ext cx="10225735"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Ricarica con lo stesso tag v1</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errore: tag immutabile. Con v2 funziona</a:t>
            </a:r>
            <a:endParaRPr lang="en-US" sz="1700" dirty="0"/>
          </a:p>
        </p:txBody>
      </p:sp>
      <p:sp>
        <p:nvSpPr>
          <p:cNvPr id="17" name="Shape 14"/>
          <p:cNvSpPr/>
          <p:nvPr/>
        </p:nvSpPr>
        <p:spPr>
          <a:xfrm>
            <a:off x="548640" y="5120640"/>
            <a:ext cx="594360" cy="594360"/>
          </a:xfrm>
          <a:prstGeom prst="ellipse">
            <a:avLst/>
          </a:prstGeom>
          <a:solidFill>
            <a:srgbClr val="5B3FD0"/>
          </a:solidFill>
          <a:ln w="12700">
            <a:solidFill>
              <a:srgbClr val="5B3FD0"/>
            </a:solidFill>
            <a:prstDash val="solid"/>
          </a:ln>
        </p:spPr>
      </p:sp>
      <p:sp>
        <p:nvSpPr>
          <p:cNvPr id="18" name="Text 15"/>
          <p:cNvSpPr txBox="1"/>
          <p:nvPr/>
        </p:nvSpPr>
        <p:spPr>
          <a:xfrm>
            <a:off x="548640" y="512064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9" name="Text 16"/>
          <p:cNvSpPr txBox="1"/>
          <p:nvPr/>
        </p:nvSpPr>
        <p:spPr>
          <a:xfrm>
            <a:off x="1325880" y="4983480"/>
            <a:ext cx="10225735"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La scansione</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quante vulnerabilità, e di che gravità? Quasi tutte dall'immagine di partenza</a:t>
            </a:r>
            <a:endParaRPr lang="en-US" sz="17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Esercizio (2/2): il bucket e i permessi</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7 · Immagini e artefatti: ECR e S3</a:t>
            </a:r>
            <a:endParaRPr lang="en-US" sz="1000" dirty="0"/>
          </a:p>
        </p:txBody>
      </p:sp>
      <p:sp>
        <p:nvSpPr>
          <p:cNvPr id="5" name="Shape 2"/>
          <p:cNvSpPr/>
          <p:nvPr/>
        </p:nvSpPr>
        <p:spPr>
          <a:xfrm>
            <a:off x="548640" y="1463040"/>
            <a:ext cx="594360" cy="594360"/>
          </a:xfrm>
          <a:prstGeom prst="ellipse">
            <a:avLst/>
          </a:prstGeom>
          <a:solidFill>
            <a:srgbClr val="5B3FD0"/>
          </a:solidFill>
          <a:ln w="12700">
            <a:solidFill>
              <a:srgbClr val="5B3FD0"/>
            </a:solidFill>
            <a:prstDash val="solid"/>
          </a:ln>
        </p:spPr>
      </p:sp>
      <p:sp>
        <p:nvSpPr>
          <p:cNvPr id="6" name="Text 3"/>
          <p:cNvSpPr txBox="1"/>
          <p:nvPr/>
        </p:nvSpPr>
        <p:spPr>
          <a:xfrm>
            <a:off x="548640" y="146304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7" name="Text 4"/>
          <p:cNvSpPr txBox="1"/>
          <p:nvPr/>
        </p:nvSpPr>
        <p:spPr>
          <a:xfrm>
            <a:off x="1325880" y="1325880"/>
            <a:ext cx="10225735"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Un file in deploy/, poi aprilo dal browser</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AccessDenied: il bucket non è pubblico</a:t>
            </a:r>
            <a:endParaRPr lang="en-US" sz="1700" dirty="0"/>
          </a:p>
        </p:txBody>
      </p:sp>
      <p:sp>
        <p:nvSpPr>
          <p:cNvPr id="8" name="Shape 5"/>
          <p:cNvSpPr/>
          <p:nvPr/>
        </p:nvSpPr>
        <p:spPr>
          <a:xfrm>
            <a:off x="548640" y="2377440"/>
            <a:ext cx="594360" cy="594360"/>
          </a:xfrm>
          <a:prstGeom prst="ellipse">
            <a:avLst/>
          </a:prstGeom>
          <a:solidFill>
            <a:srgbClr val="D64545"/>
          </a:solidFill>
          <a:ln w="12700">
            <a:solidFill>
              <a:srgbClr val="D64545"/>
            </a:solidFill>
            <a:prstDash val="solid"/>
          </a:ln>
        </p:spPr>
      </p:sp>
      <p:sp>
        <p:nvSpPr>
          <p:cNvPr id="9" name="Text 6"/>
          <p:cNvSpPr txBox="1"/>
          <p:nvPr/>
        </p:nvSpPr>
        <p:spPr>
          <a:xfrm>
            <a:off x="548640" y="237744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7</a:t>
            </a:r>
            <a:endParaRPr lang="en-US" sz="1800" dirty="0"/>
          </a:p>
        </p:txBody>
      </p:sp>
      <p:sp>
        <p:nvSpPr>
          <p:cNvPr id="10" name="Text 7"/>
          <p:cNvSpPr txBox="1"/>
          <p:nvPr/>
        </p:nvSpPr>
        <p:spPr>
          <a:xfrm>
            <a:off x="1325880" y="2240280"/>
            <a:ext cx="10225735"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Ricaricalo forzando HTTP</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AccessDenied anche con tutti i permessi: il Deny vince</a:t>
            </a:r>
            <a:endParaRPr lang="en-US" sz="1700" dirty="0"/>
          </a:p>
        </p:txBody>
      </p:sp>
      <p:sp>
        <p:nvSpPr>
          <p:cNvPr id="11" name="Shape 8"/>
          <p:cNvSpPr/>
          <p:nvPr/>
        </p:nvSpPr>
        <p:spPr>
          <a:xfrm>
            <a:off x="548640" y="3291840"/>
            <a:ext cx="594360" cy="594360"/>
          </a:xfrm>
          <a:prstGeom prst="ellipse">
            <a:avLst/>
          </a:prstGeom>
          <a:solidFill>
            <a:srgbClr val="5B3FD0"/>
          </a:solidFill>
          <a:ln w="12700">
            <a:solidFill>
              <a:srgbClr val="5B3FD0"/>
            </a:solidFill>
            <a:prstDash val="solid"/>
          </a:ln>
        </p:spPr>
      </p:sp>
      <p:sp>
        <p:nvSpPr>
          <p:cNvPr id="12" name="Text 9"/>
          <p:cNvSpPr txBox="1"/>
          <p:nvPr/>
        </p:nvSpPr>
        <p:spPr>
          <a:xfrm>
            <a:off x="548640" y="329184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8</a:t>
            </a:r>
            <a:endParaRPr lang="en-US" sz="1800" dirty="0"/>
          </a:p>
        </p:txBody>
      </p:sp>
      <p:sp>
        <p:nvSpPr>
          <p:cNvPr id="13" name="Text 10"/>
          <p:cNvSpPr txBox="1"/>
          <p:nvPr/>
        </p:nvSpPr>
        <p:spPr>
          <a:xfrm>
            <a:off x="1325880" y="3154680"/>
            <a:ext cx="10225735"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Ricaricalo cambiato, poi list-object-versions</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due versioni, una sola "ultima"</a:t>
            </a:r>
            <a:endParaRPr lang="en-US" sz="1700" dirty="0"/>
          </a:p>
        </p:txBody>
      </p:sp>
      <p:sp>
        <p:nvSpPr>
          <p:cNvPr id="14" name="Shape 11"/>
          <p:cNvSpPr/>
          <p:nvPr/>
        </p:nvSpPr>
        <p:spPr>
          <a:xfrm>
            <a:off x="548640" y="4206240"/>
            <a:ext cx="594360" cy="594360"/>
          </a:xfrm>
          <a:prstGeom prst="ellipse">
            <a:avLst/>
          </a:prstGeom>
          <a:solidFill>
            <a:srgbClr val="5B3FD0"/>
          </a:solidFill>
          <a:ln w="12700">
            <a:solidFill>
              <a:srgbClr val="5B3FD0"/>
            </a:solidFill>
            <a:prstDash val="solid"/>
          </a:ln>
        </p:spPr>
      </p:sp>
      <p:sp>
        <p:nvSpPr>
          <p:cNvPr id="15" name="Text 12"/>
          <p:cNvSpPr txBox="1"/>
          <p:nvPr/>
        </p:nvSpPr>
        <p:spPr>
          <a:xfrm>
            <a:off x="548640" y="420624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9</a:t>
            </a:r>
            <a:endParaRPr lang="en-US" sz="1800" dirty="0"/>
          </a:p>
        </p:txBody>
      </p:sp>
      <p:sp>
        <p:nvSpPr>
          <p:cNvPr id="16" name="Text 13"/>
          <p:cNvSpPr txBox="1"/>
          <p:nvPr/>
        </p:nvSpPr>
        <p:spPr>
          <a:xfrm>
            <a:off x="1325880" y="4069080"/>
            <a:ext cx="10225735"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Dal server (SSM): leggi, elenca, scrivi</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leggere sì; elencare e scrivere no; login al registry sì</a:t>
            </a:r>
            <a:endParaRPr lang="en-US" sz="1700" dirty="0"/>
          </a:p>
        </p:txBody>
      </p:sp>
      <p:sp>
        <p:nvSpPr>
          <p:cNvPr id="17" name="Shape 14"/>
          <p:cNvSpPr/>
          <p:nvPr/>
        </p:nvSpPr>
        <p:spPr>
          <a:xfrm>
            <a:off x="548640" y="5120640"/>
            <a:ext cx="594360" cy="594360"/>
          </a:xfrm>
          <a:prstGeom prst="ellipse">
            <a:avLst/>
          </a:prstGeom>
          <a:solidFill>
            <a:srgbClr val="5B3FD0"/>
          </a:solidFill>
          <a:ln w="12700">
            <a:solidFill>
              <a:srgbClr val="5B3FD0"/>
            </a:solidFill>
            <a:prstDash val="solid"/>
          </a:ln>
        </p:spPr>
      </p:sp>
      <p:sp>
        <p:nvSpPr>
          <p:cNvPr id="18" name="Text 15"/>
          <p:cNvSpPr txBox="1"/>
          <p:nvPr/>
        </p:nvSpPr>
        <p:spPr>
          <a:xfrm>
            <a:off x="548640" y="512064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10</a:t>
            </a:r>
            <a:endParaRPr lang="en-US" sz="1800" dirty="0"/>
          </a:p>
        </p:txBody>
      </p:sp>
      <p:sp>
        <p:nvSpPr>
          <p:cNvPr id="19" name="Text 16"/>
          <p:cNvSpPr txBox="1"/>
          <p:nvPr/>
        </p:nvSpPr>
        <p:spPr>
          <a:xfrm>
            <a:off x="1325880" y="4983480"/>
            <a:ext cx="10225735" cy="868680"/>
          </a:xfrm>
          <a:prstGeom prst="rect">
            <a:avLst/>
          </a:prstGeom>
          <a:noFill/>
          <a:ln/>
        </p:spPr>
        <p:txBody>
          <a:bodyPr wrap="square" lIns="0" tIns="0" rIns="0" bIns="0" rtlCol="0" anchor="ctr"/>
          <a:lstStyle/>
          <a:p>
            <a:pPr indent="0" marL="0">
              <a:buNone/>
            </a:pPr>
            <a:r>
              <a:rPr lang="en-US" sz="1700" b="1" dirty="0">
                <a:solidFill>
                  <a:srgbClr val="22253A"/>
                </a:solidFill>
                <a:latin typeface="Calibri" pitchFamily="34" charset="0"/>
                <a:ea typeface="Calibri" pitchFamily="34" charset="-122"/>
                <a:cs typeface="Calibri" pitchFamily="34" charset="-120"/>
              </a:rPr>
              <a:t>Route table private: la rotta pl-… → vpce-…</a:t>
            </a:r>
            <a:endParaRPr lang="en-US" sz="1700" dirty="0"/>
          </a:p>
          <a:p>
            <a:pPr indent="0" marL="0">
              <a:buNone/>
            </a:pPr>
            <a:r>
              <a:rPr lang="en-US" sz="1400" dirty="0">
                <a:solidFill>
                  <a:srgbClr val="5F6478"/>
                </a:solidFill>
                <a:latin typeface="Calibri" pitchFamily="34" charset="0"/>
                <a:ea typeface="Calibri" pitchFamily="34" charset="-122"/>
                <a:cs typeface="Calibri" pitchFamily="34" charset="-120"/>
              </a:rPr>
              <a:t>è il Gateway Endpoint. In quella del database? No</a:t>
            </a:r>
            <a:endParaRPr lang="en-US" sz="17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Le parole della lezione</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7 · Immagini e artefatti: ECR e S3</a:t>
            </a:r>
            <a:endParaRPr lang="en-US" sz="1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194560"/>
                <a:gridCol w="3429000"/>
                <a:gridCol w="2377440"/>
                <a:gridCol w="3090672"/>
              </a:tblGrid>
              <a:tr h="68580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Parola</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Significato</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Parola</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Significato</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r>
              <a:tr h="685800">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container</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un'immagine in esecuzione</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Block Public Access</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le 4 levette: niente pubblico</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685800">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immagine</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il pacchetto costruito, che non cambia</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SSE-S3</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cifratura dei file gestita da S3</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r h="685800">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Dockerfile</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la ricetta dell'immagine</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aws:SecureTransport</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la richiesta è cifrata (HTTPS)?</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685800">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registry · ECR</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il magazzino delle immagini · quello di AWS</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Gateway Endpoint</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scorciatoia privata e gratuita verso S3</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r h="685800">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tag immutabile</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una versione, un nome, per sempre</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prefix list</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l'elenco degli indirizzi di S3</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685800">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lifecycle policy</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regole di pulizia automatica</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depends_on</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"crea prima queste risorse"</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B1F3B"/>
        </a:solidFill>
      </p:bgPr>
    </p:bg>
    <p:spTree>
      <p:nvGrpSpPr>
        <p:cNvPr id="1" name=""/>
        <p:cNvGrpSpPr/>
        <p:nvPr/>
      </p:nvGrpSpPr>
      <p:grpSpPr>
        <a:xfrm>
          <a:off x="0" y="0"/>
          <a:ext cx="0" cy="0"/>
          <a:chOff x="0" y="0"/>
          <a:chExt cx="0" cy="0"/>
        </a:xfrm>
      </p:grpSpPr>
      <p:sp>
        <p:nvSpPr>
          <p:cNvPr id="2" name="Text 0"/>
          <p:cNvSpPr txBox="1"/>
          <p:nvPr/>
        </p:nvSpPr>
        <p:spPr>
          <a:xfrm>
            <a:off x="548640" y="457200"/>
            <a:ext cx="10972800" cy="82296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Riepilogo</a:t>
            </a:r>
            <a:endParaRPr lang="en-US" sz="3600" dirty="0"/>
          </a:p>
        </p:txBody>
      </p:sp>
      <p:sp>
        <p:nvSpPr>
          <p:cNvPr id="3" name="Text 1"/>
          <p:cNvSpPr txBox="1"/>
          <p:nvPr/>
        </p:nvSpPr>
        <p:spPr>
          <a:xfrm>
            <a:off x="548640" y="1463040"/>
            <a:ext cx="6949440" cy="420624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E4E5F2"/>
                </a:solidFill>
                <a:latin typeface="Calibri" pitchFamily="34" charset="0"/>
                <a:ea typeface="Calibri" pitchFamily="34" charset="-122"/>
                <a:cs typeface="Calibri" pitchFamily="34" charset="-120"/>
              </a:rPr>
              <a:t>Si costruisce una volta (immagine), si conserva, il server scarica</a:t>
            </a:r>
            <a:endParaRPr lang="en-US" sz="1800" dirty="0"/>
          </a:p>
          <a:p>
            <a:pPr marL="342900" indent="-342900">
              <a:spcAft>
                <a:spcPts val="1000"/>
              </a:spcAft>
              <a:buSzPct val="100000"/>
              <a:buChar char="•"/>
            </a:pPr>
            <a:r>
              <a:rPr lang="en-US" sz="1800" dirty="0">
                <a:solidFill>
                  <a:srgbClr val="E4E5F2"/>
                </a:solidFill>
                <a:latin typeface="Calibri" pitchFamily="34" charset="0"/>
                <a:ea typeface="Calibri" pitchFamily="34" charset="-122"/>
                <a:cs typeface="Calibri" pitchFamily="34" charset="-120"/>
              </a:rPr>
              <a:t>ECR: privato, tag immutabili, scansione, pulizia automatica</a:t>
            </a:r>
            <a:endParaRPr lang="en-US" sz="1800" dirty="0"/>
          </a:p>
          <a:p>
            <a:pPr marL="342900" indent="-342900">
              <a:spcAft>
                <a:spcPts val="1000"/>
              </a:spcAft>
              <a:buSzPct val="100000"/>
              <a:buChar char="•"/>
            </a:pPr>
            <a:r>
              <a:rPr lang="en-US" sz="1800" dirty="0">
                <a:solidFill>
                  <a:srgbClr val="E4E5F2"/>
                </a:solidFill>
                <a:latin typeface="Calibri" pitchFamily="34" charset="0"/>
                <a:ea typeface="Calibri" pitchFamily="34" charset="-122"/>
                <a:cs typeface="Calibri" pitchFamily="34" charset="-120"/>
              </a:rPr>
              <a:t>S3 per i file di deploy: niente pubblico, versioning, cifratura</a:t>
            </a:r>
            <a:endParaRPr lang="en-US" sz="1800" dirty="0"/>
          </a:p>
          <a:p>
            <a:pPr marL="342900" indent="-342900">
              <a:spcAft>
                <a:spcPts val="1000"/>
              </a:spcAft>
              <a:buSzPct val="100000"/>
              <a:buChar char="•"/>
            </a:pPr>
            <a:r>
              <a:rPr lang="en-US" sz="1800" dirty="0">
                <a:solidFill>
                  <a:srgbClr val="E4E5F2"/>
                </a:solidFill>
                <a:latin typeface="Calibri" pitchFamily="34" charset="0"/>
                <a:ea typeface="Calibri" pitchFamily="34" charset="-122"/>
                <a:cs typeface="Calibri" pitchFamily="34" charset="-120"/>
              </a:rPr>
              <a:t>Bucket policy: ogni richiesta non HTTPS è rifiutata</a:t>
            </a:r>
            <a:endParaRPr lang="en-US" sz="1800" dirty="0"/>
          </a:p>
          <a:p>
            <a:pPr marL="342900" indent="-342900">
              <a:spcAft>
                <a:spcPts val="1000"/>
              </a:spcAft>
              <a:buSzPct val="100000"/>
              <a:buChar char="•"/>
            </a:pPr>
            <a:r>
              <a:rPr lang="en-US" sz="1800" dirty="0">
                <a:solidFill>
                  <a:srgbClr val="E4E5F2"/>
                </a:solidFill>
                <a:latin typeface="Calibri" pitchFamily="34" charset="0"/>
                <a:ea typeface="Calibri" pitchFamily="34" charset="-122"/>
                <a:cs typeface="Calibri" pitchFamily="34" charset="-120"/>
              </a:rPr>
              <a:t>Gateway Endpoint: verso S3 senza NAT, gratuito</a:t>
            </a:r>
            <a:endParaRPr lang="en-US" sz="1800" dirty="0"/>
          </a:p>
          <a:p>
            <a:pPr marL="342900" indent="-342900">
              <a:spcAft>
                <a:spcPts val="1000"/>
              </a:spcAft>
              <a:buSzPct val="100000"/>
              <a:buChar char="•"/>
            </a:pPr>
            <a:r>
              <a:rPr lang="en-US" sz="1800" dirty="0">
                <a:solidFill>
                  <a:srgbClr val="E4E5F2"/>
                </a:solidFill>
                <a:latin typeface="Calibri" pitchFamily="34" charset="0"/>
                <a:ea typeface="Calibri" pitchFamily="34" charset="-122"/>
                <a:cs typeface="Calibri" pitchFamily="34" charset="-120"/>
              </a:rPr>
              <a:t>Il server può solo scaricare: privilegio minimo</a:t>
            </a:r>
            <a:endParaRPr lang="en-US" sz="1800" dirty="0"/>
          </a:p>
        </p:txBody>
      </p:sp>
      <p:sp>
        <p:nvSpPr>
          <p:cNvPr id="4" name="Shape 2"/>
          <p:cNvSpPr/>
          <p:nvPr/>
        </p:nvSpPr>
        <p:spPr>
          <a:xfrm>
            <a:off x="7955280" y="1463040"/>
            <a:ext cx="3685032" cy="2103120"/>
          </a:xfrm>
          <a:prstGeom prst="roundRect">
            <a:avLst>
              <a:gd name="adj" fmla="val 5217"/>
            </a:avLst>
          </a:prstGeom>
          <a:solidFill>
            <a:srgbClr val="2A2F55"/>
          </a:solidFill>
          <a:ln w="12700">
            <a:solidFill>
              <a:srgbClr val="2A2F55"/>
            </a:solidFill>
            <a:prstDash val="solid"/>
          </a:ln>
        </p:spPr>
      </p:sp>
      <p:sp>
        <p:nvSpPr>
          <p:cNvPr id="5" name="Text 3"/>
          <p:cNvSpPr txBox="1"/>
          <p:nvPr/>
        </p:nvSpPr>
        <p:spPr>
          <a:xfrm>
            <a:off x="8183880" y="1645920"/>
            <a:ext cx="3291840" cy="1737360"/>
          </a:xfrm>
          <a:prstGeom prst="rect">
            <a:avLst/>
          </a:prstGeom>
          <a:noFill/>
          <a:ln/>
        </p:spPr>
        <p:txBody>
          <a:bodyPr wrap="square" lIns="0" tIns="0" rIns="0" bIns="0" rtlCol="0" anchor="t"/>
          <a:lstStyle/>
          <a:p>
            <a:pPr indent="0" marL="0">
              <a:buNone/>
            </a:pPr>
            <a:r>
              <a:rPr lang="en-US" sz="1600" b="1" dirty="0">
                <a:solidFill>
                  <a:srgbClr val="F28C28"/>
                </a:solidFill>
                <a:latin typeface="Calibri" pitchFamily="34" charset="0"/>
                <a:ea typeface="Calibri" pitchFamily="34" charset="-122"/>
                <a:cs typeface="Calibri" pitchFamily="34" charset="-120"/>
              </a:rPr>
              <a:t>Materiale di studio</a:t>
            </a:r>
            <a:endParaRPr lang="en-US" sz="1600" dirty="0"/>
          </a:p>
          <a:p>
            <a:pPr indent="0" marL="0">
              <a:buNone/>
            </a:pPr>
            <a:r>
              <a:rPr lang="en-US" sz="1400" dirty="0">
                <a:solidFill>
                  <a:srgbClr val="FFFFFF"/>
                </a:solidFill>
                <a:latin typeface="Courier New" pitchFamily="34" charset="0"/>
                <a:ea typeface="Courier New" pitchFamily="34" charset="-122"/>
                <a:cs typeface="Courier New" pitchFamily="34" charset="-120"/>
              </a:rPr>
              <a:t>dispense/dispensa-7-ecr-s3.md</a:t>
            </a:r>
            <a:endParaRPr lang="en-US" sz="1600" dirty="0"/>
          </a:p>
        </p:txBody>
      </p:sp>
      <p:sp>
        <p:nvSpPr>
          <p:cNvPr id="6" name="Shape 4"/>
          <p:cNvSpPr/>
          <p:nvPr/>
        </p:nvSpPr>
        <p:spPr>
          <a:xfrm>
            <a:off x="7955280" y="3840480"/>
            <a:ext cx="3685032" cy="1463040"/>
          </a:xfrm>
          <a:prstGeom prst="roundRect">
            <a:avLst>
              <a:gd name="adj" fmla="val 7500"/>
            </a:avLst>
          </a:prstGeom>
          <a:solidFill>
            <a:srgbClr val="5B3FD0"/>
          </a:solidFill>
          <a:ln w="12700">
            <a:solidFill>
              <a:srgbClr val="5B3FD0"/>
            </a:solidFill>
            <a:prstDash val="solid"/>
          </a:ln>
        </p:spPr>
      </p:sp>
      <p:sp>
        <p:nvSpPr>
          <p:cNvPr id="7" name="Text 5"/>
          <p:cNvSpPr txBox="1"/>
          <p:nvPr/>
        </p:nvSpPr>
        <p:spPr>
          <a:xfrm>
            <a:off x="8183880" y="4023360"/>
            <a:ext cx="3291840" cy="1097280"/>
          </a:xfrm>
          <a:prstGeom prst="rect">
            <a:avLst/>
          </a:prstGeom>
          <a:noFill/>
          <a:ln/>
        </p:spPr>
        <p:txBody>
          <a:bodyPr wrap="square" lIns="0" tIns="0" rIns="0" bIns="0" rtlCol="0" anchor="t"/>
          <a:lstStyle/>
          <a:p>
            <a:pPr indent="0" marL="0">
              <a:buNone/>
            </a:pPr>
            <a:r>
              <a:rPr lang="en-US" sz="1400" b="1" dirty="0">
                <a:solidFill>
                  <a:srgbClr val="D9D2FF"/>
                </a:solidFill>
                <a:latin typeface="Calibri" pitchFamily="34" charset="0"/>
                <a:ea typeface="Calibri" pitchFamily="34" charset="-122"/>
                <a:cs typeface="Calibri" pitchFamily="34" charset="-120"/>
              </a:rPr>
              <a:t>Prossima lezione</a:t>
            </a:r>
            <a:endParaRPr lang="en-US" sz="1400" dirty="0"/>
          </a:p>
          <a:p>
            <a:pPr indent="0" marL="0">
              <a:buNone/>
            </a:pPr>
            <a:r>
              <a:rPr lang="en-US" sz="1800" b="1" dirty="0">
                <a:solidFill>
                  <a:srgbClr val="FFFFFF"/>
                </a:solidFill>
                <a:latin typeface="Calibri" pitchFamily="34" charset="0"/>
                <a:ea typeface="Calibri" pitchFamily="34" charset="-122"/>
                <a:cs typeface="Calibri" pitchFamily="34" charset="-120"/>
              </a:rPr>
              <a:t>Deploy end-to-end</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cereZ23</dc:creator>
  <cp:lastModifiedBy>cereZ23</cp:lastModifiedBy>
  <cp:revision>1</cp:revision>
  <dcterms:created xsi:type="dcterms:W3CDTF">2026-10-08T11:01:42Z</dcterms:created>
  <dcterms:modified xsi:type="dcterms:W3CDTF">2026-10-08T11:01:42Z</dcterms:modified>
</cp:coreProperties>
</file>