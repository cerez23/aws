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server c'è, il database pure. Ma sul server gira ancora una pagina finta, scritta nello script di avvio. Un'applicazione vera va costruita da qualche parte, conservata in un posto sicuro e scaricata dal server. Oggi prepariamo i due magazzini: ECR per le immagini dei container, S3 per i file di deploy. Nella prossima lezione li usiamo per il deploy 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il codice dell'applicazione sta dentro il user_data. Per una pagina di prova va bene, per un'applicazione vera no. Il server dovrebbe installarsi da solo tutto quello che serve: lento, e ogni server rischia di venire diverso. Non c'è una versione precisa: alla domanda cosa gira in produzione non c'è una risposta sicura. E il user_data è un foglio di istruzioni, non un magazzino. La soluzione usata ovunque: si costruisce l'applicazione una volta, in un pacchetto completo con un nome di versione; il pacchetto si conserva in un magazzino; il server lo scarica e lo avvia.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percorso che costruiamo tra oggi e la prossima lezione. Uno: dal codice si costruisce una volta un'immagine, con un nome di versione. Due: l'immagine si conserva in ECR, il magazzino delle immagini; i file di deploy, come il docker-compose, si conservano in S3. Tre: il server, all'avvio, scarica l'immagine e i file, e legge la password da Secrets Manager. Oggi costruiamo i due magazzini. Nella lezione 8 il passo uno lo farà da solo GitHub Actions; nella lezione 9 il passo tre lo farà il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container impacchetta un'applicazione insieme a tutto ciò che le serve: il linguaggio, le librerie, la configurazione. Gira uguale ovunque, perché si porta dietro il suo ambiente. È come un piatto pronto surgelato: dentro c'è già tutto, chi lo riceve non deve sapere la ricetta, lo scalda e lo serve. Il Dockerfile è la ricetta. L'immagine è la confezione surgelata, che non cambia più. Il container è il piatto servito, cioè l'immagine in esecuzione. Il tag è l'etichetta con il lotto, il nome della versione. Il registry è il magazzino. Docker è la cucina, il programma che costruisce e fa girare i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Un'immagine si indica con tre pezzi: l'indirizzo del registry, il nome, il tag. Il registry ECR ha un indirizzo che contiene il numero del vostro account e la regione. Poi il nome del repository, nel nostro caso corso-aws barra app: la barra non crea una cartella, fa solo parte del nome. Poi, dopo i due punti, il tag. Quando il server scarica corso-aws/app:v1 sa esattamente quale versione sta prendendo.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ECR, Elastic Container Registry, è il registry di AWS. Ogni applicazione ha il suo repository, uno scaffale con tutte le versioni. Rispetto a Docker Hub è privato, serve un permesso IAM per scaricare, e sta nella stessa regione del server. Quattro scelte per il nostro repository: tag immutabili, scansione delle vulnerabilità al caricamento, pulizia automatica delle immagini vecchie, cifratura con la chiave di AWS. Le vediamo una per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default un tag si può sovrascrivere: caricate una nuova immagine con il tag v1 e la vecchia v1 sparisce. Vuol dire che v1 oggi e v1 domani possono essere due programmi diversi, e un server ricreato stanotte potrebbe scaricare una versione che nessuno ha mai provato. Con i tag immutabili un tag usato non si riusa più: ogni versione ha il suo nome per sempre. È il numero di lotto: due confezioni con lo stesso numero devono essere identiche. Per una versione nuova, un tag nuovo: nella lezione 8 useremo il codice del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magazzini, tre tipi di cose. Il programma con tutto ciò che gli serve va in ECR, come immagine. I file di deploy non segreti, come il docker-compose o le configurazioni, vanno in S3. Password, chiavi e token vanno in Secrets Manager, che abbiamo visto nella lezione 6: permessi per singolo segreto, rotazione, ogni lettura registrata. Mai mischiare: una password dentro un'immagine o in un file su S3 è una password che finisce dove non deve.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bucket con i file di deploy è un bersaglio: chi potesse scriverci deciderebbe cosa gira sul server. Lo chiudiamo con quattro protezioni. Block Public Access: niente accesso pubblico, mai, nemmeno per errore. Versioning, che conoscete dalla lezione 0: un file sbagliato non cancella quello buono. Cifratura SSE-S3, gratuita e trasparente. E una bucket policy che rifiuta ogni richiesta non cifrata.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bucket può diventare pubblico in due modi: con una bucket policy che dà accesso a tutti, o con le ACL, un vecchio sistema di permessi per singolo file. Il Block Public Access è un interruttore generale con quattro levette, e vince su tutto: con tutte e quattro accese, nessuna policy e nessuna ACL può rendere pubblico il bucket. In più spegniamo del tutto le ACL, così i permessi si decidono in un posto solo. Sui bucket nuovi AWS lo fa già, ma lo scriviamo: come rds.force_ssl, un default invisibile può sparire.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bucket policy è una resource-based policy, lezione 1: sta sul bucket. La nostra ha una sola regola, un Deny. Chiunque, per qualunque operazione, se la richiesta non arriva cifrata: rifiuta. La condizione si chiama aws:SecureTransport, che vale vero se la richiesta viaggia in TLS. È lo stesso principio di rds.force_ssl: i dati in viaggio si cifrano sempre, e lo si impone. E ricordate: un Deny esplicito vince su qualunque Allow, anche su un amministratore.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Mettiamo insieme le protezioni, seguendo una richiesta. Arriva da internet senza login AWS? La ferma il Block Public Access. È in chiaro, non HTTPS? La ferma il Deny della bucket policy. Chi chiede ha il permesso IAM per quell'operazione? Se no, nessun Allow, rifiutata. Solo se supera tutti e tre i controlli passa.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server sta in una subnet privata: per arrivare a S3 oggi passa dal NAT, come per internet. Funziona, ma il NAT si paga per ogni GB, e il traffico esce dalla nostra rete per poi rientrare in AWS. Il Gateway Endpoint per S3 è una scorciatoia: una rotta in più nelle route table private, che porta il traffico per S3 direttamente a S3, dentro la rete di AWS. È gratuito. La rotta ha come destinazione una prefix list, l'elenco degli indirizzi di S3 mantenuto da AWS. Il server non cambia niente. E c'è un vantaggio nascosto: ECR conserva i pezzi delle immagini in S3, quindi anche la parte pesante dei download delle immagini passa dalla scorciatoia.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server deve scaricare l'immagine e leggere i file di deploy. Niente di più. La policy pronta di AWS per ECR permette di leggere tutti i repository dell'account: ne scriviamo una nostra. Il login al registry, che AWS accetta solo su tutto, l'asterisco, perché non riguarda un repository preciso. Lo scaricamento dell'immagine, solo dal nostro repository. La lettura dei file, solo quelli sotto deploy nel nostro bucket. E notate cosa manca: elencare i file, scrivere, caricare immagini. Le immagini le caricherà GitHub Actions, con un altro role, nella lezione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repository. Il nome è corso-aws/app. image_tag_mutability IMMUTABLE rende i tag immutabili. Il blocco di scansione accende il controllo al caricamento. La cifratura KMS, senza indicare una chiave, usa quella di AWS; attenzione, si sceglie alla creazione, come per il database. force_delete permette al destroy di cancellare il repository anche se contiene immagini: comodo in laboratorio, in produzione si toglie, perché è come un deletion_protection spento.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di pulizia sono un documento JSON, costruito con jsonencode come la policy di Tailscale nella lezione 5. Ogni regola ha una priorità, si applica prima il numero più basso; una selezione, cioè quali immagini; e un'azione, expire, cancella. Regola uno: le immagini senza tag, via dopo un giorno. Regola due: si tengono le ultime 20. La regola con tagStatus any deve avere il numero più alto: AWS lo pretende.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bucket. Il nome contiene il numero dell'account, dalla lezione 1, perché i nomi dei bucket sono unici al mondo. force_destroy solo per il laboratorio. Poi ogni aspetto del bucket è una risorsa separata, che lo indica con bucket uguale aws_s3_bucket.artifacts.id. Qui il Block Public Access con le quattro levette e il versioning. Le altre tre configurazioni sono nella prossima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altre configurazioni del bucket, in breve: le ACL spente, la cifratura AES256 che è il nome tecnico di SSE-S3, e la pulizia delle versioni vecchie dopo 30 giorni; filter vuoto vuol dire per tutti i file. La bucket policy si attacca con aws_s3_bucket_policy; depends_on dice a Terraform di creare prima le levette del Block Public Access. Poi la scorciatoia: il servizio S3 della nostra regione, di tipo Gateway, sulle route table private con un'espressione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policy del server, con tre statement. sid è un'etichetta facoltativa, utile solo a chi legge. Il login al registry su tutto. Lo scaricamento solo dal nostro repository, con il suo ARN. La lettura solo dei file sotto deploy. Poi, come nella lezione 6, la policy si crea con aws_iam_policy e si attacca al role del server con aws_iam_role_policy_attachment: ora il role ha tre policy, SSM, password del database e artefatti.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è nella dispensa 7. Prima parte, con Docker sul vostro computer. Uno: plan e apply. Due: in console controllate le impostazioni del repository e del bucket. Tre: costruite una piccola immagine, la stessa pagina della lezione 4 dentro un container, per processori ARM, e la caricate con il tag v1. Quattro: ricaricate con lo stesso tag v1: errore, il tag è immutabile; con v2 funziona. Cinque: guardate i risultati della scansione.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Sei: caricate un file sotto deploy e provate ad aprirlo dal browser: AccessDenied, non è pubblico. Sette: ricaricatelo forzando HTTP: AccessDenied anche con tutti i permessi, è il Deny della bucket policy. Otto: ricaricatelo cambiato e guardate le due versioni. Nove: dal server, con SSM, leggere funziona, elencare e scrivere no, il login al registry sì. Dieci: nelle route table private trovate la rotta verso la prefix list di S3; in quella del database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7, con ecr.tf e s3.tf spiegati blocco per blocco e l'esercizio con tutti i comandi. La prossima volta GitHub Actions costruisce l'immagine da solo, senza chiavi salvate, e la carica in ECR; nella lezione 9 il server la metterà in produzione.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7</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7 · Immagini e artefatti: ECR e S3</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Immagini e artefatti: ECR e S3</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 due magazzini da cui il server prenderà l'applicazione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l'app dentro lo script di avvio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486400"/>
                <a:gridCol w="5605272"/>
              </a:tblGrid>
              <a:tr h="68580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Con l'app dentro il user_data…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Perché è un problema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server si installa da solo tutto ciò che serve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lento, e ogni server rischia di venire diverso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non c'è una versione precisa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"cosa gira in produzione?" non ha una risposta sicura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user_data contiene il programma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è un foglio di istruzioni, non un magazzino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480560"/>
            <a:ext cx="11094415" cy="1005840"/>
          </a:xfrm>
          <a:prstGeom prst="roundRect">
            <a:avLst>
              <a:gd name="adj" fmla="val 9091"/>
            </a:avLst>
          </a:prstGeom>
          <a:solidFill>
            <a:srgbClr val="5B3FD0"/>
          </a:solidFill>
          <a:ln w="12700">
            <a:solidFill>
              <a:srgbClr val="5B3FD0"/>
            </a:solidFill>
            <a:prstDash val="solid"/>
          </a:ln>
        </p:spPr>
      </p:sp>
      <p:sp>
        <p:nvSpPr>
          <p:cNvPr id="7" name="Text 3"/>
          <p:cNvSpPr txBox="1"/>
          <p:nvPr/>
        </p:nvSpPr>
        <p:spPr>
          <a:xfrm>
            <a:off x="822960" y="4480560"/>
            <a:ext cx="10545775" cy="10058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Si COSTRUISCE una volta, si CONSERVA in un magazzino, il server lo SCARICA e lo avvia.</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Costruisci, conserva, scarica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1828800" y="1508760"/>
            <a:ext cx="914400" cy="91440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2057400" y="1737360"/>
            <a:ext cx="457200" cy="457200"/>
          </a:xfrm>
          <a:prstGeom prst="rect">
            <a:avLst/>
          </a:prstGeom>
        </p:spPr>
      </p:pic>
      <p:sp>
        <p:nvSpPr>
          <p:cNvPr id="7" name="Text 3"/>
          <p:cNvSpPr txBox="1"/>
          <p:nvPr/>
        </p:nvSpPr>
        <p:spPr>
          <a:xfrm>
            <a:off x="548640" y="256032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1. Costruisci</a:t>
            </a:r>
            <a:endParaRPr lang="en-US" sz="2000" dirty="0"/>
          </a:p>
        </p:txBody>
      </p:sp>
      <p:sp>
        <p:nvSpPr>
          <p:cNvPr id="8" name="Text 4"/>
          <p:cNvSpPr txBox="1"/>
          <p:nvPr/>
        </p:nvSpPr>
        <p:spPr>
          <a:xfrm>
            <a:off x="731520" y="3017520"/>
            <a:ext cx="3200400" cy="100584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una volta: il codice diventa un'immagine con un nome di versione (app:v1)</a:t>
            </a:r>
            <a:endParaRPr lang="en-US" sz="1500" dirty="0"/>
          </a:p>
        </p:txBody>
      </p:sp>
      <p:sp>
        <p:nvSpPr>
          <p:cNvPr id="9" name="Shape 5"/>
          <p:cNvSpPr/>
          <p:nvPr/>
        </p:nvSpPr>
        <p:spPr>
          <a:xfrm>
            <a:off x="2926080" y="1965960"/>
            <a:ext cx="2194560" cy="0"/>
          </a:xfrm>
          <a:prstGeom prst="line">
            <a:avLst/>
          </a:prstGeom>
          <a:noFill/>
          <a:ln w="25400">
            <a:solidFill>
              <a:srgbClr val="D9D6EC"/>
            </a:solidFill>
            <a:prstDash val="solid"/>
            <a:tailEnd type="triangle"/>
          </a:ln>
        </p:spPr>
      </p:sp>
      <p:sp>
        <p:nvSpPr>
          <p:cNvPr id="10" name="Shape 6"/>
          <p:cNvSpPr/>
          <p:nvPr/>
        </p:nvSpPr>
        <p:spPr>
          <a:xfrm>
            <a:off x="5577840" y="1508760"/>
            <a:ext cx="914400" cy="914400"/>
          </a:xfrm>
          <a:prstGeom prst="ellipse">
            <a:avLst/>
          </a:prstGeom>
          <a:solidFill>
            <a:srgbClr val="F28C28"/>
          </a:solidFill>
          <a:ln w="12700">
            <a:solidFill>
              <a:srgbClr val="F28C28"/>
            </a:solidFill>
            <a:prstDash val="solid"/>
          </a:ln>
        </p:spPr>
      </p:sp>
      <p:pic>
        <p:nvPicPr>
          <p:cNvPr id="11" name="Image 1" descr="preencoded.png">    </p:cNvPr>
          <p:cNvPicPr>
            <a:picLocks noChangeAspect="1"/>
          </p:cNvPicPr>
          <p:nvPr/>
        </p:nvPicPr>
        <p:blipFill>
          <a:blip r:embed="rId2"/>
          <a:stretch>
            <a:fillRect/>
          </a:stretch>
        </p:blipFill>
        <p:spPr>
          <a:xfrm>
            <a:off x="5806440" y="1737360"/>
            <a:ext cx="457200" cy="457200"/>
          </a:xfrm>
          <a:prstGeom prst="rect">
            <a:avLst/>
          </a:prstGeom>
        </p:spPr>
      </p:pic>
      <p:sp>
        <p:nvSpPr>
          <p:cNvPr id="12" name="Text 7"/>
          <p:cNvSpPr txBox="1"/>
          <p:nvPr/>
        </p:nvSpPr>
        <p:spPr>
          <a:xfrm>
            <a:off x="4297680" y="256032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2. Conserva</a:t>
            </a:r>
            <a:endParaRPr lang="en-US" sz="2000" dirty="0"/>
          </a:p>
        </p:txBody>
      </p:sp>
      <p:sp>
        <p:nvSpPr>
          <p:cNvPr id="13" name="Text 8"/>
          <p:cNvSpPr txBox="1"/>
          <p:nvPr/>
        </p:nvSpPr>
        <p:spPr>
          <a:xfrm>
            <a:off x="4480560" y="3017520"/>
            <a:ext cx="3200400" cy="100584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l'immagine in ECR, i file di deploy in S3</a:t>
            </a:r>
            <a:endParaRPr lang="en-US" sz="1500" dirty="0"/>
          </a:p>
        </p:txBody>
      </p:sp>
      <p:sp>
        <p:nvSpPr>
          <p:cNvPr id="14" name="Shape 9"/>
          <p:cNvSpPr/>
          <p:nvPr/>
        </p:nvSpPr>
        <p:spPr>
          <a:xfrm>
            <a:off x="6675120" y="1965960"/>
            <a:ext cx="2194560" cy="0"/>
          </a:xfrm>
          <a:prstGeom prst="line">
            <a:avLst/>
          </a:prstGeom>
          <a:noFill/>
          <a:ln w="25400">
            <a:solidFill>
              <a:srgbClr val="D9D6EC"/>
            </a:solidFill>
            <a:prstDash val="solid"/>
            <a:tailEnd type="triangle"/>
          </a:ln>
        </p:spPr>
      </p:sp>
      <p:sp>
        <p:nvSpPr>
          <p:cNvPr id="15" name="Shape 10"/>
          <p:cNvSpPr/>
          <p:nvPr/>
        </p:nvSpPr>
        <p:spPr>
          <a:xfrm>
            <a:off x="9326880" y="1508760"/>
            <a:ext cx="914400" cy="914400"/>
          </a:xfrm>
          <a:prstGeom prst="ellipse">
            <a:avLst/>
          </a:prstGeom>
          <a:solidFill>
            <a:srgbClr val="2E9E6B"/>
          </a:solidFill>
          <a:ln w="12700">
            <a:solidFill>
              <a:srgbClr val="2E9E6B"/>
            </a:solidFill>
            <a:prstDash val="solid"/>
          </a:ln>
        </p:spPr>
      </p:sp>
      <p:pic>
        <p:nvPicPr>
          <p:cNvPr id="16" name="Image 2" descr="preencoded.png">    </p:cNvPr>
          <p:cNvPicPr>
            <a:picLocks noChangeAspect="1"/>
          </p:cNvPicPr>
          <p:nvPr/>
        </p:nvPicPr>
        <p:blipFill>
          <a:blip r:embed="rId3"/>
          <a:stretch>
            <a:fillRect/>
          </a:stretch>
        </p:blipFill>
        <p:spPr>
          <a:xfrm>
            <a:off x="9555480" y="1737360"/>
            <a:ext cx="457200" cy="457200"/>
          </a:xfrm>
          <a:prstGeom prst="rect">
            <a:avLst/>
          </a:prstGeom>
        </p:spPr>
      </p:pic>
      <p:sp>
        <p:nvSpPr>
          <p:cNvPr id="17" name="Text 11"/>
          <p:cNvSpPr txBox="1"/>
          <p:nvPr/>
        </p:nvSpPr>
        <p:spPr>
          <a:xfrm>
            <a:off x="8046720" y="256032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3. Scarica</a:t>
            </a:r>
            <a:endParaRPr lang="en-US" sz="2000" dirty="0"/>
          </a:p>
        </p:txBody>
      </p:sp>
      <p:sp>
        <p:nvSpPr>
          <p:cNvPr id="18" name="Text 12"/>
          <p:cNvSpPr txBox="1"/>
          <p:nvPr/>
        </p:nvSpPr>
        <p:spPr>
          <a:xfrm>
            <a:off x="8229600" y="3017520"/>
            <a:ext cx="3200400" cy="100584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il server prende immagine e file, e la password da Secrets Manager</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06240"/>
          <a:ext cx="11094415" cy="914400"/>
        </p:xfrm>
        <a:graphic>
          <a:graphicData uri="http://schemas.openxmlformats.org/drawingml/2006/table">
            <a:tbl>
              <a:tblPr/>
              <a:tblGrid>
                <a:gridCol w="2377440"/>
                <a:gridCol w="4480560"/>
                <a:gridCol w="4233672"/>
              </a:tblGrid>
              <a:tr h="502920">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Oggi (lezione 7)</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Lezioni 8 e 9</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0292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Costruire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 mano, dal tuo computer, con Docker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solo: GitHub Actions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0292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Conservare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creiamo ECR e S3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0292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Scaricare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proviamo i permessi del server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server, a ogni avvio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Container e immagini, in breve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Container = l'app impacchettata con TUTTO ciò che le serve. Come un piatto pronto surgelato.</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2194560"/>
                <a:gridCol w="5669280"/>
                <a:gridCol w="322783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Cos'è</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Analogia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Dockerfile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file che dice come costruire l'immagine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 ricetta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Immagine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pacchetto costruito, che non cambia più</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 confezione surgelata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Container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un'immagine IN ESECUZIONE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piatto servito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Tag</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nome di versione: v1, o il codice di un commit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l'etichetta con il lotto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Registry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dove le immagini si caricano (push) e si scaricano (pull)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magazzino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Docker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programma che costruisce e fa girare i container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 cucina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legge il nome di un'immagine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463040"/>
            <a:ext cx="11094415" cy="914400"/>
          </a:xfrm>
          <a:prstGeom prst="roundRect">
            <a:avLst>
              <a:gd name="adj" fmla="val 8000"/>
            </a:avLst>
          </a:prstGeom>
          <a:solidFill>
            <a:srgbClr val="1E1E2E"/>
          </a:solidFill>
          <a:ln w="12700">
            <a:solidFill>
              <a:srgbClr val="1E1E2E"/>
            </a:solidFill>
            <a:prstDash val="solid"/>
          </a:ln>
        </p:spPr>
      </p:sp>
      <p:sp>
        <p:nvSpPr>
          <p:cNvPr id="6" name="Text 3"/>
          <p:cNvSpPr txBox="1"/>
          <p:nvPr/>
        </p:nvSpPr>
        <p:spPr>
          <a:xfrm>
            <a:off x="731520" y="1600200"/>
            <a:ext cx="10728655" cy="640080"/>
          </a:xfrm>
          <a:prstGeom prst="rect">
            <a:avLst/>
          </a:prstGeom>
          <a:noFill/>
          <a:ln/>
        </p:spPr>
        <p:txBody>
          <a:bodyPr wrap="square" lIns="0" tIns="0" rIns="0" bIns="0" rtlCol="0" anchor="t"/>
          <a:lstStyle/>
          <a:p>
            <a:pPr indent="0" marL="0">
              <a:buNone/>
            </a:pPr>
            <a:r>
              <a:rPr lang="en-US" sz="2200" dirty="0">
                <a:solidFill>
                  <a:srgbClr val="E6E6F0"/>
                </a:solidFill>
                <a:latin typeface="Courier New" pitchFamily="34" charset="0"/>
                <a:ea typeface="Courier New" pitchFamily="34" charset="-122"/>
                <a:cs typeface="Courier New" pitchFamily="34" charset="-120"/>
              </a:rPr>
              <a:t>123456789012.dkr.ecr.eu-south-1.amazonaws.com/corso-aws/app:v1</a:t>
            </a:r>
            <a:endParaRPr lang="en-US" sz="2200" dirty="0"/>
          </a:p>
        </p:txBody>
      </p:sp>
      <p:sp>
        <p:nvSpPr>
          <p:cNvPr id="7" name="Shape 4"/>
          <p:cNvSpPr/>
          <p:nvPr/>
        </p:nvSpPr>
        <p:spPr>
          <a:xfrm>
            <a:off x="548640" y="2743200"/>
            <a:ext cx="3566160" cy="1280160"/>
          </a:xfrm>
          <a:prstGeom prst="roundRect">
            <a:avLst>
              <a:gd name="adj" fmla="val 7143"/>
            </a:avLst>
          </a:prstGeom>
          <a:solidFill>
            <a:srgbClr val="EEEAFB"/>
          </a:solidFill>
          <a:ln w="12700">
            <a:solidFill>
              <a:srgbClr val="EEEAFB"/>
            </a:solidFill>
            <a:prstDash val="solid"/>
          </a:ln>
        </p:spPr>
      </p:sp>
      <p:sp>
        <p:nvSpPr>
          <p:cNvPr id="8" name="Text 5"/>
          <p:cNvSpPr txBox="1"/>
          <p:nvPr/>
        </p:nvSpPr>
        <p:spPr>
          <a:xfrm>
            <a:off x="548640" y="2743200"/>
            <a:ext cx="3566160" cy="12801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il registry</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magazzino ECR del tuo account, a Milano</a:t>
            </a:r>
            <a:endParaRPr lang="en-US" sz="1500" dirty="0"/>
          </a:p>
        </p:txBody>
      </p:sp>
      <p:sp>
        <p:nvSpPr>
          <p:cNvPr id="9" name="Shape 6"/>
          <p:cNvSpPr/>
          <p:nvPr/>
        </p:nvSpPr>
        <p:spPr>
          <a:xfrm>
            <a:off x="4297680" y="2743200"/>
            <a:ext cx="3566160" cy="1280160"/>
          </a:xfrm>
          <a:prstGeom prst="roundRect">
            <a:avLst>
              <a:gd name="adj" fmla="val 7143"/>
            </a:avLst>
          </a:prstGeom>
          <a:solidFill>
            <a:srgbClr val="FDF0E3"/>
          </a:solidFill>
          <a:ln w="12700">
            <a:solidFill>
              <a:srgbClr val="FDF0E3"/>
            </a:solidFill>
            <a:prstDash val="solid"/>
          </a:ln>
        </p:spPr>
      </p:sp>
      <p:sp>
        <p:nvSpPr>
          <p:cNvPr id="10" name="Text 7"/>
          <p:cNvSpPr txBox="1"/>
          <p:nvPr/>
        </p:nvSpPr>
        <p:spPr>
          <a:xfrm>
            <a:off x="4297680" y="2743200"/>
            <a:ext cx="3566160" cy="12801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il nome</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corso-aws/app: la barra fa parte del nome</a:t>
            </a:r>
            <a:endParaRPr lang="en-US" sz="1500" dirty="0"/>
          </a:p>
        </p:txBody>
      </p:sp>
      <p:sp>
        <p:nvSpPr>
          <p:cNvPr id="11" name="Shape 8"/>
          <p:cNvSpPr/>
          <p:nvPr/>
        </p:nvSpPr>
        <p:spPr>
          <a:xfrm>
            <a:off x="8046720" y="2743200"/>
            <a:ext cx="3566160" cy="1280160"/>
          </a:xfrm>
          <a:prstGeom prst="roundRect">
            <a:avLst>
              <a:gd name="adj" fmla="val 7143"/>
            </a:avLst>
          </a:prstGeom>
          <a:solidFill>
            <a:srgbClr val="E5F4EC"/>
          </a:solidFill>
          <a:ln w="12700">
            <a:solidFill>
              <a:srgbClr val="E5F4EC"/>
            </a:solidFill>
            <a:prstDash val="solid"/>
          </a:ln>
        </p:spPr>
      </p:sp>
      <p:sp>
        <p:nvSpPr>
          <p:cNvPr id="12" name="Text 9"/>
          <p:cNvSpPr txBox="1"/>
          <p:nvPr/>
        </p:nvSpPr>
        <p:spPr>
          <a:xfrm>
            <a:off x="8046720" y="2743200"/>
            <a:ext cx="3566160" cy="12801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il tag</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la versione: v1</a:t>
            </a:r>
            <a:endParaRPr lang="en-US" sz="1500" dirty="0"/>
          </a:p>
        </p:txBody>
      </p:sp>
      <p:sp>
        <p:nvSpPr>
          <p:cNvPr id="13" name="Shape 10"/>
          <p:cNvSpPr/>
          <p:nvPr/>
        </p:nvSpPr>
        <p:spPr>
          <a:xfrm>
            <a:off x="548640" y="4389120"/>
            <a:ext cx="11094415" cy="914400"/>
          </a:xfrm>
          <a:prstGeom prst="roundRect">
            <a:avLst>
              <a:gd name="adj" fmla="val 10000"/>
            </a:avLst>
          </a:prstGeom>
          <a:solidFill>
            <a:srgbClr val="FDF0E3"/>
          </a:solidFill>
          <a:ln w="12700">
            <a:solidFill>
              <a:srgbClr val="FDF0E3"/>
            </a:solidFill>
            <a:prstDash val="solid"/>
          </a:ln>
        </p:spPr>
      </p:sp>
      <p:sp>
        <p:nvSpPr>
          <p:cNvPr id="14" name="Text 11"/>
          <p:cNvSpPr txBox="1"/>
          <p:nvPr/>
        </p:nvSpPr>
        <p:spPr>
          <a:xfrm>
            <a:off x="822960" y="4389120"/>
            <a:ext cx="10545775" cy="9144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registry / nome : tag   →   il server sa ESATTAMENTE quale versione sta scaricando.</a:t>
            </a:r>
            <a:endParaRPr lang="en-US" sz="1900" dirty="0"/>
          </a:p>
        </p:txBody>
      </p:sp>
      <p:sp>
        <p:nvSpPr>
          <p:cNvPr id="15" name="Text 12"/>
          <p:cNvSpPr txBox="1"/>
          <p:nvPr/>
        </p:nvSpPr>
        <p:spPr>
          <a:xfrm>
            <a:off x="548640" y="5532120"/>
            <a:ext cx="11094415" cy="45720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Più container insieme sullo stesso server (app, cache…): docker compose, nella lezione 9.</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ECR: il magazzino delle immagini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ECR = il registry di AWS: PRIVATO (serve un permesso IAM) e nella stessa regione del server.</a:t>
            </a:r>
            <a:endParaRPr lang="en-US" sz="1800" dirty="0"/>
          </a:p>
        </p:txBody>
      </p:sp>
      <p:sp>
        <p:nvSpPr>
          <p:cNvPr id="7" name="Shape 4"/>
          <p:cNvSpPr/>
          <p:nvPr/>
        </p:nvSpPr>
        <p:spPr>
          <a:xfrm>
            <a:off x="548640" y="2240280"/>
            <a:ext cx="5440680" cy="1783080"/>
          </a:xfrm>
          <a:prstGeom prst="roundRect">
            <a:avLst>
              <a:gd name="adj" fmla="val 6154"/>
            </a:avLst>
          </a:prstGeom>
          <a:solidFill>
            <a:srgbClr val="FDF0E3"/>
          </a:solidFill>
          <a:ln w="12700">
            <a:solidFill>
              <a:srgbClr val="FDF0E3"/>
            </a:solidFill>
            <a:prstDash val="solid"/>
          </a:ln>
        </p:spPr>
      </p:sp>
      <p:sp>
        <p:nvSpPr>
          <p:cNvPr id="8" name="Shape 5"/>
          <p:cNvSpPr/>
          <p:nvPr/>
        </p:nvSpPr>
        <p:spPr>
          <a:xfrm>
            <a:off x="777240" y="2468880"/>
            <a:ext cx="548640" cy="548640"/>
          </a:xfrm>
          <a:prstGeom prst="ellipse">
            <a:avLst/>
          </a:prstGeom>
          <a:solidFill>
            <a:srgbClr val="F28C28"/>
          </a:solidFill>
          <a:ln w="12700">
            <a:solidFill>
              <a:srgbClr val="F28C28"/>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Tag immutabili</a:t>
            </a:r>
            <a:endParaRPr lang="en-US" sz="1900" dirty="0"/>
          </a:p>
        </p:txBody>
      </p:sp>
      <p:sp>
        <p:nvSpPr>
          <p:cNvPr id="11" name="Text 7"/>
          <p:cNvSpPr txBox="1"/>
          <p:nvPr/>
        </p:nvSpPr>
        <p:spPr>
          <a:xfrm>
            <a:off x="777240" y="3154680"/>
            <a:ext cx="4983480" cy="685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una versione, un nome, per sempre</a:t>
            </a:r>
            <a:endParaRPr lang="en-US" sz="1600" dirty="0"/>
          </a:p>
        </p:txBody>
      </p:sp>
      <p:sp>
        <p:nvSpPr>
          <p:cNvPr id="12" name="Shape 8"/>
          <p:cNvSpPr/>
          <p:nvPr/>
        </p:nvSpPr>
        <p:spPr>
          <a:xfrm>
            <a:off x="6172200" y="2240280"/>
            <a:ext cx="5440680" cy="1783080"/>
          </a:xfrm>
          <a:prstGeom prst="roundRect">
            <a:avLst>
              <a:gd name="adj" fmla="val 6154"/>
            </a:avLst>
          </a:prstGeom>
          <a:solidFill>
            <a:srgbClr val="EEEAFB"/>
          </a:solidFill>
          <a:ln w="12700">
            <a:solidFill>
              <a:srgbClr val="EEEAFB"/>
            </a:solidFill>
            <a:prstDash val="solid"/>
          </a:ln>
        </p:spPr>
      </p:sp>
      <p:sp>
        <p:nvSpPr>
          <p:cNvPr id="13" name="Shape 9"/>
          <p:cNvSpPr/>
          <p:nvPr/>
        </p:nvSpPr>
        <p:spPr>
          <a:xfrm>
            <a:off x="640080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Scansione al caricamento</a:t>
            </a:r>
            <a:endParaRPr lang="en-US" sz="1900" dirty="0"/>
          </a:p>
        </p:txBody>
      </p:sp>
      <p:sp>
        <p:nvSpPr>
          <p:cNvPr id="16" name="Text 11"/>
          <p:cNvSpPr txBox="1"/>
          <p:nvPr/>
        </p:nvSpPr>
        <p:spPr>
          <a:xfrm>
            <a:off x="6400800" y="3154680"/>
            <a:ext cx="4983480" cy="685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cerca le vulnerabilità note nei pacchetti</a:t>
            </a:r>
            <a:endParaRPr lang="en-US" sz="1600" dirty="0"/>
          </a:p>
        </p:txBody>
      </p:sp>
      <p:sp>
        <p:nvSpPr>
          <p:cNvPr id="17" name="Shape 12"/>
          <p:cNvSpPr/>
          <p:nvPr/>
        </p:nvSpPr>
        <p:spPr>
          <a:xfrm>
            <a:off x="548640" y="4206240"/>
            <a:ext cx="5440680" cy="1783080"/>
          </a:xfrm>
          <a:prstGeom prst="roundRect">
            <a:avLst>
              <a:gd name="adj" fmla="val 6154"/>
            </a:avLst>
          </a:prstGeom>
          <a:solidFill>
            <a:srgbClr val="EEEAFB"/>
          </a:solidFill>
          <a:ln w="12700">
            <a:solidFill>
              <a:srgbClr val="EEEAFB"/>
            </a:solidFill>
            <a:prstDash val="solid"/>
          </a:ln>
        </p:spPr>
      </p:sp>
      <p:sp>
        <p:nvSpPr>
          <p:cNvPr id="18" name="Shape 13"/>
          <p:cNvSpPr/>
          <p:nvPr/>
        </p:nvSpPr>
        <p:spPr>
          <a:xfrm>
            <a:off x="777240" y="443484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914400" y="4572000"/>
            <a:ext cx="274320" cy="274320"/>
          </a:xfrm>
          <a:prstGeom prst="rect">
            <a:avLst/>
          </a:prstGeom>
        </p:spPr>
      </p:pic>
      <p:sp>
        <p:nvSpPr>
          <p:cNvPr id="20" name="Text 14"/>
          <p:cNvSpPr txBox="1"/>
          <p:nvPr/>
        </p:nvSpPr>
        <p:spPr>
          <a:xfrm>
            <a:off x="1508760" y="443484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Pulizia automatica</a:t>
            </a:r>
            <a:endParaRPr lang="en-US" sz="1900" dirty="0"/>
          </a:p>
        </p:txBody>
      </p:sp>
      <p:sp>
        <p:nvSpPr>
          <p:cNvPr id="21" name="Text 15"/>
          <p:cNvSpPr txBox="1"/>
          <p:nvPr/>
        </p:nvSpPr>
        <p:spPr>
          <a:xfrm>
            <a:off x="777240" y="5120640"/>
            <a:ext cx="4983480" cy="685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senza tag: via dopo 1 giorno; si tengono le ultime 20</a:t>
            </a:r>
            <a:endParaRPr lang="en-US" sz="1600" dirty="0"/>
          </a:p>
        </p:txBody>
      </p:sp>
      <p:sp>
        <p:nvSpPr>
          <p:cNvPr id="22" name="Shape 16"/>
          <p:cNvSpPr/>
          <p:nvPr/>
        </p:nvSpPr>
        <p:spPr>
          <a:xfrm>
            <a:off x="6172200" y="4206240"/>
            <a:ext cx="5440680" cy="1783080"/>
          </a:xfrm>
          <a:prstGeom prst="roundRect">
            <a:avLst>
              <a:gd name="adj" fmla="val 6154"/>
            </a:avLst>
          </a:prstGeom>
          <a:solidFill>
            <a:srgbClr val="EEEAFB"/>
          </a:solidFill>
          <a:ln w="12700">
            <a:solidFill>
              <a:srgbClr val="EEEAFB"/>
            </a:solidFill>
            <a:prstDash val="solid"/>
          </a:ln>
        </p:spPr>
      </p:sp>
      <p:sp>
        <p:nvSpPr>
          <p:cNvPr id="23" name="Shape 17"/>
          <p:cNvSpPr/>
          <p:nvPr/>
        </p:nvSpPr>
        <p:spPr>
          <a:xfrm>
            <a:off x="6400800" y="4434840"/>
            <a:ext cx="548640" cy="548640"/>
          </a:xfrm>
          <a:prstGeom prst="ellipse">
            <a:avLst/>
          </a:prstGeom>
          <a:solidFill>
            <a:srgbClr val="5B3FD0"/>
          </a:solidFill>
          <a:ln w="12700">
            <a:solidFill>
              <a:srgbClr val="5B3FD0"/>
            </a:solidFill>
            <a:prstDash val="solid"/>
          </a:ln>
        </p:spPr>
      </p:sp>
      <p:pic>
        <p:nvPicPr>
          <p:cNvPr id="24" name="Image 3" descr="preencoded.png">    </p:cNvPr>
          <p:cNvPicPr>
            <a:picLocks noChangeAspect="1"/>
          </p:cNvPicPr>
          <p:nvPr/>
        </p:nvPicPr>
        <p:blipFill>
          <a:blip r:embed="rId4"/>
          <a:stretch>
            <a:fillRect/>
          </a:stretch>
        </p:blipFill>
        <p:spPr>
          <a:xfrm>
            <a:off x="6537960" y="4572000"/>
            <a:ext cx="274320" cy="274320"/>
          </a:xfrm>
          <a:prstGeom prst="rect">
            <a:avLst/>
          </a:prstGeom>
        </p:spPr>
      </p:pic>
      <p:sp>
        <p:nvSpPr>
          <p:cNvPr id="25" name="Text 18"/>
          <p:cNvSpPr txBox="1"/>
          <p:nvPr/>
        </p:nvSpPr>
        <p:spPr>
          <a:xfrm>
            <a:off x="7132320" y="443484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Cifratura KMS</a:t>
            </a:r>
            <a:endParaRPr lang="en-US" sz="1900" dirty="0"/>
          </a:p>
        </p:txBody>
      </p:sp>
      <p:sp>
        <p:nvSpPr>
          <p:cNvPr id="26" name="Text 19"/>
          <p:cNvSpPr txBox="1"/>
          <p:nvPr/>
        </p:nvSpPr>
        <p:spPr>
          <a:xfrm>
            <a:off x="6400800" y="5120640"/>
            <a:ext cx="4983480" cy="685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chiave gestita da AWS, aws/ecr</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i tag immutabili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371600"/>
            <a:ext cx="5440680" cy="3017520"/>
          </a:xfrm>
          <a:prstGeom prst="roundRect">
            <a:avLst>
              <a:gd name="adj" fmla="val 3636"/>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Tag sovrascrivibili (default)</a:t>
            </a:r>
            <a:endParaRPr lang="en-US" sz="1800" dirty="0"/>
          </a:p>
        </p:txBody>
      </p:sp>
      <p:sp>
        <p:nvSpPr>
          <p:cNvPr id="9" name="Text 5"/>
          <p:cNvSpPr txBox="1"/>
          <p:nvPr/>
        </p:nvSpPr>
        <p:spPr>
          <a:xfrm>
            <a:off x="777240" y="228600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Lunedì: v1 = la versione provata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Martedì qualcuno ricarica v1</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Notte: un server ricreato scarica una v1 MAI PROVATA</a:t>
            </a:r>
            <a:endParaRPr lang="en-US" sz="1600" dirty="0"/>
          </a:p>
        </p:txBody>
      </p:sp>
      <p:sp>
        <p:nvSpPr>
          <p:cNvPr id="10" name="Shape 6"/>
          <p:cNvSpPr/>
          <p:nvPr/>
        </p:nvSpPr>
        <p:spPr>
          <a:xfrm>
            <a:off x="6172200" y="1371600"/>
            <a:ext cx="5468112" cy="3017520"/>
          </a:xfrm>
          <a:prstGeom prst="roundRect">
            <a:avLst>
              <a:gd name="adj" fmla="val 3636"/>
            </a:avLst>
          </a:prstGeom>
          <a:solidFill>
            <a:srgbClr val="E5F4EC"/>
          </a:solidFill>
          <a:ln w="12700">
            <a:solidFill>
              <a:srgbClr val="E5F4EC"/>
            </a:solidFill>
            <a:prstDash val="solid"/>
          </a:ln>
        </p:spPr>
      </p:sp>
      <p:sp>
        <p:nvSpPr>
          <p:cNvPr id="11" name="Shape 7"/>
          <p:cNvSpPr/>
          <p:nvPr/>
        </p:nvSpPr>
        <p:spPr>
          <a:xfrm>
            <a:off x="6400800" y="160020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Tag immutabili (IMMUTABLE)</a:t>
            </a:r>
            <a:endParaRPr lang="en-US" sz="1800" dirty="0"/>
          </a:p>
        </p:txBody>
      </p:sp>
      <p:sp>
        <p:nvSpPr>
          <p:cNvPr id="14" name="Text 9"/>
          <p:cNvSpPr txBox="1"/>
          <p:nvPr/>
        </p:nvSpPr>
        <p:spPr>
          <a:xfrm>
            <a:off x="6400800" y="2286000"/>
            <a:ext cx="5010912" cy="19202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v1 si usa UNA volta sola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Ricaricare v1: errore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Una versione nuova = un tag nuovo (lezione 8: il commit)</a:t>
            </a:r>
            <a:endParaRPr lang="en-US" sz="1600" dirty="0"/>
          </a:p>
        </p:txBody>
      </p:sp>
      <p:sp>
        <p:nvSpPr>
          <p:cNvPr id="15" name="Shape 10"/>
          <p:cNvSpPr/>
          <p:nvPr/>
        </p:nvSpPr>
        <p:spPr>
          <a:xfrm>
            <a:off x="548640" y="466344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466344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Come il numero di lotto: due confezioni con lo stesso numero devono essere identiche.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va dove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937760"/>
                <a:gridCol w="2377440"/>
                <a:gridCol w="3776472"/>
              </a:tblGrid>
              <a:tr h="86868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Dove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Perché</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86868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programma, con tutto ciò che gli serve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ECR (immagine)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versioni, scansione, pull veloce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86868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file di deploy NON segreti (docker-compose.yml, configurazioni)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S3</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semplici file, con il versioning</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86868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password, chiavi, token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Secrets Manager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permessi per segreto, rotazione, letture registrate (lezione 6)</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5120640"/>
            <a:ext cx="11094415" cy="822960"/>
          </a:xfrm>
          <a:prstGeom prst="roundRect">
            <a:avLst>
              <a:gd name="adj" fmla="val 11111"/>
            </a:avLst>
          </a:prstGeom>
          <a:solidFill>
            <a:srgbClr val="FBE9E9"/>
          </a:solidFill>
          <a:ln w="12700">
            <a:solidFill>
              <a:srgbClr val="FBE9E9"/>
            </a:solidFill>
            <a:prstDash val="solid"/>
          </a:ln>
        </p:spPr>
      </p:sp>
      <p:sp>
        <p:nvSpPr>
          <p:cNvPr id="7" name="Text 3"/>
          <p:cNvSpPr txBox="1"/>
          <p:nvPr/>
        </p:nvSpPr>
        <p:spPr>
          <a:xfrm>
            <a:off x="822960" y="5120640"/>
            <a:ext cx="10545775" cy="82296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Mai una password dentro un'immagine o in un file su S3.</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S3: il bucket dei file di deploy, chiuso a chiave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Chi potesse SCRIVERE in questo bucket deciderebbe cosa gira sul server.</a:t>
            </a:r>
            <a:endParaRPr lang="en-US" sz="1900" dirty="0"/>
          </a:p>
        </p:txBody>
      </p:sp>
      <p:sp>
        <p:nvSpPr>
          <p:cNvPr id="7" name="Shape 4"/>
          <p:cNvSpPr/>
          <p:nvPr/>
        </p:nvSpPr>
        <p:spPr>
          <a:xfrm>
            <a:off x="548640" y="2240280"/>
            <a:ext cx="5440680" cy="1783080"/>
          </a:xfrm>
          <a:prstGeom prst="roundRect">
            <a:avLst>
              <a:gd name="adj" fmla="val 6154"/>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Block Public Access</a:t>
            </a:r>
            <a:endParaRPr lang="en-US" sz="1800" dirty="0"/>
          </a:p>
        </p:txBody>
      </p:sp>
      <p:sp>
        <p:nvSpPr>
          <p:cNvPr id="11" name="Text 7"/>
          <p:cNvSpPr txBox="1"/>
          <p:nvPr/>
        </p:nvSpPr>
        <p:spPr>
          <a:xfrm>
            <a:off x="777240" y="3154680"/>
            <a:ext cx="4983480" cy="68580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quattro levette: niente pubblico, nemmeno per errore</a:t>
            </a:r>
            <a:endParaRPr lang="en-US" sz="1500" dirty="0"/>
          </a:p>
        </p:txBody>
      </p:sp>
      <p:sp>
        <p:nvSpPr>
          <p:cNvPr id="12" name="Shape 8"/>
          <p:cNvSpPr/>
          <p:nvPr/>
        </p:nvSpPr>
        <p:spPr>
          <a:xfrm>
            <a:off x="6172200" y="2240280"/>
            <a:ext cx="5440680" cy="1783080"/>
          </a:xfrm>
          <a:prstGeom prst="roundRect">
            <a:avLst>
              <a:gd name="adj" fmla="val 6154"/>
            </a:avLst>
          </a:prstGeom>
          <a:solidFill>
            <a:srgbClr val="EEEAFB"/>
          </a:solidFill>
          <a:ln w="12700">
            <a:solidFill>
              <a:srgbClr val="EEEAFB"/>
            </a:solidFill>
            <a:prstDash val="solid"/>
          </a:ln>
        </p:spPr>
      </p:sp>
      <p:sp>
        <p:nvSpPr>
          <p:cNvPr id="13" name="Shape 9"/>
          <p:cNvSpPr/>
          <p:nvPr/>
        </p:nvSpPr>
        <p:spPr>
          <a:xfrm>
            <a:off x="640080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Versioning (lezione 0)</a:t>
            </a:r>
            <a:endParaRPr lang="en-US" sz="1800" dirty="0"/>
          </a:p>
        </p:txBody>
      </p:sp>
      <p:sp>
        <p:nvSpPr>
          <p:cNvPr id="16" name="Text 11"/>
          <p:cNvSpPr txBox="1"/>
          <p:nvPr/>
        </p:nvSpPr>
        <p:spPr>
          <a:xfrm>
            <a:off x="6400800" y="3154680"/>
            <a:ext cx="4983480" cy="68580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un file sbagliato non cancella quello buono; versioni vecchie via dopo 30 giorni</a:t>
            </a:r>
            <a:endParaRPr lang="en-US" sz="1500" dirty="0"/>
          </a:p>
        </p:txBody>
      </p:sp>
      <p:sp>
        <p:nvSpPr>
          <p:cNvPr id="17" name="Shape 12"/>
          <p:cNvSpPr/>
          <p:nvPr/>
        </p:nvSpPr>
        <p:spPr>
          <a:xfrm>
            <a:off x="548640" y="4206240"/>
            <a:ext cx="5440680" cy="1783080"/>
          </a:xfrm>
          <a:prstGeom prst="roundRect">
            <a:avLst>
              <a:gd name="adj" fmla="val 6154"/>
            </a:avLst>
          </a:prstGeom>
          <a:solidFill>
            <a:srgbClr val="EEEAFB"/>
          </a:solidFill>
          <a:ln w="12700">
            <a:solidFill>
              <a:srgbClr val="EEEAFB"/>
            </a:solidFill>
            <a:prstDash val="solid"/>
          </a:ln>
        </p:spPr>
      </p:sp>
      <p:sp>
        <p:nvSpPr>
          <p:cNvPr id="18" name="Shape 13"/>
          <p:cNvSpPr/>
          <p:nvPr/>
        </p:nvSpPr>
        <p:spPr>
          <a:xfrm>
            <a:off x="777240" y="443484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914400" y="4572000"/>
            <a:ext cx="274320" cy="274320"/>
          </a:xfrm>
          <a:prstGeom prst="rect">
            <a:avLst/>
          </a:prstGeom>
        </p:spPr>
      </p:pic>
      <p:sp>
        <p:nvSpPr>
          <p:cNvPr id="20" name="Text 14"/>
          <p:cNvSpPr txBox="1"/>
          <p:nvPr/>
        </p:nvSpPr>
        <p:spPr>
          <a:xfrm>
            <a:off x="1508760" y="44348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Cifratura SSE-S3</a:t>
            </a:r>
            <a:endParaRPr lang="en-US" sz="1800" dirty="0"/>
          </a:p>
        </p:txBody>
      </p:sp>
      <p:sp>
        <p:nvSpPr>
          <p:cNvPr id="21" name="Text 15"/>
          <p:cNvSpPr txBox="1"/>
          <p:nvPr/>
        </p:nvSpPr>
        <p:spPr>
          <a:xfrm>
            <a:off x="777240" y="5120640"/>
            <a:ext cx="4983480" cy="68580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ogni file cifrato quando viene scritto; gratuita</a:t>
            </a:r>
            <a:endParaRPr lang="en-US" sz="1500" dirty="0"/>
          </a:p>
        </p:txBody>
      </p:sp>
      <p:sp>
        <p:nvSpPr>
          <p:cNvPr id="22" name="Shape 16"/>
          <p:cNvSpPr/>
          <p:nvPr/>
        </p:nvSpPr>
        <p:spPr>
          <a:xfrm>
            <a:off x="6172200" y="4206240"/>
            <a:ext cx="5440680" cy="1783080"/>
          </a:xfrm>
          <a:prstGeom prst="roundRect">
            <a:avLst>
              <a:gd name="adj" fmla="val 6154"/>
            </a:avLst>
          </a:prstGeom>
          <a:solidFill>
            <a:srgbClr val="EEEAFB"/>
          </a:solidFill>
          <a:ln w="12700">
            <a:solidFill>
              <a:srgbClr val="EEEAFB"/>
            </a:solidFill>
            <a:prstDash val="solid"/>
          </a:ln>
        </p:spPr>
      </p:sp>
      <p:sp>
        <p:nvSpPr>
          <p:cNvPr id="23" name="Shape 17"/>
          <p:cNvSpPr/>
          <p:nvPr/>
        </p:nvSpPr>
        <p:spPr>
          <a:xfrm>
            <a:off x="6400800" y="4434840"/>
            <a:ext cx="548640" cy="548640"/>
          </a:xfrm>
          <a:prstGeom prst="ellipse">
            <a:avLst/>
          </a:prstGeom>
          <a:solidFill>
            <a:srgbClr val="5B3FD0"/>
          </a:solidFill>
          <a:ln w="12700">
            <a:solidFill>
              <a:srgbClr val="5B3FD0"/>
            </a:solidFill>
            <a:prstDash val="solid"/>
          </a:ln>
        </p:spPr>
      </p:sp>
      <p:pic>
        <p:nvPicPr>
          <p:cNvPr id="24" name="Image 3" descr="preencoded.png">    </p:cNvPr>
          <p:cNvPicPr>
            <a:picLocks noChangeAspect="1"/>
          </p:cNvPicPr>
          <p:nvPr/>
        </p:nvPicPr>
        <p:blipFill>
          <a:blip r:embed="rId4"/>
          <a:stretch>
            <a:fillRect/>
          </a:stretch>
        </p:blipFill>
        <p:spPr>
          <a:xfrm>
            <a:off x="6537960" y="4572000"/>
            <a:ext cx="274320" cy="274320"/>
          </a:xfrm>
          <a:prstGeom prst="rect">
            <a:avLst/>
          </a:prstGeom>
        </p:spPr>
      </p:pic>
      <p:sp>
        <p:nvSpPr>
          <p:cNvPr id="25" name="Text 18"/>
          <p:cNvSpPr txBox="1"/>
          <p:nvPr/>
        </p:nvSpPr>
        <p:spPr>
          <a:xfrm>
            <a:off x="7132320" y="44348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Bucket policy: solo HTTPS</a:t>
            </a:r>
            <a:endParaRPr lang="en-US" sz="1800" dirty="0"/>
          </a:p>
        </p:txBody>
      </p:sp>
      <p:sp>
        <p:nvSpPr>
          <p:cNvPr id="26" name="Text 19"/>
          <p:cNvSpPr txBox="1"/>
          <p:nvPr/>
        </p:nvSpPr>
        <p:spPr>
          <a:xfrm>
            <a:off x="6400800" y="5120640"/>
            <a:ext cx="4983480" cy="68580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rifiuta ogni richiesta non cifrata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Block Public Access: quattro levette che vincono su tutto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206240"/>
                <a:gridCol w="6885432"/>
              </a:tblGrid>
              <a:tr h="64008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Levetta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Cosa blocca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block_public_acls</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le NUOVE ACL pubbliche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ignore_public_acls</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le ACL pubbliche GIÀ esistenti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block_public_policy</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una bucket policy che renderebbe pubblico il bucket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restrict_public_buckets</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una policy pubblica già esistente: la usano solo AWS e il tuo account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4754880"/>
            <a:ext cx="5440680" cy="1371600"/>
          </a:xfrm>
          <a:prstGeom prst="roundRect">
            <a:avLst>
              <a:gd name="adj" fmla="val 8000"/>
            </a:avLst>
          </a:prstGeom>
          <a:solidFill>
            <a:srgbClr val="EEEAFB"/>
          </a:solidFill>
          <a:ln w="12700">
            <a:solidFill>
              <a:srgbClr val="EEEAFB"/>
            </a:solidFill>
            <a:prstDash val="solid"/>
          </a:ln>
        </p:spPr>
      </p:sp>
      <p:sp>
        <p:nvSpPr>
          <p:cNvPr id="7" name="Shape 3"/>
          <p:cNvSpPr/>
          <p:nvPr/>
        </p:nvSpPr>
        <p:spPr>
          <a:xfrm>
            <a:off x="777240" y="4983480"/>
            <a:ext cx="548640" cy="54864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914400" y="5120640"/>
            <a:ext cx="274320" cy="274320"/>
          </a:xfrm>
          <a:prstGeom prst="rect">
            <a:avLst/>
          </a:prstGeom>
        </p:spPr>
      </p:pic>
      <p:sp>
        <p:nvSpPr>
          <p:cNvPr id="9" name="Text 4"/>
          <p:cNvSpPr txBox="1"/>
          <p:nvPr/>
        </p:nvSpPr>
        <p:spPr>
          <a:xfrm>
            <a:off x="1508760" y="4983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ACL spente: BucketOwnerEnforced</a:t>
            </a:r>
            <a:endParaRPr lang="en-US" sz="1800" dirty="0"/>
          </a:p>
        </p:txBody>
      </p:sp>
      <p:sp>
        <p:nvSpPr>
          <p:cNvPr id="10" name="Text 5"/>
          <p:cNvSpPr txBox="1"/>
          <p:nvPr/>
        </p:nvSpPr>
        <p:spPr>
          <a:xfrm>
            <a:off x="777240" y="5669280"/>
            <a:ext cx="4983480" cy="2743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i permessi si decidono solo con le policy</a:t>
            </a:r>
            <a:endParaRPr lang="en-US" sz="1500" dirty="0"/>
          </a:p>
        </p:txBody>
      </p:sp>
      <p:sp>
        <p:nvSpPr>
          <p:cNvPr id="11" name="Shape 6"/>
          <p:cNvSpPr/>
          <p:nvPr/>
        </p:nvSpPr>
        <p:spPr>
          <a:xfrm>
            <a:off x="6172200" y="4754880"/>
            <a:ext cx="5468112" cy="1371600"/>
          </a:xfrm>
          <a:prstGeom prst="roundRect">
            <a:avLst>
              <a:gd name="adj" fmla="val 8000"/>
            </a:avLst>
          </a:prstGeom>
          <a:solidFill>
            <a:srgbClr val="FDF0E3"/>
          </a:solidFill>
          <a:ln w="12700">
            <a:solidFill>
              <a:srgbClr val="FDF0E3"/>
            </a:solidFill>
            <a:prstDash val="solid"/>
          </a:ln>
        </p:spPr>
      </p:sp>
      <p:sp>
        <p:nvSpPr>
          <p:cNvPr id="12" name="Shape 7"/>
          <p:cNvSpPr/>
          <p:nvPr/>
        </p:nvSpPr>
        <p:spPr>
          <a:xfrm>
            <a:off x="6400800" y="498348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6537960" y="5120640"/>
            <a:ext cx="274320" cy="274320"/>
          </a:xfrm>
          <a:prstGeom prst="rect">
            <a:avLst/>
          </a:prstGeom>
        </p:spPr>
      </p:pic>
      <p:sp>
        <p:nvSpPr>
          <p:cNvPr id="14" name="Text 8"/>
          <p:cNvSpPr txBox="1"/>
          <p:nvPr/>
        </p:nvSpPr>
        <p:spPr>
          <a:xfrm>
            <a:off x="7132320" y="49834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Già così di default…</a:t>
            </a:r>
            <a:endParaRPr lang="en-US" sz="1800" dirty="0"/>
          </a:p>
        </p:txBody>
      </p:sp>
      <p:sp>
        <p:nvSpPr>
          <p:cNvPr id="15" name="Text 9"/>
          <p:cNvSpPr txBox="1"/>
          <p:nvPr/>
        </p:nvSpPr>
        <p:spPr>
          <a:xfrm>
            <a:off x="6400800" y="5669280"/>
            <a:ext cx="5010912" cy="2743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…ma lo scriviamo: un default invisibile può sparire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bucket policy: chiunque, qualunque cosa, se non è HTTPS: no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325880"/>
            <a:ext cx="11094415" cy="3931920"/>
          </a:xfrm>
          <a:prstGeom prst="roundRect">
            <a:avLst>
              <a:gd name="adj" fmla="val 1860"/>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s3.tf</a:t>
            </a:r>
            <a:endParaRPr lang="en-US" sz="1300" dirty="0"/>
          </a:p>
        </p:txBody>
      </p:sp>
      <p:sp>
        <p:nvSpPr>
          <p:cNvPr id="7" name="Text 4"/>
          <p:cNvSpPr txBox="1"/>
          <p:nvPr/>
        </p:nvSpPr>
        <p:spPr>
          <a:xfrm>
            <a:off x="731520" y="1737360"/>
            <a:ext cx="10728655" cy="33832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 "Deny"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                     </a:t>
            </a:r>
            <a:pPr indent="0" marL="0">
              <a:buNone/>
            </a:pPr>
            <a:r>
              <a:rPr lang="en-US" sz="1600" dirty="0">
                <a:solidFill>
                  <a:srgbClr val="8FD694"/>
                </a:solidFill>
                <a:latin typeface="Courier New" pitchFamily="34" charset="0"/>
                <a:ea typeface="Courier New" pitchFamily="34" charset="-122"/>
                <a:cs typeface="Courier New" pitchFamily="34" charset="-120"/>
              </a:rPr>
              <a:t># qualunque operazione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[aws_s3_bucket.artifacts.arn, "${aws_s3_bucket.artifacts.arn}/*"]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                      </a:t>
            </a:r>
            <a:pPr indent="0" marL="0">
              <a:buNone/>
            </a:pPr>
            <a:r>
              <a:rPr lang="en-US" sz="1600" dirty="0">
                <a:solidFill>
                  <a:srgbClr val="8FD694"/>
                </a:solidFill>
                <a:latin typeface="Courier New" pitchFamily="34" charset="0"/>
                <a:ea typeface="Courier New" pitchFamily="34" charset="-122"/>
                <a:cs typeface="Courier New" pitchFamily="34" charset="-120"/>
              </a:rPr>
              <a:t># chiunque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identifiers =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condition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test     = "Bool"</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variable = "aws:SecureTransport"       </a:t>
            </a:r>
            <a:pPr indent="0" marL="0">
              <a:buNone/>
            </a:pPr>
            <a:r>
              <a:rPr lang="en-US" sz="1600" dirty="0">
                <a:solidFill>
                  <a:srgbClr val="8FD694"/>
                </a:solidFill>
                <a:latin typeface="Courier New" pitchFamily="34" charset="0"/>
                <a:ea typeface="Courier New" pitchFamily="34" charset="-122"/>
                <a:cs typeface="Courier New" pitchFamily="34" charset="-120"/>
              </a:rPr>
              <a:t># la richiesta è cifrata?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values   = ["false"]                   </a:t>
            </a:r>
            <a:pPr indent="0" marL="0">
              <a:buNone/>
            </a:pPr>
            <a:r>
              <a:rPr lang="en-US" sz="1600" dirty="0">
                <a:solidFill>
                  <a:srgbClr val="8FD694"/>
                </a:solidFill>
                <a:latin typeface="Courier New" pitchFamily="34" charset="0"/>
                <a:ea typeface="Courier New" pitchFamily="34" charset="-122"/>
                <a:cs typeface="Courier New" pitchFamily="34" charset="-120"/>
              </a:rPr>
              <a:t># NO → rifiuta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548640" y="5440680"/>
            <a:ext cx="11094415" cy="777240"/>
          </a:xfrm>
          <a:prstGeom prst="roundRect">
            <a:avLst>
              <a:gd name="adj" fmla="val 11765"/>
            </a:avLst>
          </a:prstGeom>
          <a:solidFill>
            <a:srgbClr val="FBE9E9"/>
          </a:solidFill>
          <a:ln w="12700">
            <a:solidFill>
              <a:srgbClr val="FBE9E9"/>
            </a:solidFill>
            <a:prstDash val="solid"/>
          </a:ln>
        </p:spPr>
      </p:sp>
      <p:sp>
        <p:nvSpPr>
          <p:cNvPr id="9" name="Text 6"/>
          <p:cNvSpPr txBox="1"/>
          <p:nvPr/>
        </p:nvSpPr>
        <p:spPr>
          <a:xfrm>
            <a:off x="822960" y="54406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Deny esplicito vince su QUALUNQUE Allow (lezione 1): vale anche per un amministratore.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percorso di una richiesta al bucket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371600"/>
            <a:ext cx="5669280" cy="914400"/>
          </a:xfrm>
          <a:prstGeom prst="roundRect">
            <a:avLst>
              <a:gd name="adj" fmla="val 10000"/>
            </a:avLst>
          </a:prstGeom>
          <a:solidFill>
            <a:srgbClr val="EEEAFB"/>
          </a:solidFill>
          <a:ln w="12700">
            <a:solidFill>
              <a:srgbClr val="EEEAFB"/>
            </a:solidFill>
            <a:prstDash val="solid"/>
          </a:ln>
        </p:spPr>
      </p:sp>
      <p:sp>
        <p:nvSpPr>
          <p:cNvPr id="6" name="Text 3"/>
          <p:cNvSpPr txBox="1"/>
          <p:nvPr/>
        </p:nvSpPr>
        <p:spPr>
          <a:xfrm>
            <a:off x="548640" y="1371600"/>
            <a:ext cx="566928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Senza login AWS, da internet?</a:t>
            </a:r>
            <a:endParaRPr lang="en-US" sz="1800" dirty="0"/>
          </a:p>
        </p:txBody>
      </p:sp>
      <p:sp>
        <p:nvSpPr>
          <p:cNvPr id="7" name="Shape 4"/>
          <p:cNvSpPr/>
          <p:nvPr/>
        </p:nvSpPr>
        <p:spPr>
          <a:xfrm>
            <a:off x="6263640" y="1828800"/>
            <a:ext cx="914400" cy="0"/>
          </a:xfrm>
          <a:prstGeom prst="line">
            <a:avLst/>
          </a:prstGeom>
          <a:noFill/>
          <a:ln w="25400">
            <a:solidFill>
              <a:srgbClr val="D64545"/>
            </a:solidFill>
            <a:prstDash val="solid"/>
            <a:tailEnd type="triangle"/>
          </a:ln>
        </p:spPr>
      </p:sp>
      <p:sp>
        <p:nvSpPr>
          <p:cNvPr id="8" name="Text 5"/>
          <p:cNvSpPr txBox="1"/>
          <p:nvPr/>
        </p:nvSpPr>
        <p:spPr>
          <a:xfrm>
            <a:off x="6263640" y="1389888"/>
            <a:ext cx="914400" cy="411480"/>
          </a:xfrm>
          <a:prstGeom prst="rect">
            <a:avLst/>
          </a:prstGeom>
          <a:noFill/>
          <a:ln/>
        </p:spPr>
        <p:txBody>
          <a:bodyPr wrap="square" lIns="0" tIns="0" rIns="0" bIns="0" rtlCol="0" anchor="ctr"/>
          <a:lstStyle/>
          <a:p>
            <a:pPr algn="ctr" indent="0" marL="0">
              <a:buNone/>
            </a:pPr>
            <a:r>
              <a:rPr lang="en-US" sz="1500" b="1" dirty="0">
                <a:solidFill>
                  <a:srgbClr val="D64545"/>
                </a:solidFill>
                <a:latin typeface="Calibri" pitchFamily="34" charset="0"/>
                <a:ea typeface="Calibri" pitchFamily="34" charset="-122"/>
                <a:cs typeface="Calibri" pitchFamily="34" charset="-120"/>
              </a:rPr>
              <a:t>sì</a:t>
            </a:r>
            <a:endParaRPr lang="en-US" sz="1500" dirty="0"/>
          </a:p>
        </p:txBody>
      </p:sp>
      <p:sp>
        <p:nvSpPr>
          <p:cNvPr id="9" name="Shape 6"/>
          <p:cNvSpPr/>
          <p:nvPr/>
        </p:nvSpPr>
        <p:spPr>
          <a:xfrm>
            <a:off x="7315200" y="1371600"/>
            <a:ext cx="4325112" cy="914400"/>
          </a:xfrm>
          <a:prstGeom prst="roundRect">
            <a:avLst>
              <a:gd name="adj" fmla="val 10000"/>
            </a:avLst>
          </a:prstGeom>
          <a:solidFill>
            <a:srgbClr val="FBE9E9"/>
          </a:solidFill>
          <a:ln w="12700">
            <a:solidFill>
              <a:srgbClr val="FBE9E9"/>
            </a:solidFill>
            <a:prstDash val="solid"/>
          </a:ln>
        </p:spPr>
      </p:sp>
      <p:sp>
        <p:nvSpPr>
          <p:cNvPr id="10" name="Text 7"/>
          <p:cNvSpPr txBox="1"/>
          <p:nvPr/>
        </p:nvSpPr>
        <p:spPr>
          <a:xfrm>
            <a:off x="7315200" y="1371600"/>
            <a:ext cx="4325112" cy="914400"/>
          </a:xfrm>
          <a:prstGeom prst="rect">
            <a:avLst/>
          </a:prstGeom>
          <a:noFill/>
          <a:ln/>
        </p:spPr>
        <p:txBody>
          <a:bodyPr wrap="square" lIns="76200" tIns="76200" rIns="76200" bIns="76200" rtlCol="0" anchor="ctr"/>
          <a:lstStyle/>
          <a:p>
            <a:pPr algn="ctr" indent="0" marL="0">
              <a:buNone/>
            </a:pPr>
            <a:r>
              <a:rPr lang="en-US" sz="1700" b="1" dirty="0">
                <a:solidFill>
                  <a:srgbClr val="D64545"/>
                </a:solidFill>
                <a:latin typeface="Calibri" pitchFamily="34" charset="0"/>
                <a:ea typeface="Calibri" pitchFamily="34" charset="-122"/>
                <a:cs typeface="Calibri" pitchFamily="34" charset="-120"/>
              </a:rPr>
              <a:t>Rifiutata</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Block Public Access</a:t>
            </a:r>
            <a:endParaRPr lang="en-US" sz="1700" dirty="0"/>
          </a:p>
        </p:txBody>
      </p:sp>
      <p:sp>
        <p:nvSpPr>
          <p:cNvPr id="11" name="Shape 8"/>
          <p:cNvSpPr/>
          <p:nvPr/>
        </p:nvSpPr>
        <p:spPr>
          <a:xfrm>
            <a:off x="3383280" y="2304288"/>
            <a:ext cx="0" cy="237744"/>
          </a:xfrm>
          <a:prstGeom prst="line">
            <a:avLst/>
          </a:prstGeom>
          <a:noFill/>
          <a:ln w="25400">
            <a:solidFill>
              <a:srgbClr val="2E9E6B"/>
            </a:solidFill>
            <a:prstDash val="solid"/>
            <a:tailEnd type="triangle"/>
          </a:ln>
        </p:spPr>
      </p:sp>
      <p:sp>
        <p:nvSpPr>
          <p:cNvPr id="12" name="Text 9"/>
          <p:cNvSpPr txBox="1"/>
          <p:nvPr/>
        </p:nvSpPr>
        <p:spPr>
          <a:xfrm>
            <a:off x="3520440" y="2267712"/>
            <a:ext cx="548640" cy="320040"/>
          </a:xfrm>
          <a:prstGeom prst="rect">
            <a:avLst/>
          </a:prstGeom>
          <a:noFill/>
          <a:ln/>
        </p:spPr>
        <p:txBody>
          <a:bodyPr wrap="square" lIns="0" tIns="0" rIns="0" bIns="0" rtlCol="0" anchor="ctr"/>
          <a:lstStyle/>
          <a:p>
            <a:pPr algn="l" indent="0" marL="0">
              <a:buNone/>
            </a:pPr>
            <a:r>
              <a:rPr lang="en-US" sz="1300" b="1" dirty="0">
                <a:solidFill>
                  <a:srgbClr val="2E9E6B"/>
                </a:solidFill>
                <a:latin typeface="Calibri" pitchFamily="34" charset="0"/>
                <a:ea typeface="Calibri" pitchFamily="34" charset="-122"/>
                <a:cs typeface="Calibri" pitchFamily="34" charset="-120"/>
              </a:rPr>
              <a:t>no</a:t>
            </a:r>
            <a:endParaRPr lang="en-US" sz="1300" dirty="0"/>
          </a:p>
        </p:txBody>
      </p:sp>
      <p:sp>
        <p:nvSpPr>
          <p:cNvPr id="13" name="Shape 10"/>
          <p:cNvSpPr/>
          <p:nvPr/>
        </p:nvSpPr>
        <p:spPr>
          <a:xfrm>
            <a:off x="548640" y="2560320"/>
            <a:ext cx="5669280" cy="914400"/>
          </a:xfrm>
          <a:prstGeom prst="roundRect">
            <a:avLst>
              <a:gd name="adj" fmla="val 10000"/>
            </a:avLst>
          </a:prstGeom>
          <a:solidFill>
            <a:srgbClr val="EEEAFB"/>
          </a:solidFill>
          <a:ln w="12700">
            <a:solidFill>
              <a:srgbClr val="EEEAFB"/>
            </a:solidFill>
            <a:prstDash val="solid"/>
          </a:ln>
        </p:spPr>
      </p:sp>
      <p:sp>
        <p:nvSpPr>
          <p:cNvPr id="14" name="Text 11"/>
          <p:cNvSpPr txBox="1"/>
          <p:nvPr/>
        </p:nvSpPr>
        <p:spPr>
          <a:xfrm>
            <a:off x="548640" y="2560320"/>
            <a:ext cx="566928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Non è HTTPS?</a:t>
            </a:r>
            <a:endParaRPr lang="en-US" sz="1800" dirty="0"/>
          </a:p>
        </p:txBody>
      </p:sp>
      <p:sp>
        <p:nvSpPr>
          <p:cNvPr id="15" name="Shape 12"/>
          <p:cNvSpPr/>
          <p:nvPr/>
        </p:nvSpPr>
        <p:spPr>
          <a:xfrm>
            <a:off x="6263640" y="3017520"/>
            <a:ext cx="914400" cy="0"/>
          </a:xfrm>
          <a:prstGeom prst="line">
            <a:avLst/>
          </a:prstGeom>
          <a:noFill/>
          <a:ln w="25400">
            <a:solidFill>
              <a:srgbClr val="D64545"/>
            </a:solidFill>
            <a:prstDash val="solid"/>
            <a:tailEnd type="triangle"/>
          </a:ln>
        </p:spPr>
      </p:sp>
      <p:sp>
        <p:nvSpPr>
          <p:cNvPr id="16" name="Text 13"/>
          <p:cNvSpPr txBox="1"/>
          <p:nvPr/>
        </p:nvSpPr>
        <p:spPr>
          <a:xfrm>
            <a:off x="6263640" y="2578608"/>
            <a:ext cx="914400" cy="411480"/>
          </a:xfrm>
          <a:prstGeom prst="rect">
            <a:avLst/>
          </a:prstGeom>
          <a:noFill/>
          <a:ln/>
        </p:spPr>
        <p:txBody>
          <a:bodyPr wrap="square" lIns="0" tIns="0" rIns="0" bIns="0" rtlCol="0" anchor="ctr"/>
          <a:lstStyle/>
          <a:p>
            <a:pPr algn="ctr" indent="0" marL="0">
              <a:buNone/>
            </a:pPr>
            <a:r>
              <a:rPr lang="en-US" sz="1500" b="1" dirty="0">
                <a:solidFill>
                  <a:srgbClr val="D64545"/>
                </a:solidFill>
                <a:latin typeface="Calibri" pitchFamily="34" charset="0"/>
                <a:ea typeface="Calibri" pitchFamily="34" charset="-122"/>
                <a:cs typeface="Calibri" pitchFamily="34" charset="-120"/>
              </a:rPr>
              <a:t>sì</a:t>
            </a:r>
            <a:endParaRPr lang="en-US" sz="1500" dirty="0"/>
          </a:p>
        </p:txBody>
      </p:sp>
      <p:sp>
        <p:nvSpPr>
          <p:cNvPr id="17" name="Shape 14"/>
          <p:cNvSpPr/>
          <p:nvPr/>
        </p:nvSpPr>
        <p:spPr>
          <a:xfrm>
            <a:off x="7315200" y="2560320"/>
            <a:ext cx="4325112" cy="914400"/>
          </a:xfrm>
          <a:prstGeom prst="roundRect">
            <a:avLst>
              <a:gd name="adj" fmla="val 10000"/>
            </a:avLst>
          </a:prstGeom>
          <a:solidFill>
            <a:srgbClr val="FBE9E9"/>
          </a:solidFill>
          <a:ln w="12700">
            <a:solidFill>
              <a:srgbClr val="FBE9E9"/>
            </a:solidFill>
            <a:prstDash val="solid"/>
          </a:ln>
        </p:spPr>
      </p:sp>
      <p:sp>
        <p:nvSpPr>
          <p:cNvPr id="18" name="Text 15"/>
          <p:cNvSpPr txBox="1"/>
          <p:nvPr/>
        </p:nvSpPr>
        <p:spPr>
          <a:xfrm>
            <a:off x="7315200" y="2560320"/>
            <a:ext cx="4325112" cy="914400"/>
          </a:xfrm>
          <a:prstGeom prst="rect">
            <a:avLst/>
          </a:prstGeom>
          <a:noFill/>
          <a:ln/>
        </p:spPr>
        <p:txBody>
          <a:bodyPr wrap="square" lIns="76200" tIns="76200" rIns="76200" bIns="76200" rtlCol="0" anchor="ctr"/>
          <a:lstStyle/>
          <a:p>
            <a:pPr algn="ctr" indent="0" marL="0">
              <a:buNone/>
            </a:pPr>
            <a:r>
              <a:rPr lang="en-US" sz="1700" b="1" dirty="0">
                <a:solidFill>
                  <a:srgbClr val="D64545"/>
                </a:solidFill>
                <a:latin typeface="Calibri" pitchFamily="34" charset="0"/>
                <a:ea typeface="Calibri" pitchFamily="34" charset="-122"/>
                <a:cs typeface="Calibri" pitchFamily="34" charset="-120"/>
              </a:rPr>
              <a:t>Rifiutata</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Deny della bucket policy</a:t>
            </a:r>
            <a:endParaRPr lang="en-US" sz="1700" dirty="0"/>
          </a:p>
        </p:txBody>
      </p:sp>
      <p:sp>
        <p:nvSpPr>
          <p:cNvPr id="19" name="Shape 16"/>
          <p:cNvSpPr/>
          <p:nvPr/>
        </p:nvSpPr>
        <p:spPr>
          <a:xfrm>
            <a:off x="3383280" y="3493008"/>
            <a:ext cx="0" cy="237744"/>
          </a:xfrm>
          <a:prstGeom prst="line">
            <a:avLst/>
          </a:prstGeom>
          <a:noFill/>
          <a:ln w="25400">
            <a:solidFill>
              <a:srgbClr val="2E9E6B"/>
            </a:solidFill>
            <a:prstDash val="solid"/>
            <a:tailEnd type="triangle"/>
          </a:ln>
        </p:spPr>
      </p:sp>
      <p:sp>
        <p:nvSpPr>
          <p:cNvPr id="20" name="Text 17"/>
          <p:cNvSpPr txBox="1"/>
          <p:nvPr/>
        </p:nvSpPr>
        <p:spPr>
          <a:xfrm>
            <a:off x="3520440" y="3456432"/>
            <a:ext cx="548640" cy="320040"/>
          </a:xfrm>
          <a:prstGeom prst="rect">
            <a:avLst/>
          </a:prstGeom>
          <a:noFill/>
          <a:ln/>
        </p:spPr>
        <p:txBody>
          <a:bodyPr wrap="square" lIns="0" tIns="0" rIns="0" bIns="0" rtlCol="0" anchor="ctr"/>
          <a:lstStyle/>
          <a:p>
            <a:pPr algn="l" indent="0" marL="0">
              <a:buNone/>
            </a:pPr>
            <a:r>
              <a:rPr lang="en-US" sz="1300" b="1" dirty="0">
                <a:solidFill>
                  <a:srgbClr val="2E9E6B"/>
                </a:solidFill>
                <a:latin typeface="Calibri" pitchFamily="34" charset="0"/>
                <a:ea typeface="Calibri" pitchFamily="34" charset="-122"/>
                <a:cs typeface="Calibri" pitchFamily="34" charset="-120"/>
              </a:rPr>
              <a:t>no</a:t>
            </a:r>
            <a:endParaRPr lang="en-US" sz="1300" dirty="0"/>
          </a:p>
        </p:txBody>
      </p:sp>
      <p:sp>
        <p:nvSpPr>
          <p:cNvPr id="21" name="Shape 18"/>
          <p:cNvSpPr/>
          <p:nvPr/>
        </p:nvSpPr>
        <p:spPr>
          <a:xfrm>
            <a:off x="548640" y="3749040"/>
            <a:ext cx="5669280" cy="914400"/>
          </a:xfrm>
          <a:prstGeom prst="roundRect">
            <a:avLst>
              <a:gd name="adj" fmla="val 10000"/>
            </a:avLst>
          </a:prstGeom>
          <a:solidFill>
            <a:srgbClr val="EEEAFB"/>
          </a:solidFill>
          <a:ln w="12700">
            <a:solidFill>
              <a:srgbClr val="EEEAFB"/>
            </a:solidFill>
            <a:prstDash val="solid"/>
          </a:ln>
        </p:spPr>
      </p:sp>
      <p:sp>
        <p:nvSpPr>
          <p:cNvPr id="22" name="Text 19"/>
          <p:cNvSpPr txBox="1"/>
          <p:nvPr/>
        </p:nvSpPr>
        <p:spPr>
          <a:xfrm>
            <a:off x="548640" y="3749040"/>
            <a:ext cx="566928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Nessun permesso IAM per l'operazione?</a:t>
            </a:r>
            <a:endParaRPr lang="en-US" sz="1800" dirty="0"/>
          </a:p>
        </p:txBody>
      </p:sp>
      <p:sp>
        <p:nvSpPr>
          <p:cNvPr id="23" name="Shape 20"/>
          <p:cNvSpPr/>
          <p:nvPr/>
        </p:nvSpPr>
        <p:spPr>
          <a:xfrm>
            <a:off x="6263640" y="4206240"/>
            <a:ext cx="914400" cy="0"/>
          </a:xfrm>
          <a:prstGeom prst="line">
            <a:avLst/>
          </a:prstGeom>
          <a:noFill/>
          <a:ln w="25400">
            <a:solidFill>
              <a:srgbClr val="D64545"/>
            </a:solidFill>
            <a:prstDash val="solid"/>
            <a:tailEnd type="triangle"/>
          </a:ln>
        </p:spPr>
      </p:sp>
      <p:sp>
        <p:nvSpPr>
          <p:cNvPr id="24" name="Text 21"/>
          <p:cNvSpPr txBox="1"/>
          <p:nvPr/>
        </p:nvSpPr>
        <p:spPr>
          <a:xfrm>
            <a:off x="6263640" y="3767328"/>
            <a:ext cx="914400" cy="411480"/>
          </a:xfrm>
          <a:prstGeom prst="rect">
            <a:avLst/>
          </a:prstGeom>
          <a:noFill/>
          <a:ln/>
        </p:spPr>
        <p:txBody>
          <a:bodyPr wrap="square" lIns="0" tIns="0" rIns="0" bIns="0" rtlCol="0" anchor="ctr"/>
          <a:lstStyle/>
          <a:p>
            <a:pPr algn="ctr" indent="0" marL="0">
              <a:buNone/>
            </a:pPr>
            <a:r>
              <a:rPr lang="en-US" sz="1500" b="1" dirty="0">
                <a:solidFill>
                  <a:srgbClr val="D64545"/>
                </a:solidFill>
                <a:latin typeface="Calibri" pitchFamily="34" charset="0"/>
                <a:ea typeface="Calibri" pitchFamily="34" charset="-122"/>
                <a:cs typeface="Calibri" pitchFamily="34" charset="-120"/>
              </a:rPr>
              <a:t>sì</a:t>
            </a:r>
            <a:endParaRPr lang="en-US" sz="1500" dirty="0"/>
          </a:p>
        </p:txBody>
      </p:sp>
      <p:sp>
        <p:nvSpPr>
          <p:cNvPr id="25" name="Shape 22"/>
          <p:cNvSpPr/>
          <p:nvPr/>
        </p:nvSpPr>
        <p:spPr>
          <a:xfrm>
            <a:off x="7315200" y="3749040"/>
            <a:ext cx="4325112" cy="914400"/>
          </a:xfrm>
          <a:prstGeom prst="roundRect">
            <a:avLst>
              <a:gd name="adj" fmla="val 10000"/>
            </a:avLst>
          </a:prstGeom>
          <a:solidFill>
            <a:srgbClr val="FBE9E9"/>
          </a:solidFill>
          <a:ln w="12700">
            <a:solidFill>
              <a:srgbClr val="FBE9E9"/>
            </a:solidFill>
            <a:prstDash val="solid"/>
          </a:ln>
        </p:spPr>
      </p:sp>
      <p:sp>
        <p:nvSpPr>
          <p:cNvPr id="26" name="Text 23"/>
          <p:cNvSpPr txBox="1"/>
          <p:nvPr/>
        </p:nvSpPr>
        <p:spPr>
          <a:xfrm>
            <a:off x="7315200" y="3749040"/>
            <a:ext cx="4325112" cy="914400"/>
          </a:xfrm>
          <a:prstGeom prst="rect">
            <a:avLst/>
          </a:prstGeom>
          <a:noFill/>
          <a:ln/>
        </p:spPr>
        <p:txBody>
          <a:bodyPr wrap="square" lIns="76200" tIns="76200" rIns="76200" bIns="76200" rtlCol="0" anchor="ctr"/>
          <a:lstStyle/>
          <a:p>
            <a:pPr algn="ctr" indent="0" marL="0">
              <a:buNone/>
            </a:pPr>
            <a:r>
              <a:rPr lang="en-US" sz="1700" b="1" dirty="0">
                <a:solidFill>
                  <a:srgbClr val="D64545"/>
                </a:solidFill>
                <a:latin typeface="Calibri" pitchFamily="34" charset="0"/>
                <a:ea typeface="Calibri" pitchFamily="34" charset="-122"/>
                <a:cs typeface="Calibri" pitchFamily="34" charset="-120"/>
              </a:rPr>
              <a:t>Rifiutata</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nessun Allow</a:t>
            </a:r>
            <a:endParaRPr lang="en-US" sz="1700" dirty="0"/>
          </a:p>
        </p:txBody>
      </p:sp>
      <p:sp>
        <p:nvSpPr>
          <p:cNvPr id="27" name="Shape 24"/>
          <p:cNvSpPr/>
          <p:nvPr/>
        </p:nvSpPr>
        <p:spPr>
          <a:xfrm>
            <a:off x="3383280" y="4681728"/>
            <a:ext cx="0" cy="274320"/>
          </a:xfrm>
          <a:prstGeom prst="line">
            <a:avLst/>
          </a:prstGeom>
          <a:noFill/>
          <a:ln w="25400">
            <a:solidFill>
              <a:srgbClr val="2E9E6B"/>
            </a:solidFill>
            <a:prstDash val="solid"/>
            <a:tailEnd type="triangle"/>
          </a:ln>
        </p:spPr>
      </p:sp>
      <p:sp>
        <p:nvSpPr>
          <p:cNvPr id="28" name="Shape 25"/>
          <p:cNvSpPr/>
          <p:nvPr/>
        </p:nvSpPr>
        <p:spPr>
          <a:xfrm>
            <a:off x="548640" y="4983480"/>
            <a:ext cx="5669280" cy="868680"/>
          </a:xfrm>
          <a:prstGeom prst="roundRect">
            <a:avLst>
              <a:gd name="adj" fmla="val 10526"/>
            </a:avLst>
          </a:prstGeom>
          <a:solidFill>
            <a:srgbClr val="E5F4EC"/>
          </a:solidFill>
          <a:ln w="25400">
            <a:solidFill>
              <a:srgbClr val="2E9E6B"/>
            </a:solidFill>
            <a:prstDash val="solid"/>
          </a:ln>
        </p:spPr>
      </p:sp>
      <p:sp>
        <p:nvSpPr>
          <p:cNvPr id="29" name="Text 26"/>
          <p:cNvSpPr txBox="1"/>
          <p:nvPr/>
        </p:nvSpPr>
        <p:spPr>
          <a:xfrm>
            <a:off x="548640" y="4983480"/>
            <a:ext cx="5669280" cy="868680"/>
          </a:xfrm>
          <a:prstGeom prst="rect">
            <a:avLst/>
          </a:prstGeom>
          <a:noFill/>
          <a:ln/>
        </p:spPr>
        <p:txBody>
          <a:bodyPr wrap="square" lIns="76200" tIns="76200" rIns="76200" bIns="76200" rtlCol="0" anchor="ctr"/>
          <a:lstStyle/>
          <a:p>
            <a:pPr algn="ctr" indent="0" marL="0">
              <a:buNone/>
            </a:pPr>
            <a:r>
              <a:rPr lang="en-US" sz="2000" b="1" dirty="0">
                <a:solidFill>
                  <a:srgbClr val="2E9E6B"/>
                </a:solidFill>
                <a:latin typeface="Calibri" pitchFamily="34" charset="0"/>
                <a:ea typeface="Calibri" pitchFamily="34" charset="-122"/>
                <a:cs typeface="Calibri" pitchFamily="34" charset="-120"/>
              </a:rPr>
              <a:t>Consentita</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Gateway Endpoint: una scorciatoia privata verso S3</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Una rotta in più nelle route table private: il traffico per S3 va DIRETTO a S3. Gratuito.</a:t>
            </a:r>
            <a:endParaRPr lang="en-US" sz="1800" dirty="0"/>
          </a:p>
        </p:txBody>
      </p:sp>
      <p:sp>
        <p:nvSpPr>
          <p:cNvPr id="7" name="Shape 4"/>
          <p:cNvSpPr/>
          <p:nvPr/>
        </p:nvSpPr>
        <p:spPr>
          <a:xfrm>
            <a:off x="548640" y="3108960"/>
            <a:ext cx="2468880" cy="1188720"/>
          </a:xfrm>
          <a:prstGeom prst="roundRect">
            <a:avLst>
              <a:gd name="adj" fmla="val 7692"/>
            </a:avLst>
          </a:prstGeom>
          <a:solidFill>
            <a:srgbClr val="EEEAFB"/>
          </a:solidFill>
          <a:ln w="12700">
            <a:solidFill>
              <a:srgbClr val="EEEAFB"/>
            </a:solidFill>
            <a:prstDash val="solid"/>
          </a:ln>
        </p:spPr>
      </p:sp>
      <p:sp>
        <p:nvSpPr>
          <p:cNvPr id="8" name="Text 5"/>
          <p:cNvSpPr txBox="1"/>
          <p:nvPr/>
        </p:nvSpPr>
        <p:spPr>
          <a:xfrm>
            <a:off x="548640" y="3108960"/>
            <a:ext cx="2468880" cy="118872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Server</a:t>
            </a:r>
            <a:endParaRPr lang="en-US" sz="1800" dirty="0"/>
          </a:p>
          <a:p>
            <a:pPr algn="ctr" indent="0" marL="0">
              <a:buNone/>
            </a:pPr>
            <a:r>
              <a:rPr lang="en-US" sz="1400" dirty="0">
                <a:solidFill>
                  <a:srgbClr val="5F6478"/>
                </a:solidFill>
                <a:latin typeface="Calibri" pitchFamily="34" charset="0"/>
                <a:ea typeface="Calibri" pitchFamily="34" charset="-122"/>
                <a:cs typeface="Calibri" pitchFamily="34" charset="-120"/>
              </a:rPr>
              <a:t>subnet privata</a:t>
            </a:r>
            <a:endParaRPr lang="en-US" sz="1800" dirty="0"/>
          </a:p>
        </p:txBody>
      </p:sp>
      <p:sp>
        <p:nvSpPr>
          <p:cNvPr id="9" name="Shape 6"/>
          <p:cNvSpPr/>
          <p:nvPr/>
        </p:nvSpPr>
        <p:spPr>
          <a:xfrm>
            <a:off x="3931920" y="2423160"/>
            <a:ext cx="2194560" cy="731520"/>
          </a:xfrm>
          <a:prstGeom prst="roundRect">
            <a:avLst>
              <a:gd name="adj" fmla="val 12500"/>
            </a:avLst>
          </a:prstGeom>
          <a:solidFill>
            <a:srgbClr val="FBE9E9"/>
          </a:solidFill>
          <a:ln w="12700">
            <a:solidFill>
              <a:srgbClr val="FBE9E9"/>
            </a:solidFill>
            <a:prstDash val="solid"/>
          </a:ln>
        </p:spPr>
      </p:sp>
      <p:sp>
        <p:nvSpPr>
          <p:cNvPr id="10" name="Text 7"/>
          <p:cNvSpPr txBox="1"/>
          <p:nvPr/>
        </p:nvSpPr>
        <p:spPr>
          <a:xfrm>
            <a:off x="3931920" y="2423160"/>
            <a:ext cx="2194560" cy="731520"/>
          </a:xfrm>
          <a:prstGeom prst="rect">
            <a:avLst/>
          </a:prstGeom>
          <a:noFill/>
          <a:ln/>
        </p:spPr>
        <p:txBody>
          <a:bodyPr wrap="square" lIns="76200" tIns="76200" rIns="76200" bIns="76200" rtlCol="0" anchor="ctr"/>
          <a:lstStyle/>
          <a:p>
            <a:pPr algn="ctr" indent="0" marL="0">
              <a:buNone/>
            </a:pPr>
            <a:r>
              <a:rPr lang="en-US" sz="1600" dirty="0">
                <a:solidFill>
                  <a:srgbClr val="22253A"/>
                </a:solidFill>
                <a:latin typeface="Calibri" pitchFamily="34" charset="0"/>
                <a:ea typeface="Calibri" pitchFamily="34" charset="-122"/>
                <a:cs typeface="Calibri" pitchFamily="34" charset="-120"/>
              </a:rPr>
              <a:t>NAT Gateway</a:t>
            </a:r>
            <a:endParaRPr lang="en-US" sz="1600" dirty="0"/>
          </a:p>
        </p:txBody>
      </p:sp>
      <p:sp>
        <p:nvSpPr>
          <p:cNvPr id="11" name="Shape 8"/>
          <p:cNvSpPr/>
          <p:nvPr/>
        </p:nvSpPr>
        <p:spPr>
          <a:xfrm>
            <a:off x="6675120" y="2423160"/>
            <a:ext cx="1828800" cy="731520"/>
          </a:xfrm>
          <a:prstGeom prst="roundRect">
            <a:avLst>
              <a:gd name="adj" fmla="val 12500"/>
            </a:avLst>
          </a:prstGeom>
          <a:solidFill>
            <a:srgbClr val="FBE9E9"/>
          </a:solidFill>
          <a:ln w="12700">
            <a:solidFill>
              <a:srgbClr val="FBE9E9"/>
            </a:solidFill>
            <a:prstDash val="solid"/>
          </a:ln>
        </p:spPr>
      </p:sp>
      <p:sp>
        <p:nvSpPr>
          <p:cNvPr id="12" name="Text 9"/>
          <p:cNvSpPr txBox="1"/>
          <p:nvPr/>
        </p:nvSpPr>
        <p:spPr>
          <a:xfrm>
            <a:off x="6675120" y="2423160"/>
            <a:ext cx="1828800" cy="731520"/>
          </a:xfrm>
          <a:prstGeom prst="rect">
            <a:avLst/>
          </a:prstGeom>
          <a:noFill/>
          <a:ln/>
        </p:spPr>
        <p:txBody>
          <a:bodyPr wrap="square" lIns="76200" tIns="76200" rIns="76200" bIns="76200" rtlCol="0" anchor="ctr"/>
          <a:lstStyle/>
          <a:p>
            <a:pPr algn="ctr" indent="0" marL="0">
              <a:buNone/>
            </a:pPr>
            <a:r>
              <a:rPr lang="en-US" sz="1600" dirty="0">
                <a:solidFill>
                  <a:srgbClr val="22253A"/>
                </a:solidFill>
                <a:latin typeface="Calibri" pitchFamily="34" charset="0"/>
                <a:ea typeface="Calibri" pitchFamily="34" charset="-122"/>
                <a:cs typeface="Calibri" pitchFamily="34" charset="-120"/>
              </a:rPr>
              <a:t>internet</a:t>
            </a:r>
            <a:endParaRPr lang="en-US" sz="1600" dirty="0"/>
          </a:p>
        </p:txBody>
      </p:sp>
      <p:sp>
        <p:nvSpPr>
          <p:cNvPr id="13" name="Shape 10"/>
          <p:cNvSpPr/>
          <p:nvPr/>
        </p:nvSpPr>
        <p:spPr>
          <a:xfrm>
            <a:off x="9144000" y="3108960"/>
            <a:ext cx="2496312" cy="1188720"/>
          </a:xfrm>
          <a:prstGeom prst="roundRect">
            <a:avLst>
              <a:gd name="adj" fmla="val 7692"/>
            </a:avLst>
          </a:prstGeom>
          <a:solidFill>
            <a:srgbClr val="FDF0E3"/>
          </a:solidFill>
          <a:ln w="25400">
            <a:solidFill>
              <a:srgbClr val="F28C28"/>
            </a:solidFill>
            <a:prstDash val="solid"/>
          </a:ln>
        </p:spPr>
      </p:sp>
      <p:sp>
        <p:nvSpPr>
          <p:cNvPr id="14" name="Text 11"/>
          <p:cNvSpPr txBox="1"/>
          <p:nvPr/>
        </p:nvSpPr>
        <p:spPr>
          <a:xfrm>
            <a:off x="9144000" y="3108960"/>
            <a:ext cx="2496312" cy="1188720"/>
          </a:xfrm>
          <a:prstGeom prst="rect">
            <a:avLst/>
          </a:prstGeom>
          <a:noFill/>
          <a:ln/>
        </p:spPr>
        <p:txBody>
          <a:bodyPr wrap="square" lIns="76200" tIns="76200" rIns="76200" bIns="76200" rtlCol="0" anchor="ctr"/>
          <a:lstStyle/>
          <a:p>
            <a:pPr algn="ctr" indent="0" marL="0">
              <a:buNone/>
            </a:pPr>
            <a:r>
              <a:rPr lang="en-US" sz="2600" b="1" dirty="0">
                <a:solidFill>
                  <a:srgbClr val="22253A"/>
                </a:solidFill>
                <a:latin typeface="Calibri" pitchFamily="34" charset="0"/>
                <a:ea typeface="Calibri" pitchFamily="34" charset="-122"/>
                <a:cs typeface="Calibri" pitchFamily="34" charset="-120"/>
              </a:rPr>
              <a:t>S3</a:t>
            </a:r>
            <a:endParaRPr lang="en-US" sz="2600" dirty="0"/>
          </a:p>
        </p:txBody>
      </p:sp>
      <p:sp>
        <p:nvSpPr>
          <p:cNvPr id="15" name="Shape 12"/>
          <p:cNvSpPr/>
          <p:nvPr/>
        </p:nvSpPr>
        <p:spPr>
          <a:xfrm>
            <a:off x="3063240" y="3291840"/>
            <a:ext cx="822960" cy="-502920"/>
          </a:xfrm>
          <a:prstGeom prst="line">
            <a:avLst/>
          </a:prstGeom>
          <a:noFill/>
          <a:ln w="25400">
            <a:solidFill>
              <a:srgbClr val="D64545"/>
            </a:solidFill>
            <a:prstDash val="solid"/>
            <a:tailEnd type="triangle"/>
          </a:ln>
        </p:spPr>
      </p:sp>
      <p:sp>
        <p:nvSpPr>
          <p:cNvPr id="16" name="Shape 13"/>
          <p:cNvSpPr/>
          <p:nvPr/>
        </p:nvSpPr>
        <p:spPr>
          <a:xfrm>
            <a:off x="6172200" y="2788920"/>
            <a:ext cx="457200" cy="0"/>
          </a:xfrm>
          <a:prstGeom prst="line">
            <a:avLst/>
          </a:prstGeom>
          <a:noFill/>
          <a:ln w="25400">
            <a:solidFill>
              <a:srgbClr val="D64545"/>
            </a:solidFill>
            <a:prstDash val="solid"/>
            <a:tailEnd type="triangle"/>
          </a:ln>
        </p:spPr>
      </p:sp>
      <p:sp>
        <p:nvSpPr>
          <p:cNvPr id="17" name="Shape 14"/>
          <p:cNvSpPr/>
          <p:nvPr/>
        </p:nvSpPr>
        <p:spPr>
          <a:xfrm>
            <a:off x="8549640" y="2788920"/>
            <a:ext cx="548640" cy="411480"/>
          </a:xfrm>
          <a:prstGeom prst="line">
            <a:avLst/>
          </a:prstGeom>
          <a:noFill/>
          <a:ln w="25400">
            <a:solidFill>
              <a:srgbClr val="D64545"/>
            </a:solidFill>
            <a:prstDash val="solid"/>
            <a:tailEnd type="triangle"/>
          </a:ln>
        </p:spPr>
      </p:sp>
      <p:sp>
        <p:nvSpPr>
          <p:cNvPr id="18" name="Text 15"/>
          <p:cNvSpPr txBox="1"/>
          <p:nvPr/>
        </p:nvSpPr>
        <p:spPr>
          <a:xfrm>
            <a:off x="3657600" y="2057400"/>
            <a:ext cx="5029200" cy="347472"/>
          </a:xfrm>
          <a:prstGeom prst="rect">
            <a:avLst/>
          </a:prstGeom>
          <a:noFill/>
          <a:ln/>
        </p:spPr>
        <p:txBody>
          <a:bodyPr wrap="square" lIns="0" tIns="0" rIns="0" bIns="0" rtlCol="0" anchor="ctr"/>
          <a:lstStyle/>
          <a:p>
            <a:pPr algn="ctr" indent="0" marL="0">
              <a:buNone/>
            </a:pPr>
            <a:r>
              <a:rPr lang="en-US" sz="1300" i="1" dirty="0">
                <a:solidFill>
                  <a:srgbClr val="D64545"/>
                </a:solidFill>
                <a:latin typeface="Calibri" pitchFamily="34" charset="0"/>
                <a:ea typeface="Calibri" pitchFamily="34" charset="-122"/>
                <a:cs typeface="Calibri" pitchFamily="34" charset="-120"/>
              </a:rPr>
              <a:t>senza endpoint: via NAT, a pagamento per GB</a:t>
            </a:r>
            <a:endParaRPr lang="en-US" sz="1300" dirty="0"/>
          </a:p>
        </p:txBody>
      </p:sp>
      <p:sp>
        <p:nvSpPr>
          <p:cNvPr id="19" name="Shape 16"/>
          <p:cNvSpPr/>
          <p:nvPr/>
        </p:nvSpPr>
        <p:spPr>
          <a:xfrm>
            <a:off x="3063240" y="3703320"/>
            <a:ext cx="6035040" cy="0"/>
          </a:xfrm>
          <a:prstGeom prst="line">
            <a:avLst/>
          </a:prstGeom>
          <a:noFill/>
          <a:ln w="25400">
            <a:solidFill>
              <a:srgbClr val="2E9E6B"/>
            </a:solidFill>
            <a:prstDash val="solid"/>
            <a:tailEnd type="triangle"/>
          </a:ln>
        </p:spPr>
      </p:sp>
      <p:sp>
        <p:nvSpPr>
          <p:cNvPr id="20" name="Text 17"/>
          <p:cNvSpPr txBox="1"/>
          <p:nvPr/>
        </p:nvSpPr>
        <p:spPr>
          <a:xfrm>
            <a:off x="3200400" y="3794760"/>
            <a:ext cx="5852160" cy="411480"/>
          </a:xfrm>
          <a:prstGeom prst="rect">
            <a:avLst/>
          </a:prstGeom>
          <a:noFill/>
          <a:ln/>
        </p:spPr>
        <p:txBody>
          <a:bodyPr wrap="square" lIns="0" tIns="0" rIns="0" bIns="0" rtlCol="0" anchor="ctr"/>
          <a:lstStyle/>
          <a:p>
            <a:pPr algn="ctr" indent="0" marL="0">
              <a:buNone/>
            </a:pPr>
            <a:r>
              <a:rPr lang="en-US" sz="1500" b="1" dirty="0">
                <a:solidFill>
                  <a:srgbClr val="2E9E6B"/>
                </a:solidFill>
                <a:latin typeface="Calibri" pitchFamily="34" charset="0"/>
                <a:ea typeface="Calibri" pitchFamily="34" charset="-122"/>
                <a:cs typeface="Calibri" pitchFamily="34" charset="-120"/>
              </a:rPr>
              <a:t>con il Gateway Endpoint: diretto, dentro AWS, gratuito</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11094415" cy="914400"/>
        </p:xfrm>
        <a:graphic>
          <a:graphicData uri="http://schemas.openxmlformats.org/drawingml/2006/table">
            <a:tbl>
              <a:tblPr/>
              <a:tblGrid>
                <a:gridCol w="4572000"/>
                <a:gridCol w="6519672"/>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Da sapere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02920">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rotta punta a una prefix list (pl-…)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l'elenco degli indirizzi di S3, mantenuto da AWS: il server non cambia niente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 pezzi delle immagini ECR stanno in S3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anche i download delle immagini passano dalla scorciatoia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permessi del server: solo scaricare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749040"/>
                <a:gridCol w="3291840"/>
                <a:gridCol w="4050792"/>
              </a:tblGrid>
              <a:tr h="7772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 cosa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Perché</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ecr:GetAuthorizationToken</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 (tutto)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login al registry: non riguarda un repository, AWS accetta solo *</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ecr:BatchGetImage …</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SOLO il nostro repository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scaricare l'immagine e i suoi pezzi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s3:GetObject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SOLO deploy/* nel nostro bucket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leggere i file di deploy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663440"/>
            <a:ext cx="11094415" cy="1417320"/>
          </a:xfrm>
          <a:prstGeom prst="roundRect">
            <a:avLst>
              <a:gd name="adj" fmla="val 7742"/>
            </a:avLst>
          </a:prstGeom>
          <a:solidFill>
            <a:srgbClr val="FBE9E9"/>
          </a:solidFill>
          <a:ln w="12700">
            <a:solidFill>
              <a:srgbClr val="FBE9E9"/>
            </a:solidFill>
            <a:prstDash val="solid"/>
          </a:ln>
        </p:spPr>
      </p:sp>
      <p:sp>
        <p:nvSpPr>
          <p:cNvPr id="7" name="Shape 3"/>
          <p:cNvSpPr/>
          <p:nvPr/>
        </p:nvSpPr>
        <p:spPr>
          <a:xfrm>
            <a:off x="777240" y="4892040"/>
            <a:ext cx="548640" cy="548640"/>
          </a:xfrm>
          <a:prstGeom prst="ellipse">
            <a:avLst/>
          </a:prstGeom>
          <a:solidFill>
            <a:srgbClr val="D64545"/>
          </a:solidFill>
          <a:ln w="12700">
            <a:solidFill>
              <a:srgbClr val="D64545"/>
            </a:solidFill>
            <a:prstDash val="solid"/>
          </a:ln>
        </p:spPr>
      </p:sp>
      <p:pic>
        <p:nvPicPr>
          <p:cNvPr id="8" name="Image 0" descr="preencoded.png">    </p:cNvPr>
          <p:cNvPicPr>
            <a:picLocks noChangeAspect="1"/>
          </p:cNvPicPr>
          <p:nvPr/>
        </p:nvPicPr>
        <p:blipFill>
          <a:blip r:embed="rId1"/>
          <a:stretch>
            <a:fillRect/>
          </a:stretch>
        </p:blipFill>
        <p:spPr>
          <a:xfrm>
            <a:off x="914400" y="5029200"/>
            <a:ext cx="274320" cy="274320"/>
          </a:xfrm>
          <a:prstGeom prst="rect">
            <a:avLst/>
          </a:prstGeom>
        </p:spPr>
      </p:pic>
      <p:sp>
        <p:nvSpPr>
          <p:cNvPr id="9" name="Text 4"/>
          <p:cNvSpPr txBox="1"/>
          <p:nvPr/>
        </p:nvSpPr>
        <p:spPr>
          <a:xfrm>
            <a:off x="1508760" y="489204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Cosa MANCA, apposta</a:t>
            </a:r>
            <a:endParaRPr lang="en-US" sz="1800" dirty="0"/>
          </a:p>
        </p:txBody>
      </p:sp>
      <p:sp>
        <p:nvSpPr>
          <p:cNvPr id="10" name="Text 5"/>
          <p:cNvSpPr txBox="1"/>
          <p:nvPr/>
        </p:nvSpPr>
        <p:spPr>
          <a:xfrm>
            <a:off x="777240" y="5577840"/>
            <a:ext cx="10637215" cy="320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s3:ListBucket (sa già il nome del file) · s3:PutObject (non scrive) · ecr:PutImage (non carica: lo farà GitHub Actions, lezione 8)</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il repository ECR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325880"/>
            <a:ext cx="11094415" cy="4023360"/>
          </a:xfrm>
          <a:prstGeom prst="roundRect">
            <a:avLst>
              <a:gd name="adj" fmla="val 181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ecr.tf</a:t>
            </a:r>
            <a:endParaRPr lang="en-US" sz="1300" dirty="0"/>
          </a:p>
        </p:txBody>
      </p:sp>
      <p:sp>
        <p:nvSpPr>
          <p:cNvPr id="7" name="Text 4"/>
          <p:cNvSpPr txBox="1"/>
          <p:nvPr/>
        </p:nvSpPr>
        <p:spPr>
          <a:xfrm>
            <a:off x="731520" y="1737360"/>
            <a:ext cx="10728655" cy="34747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"aws_ecr_repository" "app"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"${var.project}/app"</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image_tag_mutability = "IMMUTABLE"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image_scanning_configuration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scan_on_push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encryption_configuration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encryption_type = "KMS"   </a:t>
            </a:r>
            <a:pPr indent="0" marL="0">
              <a:buNone/>
            </a:pPr>
            <a:r>
              <a:rPr lang="en-US" sz="1600" dirty="0">
                <a:solidFill>
                  <a:srgbClr val="8FD694"/>
                </a:solidFill>
                <a:latin typeface="Courier New" pitchFamily="34" charset="0"/>
                <a:ea typeface="Courier New" pitchFamily="34" charset="-122"/>
                <a:cs typeface="Courier New" pitchFamily="34" charset="-120"/>
              </a:rPr>
              <a:t># chiave gestita da AWS: aws/ecr</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force_delete = true         </a:t>
            </a:r>
            <a:pPr indent="0" marL="0">
              <a:buNone/>
            </a:pPr>
            <a:r>
              <a:rPr lang="en-US" sz="1600" dirty="0">
                <a:solidFill>
                  <a:srgbClr val="8FD694"/>
                </a:solidFill>
                <a:latin typeface="Courier New" pitchFamily="34" charset="0"/>
                <a:ea typeface="Courier New" pitchFamily="34" charset="-122"/>
                <a:cs typeface="Courier New" pitchFamily="34" charset="-120"/>
              </a:rPr>
              <a:t># solo laboratorio: il destroy cancella le immagini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Text 5"/>
          <p:cNvSpPr txBox="1"/>
          <p:nvPr/>
        </p:nvSpPr>
        <p:spPr>
          <a:xfrm>
            <a:off x="548640" y="5532120"/>
            <a:ext cx="11094415" cy="54864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La cifratura si sceglie alla creazione (come per il database). force_delete in produzione si toglie.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la pulizia automatica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325880"/>
            <a:ext cx="11094415" cy="4160520"/>
          </a:xfrm>
          <a:prstGeom prst="roundRect">
            <a:avLst>
              <a:gd name="adj" fmla="val 175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ecr.tf (in forma compatta)</a:t>
            </a:r>
            <a:endParaRPr lang="en-US" sz="1300" dirty="0"/>
          </a:p>
        </p:txBody>
      </p:sp>
      <p:sp>
        <p:nvSpPr>
          <p:cNvPr id="7" name="Text 4"/>
          <p:cNvSpPr txBox="1"/>
          <p:nvPr/>
        </p:nvSpPr>
        <p:spPr>
          <a:xfrm>
            <a:off x="731520" y="1737360"/>
            <a:ext cx="10728655" cy="36118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"aws_ecr_lifecycle_policy" "app"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repository = aws_ecr_repository.app.name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 = jsonencode({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rules =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rulePriority = 1, description = "Senza tag: via dopo 1 giorno"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selection = { tagStatus = "untagged", countType = "sinceImagePushed",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countUnit = "days", countNumber = 1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 { type = "expire" }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rulePriority = 2, description = "Tieni solo le ultime 20"</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selection = { tagStatus = "any", countType = "imageCountMoreThan",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countNumber = 20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 { type = "expire" }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Text 5"/>
          <p:cNvSpPr txBox="1"/>
          <p:nvPr/>
        </p:nvSpPr>
        <p:spPr>
          <a:xfrm>
            <a:off x="548640" y="562356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Nella dispensa lo stesso codice è scritto su più righe. La regola "any" deve avere il numero più alto.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il bucket e le sue protezioni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325880"/>
            <a:ext cx="11094415" cy="4846320"/>
          </a:xfrm>
          <a:prstGeom prst="roundRect">
            <a:avLst>
              <a:gd name="adj" fmla="val 1509"/>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s3.tf</a:t>
            </a:r>
            <a:endParaRPr lang="en-US" sz="1300" dirty="0"/>
          </a:p>
        </p:txBody>
      </p:sp>
      <p:sp>
        <p:nvSpPr>
          <p:cNvPr id="7" name="Text 4"/>
          <p:cNvSpPr txBox="1"/>
          <p:nvPr/>
        </p:nvSpPr>
        <p:spPr>
          <a:xfrm>
            <a:off x="731520" y="1737360"/>
            <a:ext cx="10728655" cy="42976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 "artifacts"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"${var.project}-artifacts-${data.aws_caller_identity.current.account_id}"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force_destroy = true </a:t>
            </a:r>
            <a:pPr indent="0" marL="0">
              <a:buNone/>
            </a:pPr>
            <a:r>
              <a:rPr lang="en-US" sz="1600" dirty="0">
                <a:solidFill>
                  <a:srgbClr val="8FD694"/>
                </a:solidFill>
                <a:latin typeface="Courier New" pitchFamily="34" charset="0"/>
                <a:ea typeface="Courier New" pitchFamily="34" charset="-122"/>
                <a:cs typeface="Courier New" pitchFamily="34" charset="-120"/>
              </a:rPr>
              <a:t># solo laboratorio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"aws_s3_bucket_public_access_block" "artifacts"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aws_s3_bucket.artifacts.id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block_public_acls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ignore_public_acls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block_public_policy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restrict_public_buckets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"artifacts"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aws_s3_bucket.artifacts.id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 status = "Enabled"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le altre configurazioni e la scorciatoia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6766560"/>
                <a:gridCol w="4325112"/>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Risorsa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Cosa fa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02920">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aws_s3_bucket_ownership_controls</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BucketOwnerEnforced: ACL spente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aws_s3_bucket_server_side_encryption_configuration</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AES256 = SSE-S3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02920">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aws_s3_bucket_lifecycle_configuration</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versioni vecchie via dopo 30 giorni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aws_s3_bucket_policy  (+ depends_on)</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attacca la policy "solo HTTPS", dopo il Block Public Access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4069080"/>
            <a:ext cx="11094415" cy="2103120"/>
          </a:xfrm>
          <a:prstGeom prst="roundRect">
            <a:avLst>
              <a:gd name="adj" fmla="val 3478"/>
            </a:avLst>
          </a:prstGeom>
          <a:solidFill>
            <a:srgbClr val="1E1E2E"/>
          </a:solidFill>
          <a:ln w="12700">
            <a:solidFill>
              <a:srgbClr val="1E1E2E"/>
            </a:solidFill>
            <a:prstDash val="solid"/>
          </a:ln>
        </p:spPr>
      </p:sp>
      <p:sp>
        <p:nvSpPr>
          <p:cNvPr id="7" name="Text 3"/>
          <p:cNvSpPr txBox="1"/>
          <p:nvPr/>
        </p:nvSpPr>
        <p:spPr>
          <a:xfrm>
            <a:off x="731520" y="41422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s3.tf</a:t>
            </a:r>
            <a:endParaRPr lang="en-US" sz="1300" dirty="0"/>
          </a:p>
        </p:txBody>
      </p:sp>
      <p:sp>
        <p:nvSpPr>
          <p:cNvPr id="8" name="Text 4"/>
          <p:cNvSpPr txBox="1"/>
          <p:nvPr/>
        </p:nvSpPr>
        <p:spPr>
          <a:xfrm>
            <a:off x="731520" y="4480560"/>
            <a:ext cx="10728655" cy="15544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"aws_vpc_endpoint" "s3"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vpc_id            = aws_vpc.main.id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service_name      = "com.amazonaws.${var.region}.s3"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vpc_endpoint_type = "Gateway"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route_table_ids   = [for rt in aws_route_table.private : rt.id]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i permessi del server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325880"/>
            <a:ext cx="11094415" cy="4206240"/>
          </a:xfrm>
          <a:prstGeom prst="roundRect">
            <a:avLst>
              <a:gd name="adj" fmla="val 1739"/>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s3.tf</a:t>
            </a:r>
            <a:endParaRPr lang="en-US" sz="1300" dirty="0"/>
          </a:p>
        </p:txBody>
      </p:sp>
      <p:sp>
        <p:nvSpPr>
          <p:cNvPr id="7" name="Text 4"/>
          <p:cNvSpPr txBox="1"/>
          <p:nvPr/>
        </p:nvSpPr>
        <p:spPr>
          <a:xfrm>
            <a:off x="731520" y="1737360"/>
            <a:ext cx="10728655" cy="36576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"app_read_artifacts"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["ecr:GetAuthorizationToken"]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["ecr:BatchGetImage", "ecr:GetDownloadUrlForLayer",</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"ecr:BatchCheckLayerAvailability"]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[aws_ecr_repository.app.arn]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["s3:GetObject"]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["${aws_s3_bucket.artifacts.arn}/deploy/*"]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Text 5"/>
          <p:cNvSpPr txBox="1"/>
          <p:nvPr/>
        </p:nvSpPr>
        <p:spPr>
          <a:xfrm>
            <a:off x="548640" y="5669280"/>
            <a:ext cx="11094415" cy="45720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Nella dispensa ogni statement ha anche un sid: un'etichetta facoltativa, utile solo a chi legge.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immagini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46304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630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258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 apply</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repository, bucket con le sue configurazioni, endpoint, policy del server</a:t>
            </a:r>
            <a:endParaRPr lang="en-US" sz="1700" dirty="0"/>
          </a:p>
        </p:txBody>
      </p:sp>
      <p:sp>
        <p:nvSpPr>
          <p:cNvPr id="8" name="Shape 5"/>
          <p:cNvSpPr/>
          <p:nvPr/>
        </p:nvSpPr>
        <p:spPr>
          <a:xfrm>
            <a:off x="548640" y="237744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3774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2402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In console: impostazioni di ECR e S3</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Immutable, Scan on push · Block Public Access tutto On, policy con il Deny</a:t>
            </a:r>
            <a:endParaRPr lang="en-US" sz="1700" dirty="0"/>
          </a:p>
        </p:txBody>
      </p:sp>
      <p:sp>
        <p:nvSpPr>
          <p:cNvPr id="11" name="Shape 8"/>
          <p:cNvSpPr/>
          <p:nvPr/>
        </p:nvSpPr>
        <p:spPr>
          <a:xfrm>
            <a:off x="548640" y="329184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2918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1546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Costruisci e carica un'immagine: v1</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docker login, poi docker buildx --platform linux/arm64 --push</a:t>
            </a:r>
            <a:endParaRPr lang="en-US" sz="1700" dirty="0"/>
          </a:p>
        </p:txBody>
      </p:sp>
      <p:sp>
        <p:nvSpPr>
          <p:cNvPr id="14" name="Shape 11"/>
          <p:cNvSpPr/>
          <p:nvPr/>
        </p:nvSpPr>
        <p:spPr>
          <a:xfrm>
            <a:off x="548640" y="420624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2062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0690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Ricarica con lo stesso tag v1</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errore: tag immutabile. Con v2 funziona</a:t>
            </a:r>
            <a:endParaRPr lang="en-US" sz="1700" dirty="0"/>
          </a:p>
        </p:txBody>
      </p:sp>
      <p:sp>
        <p:nvSpPr>
          <p:cNvPr id="17" name="Shape 14"/>
          <p:cNvSpPr/>
          <p:nvPr/>
        </p:nvSpPr>
        <p:spPr>
          <a:xfrm>
            <a:off x="548640" y="5120640"/>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51206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49834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La scansione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quante vulnerabilità, e di che gravità? Quasi tutte dall'immagine di partenza</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il bucket e i permessi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sp>
        <p:nvSpPr>
          <p:cNvPr id="5" name="Shape 2"/>
          <p:cNvSpPr/>
          <p:nvPr/>
        </p:nvSpPr>
        <p:spPr>
          <a:xfrm>
            <a:off x="548640" y="146304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630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7" name="Text 4"/>
          <p:cNvSpPr txBox="1"/>
          <p:nvPr/>
        </p:nvSpPr>
        <p:spPr>
          <a:xfrm>
            <a:off x="1325880" y="13258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Un file in deploy/, poi aprilo dal browser</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AccessDenied: il bucket non è pubblico</a:t>
            </a:r>
            <a:endParaRPr lang="en-US" sz="1700" dirty="0"/>
          </a:p>
        </p:txBody>
      </p:sp>
      <p:sp>
        <p:nvSpPr>
          <p:cNvPr id="8" name="Shape 5"/>
          <p:cNvSpPr/>
          <p:nvPr/>
        </p:nvSpPr>
        <p:spPr>
          <a:xfrm>
            <a:off x="548640" y="2377440"/>
            <a:ext cx="594360" cy="594360"/>
          </a:xfrm>
          <a:prstGeom prst="ellipse">
            <a:avLst/>
          </a:prstGeom>
          <a:solidFill>
            <a:srgbClr val="D64545"/>
          </a:solidFill>
          <a:ln w="12700">
            <a:solidFill>
              <a:srgbClr val="D64545"/>
            </a:solidFill>
            <a:prstDash val="solid"/>
          </a:ln>
        </p:spPr>
      </p:sp>
      <p:sp>
        <p:nvSpPr>
          <p:cNvPr id="9" name="Text 6"/>
          <p:cNvSpPr txBox="1"/>
          <p:nvPr/>
        </p:nvSpPr>
        <p:spPr>
          <a:xfrm>
            <a:off x="548640" y="23774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10" name="Text 7"/>
          <p:cNvSpPr txBox="1"/>
          <p:nvPr/>
        </p:nvSpPr>
        <p:spPr>
          <a:xfrm>
            <a:off x="1325880" y="22402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Ricaricalo forzando HTTP</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AccessDenied anche con tutti i permessi: il Deny vince</a:t>
            </a:r>
            <a:endParaRPr lang="en-US" sz="1700" dirty="0"/>
          </a:p>
        </p:txBody>
      </p:sp>
      <p:sp>
        <p:nvSpPr>
          <p:cNvPr id="11" name="Shape 8"/>
          <p:cNvSpPr/>
          <p:nvPr/>
        </p:nvSpPr>
        <p:spPr>
          <a:xfrm>
            <a:off x="548640" y="329184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2918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13" name="Text 10"/>
          <p:cNvSpPr txBox="1"/>
          <p:nvPr/>
        </p:nvSpPr>
        <p:spPr>
          <a:xfrm>
            <a:off x="1325880" y="31546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Ricaricalo cambiato, poi list-object-versions</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due versioni, una sola "ultima"</a:t>
            </a:r>
            <a:endParaRPr lang="en-US" sz="1700" dirty="0"/>
          </a:p>
        </p:txBody>
      </p:sp>
      <p:sp>
        <p:nvSpPr>
          <p:cNvPr id="14" name="Shape 11"/>
          <p:cNvSpPr/>
          <p:nvPr/>
        </p:nvSpPr>
        <p:spPr>
          <a:xfrm>
            <a:off x="548640" y="420624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2062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6" name="Text 13"/>
          <p:cNvSpPr txBox="1"/>
          <p:nvPr/>
        </p:nvSpPr>
        <p:spPr>
          <a:xfrm>
            <a:off x="1325880" y="40690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Dal server (SSM): leggi, elenca, scrivi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leggere sì; elencare e scrivere no; login al registry sì</a:t>
            </a:r>
            <a:endParaRPr lang="en-US" sz="1700" dirty="0"/>
          </a:p>
        </p:txBody>
      </p:sp>
      <p:sp>
        <p:nvSpPr>
          <p:cNvPr id="17" name="Shape 14"/>
          <p:cNvSpPr/>
          <p:nvPr/>
        </p:nvSpPr>
        <p:spPr>
          <a:xfrm>
            <a:off x="548640" y="5120640"/>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51206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19" name="Text 16"/>
          <p:cNvSpPr txBox="1"/>
          <p:nvPr/>
        </p:nvSpPr>
        <p:spPr>
          <a:xfrm>
            <a:off x="1325880" y="49834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Route table private: la rotta pl-… → vpce-…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è il Gateway Endpoint. In quella del database? No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7 · Immagini e artefatti: ECR e S3</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3429000"/>
                <a:gridCol w="2377440"/>
                <a:gridCol w="3090672"/>
              </a:tblGrid>
              <a:tr h="6858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container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un'immagine in esecuzione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Block Public Access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 4 levette: niente pubblico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immagine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pacchetto costruito, che non cambia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SSE-S3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cifratura dei file gestita da S3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Dockerfile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ricetta dell'immagine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aws:SecureTransport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richiesta è cifrata (HTTPS)?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registry · ECR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magazzino delle immagini · quello di AWS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Gateway Endpoint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scorciatoia privata e gratuita verso S3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tag immutabile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una versione, un nome, per sempre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prefix list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l'elenco degli indirizzi di S3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lifecycle policy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regole di pulizia automatica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depends_on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"crea prima queste risorse"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Si costruisce una volta (immagine), si conserva, il server scarica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ECR: privato, tag immutabili, scansione, pulizia automatica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S3 per i file di deploy: niente pubblico, versioning, cifratura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Bucket policy: ogni richiesta non HTTPS è rifiutata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Gateway Endpoint: verso S3 senza NAT, gratuito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server può solo scaricare: privilegio minimo</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dispense/dispensa-7-ecr-s3.md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GitHub costruisce l'immagine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2026-10-08T12:03:59Z</dcterms:created>
  <dcterms:modified xsi:type="dcterms:W3CDTF">2026-10-08T12:03:59Z</dcterms:modified>
</cp:coreProperties>
</file>