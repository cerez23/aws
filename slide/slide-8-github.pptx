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7 abbiamo costruito un'immagine a mano, dal nostro computer. Oggi lo facciamo fare a GitHub, da solo, a ogni modifica del codice: git push, GitHub costruisce l'immagine, la carica in ECR. Senza nessuna chiave AWS salvata da nessuna parte. Nella lezione 9 metteremo in produzione l'immagine che GitHub costruisce oggi.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passi. Uno: git push sul branch main. Due: GitHub Actions entra in AWS senza chiavi, con OIDC, e ottiene credenziali temporanee. Tre: costruisce l'immagine e la carica in ECR, con il tag uguale al codice del commit. GitHub può solo caricare immagini: non tocca server, database o rete. Quale versione va in produzione lo decidete voi, nella lezione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caricare l'immagine GitHub deve entrare in AWS. Il modo sbagliato, e ancora diffusissimo: una chiave d'accesso fissa salvata nei segreti di GitHub. Non scade, vale da qualunque posto, e chi la trova in un log o in un repository violato la usa per sempre. Il modo giusto è OIDC: GitHub e AWS si fidano l'uno dell'altro e nessuna chiave viene salvata. È come la reception: il fornitore arriva con un documento rilasciato da un ente di cui vi fidate, la reception controlla il documento e cosa c'è scritto, e gli dà un badge visitatore che vale un'ora e apre solo la sala macchine.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passi. Uno: quando il workflow parte, GitHub gli dà un token firmato, che dice sono il workflow del repository mario/corso-app sul branch main. Due: il workflow presenta il token ad AWS e chiede di assumere un role, come nella lezione 1. Tre: AWS controlla la firma, e le condizioni scritte nella trust policy: è proprio quel repository? quel branch? Quattro: se tutto torna, credenziali temporanee di un'ora, con i soli permessi del role: caricare immagini nel nostro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condizione sul sub, il soggetto del token, dice di chi parla il token. La nostra: repo mario/corso-app, ref refs heads main. Solo quel repository, solo il branch main. Se fosse repo mario asterisco, qualunque repository dell'utente potrebbe caricare immagini in produzione. Se mancasse, qualunque repository di GitHub al mondo potrebbe assumere il role. È l'errore più grave che si possa fare con 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workflow è un file YAML nel repository dell'applicazione. Scarica il codice; presenta il token e assume il role; fa il login a ECR; prepara la costruzione per ARM su un computer di GitHub che è x86, con QEMU; costruisce l'immagine linux arm64 e la carica, con il tag uguale al codice del commit. Così ogni immagine corrisponde a un punto preciso della storia del codice. Il role e l'indirizzo di ECR sono due variabili del repository, non segreti.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avere qualcosa da costruire ci serve un'applicazione. La nostra è piccolissima: una pagina web che a ogni visita scrive una riga nel database e mostra quante visite ci sono state. Sta nel repository corso-app, in tre file: app.py, l'applicazione in Python; il Dockerfile, la ricetta dell'immagine; e il workflow. L'app legge indirizzo e password del database da variabili d'ambiente: oggi la costruiamo soltanto, a darle quei valori sul server ci pensa la lezione 9. Se non conoscete Git, bastano cinque comandi: clone, add, commit, push, e switch per creare un branch; oppure si caricano i file dal sito di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della trust policy. L'azione è AssumeRoleWithWebIdentity: assumere il role presentando un token esterno. Il principal è di tipo Federated: chi presenta un token dell'OIDC provider di GitHub. Due condizioni, in due blocchi, devono essere vere tutte e due. aud uguale sts.amazonaws.com: il token è per AWS. sub uguale repo, il nostro repository, ref refs heads main. StringEquals vuol dire uguale lettera per lettera, senza asterischi. La permission policy, a parte, permette solo il login a ECR e le cinque azioni per caricare un'immagine nel nostro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è nella dispensa 8. Uno: create su GitHub il repository corso-app con i tre file, senza push. Due: in infra aggiungete github-oidc.tf e github_repo nel tfvars. Tre: apply, che crea solo il provider, il role e la sua policy. Quattro: le due variabili su GitHub. Cinque: il primo push, e in ECR compare l'immagine con il tag del commit: annotatelo, serve nella lezione 9. Sei: dal branch prova il workflow viene rifiutato, per la condizione sul sub.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8, con github-oidc.tf e i file di corso-app spiegati blocco per blocco. La prossima volta mettiamo in produzione l'immagine di oggi, su un server che, se si rompe, si ricrea da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8</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8 · GitHub costruisce l'immagine</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GitHub costruisce l'immagine</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A ogni git push, GitHub costruisce l'immagine e la carica in ECR: senza nessuna chiave salvata</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percorso di oggi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1828800" y="1554480"/>
            <a:ext cx="914400" cy="91440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2057400" y="1783080"/>
            <a:ext cx="457200" cy="457200"/>
          </a:xfrm>
          <a:prstGeom prst="rect">
            <a:avLst/>
          </a:prstGeom>
        </p:spPr>
      </p:pic>
      <p:sp>
        <p:nvSpPr>
          <p:cNvPr id="7" name="Text 3"/>
          <p:cNvSpPr txBox="1"/>
          <p:nvPr/>
        </p:nvSpPr>
        <p:spPr>
          <a:xfrm>
            <a:off x="548640" y="260604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git push</a:t>
            </a:r>
            <a:endParaRPr lang="en-US" sz="1900" dirty="0"/>
          </a:p>
        </p:txBody>
      </p:sp>
      <p:sp>
        <p:nvSpPr>
          <p:cNvPr id="8" name="Text 4"/>
          <p:cNvSpPr txBox="1"/>
          <p:nvPr/>
        </p:nvSpPr>
        <p:spPr>
          <a:xfrm>
            <a:off x="548640" y="3063240"/>
            <a:ext cx="3566160" cy="54864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sul branch main</a:t>
            </a:r>
            <a:endParaRPr lang="en-US" sz="1500" dirty="0"/>
          </a:p>
        </p:txBody>
      </p:sp>
      <p:sp>
        <p:nvSpPr>
          <p:cNvPr id="9" name="Shape 5"/>
          <p:cNvSpPr/>
          <p:nvPr/>
        </p:nvSpPr>
        <p:spPr>
          <a:xfrm>
            <a:off x="2926080" y="2011680"/>
            <a:ext cx="2194560" cy="0"/>
          </a:xfrm>
          <a:prstGeom prst="line">
            <a:avLst/>
          </a:prstGeom>
          <a:noFill/>
          <a:ln w="25400">
            <a:solidFill>
              <a:srgbClr val="D9D6EC"/>
            </a:solidFill>
            <a:prstDash val="solid"/>
            <a:tailEnd type="triangle"/>
          </a:ln>
        </p:spPr>
      </p:sp>
      <p:sp>
        <p:nvSpPr>
          <p:cNvPr id="10" name="Shape 6"/>
          <p:cNvSpPr/>
          <p:nvPr/>
        </p:nvSpPr>
        <p:spPr>
          <a:xfrm>
            <a:off x="5577840" y="1554480"/>
            <a:ext cx="914400" cy="914400"/>
          </a:xfrm>
          <a:prstGeom prst="ellipse">
            <a:avLst/>
          </a:prstGeom>
          <a:solidFill>
            <a:srgbClr val="5B3FD0"/>
          </a:solidFill>
          <a:ln w="12700">
            <a:solidFill>
              <a:srgbClr val="5B3FD0"/>
            </a:solidFill>
            <a:prstDash val="solid"/>
          </a:ln>
        </p:spPr>
      </p:sp>
      <p:pic>
        <p:nvPicPr>
          <p:cNvPr id="11" name="Image 1" descr="preencoded.png">    </p:cNvPr>
          <p:cNvPicPr>
            <a:picLocks noChangeAspect="1"/>
          </p:cNvPicPr>
          <p:nvPr/>
        </p:nvPicPr>
        <p:blipFill>
          <a:blip r:embed="rId2"/>
          <a:stretch>
            <a:fillRect/>
          </a:stretch>
        </p:blipFill>
        <p:spPr>
          <a:xfrm>
            <a:off x="5806440" y="1783080"/>
            <a:ext cx="457200" cy="457200"/>
          </a:xfrm>
          <a:prstGeom prst="rect">
            <a:avLst/>
          </a:prstGeom>
        </p:spPr>
      </p:pic>
      <p:sp>
        <p:nvSpPr>
          <p:cNvPr id="12" name="Text 7"/>
          <p:cNvSpPr txBox="1"/>
          <p:nvPr/>
        </p:nvSpPr>
        <p:spPr>
          <a:xfrm>
            <a:off x="4297680" y="260604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GitHub Actions</a:t>
            </a:r>
            <a:endParaRPr lang="en-US" sz="1900" dirty="0"/>
          </a:p>
        </p:txBody>
      </p:sp>
      <p:sp>
        <p:nvSpPr>
          <p:cNvPr id="13" name="Text 8"/>
          <p:cNvSpPr txBox="1"/>
          <p:nvPr/>
        </p:nvSpPr>
        <p:spPr>
          <a:xfrm>
            <a:off x="4297680" y="3063240"/>
            <a:ext cx="3566160" cy="54864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entra in AWS con OIDC, senza chiavi</a:t>
            </a:r>
            <a:endParaRPr lang="en-US" sz="1500" dirty="0"/>
          </a:p>
        </p:txBody>
      </p:sp>
      <p:sp>
        <p:nvSpPr>
          <p:cNvPr id="14" name="Shape 9"/>
          <p:cNvSpPr/>
          <p:nvPr/>
        </p:nvSpPr>
        <p:spPr>
          <a:xfrm>
            <a:off x="6675120" y="2011680"/>
            <a:ext cx="2194560" cy="0"/>
          </a:xfrm>
          <a:prstGeom prst="line">
            <a:avLst/>
          </a:prstGeom>
          <a:noFill/>
          <a:ln w="25400">
            <a:solidFill>
              <a:srgbClr val="D9D6EC"/>
            </a:solidFill>
            <a:prstDash val="solid"/>
            <a:tailEnd type="triangle"/>
          </a:ln>
        </p:spPr>
      </p:sp>
      <p:sp>
        <p:nvSpPr>
          <p:cNvPr id="15" name="Shape 10"/>
          <p:cNvSpPr/>
          <p:nvPr/>
        </p:nvSpPr>
        <p:spPr>
          <a:xfrm>
            <a:off x="9326880" y="1554480"/>
            <a:ext cx="914400" cy="914400"/>
          </a:xfrm>
          <a:prstGeom prst="ellipse">
            <a:avLst/>
          </a:prstGeom>
          <a:solidFill>
            <a:srgbClr val="5B3FD0"/>
          </a:solidFill>
          <a:ln w="12700">
            <a:solidFill>
              <a:srgbClr val="5B3FD0"/>
            </a:solidFill>
            <a:prstDash val="solid"/>
          </a:ln>
        </p:spPr>
      </p:sp>
      <p:pic>
        <p:nvPicPr>
          <p:cNvPr id="16" name="Image 2" descr="preencoded.png">    </p:cNvPr>
          <p:cNvPicPr>
            <a:picLocks noChangeAspect="1"/>
          </p:cNvPicPr>
          <p:nvPr/>
        </p:nvPicPr>
        <p:blipFill>
          <a:blip r:embed="rId3"/>
          <a:stretch>
            <a:fillRect/>
          </a:stretch>
        </p:blipFill>
        <p:spPr>
          <a:xfrm>
            <a:off x="9555480" y="1783080"/>
            <a:ext cx="457200" cy="457200"/>
          </a:xfrm>
          <a:prstGeom prst="rect">
            <a:avLst/>
          </a:prstGeom>
        </p:spPr>
      </p:pic>
      <p:sp>
        <p:nvSpPr>
          <p:cNvPr id="17" name="Text 11"/>
          <p:cNvSpPr txBox="1"/>
          <p:nvPr/>
        </p:nvSpPr>
        <p:spPr>
          <a:xfrm>
            <a:off x="8046720" y="2606040"/>
            <a:ext cx="35661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Immagine in ECR</a:t>
            </a:r>
            <a:endParaRPr lang="en-US" sz="1900" dirty="0"/>
          </a:p>
        </p:txBody>
      </p:sp>
      <p:sp>
        <p:nvSpPr>
          <p:cNvPr id="18" name="Text 12"/>
          <p:cNvSpPr txBox="1"/>
          <p:nvPr/>
        </p:nvSpPr>
        <p:spPr>
          <a:xfrm>
            <a:off x="8046720" y="3063240"/>
            <a:ext cx="3566160" cy="548640"/>
          </a:xfrm>
          <a:prstGeom prst="rect">
            <a:avLst/>
          </a:prstGeom>
          <a:noFill/>
          <a:ln/>
        </p:spPr>
        <p:txBody>
          <a:bodyPr wrap="square" lIns="0" tIns="0" rIns="0" bIns="0" rtlCol="0" anchor="ctr"/>
          <a:lstStyle/>
          <a:p>
            <a:pPr algn="ctr" indent="0" marL="0">
              <a:buNone/>
            </a:pPr>
            <a:r>
              <a:rPr lang="en-US" sz="1500" dirty="0">
                <a:solidFill>
                  <a:srgbClr val="5F6478"/>
                </a:solidFill>
                <a:latin typeface="Calibri" pitchFamily="34" charset="0"/>
                <a:ea typeface="Calibri" pitchFamily="34" charset="-122"/>
                <a:cs typeface="Calibri" pitchFamily="34" charset="-120"/>
              </a:rPr>
              <a:t>tag = il codice del commit</a:t>
            </a:r>
            <a:endParaRPr lang="en-US" sz="1500" dirty="0"/>
          </a:p>
        </p:txBody>
      </p:sp>
      <p:sp>
        <p:nvSpPr>
          <p:cNvPr id="19" name="Shape 13"/>
          <p:cNvSpPr/>
          <p:nvPr/>
        </p:nvSpPr>
        <p:spPr>
          <a:xfrm>
            <a:off x="548640" y="3977640"/>
            <a:ext cx="5440680" cy="2103120"/>
          </a:xfrm>
          <a:prstGeom prst="roundRect">
            <a:avLst>
              <a:gd name="adj" fmla="val 5217"/>
            </a:avLst>
          </a:prstGeom>
          <a:solidFill>
            <a:srgbClr val="EEEAFB"/>
          </a:solidFill>
          <a:ln w="12700">
            <a:solidFill>
              <a:srgbClr val="EEEAFB"/>
            </a:solidFill>
            <a:prstDash val="solid"/>
          </a:ln>
        </p:spPr>
      </p:sp>
      <p:sp>
        <p:nvSpPr>
          <p:cNvPr id="20" name="Shape 14"/>
          <p:cNvSpPr/>
          <p:nvPr/>
        </p:nvSpPr>
        <p:spPr>
          <a:xfrm>
            <a:off x="777240" y="4206240"/>
            <a:ext cx="548640" cy="548640"/>
          </a:xfrm>
          <a:prstGeom prst="ellipse">
            <a:avLst/>
          </a:prstGeom>
          <a:solidFill>
            <a:srgbClr val="5B3FD0"/>
          </a:solidFill>
          <a:ln w="12700">
            <a:solidFill>
              <a:srgbClr val="5B3FD0"/>
            </a:solidFill>
            <a:prstDash val="solid"/>
          </a:ln>
        </p:spPr>
      </p:sp>
      <p:pic>
        <p:nvPicPr>
          <p:cNvPr id="21" name="Image 3" descr="preencoded.png">    </p:cNvPr>
          <p:cNvPicPr>
            <a:picLocks noChangeAspect="1"/>
          </p:cNvPicPr>
          <p:nvPr/>
        </p:nvPicPr>
        <p:blipFill>
          <a:blip r:embed="rId4"/>
          <a:stretch>
            <a:fillRect/>
          </a:stretch>
        </p:blipFill>
        <p:spPr>
          <a:xfrm>
            <a:off x="914400" y="4343400"/>
            <a:ext cx="274320" cy="274320"/>
          </a:xfrm>
          <a:prstGeom prst="rect">
            <a:avLst/>
          </a:prstGeom>
        </p:spPr>
      </p:pic>
      <p:sp>
        <p:nvSpPr>
          <p:cNvPr id="22" name="Text 15"/>
          <p:cNvSpPr txBox="1"/>
          <p:nvPr/>
        </p:nvSpPr>
        <p:spPr>
          <a:xfrm>
            <a:off x="1508760" y="42062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GitHub può SOLO caricare</a:t>
            </a:r>
            <a:endParaRPr lang="en-US" sz="1800" dirty="0"/>
          </a:p>
        </p:txBody>
      </p:sp>
      <p:sp>
        <p:nvSpPr>
          <p:cNvPr id="23" name="Text 16"/>
          <p:cNvSpPr txBox="1"/>
          <p:nvPr/>
        </p:nvSpPr>
        <p:spPr>
          <a:xfrm>
            <a:off x="777240" y="4892040"/>
            <a:ext cx="498348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costruisce e carica l'immagine. Non tocca server, database o rete</a:t>
            </a:r>
            <a:endParaRPr lang="en-US" sz="1500" dirty="0"/>
          </a:p>
        </p:txBody>
      </p:sp>
      <p:sp>
        <p:nvSpPr>
          <p:cNvPr id="24" name="Shape 17"/>
          <p:cNvSpPr/>
          <p:nvPr/>
        </p:nvSpPr>
        <p:spPr>
          <a:xfrm>
            <a:off x="6172200" y="3977640"/>
            <a:ext cx="5468112" cy="2103120"/>
          </a:xfrm>
          <a:prstGeom prst="roundRect">
            <a:avLst>
              <a:gd name="adj" fmla="val 5217"/>
            </a:avLst>
          </a:prstGeom>
          <a:solidFill>
            <a:srgbClr val="FDF0E3"/>
          </a:solidFill>
          <a:ln w="12700">
            <a:solidFill>
              <a:srgbClr val="FDF0E3"/>
            </a:solidFill>
            <a:prstDash val="solid"/>
          </a:ln>
        </p:spPr>
      </p:sp>
      <p:sp>
        <p:nvSpPr>
          <p:cNvPr id="25" name="Shape 18"/>
          <p:cNvSpPr/>
          <p:nvPr/>
        </p:nvSpPr>
        <p:spPr>
          <a:xfrm>
            <a:off x="6400800" y="4206240"/>
            <a:ext cx="548640" cy="548640"/>
          </a:xfrm>
          <a:prstGeom prst="ellipse">
            <a:avLst/>
          </a:prstGeom>
          <a:solidFill>
            <a:srgbClr val="F28C28"/>
          </a:solidFill>
          <a:ln w="12700">
            <a:solidFill>
              <a:srgbClr val="F28C28"/>
            </a:solidFill>
            <a:prstDash val="solid"/>
          </a:ln>
        </p:spPr>
      </p:sp>
      <p:pic>
        <p:nvPicPr>
          <p:cNvPr id="26" name="Image 4" descr="preencoded.png">    </p:cNvPr>
          <p:cNvPicPr>
            <a:picLocks noChangeAspect="1"/>
          </p:cNvPicPr>
          <p:nvPr/>
        </p:nvPicPr>
        <p:blipFill>
          <a:blip r:embed="rId5"/>
          <a:stretch>
            <a:fillRect/>
          </a:stretch>
        </p:blipFill>
        <p:spPr>
          <a:xfrm>
            <a:off x="6537960" y="4343400"/>
            <a:ext cx="274320" cy="274320"/>
          </a:xfrm>
          <a:prstGeom prst="rect">
            <a:avLst/>
          </a:prstGeom>
        </p:spPr>
      </p:pic>
      <p:sp>
        <p:nvSpPr>
          <p:cNvPr id="27" name="Text 19"/>
          <p:cNvSpPr txBox="1"/>
          <p:nvPr/>
        </p:nvSpPr>
        <p:spPr>
          <a:xfrm>
            <a:off x="7132320" y="420624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 produzione la decidi tu</a:t>
            </a:r>
            <a:endParaRPr lang="en-US" sz="1800" dirty="0"/>
          </a:p>
        </p:txBody>
      </p:sp>
      <p:sp>
        <p:nvSpPr>
          <p:cNvPr id="28" name="Text 20"/>
          <p:cNvSpPr txBox="1"/>
          <p:nvPr/>
        </p:nvSpPr>
        <p:spPr>
          <a:xfrm>
            <a:off x="6400800" y="4892040"/>
            <a:ext cx="501091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nella lezione 9: image_tag nel tfvars, visibile nel plan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GitHub deve entrare in AWS: senza chiavi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548640" y="1371600"/>
            <a:ext cx="5440680" cy="2926080"/>
          </a:xfrm>
          <a:prstGeom prst="roundRect">
            <a:avLst>
              <a:gd name="adj" fmla="val 375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Chiave fissa nei segreti di GitHub</a:t>
            </a:r>
            <a:endParaRPr lang="en-US" sz="1800" dirty="0"/>
          </a:p>
        </p:txBody>
      </p:sp>
      <p:sp>
        <p:nvSpPr>
          <p:cNvPr id="9" name="Text 5"/>
          <p:cNvSpPr txBox="1"/>
          <p:nvPr/>
        </p:nvSpPr>
        <p:spPr>
          <a:xfrm>
            <a:off x="777240" y="2286000"/>
            <a:ext cx="498348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NON scade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Vale da qualunque posto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Chi la trova (log, fork, repo violato) la usa per sempre</a:t>
            </a:r>
            <a:endParaRPr lang="en-US" sz="1600" dirty="0"/>
          </a:p>
        </p:txBody>
      </p:sp>
      <p:sp>
        <p:nvSpPr>
          <p:cNvPr id="10" name="Shape 6"/>
          <p:cNvSpPr/>
          <p:nvPr/>
        </p:nvSpPr>
        <p:spPr>
          <a:xfrm>
            <a:off x="6172200" y="1371600"/>
            <a:ext cx="5468112" cy="2926080"/>
          </a:xfrm>
          <a:prstGeom prst="roundRect">
            <a:avLst>
              <a:gd name="adj" fmla="val 3750"/>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OIDC: nessuna chiave salvata</a:t>
            </a:r>
            <a:endParaRPr lang="en-US" sz="1800" dirty="0"/>
          </a:p>
        </p:txBody>
      </p:sp>
      <p:sp>
        <p:nvSpPr>
          <p:cNvPr id="14" name="Text 9"/>
          <p:cNvSpPr txBox="1"/>
          <p:nvPr/>
        </p:nvSpPr>
        <p:spPr>
          <a:xfrm>
            <a:off x="6400800" y="2286000"/>
            <a:ext cx="5010912"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GitHub firma un "documento" per ogni esecuzione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AWS lo controlla e dà un badge di 1 ora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badge apre solo ECR, solo il nostro repository</a:t>
            </a:r>
            <a:endParaRPr lang="en-US" sz="1600" dirty="0"/>
          </a:p>
        </p:txBody>
      </p:sp>
      <p:sp>
        <p:nvSpPr>
          <p:cNvPr id="15" name="Shape 10"/>
          <p:cNvSpPr/>
          <p:nvPr/>
        </p:nvSpPr>
        <p:spPr>
          <a:xfrm>
            <a:off x="548640" y="4572000"/>
            <a:ext cx="11094415" cy="1005840"/>
          </a:xfrm>
          <a:prstGeom prst="roundRect">
            <a:avLst>
              <a:gd name="adj" fmla="val 9091"/>
            </a:avLst>
          </a:prstGeom>
          <a:solidFill>
            <a:srgbClr val="FDF0E3"/>
          </a:solidFill>
          <a:ln w="12700">
            <a:solidFill>
              <a:srgbClr val="FDF0E3"/>
            </a:solidFill>
            <a:prstDash val="solid"/>
          </a:ln>
        </p:spPr>
      </p:sp>
      <p:sp>
        <p:nvSpPr>
          <p:cNvPr id="16" name="Text 11"/>
          <p:cNvSpPr txBox="1"/>
          <p:nvPr/>
        </p:nvSpPr>
        <p:spPr>
          <a:xfrm>
            <a:off x="822960" y="4572000"/>
            <a:ext cx="10545775" cy="100584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Come alla reception: documento rilasciato da un ente fidato → badge visitatore di un'ora, che apre solo la sala macchine.</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OIDC: come funziona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548640" y="150876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508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7160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GitHub dà al workflow un token firmato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"sono il workflow di mario/corso-app, branch main"</a:t>
            </a:r>
            <a:endParaRPr lang="en-US" sz="1700" dirty="0"/>
          </a:p>
        </p:txBody>
      </p:sp>
      <p:sp>
        <p:nvSpPr>
          <p:cNvPr id="8" name="Shape 5"/>
          <p:cNvSpPr/>
          <p:nvPr/>
        </p:nvSpPr>
        <p:spPr>
          <a:xfrm>
            <a:off x="548640" y="251460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5146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37744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workflow lo presenta ad AWS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 chiede di assumere il role github-release (lezione 1)</a:t>
            </a:r>
            <a:endParaRPr lang="en-US" sz="1700" dirty="0"/>
          </a:p>
        </p:txBody>
      </p:sp>
      <p:sp>
        <p:nvSpPr>
          <p:cNvPr id="11" name="Shape 8"/>
          <p:cNvSpPr/>
          <p:nvPr/>
        </p:nvSpPr>
        <p:spPr>
          <a:xfrm>
            <a:off x="548640" y="3520440"/>
            <a:ext cx="594360" cy="594360"/>
          </a:xfrm>
          <a:prstGeom prst="ellipse">
            <a:avLst/>
          </a:prstGeom>
          <a:solidFill>
            <a:srgbClr val="F28C28"/>
          </a:solidFill>
          <a:ln w="12700">
            <a:solidFill>
              <a:srgbClr val="F28C28"/>
            </a:solidFill>
            <a:prstDash val="solid"/>
          </a:ln>
        </p:spPr>
      </p:sp>
      <p:sp>
        <p:nvSpPr>
          <p:cNvPr id="12" name="Text 9"/>
          <p:cNvSpPr txBox="1"/>
          <p:nvPr/>
        </p:nvSpPr>
        <p:spPr>
          <a:xfrm>
            <a:off x="548640" y="3520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383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AWS controlla firma e condizioni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firmato da GitHub? per AWS (aud)? quel repository e quel branch (sub)?</a:t>
            </a:r>
            <a:endParaRPr lang="en-US" sz="1700" dirty="0"/>
          </a:p>
        </p:txBody>
      </p:sp>
      <p:sp>
        <p:nvSpPr>
          <p:cNvPr id="14" name="Shape 11"/>
          <p:cNvSpPr/>
          <p:nvPr/>
        </p:nvSpPr>
        <p:spPr>
          <a:xfrm>
            <a:off x="548640" y="452628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5262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3891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Credenziali temporanee: 1 ora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solo per caricare immagini nel nostro repository ECR</a:t>
            </a:r>
            <a:endParaRPr lang="en-US" sz="1700" dirty="0"/>
          </a:p>
        </p:txBody>
      </p:sp>
      <p:sp>
        <p:nvSpPr>
          <p:cNvPr id="17" name="Shape 14"/>
          <p:cNvSpPr/>
          <p:nvPr/>
        </p:nvSpPr>
        <p:spPr>
          <a:xfrm>
            <a:off x="548640" y="5486400"/>
            <a:ext cx="11094415" cy="731520"/>
          </a:xfrm>
          <a:prstGeom prst="roundRect">
            <a:avLst>
              <a:gd name="adj" fmla="val 12500"/>
            </a:avLst>
          </a:prstGeom>
          <a:solidFill>
            <a:srgbClr val="FDF0E3"/>
          </a:solidFill>
          <a:ln w="12700">
            <a:solidFill>
              <a:srgbClr val="FDF0E3"/>
            </a:solidFill>
            <a:prstDash val="solid"/>
          </a:ln>
        </p:spPr>
      </p:sp>
      <p:sp>
        <p:nvSpPr>
          <p:cNvPr id="18" name="Text 15"/>
          <p:cNvSpPr txBox="1"/>
          <p:nvPr/>
        </p:nvSpPr>
        <p:spPr>
          <a:xfrm>
            <a:off x="822960" y="5486400"/>
            <a:ext cx="10545775" cy="73152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In AWS servono due cose: l'OIDC provider ("i token di GitHub sono validi") e il role, con trust policy ristretta.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condizione più importante: il sub</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669280"/>
                <a:gridCol w="5422392"/>
              </a:tblGrid>
              <a:tr h="7772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Condizione sul sub</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Chi può caricare immagini in produzione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7724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repo:mario/corso-app:ref:refs/heads/main</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solo quel repository, solo il branch main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repo:mario/corso-app:*</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F28C28"/>
                          </a:solidFill>
                          <a:latin typeface="Calibri" pitchFamily="34" charset="0"/>
                          <a:ea typeface="Calibri" pitchFamily="34" charset="-122"/>
                          <a:cs typeface="Calibri" pitchFamily="34" charset="-120"/>
                        </a:rPr>
                        <a:t>qualunque branch di quel repository, anche uno di prova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repo:mario/*</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D64545"/>
                          </a:solidFill>
                          <a:latin typeface="Calibri" pitchFamily="34" charset="0"/>
                          <a:ea typeface="Calibri" pitchFamily="34" charset="-122"/>
                          <a:cs typeface="Calibri" pitchFamily="34" charset="-120"/>
                        </a:rPr>
                        <a:t>qualunque repository dell'utente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(nessuna condizione)</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QUALUNQUE repository di GitHub al mondo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5486400"/>
            <a:ext cx="11094415" cy="777240"/>
          </a:xfrm>
          <a:prstGeom prst="roundRect">
            <a:avLst>
              <a:gd name="adj" fmla="val 11765"/>
            </a:avLst>
          </a:prstGeom>
          <a:solidFill>
            <a:srgbClr val="FBE9E9"/>
          </a:solidFill>
          <a:ln w="12700">
            <a:solidFill>
              <a:srgbClr val="FBE9E9"/>
            </a:solidFill>
            <a:prstDash val="solid"/>
          </a:ln>
        </p:spPr>
      </p:sp>
      <p:sp>
        <p:nvSpPr>
          <p:cNvPr id="7" name="Text 3"/>
          <p:cNvSpPr txBox="1"/>
          <p:nvPr/>
        </p:nvSpPr>
        <p:spPr>
          <a:xfrm>
            <a:off x="822960" y="5486400"/>
            <a:ext cx="10545775" cy="77724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Va sempre ristretta al repository E al branch. Nell'esercizio lo verifichiamo: dal branch "prova" il role rifiuta.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workflow: costruire e caricare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548640" y="1325880"/>
            <a:ext cx="11094415" cy="4617720"/>
          </a:xfrm>
          <a:prstGeom prst="roundRect">
            <a:avLst>
              <a:gd name="adj" fmla="val 1584"/>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corso-app/.github/workflows/release.yml (forma compatta)</a:t>
            </a:r>
            <a:endParaRPr lang="en-US" sz="1300" dirty="0"/>
          </a:p>
        </p:txBody>
      </p:sp>
      <p:sp>
        <p:nvSpPr>
          <p:cNvPr id="7" name="Text 4"/>
          <p:cNvSpPr txBox="1"/>
          <p:nvPr/>
        </p:nvSpPr>
        <p:spPr>
          <a:xfrm>
            <a:off x="731520" y="1737360"/>
            <a:ext cx="10728655" cy="4069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on: { push: { branches: [main] }, workflow_dispatch: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permissions: { id-token: write, contents: read }   </a:t>
            </a:r>
            <a:pPr indent="0" marL="0">
              <a:buNone/>
            </a:pPr>
            <a:r>
              <a:rPr lang="en-US" sz="1600" dirty="0">
                <a:solidFill>
                  <a:srgbClr val="8FD694"/>
                </a:solidFill>
                <a:latin typeface="Courier New" pitchFamily="34" charset="0"/>
                <a:ea typeface="Courier New" pitchFamily="34" charset="-122"/>
                <a:cs typeface="Courier New" pitchFamily="34" charset="-120"/>
              </a:rPr>
              <a:t># id-token: per il token OIDC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jobs: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immagine: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runs-on: ubuntu-latest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steps: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actions/checkout@v7</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aws-actions/configure-aws-credentials@v6</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with:</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role-to-assume: ${{ vars.AWS_RELEASE_ROLE_ARN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aws-region: eu-south-1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aws-actions/amazon-ecr-login@v2</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docker/setup-qemu-action@v4      </a:t>
            </a:r>
            <a:pPr indent="0" marL="0">
              <a:buNone/>
            </a:pPr>
            <a:r>
              <a:rPr lang="en-US" sz="1600" dirty="0">
                <a:solidFill>
                  <a:srgbClr val="8FD694"/>
                </a:solidFill>
                <a:latin typeface="Courier New" pitchFamily="34" charset="0"/>
                <a:ea typeface="Courier New" pitchFamily="34" charset="-122"/>
                <a:cs typeface="Courier New" pitchFamily="34" charset="-120"/>
              </a:rPr>
              <a:t># costruire ARM su x86</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docker/setup-buildx-action@v4</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uses: docker/build-push-action@v7</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with: { platforms: linux/arm64, provenance: false, push: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tags: "${{ vars.ECR_REPOSITORY_URL }}:${{ github.sha }}" }</a:t>
            </a:r>
            <a:endParaRPr lang="en-US" sz="1600" dirty="0"/>
          </a:p>
        </p:txBody>
      </p:sp>
      <p:sp>
        <p:nvSpPr>
          <p:cNvPr id="8" name="Text 5"/>
          <p:cNvSpPr txBox="1"/>
          <p:nvPr/>
        </p:nvSpPr>
        <p:spPr>
          <a:xfrm>
            <a:off x="548640" y="6035040"/>
            <a:ext cx="11094415" cy="36576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Tag = github.sha, il codice del commit: "in produzione gira 3f9a2c1" vuol dire una cosa sola.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L'applicazione di esempio: corso-app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6153912"/>
              </a:tblGrid>
              <a:tr h="6400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File nel repository corso-app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Cos'è</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app.py</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una pagina che conta le visite nel database (lezione 6)</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Dockerfile</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la ricetta dell'immagine (lezione 7)</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.github/workflows/release.yml</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workflow: costruisce e carica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206240"/>
            <a:ext cx="11094415" cy="1874520"/>
          </a:xfrm>
          <a:prstGeom prst="roundRect">
            <a:avLst>
              <a:gd name="adj" fmla="val 5854"/>
            </a:avLst>
          </a:prstGeom>
          <a:solidFill>
            <a:srgbClr val="FDF0E3"/>
          </a:solidFill>
          <a:ln w="12700">
            <a:solidFill>
              <a:srgbClr val="FDF0E3"/>
            </a:solidFill>
            <a:prstDash val="solid"/>
          </a:ln>
        </p:spPr>
      </p:sp>
      <p:sp>
        <p:nvSpPr>
          <p:cNvPr id="7" name="Shape 3"/>
          <p:cNvSpPr/>
          <p:nvPr/>
        </p:nvSpPr>
        <p:spPr>
          <a:xfrm>
            <a:off x="777240" y="4434840"/>
            <a:ext cx="548640" cy="548640"/>
          </a:xfrm>
          <a:prstGeom prst="ellipse">
            <a:avLst/>
          </a:prstGeom>
          <a:solidFill>
            <a:srgbClr val="F28C28"/>
          </a:solidFill>
          <a:ln w="12700">
            <a:solidFill>
              <a:srgbClr val="F28C28"/>
            </a:solidFill>
            <a:prstDash val="solid"/>
          </a:ln>
        </p:spPr>
      </p:sp>
      <p:pic>
        <p:nvPicPr>
          <p:cNvPr id="8" name="Image 0" descr="preencoded.png">    </p:cNvPr>
          <p:cNvPicPr>
            <a:picLocks noChangeAspect="1"/>
          </p:cNvPicPr>
          <p:nvPr/>
        </p:nvPicPr>
        <p:blipFill>
          <a:blip r:embed="rId1"/>
          <a:stretch>
            <a:fillRect/>
          </a:stretch>
        </p:blipFill>
        <p:spPr>
          <a:xfrm>
            <a:off x="914400" y="4572000"/>
            <a:ext cx="274320" cy="274320"/>
          </a:xfrm>
          <a:prstGeom prst="rect">
            <a:avLst/>
          </a:prstGeom>
        </p:spPr>
      </p:pic>
      <p:sp>
        <p:nvSpPr>
          <p:cNvPr id="9" name="Text 4"/>
          <p:cNvSpPr txBox="1"/>
          <p:nvPr/>
        </p:nvSpPr>
        <p:spPr>
          <a:xfrm>
            <a:off x="1508760" y="443484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Git in cinque comandi</a:t>
            </a:r>
            <a:endParaRPr lang="en-US" sz="1800" dirty="0"/>
          </a:p>
        </p:txBody>
      </p:sp>
      <p:sp>
        <p:nvSpPr>
          <p:cNvPr id="10" name="Text 5"/>
          <p:cNvSpPr txBox="1"/>
          <p:nvPr/>
        </p:nvSpPr>
        <p:spPr>
          <a:xfrm>
            <a:off x="777240" y="5120640"/>
            <a:ext cx="10637215" cy="7772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git clone (copia il repository) · git add . · git commit -m "…" (registra: è il commit) · git push (manda a GitHub) · git switch -c prova (crea un branch). Oppure: Add file → Upload files, dal sito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role di GitHub</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548640" y="1325880"/>
            <a:ext cx="11094415" cy="4572000"/>
          </a:xfrm>
          <a:prstGeom prst="roundRect">
            <a:avLst>
              <a:gd name="adj" fmla="val 1600"/>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github-oidc.tf: la trust policy (data "aws_iam_policy_document" "github_trust")</a:t>
            </a:r>
            <a:endParaRPr lang="en-US" sz="1300" dirty="0"/>
          </a:p>
        </p:txBody>
      </p:sp>
      <p:sp>
        <p:nvSpPr>
          <p:cNvPr id="7" name="Text 4"/>
          <p:cNvSpPr txBox="1"/>
          <p:nvPr/>
        </p:nvSpPr>
        <p:spPr>
          <a:xfrm>
            <a:off x="731520" y="1737360"/>
            <a:ext cx="10728655" cy="40233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["sts:AssumeRoleWithWebIdentity"]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principals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type        = "Federated"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identifiers = [aws_iam_openid_connect_provider.github.arn]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"StringEquals"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"token.actions.githubusercontent.com:aud"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["sts.amazonaws.com"]</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"StringEquals"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"token.actions.githubusercontent.com:sub"</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["repo:${var.github_repo}:ref:refs/heads/main"]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la prima immagine, e chi non può caricarla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sp>
        <p:nvSpPr>
          <p:cNvPr id="5" name="Shape 2"/>
          <p:cNvSpPr/>
          <p:nvPr/>
        </p:nvSpPr>
        <p:spPr>
          <a:xfrm>
            <a:off x="548640" y="141732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2801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repository corso-app su GitHub</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app.py, Dockerfile, .github/workflows/release.yml · niente push per ora</a:t>
            </a:r>
            <a:endParaRPr lang="en-US" sz="1700" dirty="0"/>
          </a:p>
        </p:txBody>
      </p:sp>
      <p:sp>
        <p:nvSpPr>
          <p:cNvPr id="8" name="Shape 5"/>
          <p:cNvSpPr/>
          <p:nvPr/>
        </p:nvSpPr>
        <p:spPr>
          <a:xfrm>
            <a:off x="548640" y="2221992"/>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22199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084832"/>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In infra/: github-oidc.tf</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 github_repo = "il-tuo-utente/corso-app" nel tfvars</a:t>
            </a:r>
            <a:endParaRPr lang="en-US" sz="1700" dirty="0"/>
          </a:p>
        </p:txBody>
      </p:sp>
      <p:sp>
        <p:nvSpPr>
          <p:cNvPr id="11" name="Shape 8"/>
          <p:cNvSpPr/>
          <p:nvPr/>
        </p:nvSpPr>
        <p:spPr>
          <a:xfrm>
            <a:off x="548640" y="3026664"/>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026664"/>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2889504"/>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OIDC provider, role github-release, policy, attachment. Nient'altro</a:t>
            </a:r>
            <a:endParaRPr lang="en-US" sz="1700" dirty="0"/>
          </a:p>
        </p:txBody>
      </p:sp>
      <p:sp>
        <p:nvSpPr>
          <p:cNvPr id="14" name="Shape 11"/>
          <p:cNvSpPr/>
          <p:nvPr/>
        </p:nvSpPr>
        <p:spPr>
          <a:xfrm>
            <a:off x="548640" y="3831336"/>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383133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3694176"/>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 variabili su GitHub</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AWS_RELEASE_ROLE_ARN e ECR_REPOSITORY_URL</a:t>
            </a:r>
            <a:endParaRPr lang="en-US" sz="1700" dirty="0"/>
          </a:p>
        </p:txBody>
      </p:sp>
      <p:sp>
        <p:nvSpPr>
          <p:cNvPr id="17" name="Shape 14"/>
          <p:cNvSpPr/>
          <p:nvPr/>
        </p:nvSpPr>
        <p:spPr>
          <a:xfrm>
            <a:off x="548640" y="4636008"/>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463600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498848"/>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git push</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Actions tutto verde · in ECR l'immagine con il tag del commit: annotalo</a:t>
            </a:r>
            <a:endParaRPr lang="en-US" sz="1700" dirty="0"/>
          </a:p>
        </p:txBody>
      </p:sp>
      <p:sp>
        <p:nvSpPr>
          <p:cNvPr id="20" name="Shape 17"/>
          <p:cNvSpPr/>
          <p:nvPr/>
        </p:nvSpPr>
        <p:spPr>
          <a:xfrm>
            <a:off x="548640" y="5440680"/>
            <a:ext cx="594360" cy="594360"/>
          </a:xfrm>
          <a:prstGeom prst="ellipse">
            <a:avLst/>
          </a:prstGeom>
          <a:solidFill>
            <a:srgbClr val="D64545"/>
          </a:solidFill>
          <a:ln w="12700">
            <a:solidFill>
              <a:srgbClr val="D64545"/>
            </a:solidFill>
            <a:prstDash val="solid"/>
          </a:ln>
        </p:spPr>
      </p:sp>
      <p:sp>
        <p:nvSpPr>
          <p:cNvPr id="21" name="Text 18"/>
          <p:cNvSpPr txBox="1"/>
          <p:nvPr/>
        </p:nvSpPr>
        <p:spPr>
          <a:xfrm>
            <a:off x="548640" y="54406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Text 19"/>
          <p:cNvSpPr txBox="1"/>
          <p:nvPr/>
        </p:nvSpPr>
        <p:spPr>
          <a:xfrm>
            <a:off x="1325880" y="53035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Workflow dal branch prova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rifiutato: Not authorized… È la condizione sul sub</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8 · GitHub costruisce l'immagine</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91840"/>
                <a:gridCol w="7799832"/>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Significato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Git · GitHub</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programma che tiene la storia del codice · il sito che conserva i repository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commit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una modifica registrata, con un codice unico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GitHub Actions · workflow</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comandi eseguiti da GitHub a ogni push · il file che li descrive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OIDC</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entrare in AWS con un token firmato, senza chiavi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aud · sub</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per chi è il token (AWS) · di chi parla (repository e branch)</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QEMU · buildx</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costruire immagini ARM su un computer x86 · lo strumento di Docker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GitHub Actions esegue un workflow a ogni git push</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OIDC: token firmato, credenziali temporanee, nessuna chiave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La condizione sul sub: solo quel repository, solo main</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Il tag dell'immagine è il codice del commit</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GitHub può solo caricare: la produzione la decidi tu</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dispense/dispensa-8-github.md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Il server che si ricrea da solo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2026-10-08T12:03:59Z</dcterms:created>
  <dcterms:modified xsi:type="dcterms:W3CDTF">2026-10-08T12:03:59Z</dcterms:modified>
</cp:coreProperties>
</file>