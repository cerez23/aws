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Abbiamo la rete e i firewall. Oggi mettiamo dentro la prima cosa che lavora: il server dell'applicazione. Vediamo da cosa nasce un server, come installa l'applicazione da solo al primo avvio, come riceve i permessi AWS senza chiavi, e come ci si entra per manutenzione senza SSH e senza aprire porte.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 serve un server su cui far girare l'applicazione, e lo vogliamo fatto bene. Nella subnet privata, senza indirizzo pubblico, perché da internet non deve essere raggiungibile. Con il Security Group app della lezione 3. Che installi l'applicazione da solo al primo avvio, senza configurazioni fatte a mano. Con dei permessi AWS ma senza chiavi scritte dentro. E che si possa entrare per manutenzione senza aprire porte e senza chiavi SSH.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EC2 è il servizio AWS dei server virtuali: computer che non vedete e non toccate, ma che si comportano come un computer vero, con processore, memoria, disco e scheda di rete. Ogni server si chiama istanza. Per crearne uno servono due scelte: l'AMI, cioè l'immagine di partenza con il sistema operativo già installato, come il disco di installazione; e il tipo di istanza, cioè quanta potenza, come il modello di computer che comprate.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Usiamo Amazon Linux 2023, la versione di Linux preparata da AWS, che ha già dentro l'agente SSM che ci servirà per entrare. Ogni regione ha AMI con un ID diverso, e AWS ne pubblica di nuove ogni poche settimane con gli aggiornamenti di sicurezza. Invece di scrivere a mano un ID che invecchia, lo chiediamo ad AWS: AWS pubblica l'ID dell'ultima versione in un parametro con un nome fisso, e Terraform lo legge con un data source. insecure_value vuol dire solo che Terraform lo mostra in chiaro: un ID di AMI non è un segreto.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nome di un tipo di istanza si legge a pezzi. t è la famiglia: a consumo variabile, per carichi leggeri. 4 è la generazione. g vuol dire processore Graviton, il processore ARM fatto da AWS, che costa meno a parità di prestazioni. micro è la taglia: nano, micro, small, medium, large. Per il corso basta un t4g.micro. Lo mettiamo in una variabile, così in produzione si sceglie un server più grande cambiando solo il tfvars.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Quando un server parte per la prima volta, può eseguire uno script che gli passiamo noi: si chiama user_data. È il foglio di istruzioni lasciato sulla scrivania del nuovo arrivato: il primo giorno lo legge e lo esegue, poi non lo guarda più. Il nostro script crea una pagina web, crea un servizio che la pubblica sulla porta 8080 e lo avvia, anche dopo ogni riavvio. Due regole: gira una volta sola, al primo avvio, come amministratore; e se cambiate lo script il server già acceso non lo rilegge, per questo diciamo a Terraform di ricrearlo.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server deve parlare con dei servizi AWS: con SSM per farci entrare, e più avanti con S3 e Secrets Manager. La strada sbagliata sarebbe scrivere delle chiavi dentro il server. La strada giusta è quella della lezione 1: un role, assunto dal servizio EC2, con credenziali temporanee. Servono tre pezzi: la trust policy, il servizio EC2 può assumere questo role, ed è la domanda 4 della lezione 1; la permission policy, cosa può fare; e l'instance profile, il porta-badge che attacca il role al server. Un server non indossa un role direttamente: indossa un instance profile, che contiene il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modo classico per entrare in un server Linux è SSH: si apre la porta 22 e ci si collega con una chiave privata. Ha tre problemi. Bisogna aprire una porta in ingresso, e raggiungerla, ma il server è in una subnet privata. Bisogna custodire le chiavi, distribuirle, revocarle quando qualcuno se ne va. Ed è difficile sapere chi ha fatto cosa. SSM Session Manager rovescia il problema.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 funziona SSM. Sul server gira un piccolo programma, l'agente SSM, già incluso in Amazon Linux. L'agente chiama lui il servizio SSM, in uscita sulla 443, passando dal NAT. Quando volete entrare, chiedete ad AWS una sessione, con il vostro login AWS e i permessi IAM; AWS la aggancia alla connessione che l'agente ha già aperto, e si apre un terminale, nel browser o nel vostro terminale. Nessuna porta in ingresso, nessuna chiave SSH, e ogni sessione resta registrata.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Perché SSM funzioni servono tre cose, e le abbiamo quasi tutte. L'agente SSM sul server: c'è già in Amazon Linux 2023. Il role con la policy AmazonSSMManagedInstanceCore: lo creiamo oggi. L'uscita sulla 443 verso i servizi AWS: il Security Group app ce l'ha dalla lezione 3, e la subnet privata esce dal NAT della lezione 2. Per i collegamenti di rete veri, come aprire l'applicazione dal vostro browser, useremo invece la VPN della lezione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Due impostazioni in più. Il disco del server, un volume EBS, lo chiediamo cifrato: se qualcuno ottenesse una copia del disco, senza la chiave non potrebbe leggerlo; non costa niente in più. Poi IMDSv2: ogni server può fare domande su sé stesso a un indirizzo interno speciale, il servizio dei metadati, per esempio quali sono le credenziali del mio role. La versione 2 richiede un biglietto a ogni richiesta e protegge da attacchi che cercano di rubare quelle credenziali: la rendiamo obbligatoria.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codice, in ec2.tf. La trust policy: principals di tipo Service con ec2.amazonaws.com, il servizio EC2 può assumere questo role. Il role. L'attachment della policy pronta di AWS: per le policy AWS managed l'ARN si scrive per intero, con aws al posto del numero dell'account. E l'instance profile, che contiene il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server. ami: l'immagine letta dal parametro. instance_type: la variabile. subnet_id: la subnet privata della prima AZ. vpc_security_group_ids: il Security Group app. iam_instance_profile: il porta-badge. associate_public_ip_address false: nessun indirizzo pubblico. Notate cosa manca: non c'è key_name, cioè nessuna chiave SSH, perché non serve. Disco cifrato e IMDSv2 obbligatorio li abbiamo visti.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script user_data è scritto con un heredoc: minore minore trattino EOF apre un testo su più righe, che finisce alla riga EOF; il trattino permette di indentarlo. Dentro, dollaro graffa var.project è un'interpolazione di Terraform: nello script arriva già sostituita. Il resto è uno script bash: crea la pagina, scrive il file del servizio, che esegue un piccolo server web incluso in Python sulla porta 8080, e lo avvia. user_data_replace_on_change true: se lo script cambia, Terraform ricrea il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dettaglio sottile. Il parametro di AWS cambia ogni volta che esce una nuova AMI. Senza precauzioni, al primo plan dopo un aggiornamento Terraform vedrebbe un'AMI diversa e proporrebbe di ricreare il server: il meno più della lezione 0. Con lifecycle ignore_changes ami, Terraform usa l'AMI aggiornata solo quando il server viene creato da zero, e non lo tocca per questo motivo. Aggiornare l'AMI diventa una scelta vostra, non una sorpresa.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L'esercizio. Uno: plan e apply; il server è pronto in un paio di minuti; controllate in console che non abbia un indirizzo pubblico. Due: entrate con SSM, dalla console, Connect, Session Manager; oppure dalla CLI con aws ssm start-session. Tre: nel server, curl localhost 8080 deve mostrare la pagina. Quattro: aws sts get-caller-identity mostra che il server usa il role, con credenziali temporanee che nessuno ha scritto da nessuna 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Seconda parte. Cinque: dal server, curl verso un sito in https risponde; verso un sito in http, porta 80, resta in attesa e scade: il Security Group app esce solo sulla 443. Sei: cambiate il testo della pagina nel user_data e lanciate plan: il server verrebbe ricreato. Applicate e verificate. Sette: in Systems Manager, Session history, trovate le vostre sessioni. Otto: destroy, oppure lasciate tutto acceso se fate subito la lezione 5, che usa questo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ripasso delle parole della lezione, una riga ciascuna.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Riassumendo. Il materiale di studio è la dispensa 4, con il codice completo di ec2.tf spiegato blocco per blocco. La prossima volta raggiungiamo questo server da casa, con la VPN Tailscale, e apriamo la pagina sulla 8080 dal nostro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3B"/>
        </a:solidFill>
      </p:bgPr>
    </p:bg>
    <p:spTree>
      <p:nvGrpSpPr>
        <p:cNvPr id="1" name=""/>
        <p:cNvGrpSpPr/>
        <p:nvPr/>
      </p:nvGrpSpPr>
      <p:grpSpPr>
        <a:xfrm>
          <a:off x="0" y="0"/>
          <a:ext cx="0" cy="0"/>
          <a:chOff x="0" y="0"/>
          <a:chExt cx="0" cy="0"/>
        </a:xfrm>
      </p:grpSpPr>
      <p:sp>
        <p:nvSpPr>
          <p:cNvPr id="2" name="Text 0"/>
          <p:cNvSpPr txBox="1"/>
          <p:nvPr/>
        </p:nvSpPr>
        <p:spPr>
          <a:xfrm>
            <a:off x="7589520" y="548640"/>
            <a:ext cx="4206240" cy="5669280"/>
          </a:xfrm>
          <a:prstGeom prst="rect">
            <a:avLst/>
          </a:prstGeom>
          <a:noFill/>
          <a:ln/>
        </p:spPr>
        <p:txBody>
          <a:bodyPr wrap="square" lIns="0" tIns="0" rIns="0" bIns="0" rtlCol="0" anchor="ctr"/>
          <a:lstStyle/>
          <a:p>
            <a:pPr algn="r" indent="0" marL="0">
              <a:buNone/>
            </a:pPr>
            <a:r>
              <a:rPr lang="en-US" sz="30000" b="1" dirty="0">
                <a:solidFill>
                  <a:srgbClr val="5B3FD0"/>
                </a:solidFill>
                <a:latin typeface="Calibri" pitchFamily="34" charset="0"/>
                <a:ea typeface="Calibri" pitchFamily="34" charset="-122"/>
                <a:cs typeface="Calibri" pitchFamily="34" charset="-120"/>
              </a:rPr>
              <a:t>4</a:t>
            </a:r>
            <a:endParaRPr lang="en-US" sz="30000" dirty="0"/>
          </a:p>
        </p:txBody>
      </p:sp>
      <p:sp>
        <p:nvSpPr>
          <p:cNvPr id="3" name="Text 1"/>
          <p:cNvSpPr txBox="1"/>
          <p:nvPr/>
        </p:nvSpPr>
        <p:spPr>
          <a:xfrm>
            <a:off x="548640" y="1280160"/>
            <a:ext cx="7315200" cy="365760"/>
          </a:xfrm>
          <a:prstGeom prst="rect">
            <a:avLst/>
          </a:prstGeom>
          <a:noFill/>
          <a:ln/>
        </p:spPr>
        <p:txBody>
          <a:bodyPr wrap="square" lIns="0" tIns="0" rIns="0" bIns="0" rtlCol="0" anchor="ctr"/>
          <a:lstStyle/>
          <a:p>
            <a:pPr indent="0" marL="0">
              <a:buNone/>
            </a:pPr>
            <a:r>
              <a:rPr lang="en-US" sz="1600" b="1" dirty="0">
                <a:solidFill>
                  <a:srgbClr val="F28C28"/>
                </a:solidFill>
                <a:latin typeface="Calibri" pitchFamily="34" charset="0"/>
                <a:ea typeface="Calibri" pitchFamily="34" charset="-122"/>
                <a:cs typeface="Calibri" pitchFamily="34" charset="-120"/>
              </a:rPr>
              <a:t>Dispensa 4 · EC2: il server</a:t>
            </a:r>
            <a:endParaRPr lang="en-US" sz="1600" dirty="0"/>
          </a:p>
        </p:txBody>
      </p:sp>
      <p:sp>
        <p:nvSpPr>
          <p:cNvPr id="4" name="Text 2"/>
          <p:cNvSpPr txBox="1"/>
          <p:nvPr/>
        </p:nvSpPr>
        <p:spPr>
          <a:xfrm>
            <a:off x="548640" y="1828800"/>
            <a:ext cx="7772400" cy="2011680"/>
          </a:xfrm>
          <a:prstGeom prst="rect">
            <a:avLst/>
          </a:prstGeom>
          <a:noFill/>
          <a:ln/>
        </p:spPr>
        <p:txBody>
          <a:bodyPr wrap="square" lIns="0" tIns="0" rIns="0" bIns="0" rtlCol="0" anchor="t"/>
          <a:lstStyle/>
          <a:p>
            <a:pPr indent="0" marL="0">
              <a:buNone/>
            </a:pPr>
            <a:r>
              <a:rPr lang="en-US" sz="4800" b="1" dirty="0">
                <a:solidFill>
                  <a:srgbClr val="FFFFFF"/>
                </a:solidFill>
                <a:latin typeface="Calibri" pitchFamily="34" charset="0"/>
                <a:ea typeface="Calibri" pitchFamily="34" charset="-122"/>
                <a:cs typeface="Calibri" pitchFamily="34" charset="-120"/>
              </a:rPr>
              <a:t>EC2: il server</a:t>
            </a:r>
            <a:endParaRPr lang="en-US" sz="4800" dirty="0"/>
          </a:p>
        </p:txBody>
      </p:sp>
      <p:sp>
        <p:nvSpPr>
          <p:cNvPr id="5" name="Text 3"/>
          <p:cNvSpPr txBox="1"/>
          <p:nvPr/>
        </p:nvSpPr>
        <p:spPr>
          <a:xfrm>
            <a:off x="548640" y="4023360"/>
            <a:ext cx="7315200" cy="1097280"/>
          </a:xfrm>
          <a:prstGeom prst="rect">
            <a:avLst/>
          </a:prstGeom>
          <a:noFill/>
          <a:ln/>
        </p:spPr>
        <p:txBody>
          <a:bodyPr wrap="square" lIns="0" tIns="0" rIns="0" bIns="0" rtlCol="0" anchor="t"/>
          <a:lstStyle/>
          <a:p>
            <a:pPr indent="0" marL="0">
              <a:buNone/>
            </a:pPr>
            <a:r>
              <a:rPr lang="en-US" sz="2000" dirty="0">
                <a:solidFill>
                  <a:srgbClr val="C9CBE0"/>
                </a:solidFill>
                <a:latin typeface="Calibri" pitchFamily="34" charset="0"/>
                <a:ea typeface="Calibri" pitchFamily="34" charset="-122"/>
                <a:cs typeface="Calibri" pitchFamily="34" charset="-120"/>
              </a:rPr>
              <a:t>Il server dell'applicazione: com'è fatto, come si avvia da solo, come ci si entra senza SSH</a:t>
            </a:r>
            <a:endParaRPr lang="en-US" sz="2000" dirty="0"/>
          </a:p>
        </p:txBody>
      </p:sp>
      <p:sp>
        <p:nvSpPr>
          <p:cNvPr id="6" name="Text 4"/>
          <p:cNvSpPr txBox="1"/>
          <p:nvPr/>
        </p:nvSpPr>
        <p:spPr>
          <a:xfrm>
            <a:off x="548640" y="6035040"/>
            <a:ext cx="7315200" cy="365760"/>
          </a:xfrm>
          <a:prstGeom prst="rect">
            <a:avLst/>
          </a:prstGeom>
          <a:noFill/>
          <a:ln/>
        </p:spPr>
        <p:txBody>
          <a:bodyPr wrap="square" lIns="0" tIns="0" rIns="0" bIns="0" rtlCol="0" anchor="ctr"/>
          <a:lstStyle/>
          <a:p>
            <a:pPr indent="0" marL="0">
              <a:buNone/>
            </a:pPr>
            <a:r>
              <a:rPr lang="en-US" sz="1200" dirty="0">
                <a:solidFill>
                  <a:srgbClr val="9A9DB8"/>
                </a:solidFill>
                <a:latin typeface="Calibri" pitchFamily="34" charset="0"/>
                <a:ea typeface="Calibri" pitchFamily="34" charset="-122"/>
                <a:cs typeface="Calibri" pitchFamily="34" charset="-120"/>
              </a:rPr>
              <a:t>Corso: Infrastruttura AWS con Terraform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problema di oggi: un server, fatto bene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EC2: il server</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5486400"/>
                <a:gridCol w="5605272"/>
              </a:tblGrid>
              <a:tr h="68580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Vogliamo che il server…</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Perché</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685800">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stia nella subnet PRIVATA, senza indirizzo pubblico</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da internet non deve essere raggiungibile (lezione 2)</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85800">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indossi il Security Group app</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riceve solo la 8080, esce solo sulla 443 e verso il database (lezione 3)</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85800">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installi l'applicazione DA SOLO al primo avvio</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niente configurazioni a mano, ripetibile ogni volta</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85800">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abbia permessi AWS SENZA chiavi scritte dentro</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deve parlare con i servizi AWS in modo sicuro (lezione 1)</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85800">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si possa entrare per manutenzione SENZA aprire porte</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700" dirty="0">
                          <a:solidFill>
                            <a:srgbClr val="22253A"/>
                          </a:solidFill>
                          <a:latin typeface="Calibri" pitchFamily="34" charset="0"/>
                          <a:ea typeface="Calibri" pitchFamily="34" charset="-122"/>
                          <a:cs typeface="Calibri" pitchFamily="34" charset="-120"/>
                        </a:rPr>
                        <a:t>niente SSH, niente chiavi da custodire</a:t>
                      </a:r>
                      <a:endParaRPr lang="en-US" sz="17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Cos'è un server EC2</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EC2: il server</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EC2 = server virtuali. Ogni server si chiama ISTANZA.</a:t>
            </a:r>
            <a:endParaRPr lang="en-US" sz="1900" dirty="0"/>
          </a:p>
        </p:txBody>
      </p:sp>
      <p:sp>
        <p:nvSpPr>
          <p:cNvPr id="7" name="Shape 4"/>
          <p:cNvSpPr/>
          <p:nvPr/>
        </p:nvSpPr>
        <p:spPr>
          <a:xfrm>
            <a:off x="548640" y="2240280"/>
            <a:ext cx="5440680" cy="2743200"/>
          </a:xfrm>
          <a:prstGeom prst="roundRect">
            <a:avLst>
              <a:gd name="adj" fmla="val 4000"/>
            </a:avLst>
          </a:prstGeom>
          <a:solidFill>
            <a:srgbClr val="EEEAFB"/>
          </a:solidFill>
          <a:ln w="12700">
            <a:solidFill>
              <a:srgbClr val="EEEAFB"/>
            </a:solidFill>
            <a:prstDash val="solid"/>
          </a:ln>
        </p:spPr>
      </p:sp>
      <p:sp>
        <p:nvSpPr>
          <p:cNvPr id="8" name="Shape 5"/>
          <p:cNvSpPr/>
          <p:nvPr/>
        </p:nvSpPr>
        <p:spPr>
          <a:xfrm>
            <a:off x="777240" y="2468880"/>
            <a:ext cx="548640" cy="548640"/>
          </a:xfrm>
          <a:prstGeom prst="ellipse">
            <a:avLst/>
          </a:prstGeom>
          <a:solidFill>
            <a:srgbClr val="5B3FD0"/>
          </a:solidFill>
          <a:ln w="12700">
            <a:solidFill>
              <a:srgbClr val="5B3FD0"/>
            </a:solidFill>
            <a:prstDash val="solid"/>
          </a:ln>
        </p:spPr>
      </p:sp>
      <p:pic>
        <p:nvPicPr>
          <p:cNvPr id="9" name="Image 0" descr="preencoded.png">    </p:cNvPr>
          <p:cNvPicPr>
            <a:picLocks noChangeAspect="1"/>
          </p:cNvPicPr>
          <p:nvPr/>
        </p:nvPicPr>
        <p:blipFill>
          <a:blip r:embed="rId1"/>
          <a:stretch>
            <a:fillRect/>
          </a:stretch>
        </p:blipFill>
        <p:spPr>
          <a:xfrm>
            <a:off x="914400" y="2606040"/>
            <a:ext cx="274320" cy="274320"/>
          </a:xfrm>
          <a:prstGeom prst="rect">
            <a:avLst/>
          </a:prstGeom>
        </p:spPr>
      </p:pic>
      <p:sp>
        <p:nvSpPr>
          <p:cNvPr id="10" name="Text 6"/>
          <p:cNvSpPr txBox="1"/>
          <p:nvPr/>
        </p:nvSpPr>
        <p:spPr>
          <a:xfrm>
            <a:off x="1508760" y="246888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AMI = l'immagine</a:t>
            </a:r>
            <a:endParaRPr lang="en-US" sz="1800" dirty="0"/>
          </a:p>
        </p:txBody>
      </p:sp>
      <p:sp>
        <p:nvSpPr>
          <p:cNvPr id="11" name="Text 7"/>
          <p:cNvSpPr txBox="1"/>
          <p:nvPr/>
        </p:nvSpPr>
        <p:spPr>
          <a:xfrm>
            <a:off x="777240" y="3154680"/>
            <a:ext cx="4983480" cy="16459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Il sistema operativo già installato</a:t>
            </a:r>
            <a:endParaRPr lang="en-US" sz="1700" dirty="0"/>
          </a:p>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Come il disco di installazione</a:t>
            </a:r>
            <a:endParaRPr lang="en-US" sz="1700" dirty="0"/>
          </a:p>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Noi: Amazon Linux 2023</a:t>
            </a:r>
            <a:endParaRPr lang="en-US" sz="1700" dirty="0"/>
          </a:p>
        </p:txBody>
      </p:sp>
      <p:sp>
        <p:nvSpPr>
          <p:cNvPr id="12" name="Shape 8"/>
          <p:cNvSpPr/>
          <p:nvPr/>
        </p:nvSpPr>
        <p:spPr>
          <a:xfrm>
            <a:off x="6172200" y="2240280"/>
            <a:ext cx="5468112" cy="2743200"/>
          </a:xfrm>
          <a:prstGeom prst="roundRect">
            <a:avLst>
              <a:gd name="adj" fmla="val 4000"/>
            </a:avLst>
          </a:prstGeom>
          <a:solidFill>
            <a:srgbClr val="FDF0E3"/>
          </a:solidFill>
          <a:ln w="12700">
            <a:solidFill>
              <a:srgbClr val="FDF0E3"/>
            </a:solidFill>
            <a:prstDash val="solid"/>
          </a:ln>
        </p:spPr>
      </p:sp>
      <p:sp>
        <p:nvSpPr>
          <p:cNvPr id="13" name="Shape 9"/>
          <p:cNvSpPr/>
          <p:nvPr/>
        </p:nvSpPr>
        <p:spPr>
          <a:xfrm>
            <a:off x="6400800" y="2468880"/>
            <a:ext cx="548640" cy="548640"/>
          </a:xfrm>
          <a:prstGeom prst="ellipse">
            <a:avLst/>
          </a:prstGeom>
          <a:solidFill>
            <a:srgbClr val="F28C28"/>
          </a:solidFill>
          <a:ln w="12700">
            <a:solidFill>
              <a:srgbClr val="F28C28"/>
            </a:solidFill>
            <a:prstDash val="solid"/>
          </a:ln>
        </p:spPr>
      </p:sp>
      <p:pic>
        <p:nvPicPr>
          <p:cNvPr id="14" name="Image 1" descr="preencoded.png">    </p:cNvPr>
          <p:cNvPicPr>
            <a:picLocks noChangeAspect="1"/>
          </p:cNvPicPr>
          <p:nvPr/>
        </p:nvPicPr>
        <p:blipFill>
          <a:blip r:embed="rId2"/>
          <a:stretch>
            <a:fillRect/>
          </a:stretch>
        </p:blipFill>
        <p:spPr>
          <a:xfrm>
            <a:off x="6537960" y="2606040"/>
            <a:ext cx="274320" cy="274320"/>
          </a:xfrm>
          <a:prstGeom prst="rect">
            <a:avLst/>
          </a:prstGeom>
        </p:spPr>
      </p:pic>
      <p:sp>
        <p:nvSpPr>
          <p:cNvPr id="15" name="Text 10"/>
          <p:cNvSpPr txBox="1"/>
          <p:nvPr/>
        </p:nvSpPr>
        <p:spPr>
          <a:xfrm>
            <a:off x="7132320" y="246888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Tipo di istanza = la potenza</a:t>
            </a:r>
            <a:endParaRPr lang="en-US" sz="1800" dirty="0"/>
          </a:p>
        </p:txBody>
      </p:sp>
      <p:sp>
        <p:nvSpPr>
          <p:cNvPr id="16" name="Text 11"/>
          <p:cNvSpPr txBox="1"/>
          <p:nvPr/>
        </p:nvSpPr>
        <p:spPr>
          <a:xfrm>
            <a:off x="6400800" y="3154680"/>
            <a:ext cx="5010912" cy="16459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Processori e memoria</a:t>
            </a:r>
            <a:endParaRPr lang="en-US" sz="1700" dirty="0"/>
          </a:p>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Come il modello di computer che compri</a:t>
            </a:r>
            <a:endParaRPr lang="en-US" sz="1700" dirty="0"/>
          </a:p>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Noi: t4g.micro</a:t>
            </a:r>
            <a:endParaRPr lang="en-US" sz="1700" dirty="0"/>
          </a:p>
        </p:txBody>
      </p:sp>
      <p:sp>
        <p:nvSpPr>
          <p:cNvPr id="17" name="Shape 12"/>
          <p:cNvSpPr/>
          <p:nvPr/>
        </p:nvSpPr>
        <p:spPr>
          <a:xfrm>
            <a:off x="548640" y="5257800"/>
            <a:ext cx="11094415" cy="777240"/>
          </a:xfrm>
          <a:prstGeom prst="roundRect">
            <a:avLst>
              <a:gd name="adj" fmla="val 11765"/>
            </a:avLst>
          </a:prstGeom>
          <a:solidFill>
            <a:srgbClr val="FDF0E3"/>
          </a:solidFill>
          <a:ln w="12700">
            <a:solidFill>
              <a:srgbClr val="FDF0E3"/>
            </a:solidFill>
            <a:prstDash val="solid"/>
          </a:ln>
        </p:spPr>
      </p:sp>
      <p:sp>
        <p:nvSpPr>
          <p:cNvPr id="18" name="Text 13"/>
          <p:cNvSpPr txBox="1"/>
          <p:nvPr/>
        </p:nvSpPr>
        <p:spPr>
          <a:xfrm>
            <a:off x="822960" y="5257800"/>
            <a:ext cx="10545775" cy="777240"/>
          </a:xfrm>
          <a:prstGeom prst="rect">
            <a:avLst/>
          </a:prstGeom>
          <a:noFill/>
          <a:ln/>
        </p:spPr>
        <p:txBody>
          <a:bodyPr wrap="square" lIns="0" tIns="0" rIns="0" bIns="0" rtlCol="0" anchor="ctr"/>
          <a:lstStyle/>
          <a:p>
            <a:pPr algn="l" indent="0" marL="0">
              <a:buNone/>
            </a:pPr>
            <a:r>
              <a:rPr lang="en-US" sz="1900" b="1" dirty="0">
                <a:solidFill>
                  <a:srgbClr val="22253A"/>
                </a:solidFill>
                <a:latin typeface="Calibri" pitchFamily="34" charset="0"/>
                <a:ea typeface="Calibri" pitchFamily="34" charset="-122"/>
                <a:cs typeface="Calibri" pitchFamily="34" charset="-120"/>
              </a:rPr>
              <a:t>Un'istanza nasce da un'AMI (cosa c'è dentro) e da un tipo (quanta potenza).</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L'AMI: sempre l'ultima, senza scriverla a mano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EC2: il server</a:t>
            </a:r>
            <a:endParaRPr lang="en-US" sz="1000" dirty="0"/>
          </a:p>
        </p:txBody>
      </p:sp>
      <p:sp>
        <p:nvSpPr>
          <p:cNvPr id="5" name="Shape 2"/>
          <p:cNvSpPr/>
          <p:nvPr/>
        </p:nvSpPr>
        <p:spPr>
          <a:xfrm>
            <a:off x="548640" y="1325880"/>
            <a:ext cx="11094415" cy="1691640"/>
          </a:xfrm>
          <a:prstGeom prst="roundRect">
            <a:avLst>
              <a:gd name="adj" fmla="val 4324"/>
            </a:avLst>
          </a:prstGeom>
          <a:solidFill>
            <a:srgbClr val="1E1E2E"/>
          </a:solidFill>
          <a:ln w="12700">
            <a:solidFill>
              <a:srgbClr val="1E1E2E"/>
            </a:solidFill>
            <a:prstDash val="solid"/>
          </a:ln>
        </p:spPr>
      </p:sp>
      <p:sp>
        <p:nvSpPr>
          <p:cNvPr id="6" name="Text 3"/>
          <p:cNvSpPr txBox="1"/>
          <p:nvPr/>
        </p:nvSpPr>
        <p:spPr>
          <a:xfrm>
            <a:off x="731520" y="1399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ec2.tf</a:t>
            </a:r>
            <a:endParaRPr lang="en-US" sz="1300" dirty="0"/>
          </a:p>
        </p:txBody>
      </p:sp>
      <p:sp>
        <p:nvSpPr>
          <p:cNvPr id="7" name="Text 4"/>
          <p:cNvSpPr txBox="1"/>
          <p:nvPr/>
        </p:nvSpPr>
        <p:spPr>
          <a:xfrm>
            <a:off x="731520" y="1737360"/>
            <a:ext cx="10728655" cy="1143000"/>
          </a:xfrm>
          <a:prstGeom prst="rect">
            <a:avLst/>
          </a:prstGeom>
          <a:noFill/>
          <a:ln/>
        </p:spPr>
        <p:txBody>
          <a:bodyPr wrap="square" lIns="0" tIns="0" rIns="0" bIns="0" rtlCol="0" anchor="t"/>
          <a:lstStyle/>
          <a:p>
            <a:pPr indent="0" marL="0">
              <a:buNone/>
            </a:pPr>
            <a:r>
              <a:rPr lang="en-US" sz="1500" dirty="0">
                <a:solidFill>
                  <a:srgbClr val="E6E6F0"/>
                </a:solidFill>
                <a:latin typeface="Courier New" pitchFamily="34" charset="0"/>
                <a:ea typeface="Courier New" pitchFamily="34" charset="-122"/>
                <a:cs typeface="Courier New" pitchFamily="34" charset="-120"/>
              </a:rPr>
              <a:t>data "aws_ssm_parameter" "al2023"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name = "/aws/service/ami-amazon-linux-latest/al2023-ami-kernel-default-arm64"</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a:t>
            </a:r>
            <a:endParaRPr lang="en-US" sz="1500" dirty="0"/>
          </a:p>
          <a:p>
            <a:pPr indent="0" marL="0">
              <a:buNone/>
            </a:pPr>
            <a:r>
              <a:rPr lang="en-US" sz="1500" dirty="0">
                <a:solidFill>
                  <a:srgbClr val="8FD694"/>
                </a:solidFill>
                <a:latin typeface="Courier New" pitchFamily="34" charset="0"/>
                <a:ea typeface="Courier New" pitchFamily="34" charset="-122"/>
                <a:cs typeface="Courier New" pitchFamily="34" charset="-120"/>
              </a:rPr>
              <a:t># si usa con: data.aws_ssm_parameter.al2023.insecure_value  →  "ami-0abc…"</a:t>
            </a:r>
            <a:endParaRPr lang="en-US" sz="1500" dirty="0"/>
          </a:p>
        </p:txBody>
      </p:sp>
      <p:sp>
        <p:nvSpPr>
          <p:cNvPr id="8" name="Shape 5"/>
          <p:cNvSpPr/>
          <p:nvPr/>
        </p:nvSpPr>
        <p:spPr>
          <a:xfrm>
            <a:off x="548640" y="3291840"/>
            <a:ext cx="3566160" cy="2651760"/>
          </a:xfrm>
          <a:prstGeom prst="roundRect">
            <a:avLst>
              <a:gd name="adj" fmla="val 4138"/>
            </a:avLst>
          </a:prstGeom>
          <a:solidFill>
            <a:srgbClr val="EEEAFB"/>
          </a:solidFill>
          <a:ln w="12700">
            <a:solidFill>
              <a:srgbClr val="EEEAFB"/>
            </a:solidFill>
            <a:prstDash val="solid"/>
          </a:ln>
        </p:spPr>
      </p:sp>
      <p:sp>
        <p:nvSpPr>
          <p:cNvPr id="9" name="Shape 6"/>
          <p:cNvSpPr/>
          <p:nvPr/>
        </p:nvSpPr>
        <p:spPr>
          <a:xfrm>
            <a:off x="777240" y="3520440"/>
            <a:ext cx="548640" cy="548640"/>
          </a:xfrm>
          <a:prstGeom prst="ellipse">
            <a:avLst/>
          </a:prstGeom>
          <a:solidFill>
            <a:srgbClr val="5B3FD0"/>
          </a:solidFill>
          <a:ln w="12700">
            <a:solidFill>
              <a:srgbClr val="5B3FD0"/>
            </a:solidFill>
            <a:prstDash val="solid"/>
          </a:ln>
        </p:spPr>
      </p:sp>
      <p:pic>
        <p:nvPicPr>
          <p:cNvPr id="10" name="Image 0" descr="preencoded.png">    </p:cNvPr>
          <p:cNvPicPr>
            <a:picLocks noChangeAspect="1"/>
          </p:cNvPicPr>
          <p:nvPr/>
        </p:nvPicPr>
        <p:blipFill>
          <a:blip r:embed="rId1"/>
          <a:stretch>
            <a:fillRect/>
          </a:stretch>
        </p:blipFill>
        <p:spPr>
          <a:xfrm>
            <a:off x="914400" y="3657600"/>
            <a:ext cx="274320" cy="274320"/>
          </a:xfrm>
          <a:prstGeom prst="rect">
            <a:avLst/>
          </a:prstGeom>
        </p:spPr>
      </p:pic>
      <p:sp>
        <p:nvSpPr>
          <p:cNvPr id="11" name="Text 7"/>
          <p:cNvSpPr txBox="1"/>
          <p:nvPr/>
        </p:nvSpPr>
        <p:spPr>
          <a:xfrm>
            <a:off x="1508760" y="352044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Amazon Linux 2023</a:t>
            </a:r>
            <a:endParaRPr lang="en-US" sz="1800" dirty="0"/>
          </a:p>
        </p:txBody>
      </p:sp>
      <p:sp>
        <p:nvSpPr>
          <p:cNvPr id="12" name="Text 8"/>
          <p:cNvSpPr txBox="1"/>
          <p:nvPr/>
        </p:nvSpPr>
        <p:spPr>
          <a:xfrm>
            <a:off x="777240" y="4206240"/>
            <a:ext cx="3108960" cy="155448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preparata da AWS, con l'agente SSM già dentro</a:t>
            </a:r>
            <a:endParaRPr lang="en-US" sz="1600" dirty="0"/>
          </a:p>
        </p:txBody>
      </p:sp>
      <p:sp>
        <p:nvSpPr>
          <p:cNvPr id="13" name="Shape 9"/>
          <p:cNvSpPr/>
          <p:nvPr/>
        </p:nvSpPr>
        <p:spPr>
          <a:xfrm>
            <a:off x="4297680" y="3291840"/>
            <a:ext cx="3566160" cy="2651760"/>
          </a:xfrm>
          <a:prstGeom prst="roundRect">
            <a:avLst>
              <a:gd name="adj" fmla="val 4138"/>
            </a:avLst>
          </a:prstGeom>
          <a:solidFill>
            <a:srgbClr val="EEEAFB"/>
          </a:solidFill>
          <a:ln w="12700">
            <a:solidFill>
              <a:srgbClr val="EEEAFB"/>
            </a:solidFill>
            <a:prstDash val="solid"/>
          </a:ln>
        </p:spPr>
      </p:sp>
      <p:sp>
        <p:nvSpPr>
          <p:cNvPr id="14" name="Shape 10"/>
          <p:cNvSpPr/>
          <p:nvPr/>
        </p:nvSpPr>
        <p:spPr>
          <a:xfrm>
            <a:off x="4526280" y="3520440"/>
            <a:ext cx="548640" cy="548640"/>
          </a:xfrm>
          <a:prstGeom prst="ellipse">
            <a:avLst/>
          </a:prstGeom>
          <a:solidFill>
            <a:srgbClr val="5B3FD0"/>
          </a:solidFill>
          <a:ln w="12700">
            <a:solidFill>
              <a:srgbClr val="5B3FD0"/>
            </a:solidFill>
            <a:prstDash val="solid"/>
          </a:ln>
        </p:spPr>
      </p:sp>
      <p:pic>
        <p:nvPicPr>
          <p:cNvPr id="15" name="Image 1" descr="preencoded.png">    </p:cNvPr>
          <p:cNvPicPr>
            <a:picLocks noChangeAspect="1"/>
          </p:cNvPicPr>
          <p:nvPr/>
        </p:nvPicPr>
        <p:blipFill>
          <a:blip r:embed="rId2"/>
          <a:stretch>
            <a:fillRect/>
          </a:stretch>
        </p:blipFill>
        <p:spPr>
          <a:xfrm>
            <a:off x="4663440" y="3657600"/>
            <a:ext cx="274320" cy="274320"/>
          </a:xfrm>
          <a:prstGeom prst="rect">
            <a:avLst/>
          </a:prstGeom>
        </p:spPr>
      </p:pic>
      <p:sp>
        <p:nvSpPr>
          <p:cNvPr id="16" name="Text 11"/>
          <p:cNvSpPr txBox="1"/>
          <p:nvPr/>
        </p:nvSpPr>
        <p:spPr>
          <a:xfrm>
            <a:off x="5257800" y="352044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Sempre l'ultima</a:t>
            </a:r>
            <a:endParaRPr lang="en-US" sz="1800" dirty="0"/>
          </a:p>
        </p:txBody>
      </p:sp>
      <p:sp>
        <p:nvSpPr>
          <p:cNvPr id="17" name="Text 12"/>
          <p:cNvSpPr txBox="1"/>
          <p:nvPr/>
        </p:nvSpPr>
        <p:spPr>
          <a:xfrm>
            <a:off x="4526280" y="4206240"/>
            <a:ext cx="3108960" cy="155448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AWS pubblica l'ID in un parametro con un nome fisso</a:t>
            </a:r>
            <a:endParaRPr lang="en-US" sz="1600" dirty="0"/>
          </a:p>
        </p:txBody>
      </p:sp>
      <p:sp>
        <p:nvSpPr>
          <p:cNvPr id="18" name="Shape 13"/>
          <p:cNvSpPr/>
          <p:nvPr/>
        </p:nvSpPr>
        <p:spPr>
          <a:xfrm>
            <a:off x="8046720" y="3291840"/>
            <a:ext cx="3566160" cy="2651760"/>
          </a:xfrm>
          <a:prstGeom prst="roundRect">
            <a:avLst>
              <a:gd name="adj" fmla="val 4138"/>
            </a:avLst>
          </a:prstGeom>
          <a:solidFill>
            <a:srgbClr val="EEEAFB"/>
          </a:solidFill>
          <a:ln w="12700">
            <a:solidFill>
              <a:srgbClr val="EEEAFB"/>
            </a:solidFill>
            <a:prstDash val="solid"/>
          </a:ln>
        </p:spPr>
      </p:sp>
      <p:sp>
        <p:nvSpPr>
          <p:cNvPr id="19" name="Shape 14"/>
          <p:cNvSpPr/>
          <p:nvPr/>
        </p:nvSpPr>
        <p:spPr>
          <a:xfrm>
            <a:off x="8275320" y="3520440"/>
            <a:ext cx="548640" cy="548640"/>
          </a:xfrm>
          <a:prstGeom prst="ellipse">
            <a:avLst/>
          </a:prstGeom>
          <a:solidFill>
            <a:srgbClr val="5B3FD0"/>
          </a:solidFill>
          <a:ln w="12700">
            <a:solidFill>
              <a:srgbClr val="5B3FD0"/>
            </a:solidFill>
            <a:prstDash val="solid"/>
          </a:ln>
        </p:spPr>
      </p:sp>
      <p:pic>
        <p:nvPicPr>
          <p:cNvPr id="20" name="Image 2" descr="preencoded.png">    </p:cNvPr>
          <p:cNvPicPr>
            <a:picLocks noChangeAspect="1"/>
          </p:cNvPicPr>
          <p:nvPr/>
        </p:nvPicPr>
        <p:blipFill>
          <a:blip r:embed="rId3"/>
          <a:stretch>
            <a:fillRect/>
          </a:stretch>
        </p:blipFill>
        <p:spPr>
          <a:xfrm>
            <a:off x="8412480" y="3657600"/>
            <a:ext cx="274320" cy="274320"/>
          </a:xfrm>
          <a:prstGeom prst="rect">
            <a:avLst/>
          </a:prstGeom>
        </p:spPr>
      </p:pic>
      <p:sp>
        <p:nvSpPr>
          <p:cNvPr id="21" name="Text 15"/>
          <p:cNvSpPr txBox="1"/>
          <p:nvPr/>
        </p:nvSpPr>
        <p:spPr>
          <a:xfrm>
            <a:off x="9006840" y="352044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insecure_value</a:t>
            </a:r>
            <a:endParaRPr lang="en-US" sz="1800" dirty="0"/>
          </a:p>
        </p:txBody>
      </p:sp>
      <p:sp>
        <p:nvSpPr>
          <p:cNvPr id="22" name="Text 16"/>
          <p:cNvSpPr txBox="1"/>
          <p:nvPr/>
        </p:nvSpPr>
        <p:spPr>
          <a:xfrm>
            <a:off x="8275320" y="4206240"/>
            <a:ext cx="3108960" cy="155448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solo "mostrala in chiaro": un ID di AMI non è un segreto</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tipo di istanza: come si legge t4g.micro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EC2: il server</a:t>
            </a:r>
            <a:endParaRPr lang="en-US" sz="1000" dirty="0"/>
          </a:p>
        </p:txBody>
      </p:sp>
      <p:sp>
        <p:nvSpPr>
          <p:cNvPr id="5" name="Shape 2"/>
          <p:cNvSpPr/>
          <p:nvPr/>
        </p:nvSpPr>
        <p:spPr>
          <a:xfrm>
            <a:off x="1645920" y="1463040"/>
            <a:ext cx="1097280" cy="1188720"/>
          </a:xfrm>
          <a:prstGeom prst="roundRect">
            <a:avLst>
              <a:gd name="adj" fmla="val 8333"/>
            </a:avLst>
          </a:prstGeom>
          <a:solidFill>
            <a:srgbClr val="FFFFFF"/>
          </a:solidFill>
          <a:ln w="25400">
            <a:solidFill>
              <a:srgbClr val="5B3FD0"/>
            </a:solidFill>
            <a:prstDash val="solid"/>
          </a:ln>
        </p:spPr>
      </p:sp>
      <p:sp>
        <p:nvSpPr>
          <p:cNvPr id="6" name="Text 3"/>
          <p:cNvSpPr txBox="1"/>
          <p:nvPr/>
        </p:nvSpPr>
        <p:spPr>
          <a:xfrm>
            <a:off x="1645920" y="1463040"/>
            <a:ext cx="1097280" cy="1188720"/>
          </a:xfrm>
          <a:prstGeom prst="rect">
            <a:avLst/>
          </a:prstGeom>
          <a:noFill/>
          <a:ln/>
        </p:spPr>
        <p:txBody>
          <a:bodyPr wrap="square" lIns="76200" tIns="76200" rIns="76200" bIns="76200" rtlCol="0" anchor="ctr"/>
          <a:lstStyle/>
          <a:p>
            <a:pPr algn="ctr" indent="0" marL="0">
              <a:buNone/>
            </a:pPr>
            <a:r>
              <a:rPr lang="en-US" sz="4000" b="1" dirty="0">
                <a:solidFill>
                  <a:srgbClr val="5B3FD0"/>
                </a:solidFill>
                <a:latin typeface="Courier New" pitchFamily="34" charset="0"/>
                <a:ea typeface="Courier New" pitchFamily="34" charset="-122"/>
                <a:cs typeface="Courier New" pitchFamily="34" charset="-120"/>
              </a:rPr>
              <a:t>t</a:t>
            </a:r>
            <a:endParaRPr lang="en-US" sz="4000" dirty="0"/>
          </a:p>
        </p:txBody>
      </p:sp>
      <p:sp>
        <p:nvSpPr>
          <p:cNvPr id="7" name="Shape 4"/>
          <p:cNvSpPr/>
          <p:nvPr/>
        </p:nvSpPr>
        <p:spPr>
          <a:xfrm>
            <a:off x="2880360" y="1463040"/>
            <a:ext cx="1097280" cy="1188720"/>
          </a:xfrm>
          <a:prstGeom prst="roundRect">
            <a:avLst>
              <a:gd name="adj" fmla="val 8333"/>
            </a:avLst>
          </a:prstGeom>
          <a:solidFill>
            <a:srgbClr val="FFFFFF"/>
          </a:solidFill>
          <a:ln w="25400">
            <a:solidFill>
              <a:srgbClr val="5B3FD0"/>
            </a:solidFill>
            <a:prstDash val="solid"/>
          </a:ln>
        </p:spPr>
      </p:sp>
      <p:sp>
        <p:nvSpPr>
          <p:cNvPr id="8" name="Text 5"/>
          <p:cNvSpPr txBox="1"/>
          <p:nvPr/>
        </p:nvSpPr>
        <p:spPr>
          <a:xfrm>
            <a:off x="2880360" y="1463040"/>
            <a:ext cx="1097280" cy="1188720"/>
          </a:xfrm>
          <a:prstGeom prst="rect">
            <a:avLst/>
          </a:prstGeom>
          <a:noFill/>
          <a:ln/>
        </p:spPr>
        <p:txBody>
          <a:bodyPr wrap="square" lIns="76200" tIns="76200" rIns="76200" bIns="76200" rtlCol="0" anchor="ctr"/>
          <a:lstStyle/>
          <a:p>
            <a:pPr algn="ctr" indent="0" marL="0">
              <a:buNone/>
            </a:pPr>
            <a:r>
              <a:rPr lang="en-US" sz="4000" b="1" dirty="0">
                <a:solidFill>
                  <a:srgbClr val="5B3FD0"/>
                </a:solidFill>
                <a:latin typeface="Courier New" pitchFamily="34" charset="0"/>
                <a:ea typeface="Courier New" pitchFamily="34" charset="-122"/>
                <a:cs typeface="Courier New" pitchFamily="34" charset="-120"/>
              </a:rPr>
              <a:t>4</a:t>
            </a:r>
            <a:endParaRPr lang="en-US" sz="4000" dirty="0"/>
          </a:p>
        </p:txBody>
      </p:sp>
      <p:sp>
        <p:nvSpPr>
          <p:cNvPr id="9" name="Shape 6"/>
          <p:cNvSpPr/>
          <p:nvPr/>
        </p:nvSpPr>
        <p:spPr>
          <a:xfrm>
            <a:off x="4114800" y="1463040"/>
            <a:ext cx="1097280" cy="1188720"/>
          </a:xfrm>
          <a:prstGeom prst="roundRect">
            <a:avLst>
              <a:gd name="adj" fmla="val 8333"/>
            </a:avLst>
          </a:prstGeom>
          <a:solidFill>
            <a:srgbClr val="FFFFFF"/>
          </a:solidFill>
          <a:ln w="25400">
            <a:solidFill>
              <a:srgbClr val="F28C28"/>
            </a:solidFill>
            <a:prstDash val="solid"/>
          </a:ln>
        </p:spPr>
      </p:sp>
      <p:sp>
        <p:nvSpPr>
          <p:cNvPr id="10" name="Text 7"/>
          <p:cNvSpPr txBox="1"/>
          <p:nvPr/>
        </p:nvSpPr>
        <p:spPr>
          <a:xfrm>
            <a:off x="4114800" y="1463040"/>
            <a:ext cx="1097280" cy="1188720"/>
          </a:xfrm>
          <a:prstGeom prst="rect">
            <a:avLst/>
          </a:prstGeom>
          <a:noFill/>
          <a:ln/>
        </p:spPr>
        <p:txBody>
          <a:bodyPr wrap="square" lIns="76200" tIns="76200" rIns="76200" bIns="76200" rtlCol="0" anchor="ctr"/>
          <a:lstStyle/>
          <a:p>
            <a:pPr algn="ctr" indent="0" marL="0">
              <a:buNone/>
            </a:pPr>
            <a:r>
              <a:rPr lang="en-US" sz="4000" b="1" dirty="0">
                <a:solidFill>
                  <a:srgbClr val="F28C28"/>
                </a:solidFill>
                <a:latin typeface="Courier New" pitchFamily="34" charset="0"/>
                <a:ea typeface="Courier New" pitchFamily="34" charset="-122"/>
                <a:cs typeface="Courier New" pitchFamily="34" charset="-120"/>
              </a:rPr>
              <a:t>g</a:t>
            </a:r>
            <a:endParaRPr lang="en-US" sz="4000" dirty="0"/>
          </a:p>
        </p:txBody>
      </p:sp>
      <p:sp>
        <p:nvSpPr>
          <p:cNvPr id="11" name="Shape 8"/>
          <p:cNvSpPr/>
          <p:nvPr/>
        </p:nvSpPr>
        <p:spPr>
          <a:xfrm>
            <a:off x="5623560" y="1463040"/>
            <a:ext cx="2011680" cy="1188720"/>
          </a:xfrm>
          <a:prstGeom prst="roundRect">
            <a:avLst>
              <a:gd name="adj" fmla="val 7692"/>
            </a:avLst>
          </a:prstGeom>
          <a:solidFill>
            <a:srgbClr val="FFFFFF"/>
          </a:solidFill>
          <a:ln w="25400">
            <a:solidFill>
              <a:srgbClr val="2E9E6B"/>
            </a:solidFill>
            <a:prstDash val="solid"/>
          </a:ln>
        </p:spPr>
      </p:sp>
      <p:sp>
        <p:nvSpPr>
          <p:cNvPr id="12" name="Text 9"/>
          <p:cNvSpPr txBox="1"/>
          <p:nvPr/>
        </p:nvSpPr>
        <p:spPr>
          <a:xfrm>
            <a:off x="5623560" y="1463040"/>
            <a:ext cx="2011680" cy="1188720"/>
          </a:xfrm>
          <a:prstGeom prst="rect">
            <a:avLst/>
          </a:prstGeom>
          <a:noFill/>
          <a:ln/>
        </p:spPr>
        <p:txBody>
          <a:bodyPr wrap="square" lIns="76200" tIns="76200" rIns="76200" bIns="76200" rtlCol="0" anchor="ctr"/>
          <a:lstStyle/>
          <a:p>
            <a:pPr algn="ctr" indent="0" marL="0">
              <a:buNone/>
            </a:pPr>
            <a:r>
              <a:rPr lang="en-US" sz="4000" b="1" dirty="0">
                <a:solidFill>
                  <a:srgbClr val="2E9E6B"/>
                </a:solidFill>
                <a:latin typeface="Courier New" pitchFamily="34" charset="0"/>
                <a:ea typeface="Courier New" pitchFamily="34" charset="-122"/>
                <a:cs typeface="Courier New" pitchFamily="34" charset="-120"/>
              </a:rPr>
              <a:t>micro</a:t>
            </a:r>
            <a:endParaRPr lang="en-US" sz="4000" dirty="0"/>
          </a:p>
        </p:txBody>
      </p:sp>
      <p:sp>
        <p:nvSpPr>
          <p:cNvPr id="13" name="Text 10"/>
          <p:cNvSpPr txBox="1"/>
          <p:nvPr/>
        </p:nvSpPr>
        <p:spPr>
          <a:xfrm>
            <a:off x="5074920" y="1463040"/>
            <a:ext cx="365760" cy="1188720"/>
          </a:xfrm>
          <a:prstGeom prst="rect">
            <a:avLst/>
          </a:prstGeom>
          <a:noFill/>
          <a:ln/>
        </p:spPr>
        <p:txBody>
          <a:bodyPr wrap="square" lIns="0" tIns="0" rIns="0" bIns="0" rtlCol="0" anchor="ctr"/>
          <a:lstStyle/>
          <a:p>
            <a:pPr algn="ctr" indent="0" marL="0">
              <a:buNone/>
            </a:pPr>
            <a:r>
              <a:rPr lang="en-US" sz="4000" b="1" dirty="0">
                <a:solidFill>
                  <a:srgbClr val="22253A"/>
                </a:solidFill>
                <a:latin typeface="Calibri" pitchFamily="34" charset="0"/>
                <a:ea typeface="Calibri" pitchFamily="34" charset="-122"/>
                <a:cs typeface="Calibri" pitchFamily="34" charset="-120"/>
              </a:rPr>
              <a:t>.</a:t>
            </a:r>
            <a:endParaRPr lang="en-US" sz="4000" dirty="0"/>
          </a:p>
        </p:txBody>
      </p:sp>
      <p:sp>
        <p:nvSpPr>
          <p:cNvPr id="14" name="Shape 11"/>
          <p:cNvSpPr/>
          <p:nvPr/>
        </p:nvSpPr>
        <p:spPr>
          <a:xfrm>
            <a:off x="548640" y="3017520"/>
            <a:ext cx="2651760" cy="1737360"/>
          </a:xfrm>
          <a:prstGeom prst="roundRect">
            <a:avLst>
              <a:gd name="adj" fmla="val 5263"/>
            </a:avLst>
          </a:prstGeom>
          <a:solidFill>
            <a:srgbClr val="F7F6FD"/>
          </a:solidFill>
          <a:ln w="12700">
            <a:solidFill>
              <a:srgbClr val="D9D6EC"/>
            </a:solidFill>
            <a:prstDash val="solid"/>
          </a:ln>
        </p:spPr>
      </p:sp>
      <p:sp>
        <p:nvSpPr>
          <p:cNvPr id="15" name="Text 12"/>
          <p:cNvSpPr txBox="1"/>
          <p:nvPr/>
        </p:nvSpPr>
        <p:spPr>
          <a:xfrm>
            <a:off x="731520" y="3017520"/>
            <a:ext cx="2286000" cy="1737360"/>
          </a:xfrm>
          <a:prstGeom prst="rect">
            <a:avLst/>
          </a:prstGeom>
          <a:noFill/>
          <a:ln/>
        </p:spPr>
        <p:txBody>
          <a:bodyPr wrap="square" lIns="0" tIns="0" rIns="0" bIns="0" rtlCol="0" anchor="ctr"/>
          <a:lstStyle/>
          <a:p>
            <a:pPr indent="0" marL="0">
              <a:buNone/>
            </a:pPr>
            <a:r>
              <a:rPr lang="en-US" sz="2000" b="1" dirty="0">
                <a:solidFill>
                  <a:srgbClr val="5B3FD0"/>
                </a:solidFill>
                <a:latin typeface="Courier New" pitchFamily="34" charset="0"/>
                <a:ea typeface="Courier New" pitchFamily="34" charset="-122"/>
                <a:cs typeface="Courier New" pitchFamily="34" charset="-120"/>
              </a:rPr>
              <a:t>t</a:t>
            </a:r>
            <a:endParaRPr lang="en-US" sz="2000" dirty="0"/>
          </a:p>
          <a:p>
            <a:pPr indent="0" marL="0">
              <a:buNone/>
            </a:pPr>
            <a:r>
              <a:rPr lang="en-US" sz="1600" b="1" dirty="0">
                <a:solidFill>
                  <a:srgbClr val="22253A"/>
                </a:solidFill>
                <a:latin typeface="Calibri" pitchFamily="34" charset="0"/>
                <a:ea typeface="Calibri" pitchFamily="34" charset="-122"/>
                <a:cs typeface="Calibri" pitchFamily="34" charset="-120"/>
              </a:rPr>
              <a:t>la famiglia</a:t>
            </a:r>
            <a:endParaRPr lang="en-US" sz="2000" dirty="0"/>
          </a:p>
          <a:p>
            <a:pPr indent="0" marL="0">
              <a:buNone/>
            </a:pPr>
            <a:r>
              <a:rPr lang="en-US" sz="1400" dirty="0">
                <a:solidFill>
                  <a:srgbClr val="5F6478"/>
                </a:solidFill>
                <a:latin typeface="Calibri" pitchFamily="34" charset="0"/>
                <a:ea typeface="Calibri" pitchFamily="34" charset="-122"/>
                <a:cs typeface="Calibri" pitchFamily="34" charset="-120"/>
              </a:rPr>
              <a:t>a consumo variabile, per carichi leggeri</a:t>
            </a:r>
            <a:endParaRPr lang="en-US" sz="2000" dirty="0"/>
          </a:p>
        </p:txBody>
      </p:sp>
      <p:sp>
        <p:nvSpPr>
          <p:cNvPr id="16" name="Shape 13"/>
          <p:cNvSpPr/>
          <p:nvPr/>
        </p:nvSpPr>
        <p:spPr>
          <a:xfrm>
            <a:off x="3355848" y="3017520"/>
            <a:ext cx="2651760" cy="1737360"/>
          </a:xfrm>
          <a:prstGeom prst="roundRect">
            <a:avLst>
              <a:gd name="adj" fmla="val 5263"/>
            </a:avLst>
          </a:prstGeom>
          <a:solidFill>
            <a:srgbClr val="F7F6FD"/>
          </a:solidFill>
          <a:ln w="12700">
            <a:solidFill>
              <a:srgbClr val="D9D6EC"/>
            </a:solidFill>
            <a:prstDash val="solid"/>
          </a:ln>
        </p:spPr>
      </p:sp>
      <p:sp>
        <p:nvSpPr>
          <p:cNvPr id="17" name="Text 14"/>
          <p:cNvSpPr txBox="1"/>
          <p:nvPr/>
        </p:nvSpPr>
        <p:spPr>
          <a:xfrm>
            <a:off x="3538728" y="3017520"/>
            <a:ext cx="2286000" cy="1737360"/>
          </a:xfrm>
          <a:prstGeom prst="rect">
            <a:avLst/>
          </a:prstGeom>
          <a:noFill/>
          <a:ln/>
        </p:spPr>
        <p:txBody>
          <a:bodyPr wrap="square" lIns="0" tIns="0" rIns="0" bIns="0" rtlCol="0" anchor="ctr"/>
          <a:lstStyle/>
          <a:p>
            <a:pPr indent="0" marL="0">
              <a:buNone/>
            </a:pPr>
            <a:r>
              <a:rPr lang="en-US" sz="2000" b="1" dirty="0">
                <a:solidFill>
                  <a:srgbClr val="5B3FD0"/>
                </a:solidFill>
                <a:latin typeface="Courier New" pitchFamily="34" charset="0"/>
                <a:ea typeface="Courier New" pitchFamily="34" charset="-122"/>
                <a:cs typeface="Courier New" pitchFamily="34" charset="-120"/>
              </a:rPr>
              <a:t>4</a:t>
            </a:r>
            <a:endParaRPr lang="en-US" sz="2000" dirty="0"/>
          </a:p>
          <a:p>
            <a:pPr indent="0" marL="0">
              <a:buNone/>
            </a:pPr>
            <a:r>
              <a:rPr lang="en-US" sz="1600" b="1" dirty="0">
                <a:solidFill>
                  <a:srgbClr val="22253A"/>
                </a:solidFill>
                <a:latin typeface="Calibri" pitchFamily="34" charset="0"/>
                <a:ea typeface="Calibri" pitchFamily="34" charset="-122"/>
                <a:cs typeface="Calibri" pitchFamily="34" charset="-120"/>
              </a:rPr>
              <a:t>la generazione</a:t>
            </a:r>
            <a:endParaRPr lang="en-US" sz="2000" dirty="0"/>
          </a:p>
          <a:p>
            <a:pPr indent="0" marL="0">
              <a:buNone/>
            </a:pPr>
            <a:r>
              <a:rPr lang="en-US" sz="1400" dirty="0">
                <a:solidFill>
                  <a:srgbClr val="5F6478"/>
                </a:solidFill>
                <a:latin typeface="Calibri" pitchFamily="34" charset="0"/>
                <a:ea typeface="Calibri" pitchFamily="34" charset="-122"/>
                <a:cs typeface="Calibri" pitchFamily="34" charset="-120"/>
              </a:rPr>
              <a:t>più alta = più recente</a:t>
            </a:r>
            <a:endParaRPr lang="en-US" sz="2000" dirty="0"/>
          </a:p>
        </p:txBody>
      </p:sp>
      <p:sp>
        <p:nvSpPr>
          <p:cNvPr id="18" name="Shape 15"/>
          <p:cNvSpPr/>
          <p:nvPr/>
        </p:nvSpPr>
        <p:spPr>
          <a:xfrm>
            <a:off x="6163056" y="3017520"/>
            <a:ext cx="2651760" cy="1737360"/>
          </a:xfrm>
          <a:prstGeom prst="roundRect">
            <a:avLst>
              <a:gd name="adj" fmla="val 5263"/>
            </a:avLst>
          </a:prstGeom>
          <a:solidFill>
            <a:srgbClr val="F7F6FD"/>
          </a:solidFill>
          <a:ln w="12700">
            <a:solidFill>
              <a:srgbClr val="D9D6EC"/>
            </a:solidFill>
            <a:prstDash val="solid"/>
          </a:ln>
        </p:spPr>
      </p:sp>
      <p:sp>
        <p:nvSpPr>
          <p:cNvPr id="19" name="Text 16"/>
          <p:cNvSpPr txBox="1"/>
          <p:nvPr/>
        </p:nvSpPr>
        <p:spPr>
          <a:xfrm>
            <a:off x="6345936" y="3017520"/>
            <a:ext cx="2286000" cy="1737360"/>
          </a:xfrm>
          <a:prstGeom prst="rect">
            <a:avLst/>
          </a:prstGeom>
          <a:noFill/>
          <a:ln/>
        </p:spPr>
        <p:txBody>
          <a:bodyPr wrap="square" lIns="0" tIns="0" rIns="0" bIns="0" rtlCol="0" anchor="ctr"/>
          <a:lstStyle/>
          <a:p>
            <a:pPr indent="0" marL="0">
              <a:buNone/>
            </a:pPr>
            <a:r>
              <a:rPr lang="en-US" sz="2000" b="1" dirty="0">
                <a:solidFill>
                  <a:srgbClr val="F28C28"/>
                </a:solidFill>
                <a:latin typeface="Courier New" pitchFamily="34" charset="0"/>
                <a:ea typeface="Courier New" pitchFamily="34" charset="-122"/>
                <a:cs typeface="Courier New" pitchFamily="34" charset="-120"/>
              </a:rPr>
              <a:t>g</a:t>
            </a:r>
            <a:endParaRPr lang="en-US" sz="2000" dirty="0"/>
          </a:p>
          <a:p>
            <a:pPr indent="0" marL="0">
              <a:buNone/>
            </a:pPr>
            <a:r>
              <a:rPr lang="en-US" sz="1600" b="1" dirty="0">
                <a:solidFill>
                  <a:srgbClr val="22253A"/>
                </a:solidFill>
                <a:latin typeface="Calibri" pitchFamily="34" charset="0"/>
                <a:ea typeface="Calibri" pitchFamily="34" charset="-122"/>
                <a:cs typeface="Calibri" pitchFamily="34" charset="-120"/>
              </a:rPr>
              <a:t>il processore</a:t>
            </a:r>
            <a:endParaRPr lang="en-US" sz="2000" dirty="0"/>
          </a:p>
          <a:p>
            <a:pPr indent="0" marL="0">
              <a:buNone/>
            </a:pPr>
            <a:r>
              <a:rPr lang="en-US" sz="1400" dirty="0">
                <a:solidFill>
                  <a:srgbClr val="5F6478"/>
                </a:solidFill>
                <a:latin typeface="Calibri" pitchFamily="34" charset="0"/>
                <a:ea typeface="Calibri" pitchFamily="34" charset="-122"/>
                <a:cs typeface="Calibri" pitchFamily="34" charset="-120"/>
              </a:rPr>
              <a:t>Graviton (ARM), di AWS: costa meno</a:t>
            </a:r>
            <a:endParaRPr lang="en-US" sz="2000" dirty="0"/>
          </a:p>
        </p:txBody>
      </p:sp>
      <p:sp>
        <p:nvSpPr>
          <p:cNvPr id="20" name="Shape 17"/>
          <p:cNvSpPr/>
          <p:nvPr/>
        </p:nvSpPr>
        <p:spPr>
          <a:xfrm>
            <a:off x="8970264" y="3017520"/>
            <a:ext cx="2651760" cy="1737360"/>
          </a:xfrm>
          <a:prstGeom prst="roundRect">
            <a:avLst>
              <a:gd name="adj" fmla="val 5263"/>
            </a:avLst>
          </a:prstGeom>
          <a:solidFill>
            <a:srgbClr val="F7F6FD"/>
          </a:solidFill>
          <a:ln w="12700">
            <a:solidFill>
              <a:srgbClr val="D9D6EC"/>
            </a:solidFill>
            <a:prstDash val="solid"/>
          </a:ln>
        </p:spPr>
      </p:sp>
      <p:sp>
        <p:nvSpPr>
          <p:cNvPr id="21" name="Text 18"/>
          <p:cNvSpPr txBox="1"/>
          <p:nvPr/>
        </p:nvSpPr>
        <p:spPr>
          <a:xfrm>
            <a:off x="9153144" y="3017520"/>
            <a:ext cx="2286000" cy="1737360"/>
          </a:xfrm>
          <a:prstGeom prst="rect">
            <a:avLst/>
          </a:prstGeom>
          <a:noFill/>
          <a:ln/>
        </p:spPr>
        <p:txBody>
          <a:bodyPr wrap="square" lIns="0" tIns="0" rIns="0" bIns="0" rtlCol="0" anchor="ctr"/>
          <a:lstStyle/>
          <a:p>
            <a:pPr indent="0" marL="0">
              <a:buNone/>
            </a:pPr>
            <a:r>
              <a:rPr lang="en-US" sz="2000" b="1" dirty="0">
                <a:solidFill>
                  <a:srgbClr val="2E9E6B"/>
                </a:solidFill>
                <a:latin typeface="Courier New" pitchFamily="34" charset="0"/>
                <a:ea typeface="Courier New" pitchFamily="34" charset="-122"/>
                <a:cs typeface="Courier New" pitchFamily="34" charset="-120"/>
              </a:rPr>
              <a:t>micro</a:t>
            </a:r>
            <a:endParaRPr lang="en-US" sz="2000" dirty="0"/>
          </a:p>
          <a:p>
            <a:pPr indent="0" marL="0">
              <a:buNone/>
            </a:pPr>
            <a:r>
              <a:rPr lang="en-US" sz="1600" b="1" dirty="0">
                <a:solidFill>
                  <a:srgbClr val="22253A"/>
                </a:solidFill>
                <a:latin typeface="Calibri" pitchFamily="34" charset="0"/>
                <a:ea typeface="Calibri" pitchFamily="34" charset="-122"/>
                <a:cs typeface="Calibri" pitchFamily="34" charset="-120"/>
              </a:rPr>
              <a:t>la taglia</a:t>
            </a:r>
            <a:endParaRPr lang="en-US" sz="2000" dirty="0"/>
          </a:p>
          <a:p>
            <a:pPr indent="0" marL="0">
              <a:buNone/>
            </a:pPr>
            <a:r>
              <a:rPr lang="en-US" sz="1400" dirty="0">
                <a:solidFill>
                  <a:srgbClr val="5F6478"/>
                </a:solidFill>
                <a:latin typeface="Calibri" pitchFamily="34" charset="0"/>
                <a:ea typeface="Calibri" pitchFamily="34" charset="-122"/>
                <a:cs typeface="Calibri" pitchFamily="34" charset="-120"/>
              </a:rPr>
              <a:t>nano, micro, small, medium, large…</a:t>
            </a:r>
            <a:endParaRPr lang="en-US" sz="2000" dirty="0"/>
          </a:p>
        </p:txBody>
      </p:sp>
      <p:sp>
        <p:nvSpPr>
          <p:cNvPr id="22" name="Shape 19"/>
          <p:cNvSpPr/>
          <p:nvPr/>
        </p:nvSpPr>
        <p:spPr>
          <a:xfrm>
            <a:off x="548640" y="5120640"/>
            <a:ext cx="11094415" cy="731520"/>
          </a:xfrm>
          <a:prstGeom prst="roundRect">
            <a:avLst>
              <a:gd name="adj" fmla="val 10000"/>
            </a:avLst>
          </a:prstGeom>
          <a:solidFill>
            <a:srgbClr val="1E1E2E"/>
          </a:solidFill>
          <a:ln w="12700">
            <a:solidFill>
              <a:srgbClr val="1E1E2E"/>
            </a:solidFill>
            <a:prstDash val="solid"/>
          </a:ln>
        </p:spPr>
      </p:sp>
      <p:sp>
        <p:nvSpPr>
          <p:cNvPr id="23" name="Text 20"/>
          <p:cNvSpPr txBox="1"/>
          <p:nvPr/>
        </p:nvSpPr>
        <p:spPr>
          <a:xfrm>
            <a:off x="731520" y="519379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variables.tf</a:t>
            </a:r>
            <a:endParaRPr lang="en-US" sz="1300" dirty="0"/>
          </a:p>
        </p:txBody>
      </p:sp>
      <p:sp>
        <p:nvSpPr>
          <p:cNvPr id="24" name="Text 21"/>
          <p:cNvSpPr txBox="1"/>
          <p:nvPr/>
        </p:nvSpPr>
        <p:spPr>
          <a:xfrm>
            <a:off x="731520" y="5532120"/>
            <a:ext cx="10728655" cy="182880"/>
          </a:xfrm>
          <a:prstGeom prst="rect">
            <a:avLst/>
          </a:prstGeom>
          <a:noFill/>
          <a:ln/>
        </p:spPr>
        <p:txBody>
          <a:bodyPr wrap="square" lIns="0" tIns="0" rIns="0" bIns="0" rtlCol="0" anchor="t"/>
          <a:lstStyle/>
          <a:p>
            <a:pPr indent="0" marL="0">
              <a:buNone/>
            </a:pPr>
            <a:r>
              <a:rPr lang="en-US" sz="1700" dirty="0">
                <a:solidFill>
                  <a:srgbClr val="E6E6F0"/>
                </a:solidFill>
                <a:latin typeface="Courier New" pitchFamily="34" charset="0"/>
                <a:ea typeface="Courier New" pitchFamily="34" charset="-122"/>
                <a:cs typeface="Courier New" pitchFamily="34" charset="-120"/>
              </a:rPr>
              <a:t>variable "instance_type" { default = "t4g.micro" }</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Il primo avvio: lo script user_data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EC2: il server</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user_data = il foglio di istruzioni del primo giorno: lo esegue una volta, poi non lo guarda più.</a:t>
            </a:r>
            <a:endParaRPr lang="en-US" sz="1800" dirty="0"/>
          </a:p>
        </p:txBody>
      </p:sp>
      <p:sp>
        <p:nvSpPr>
          <p:cNvPr id="7" name="Shape 4"/>
          <p:cNvSpPr/>
          <p:nvPr/>
        </p:nvSpPr>
        <p:spPr>
          <a:xfrm>
            <a:off x="548640" y="2240280"/>
            <a:ext cx="3566160" cy="1828800"/>
          </a:xfrm>
          <a:prstGeom prst="roundRect">
            <a:avLst>
              <a:gd name="adj" fmla="val 6000"/>
            </a:avLst>
          </a:prstGeom>
          <a:solidFill>
            <a:srgbClr val="EEEAFB"/>
          </a:solidFill>
          <a:ln w="12700">
            <a:solidFill>
              <a:srgbClr val="EEEAFB"/>
            </a:solidFill>
            <a:prstDash val="solid"/>
          </a:ln>
        </p:spPr>
      </p:sp>
      <p:sp>
        <p:nvSpPr>
          <p:cNvPr id="8" name="Shape 5"/>
          <p:cNvSpPr/>
          <p:nvPr/>
        </p:nvSpPr>
        <p:spPr>
          <a:xfrm>
            <a:off x="777240" y="2468880"/>
            <a:ext cx="548640" cy="548640"/>
          </a:xfrm>
          <a:prstGeom prst="ellipse">
            <a:avLst/>
          </a:prstGeom>
          <a:solidFill>
            <a:srgbClr val="5B3FD0"/>
          </a:solidFill>
          <a:ln w="12700">
            <a:solidFill>
              <a:srgbClr val="5B3FD0"/>
            </a:solidFill>
            <a:prstDash val="solid"/>
          </a:ln>
        </p:spPr>
      </p:sp>
      <p:pic>
        <p:nvPicPr>
          <p:cNvPr id="9" name="Image 0" descr="preencoded.png">    </p:cNvPr>
          <p:cNvPicPr>
            <a:picLocks noChangeAspect="1"/>
          </p:cNvPicPr>
          <p:nvPr/>
        </p:nvPicPr>
        <p:blipFill>
          <a:blip r:embed="rId1"/>
          <a:stretch>
            <a:fillRect/>
          </a:stretch>
        </p:blipFill>
        <p:spPr>
          <a:xfrm>
            <a:off x="914400" y="2606040"/>
            <a:ext cx="274320" cy="274320"/>
          </a:xfrm>
          <a:prstGeom prst="rect">
            <a:avLst/>
          </a:prstGeom>
        </p:spPr>
      </p:pic>
      <p:sp>
        <p:nvSpPr>
          <p:cNvPr id="10" name="Text 6"/>
          <p:cNvSpPr txBox="1"/>
          <p:nvPr/>
        </p:nvSpPr>
        <p:spPr>
          <a:xfrm>
            <a:off x="1508760" y="246888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1. Crea la pagina</a:t>
            </a:r>
            <a:endParaRPr lang="en-US" sz="1800" dirty="0"/>
          </a:p>
        </p:txBody>
      </p:sp>
      <p:sp>
        <p:nvSpPr>
          <p:cNvPr id="11" name="Text 7"/>
          <p:cNvSpPr txBox="1"/>
          <p:nvPr/>
        </p:nvSpPr>
        <p:spPr>
          <a:xfrm>
            <a:off x="777240" y="3154680"/>
            <a:ext cx="3108960" cy="73152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/opt/app/index.html</a:t>
            </a:r>
            <a:endParaRPr lang="en-US" sz="1600" dirty="0"/>
          </a:p>
        </p:txBody>
      </p:sp>
      <p:sp>
        <p:nvSpPr>
          <p:cNvPr id="12" name="Shape 8"/>
          <p:cNvSpPr/>
          <p:nvPr/>
        </p:nvSpPr>
        <p:spPr>
          <a:xfrm>
            <a:off x="4133088" y="3154680"/>
            <a:ext cx="155448" cy="0"/>
          </a:xfrm>
          <a:prstGeom prst="line">
            <a:avLst/>
          </a:prstGeom>
          <a:noFill/>
          <a:ln w="25400">
            <a:solidFill>
              <a:srgbClr val="5B3FD0"/>
            </a:solidFill>
            <a:prstDash val="solid"/>
            <a:tailEnd type="triangle"/>
          </a:ln>
        </p:spPr>
      </p:sp>
      <p:sp>
        <p:nvSpPr>
          <p:cNvPr id="13" name="Shape 9"/>
          <p:cNvSpPr/>
          <p:nvPr/>
        </p:nvSpPr>
        <p:spPr>
          <a:xfrm>
            <a:off x="4297680" y="2240280"/>
            <a:ext cx="3566160" cy="1828800"/>
          </a:xfrm>
          <a:prstGeom prst="roundRect">
            <a:avLst>
              <a:gd name="adj" fmla="val 6000"/>
            </a:avLst>
          </a:prstGeom>
          <a:solidFill>
            <a:srgbClr val="EEEAFB"/>
          </a:solidFill>
          <a:ln w="12700">
            <a:solidFill>
              <a:srgbClr val="EEEAFB"/>
            </a:solidFill>
            <a:prstDash val="solid"/>
          </a:ln>
        </p:spPr>
      </p:sp>
      <p:sp>
        <p:nvSpPr>
          <p:cNvPr id="14" name="Shape 10"/>
          <p:cNvSpPr/>
          <p:nvPr/>
        </p:nvSpPr>
        <p:spPr>
          <a:xfrm>
            <a:off x="4526280" y="2468880"/>
            <a:ext cx="548640" cy="548640"/>
          </a:xfrm>
          <a:prstGeom prst="ellipse">
            <a:avLst/>
          </a:prstGeom>
          <a:solidFill>
            <a:srgbClr val="5B3FD0"/>
          </a:solidFill>
          <a:ln w="12700">
            <a:solidFill>
              <a:srgbClr val="5B3FD0"/>
            </a:solidFill>
            <a:prstDash val="solid"/>
          </a:ln>
        </p:spPr>
      </p:sp>
      <p:pic>
        <p:nvPicPr>
          <p:cNvPr id="15" name="Image 1" descr="preencoded.png">    </p:cNvPr>
          <p:cNvPicPr>
            <a:picLocks noChangeAspect="1"/>
          </p:cNvPicPr>
          <p:nvPr/>
        </p:nvPicPr>
        <p:blipFill>
          <a:blip r:embed="rId2"/>
          <a:stretch>
            <a:fillRect/>
          </a:stretch>
        </p:blipFill>
        <p:spPr>
          <a:xfrm>
            <a:off x="4663440" y="2606040"/>
            <a:ext cx="274320" cy="274320"/>
          </a:xfrm>
          <a:prstGeom prst="rect">
            <a:avLst/>
          </a:prstGeom>
        </p:spPr>
      </p:pic>
      <p:sp>
        <p:nvSpPr>
          <p:cNvPr id="16" name="Text 11"/>
          <p:cNvSpPr txBox="1"/>
          <p:nvPr/>
        </p:nvSpPr>
        <p:spPr>
          <a:xfrm>
            <a:off x="5257800" y="246888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2. Crea un servizio</a:t>
            </a:r>
            <a:endParaRPr lang="en-US" sz="1800" dirty="0"/>
          </a:p>
        </p:txBody>
      </p:sp>
      <p:sp>
        <p:nvSpPr>
          <p:cNvPr id="17" name="Text 12"/>
          <p:cNvSpPr txBox="1"/>
          <p:nvPr/>
        </p:nvSpPr>
        <p:spPr>
          <a:xfrm>
            <a:off x="4526280" y="3154680"/>
            <a:ext cx="3108960" cy="73152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pubblica la cartella sulla porta 8080</a:t>
            </a:r>
            <a:endParaRPr lang="en-US" sz="1600" dirty="0"/>
          </a:p>
        </p:txBody>
      </p:sp>
      <p:sp>
        <p:nvSpPr>
          <p:cNvPr id="18" name="Shape 13"/>
          <p:cNvSpPr/>
          <p:nvPr/>
        </p:nvSpPr>
        <p:spPr>
          <a:xfrm>
            <a:off x="7882128" y="3154680"/>
            <a:ext cx="155448" cy="0"/>
          </a:xfrm>
          <a:prstGeom prst="line">
            <a:avLst/>
          </a:prstGeom>
          <a:noFill/>
          <a:ln w="25400">
            <a:solidFill>
              <a:srgbClr val="5B3FD0"/>
            </a:solidFill>
            <a:prstDash val="solid"/>
            <a:tailEnd type="triangle"/>
          </a:ln>
        </p:spPr>
      </p:sp>
      <p:sp>
        <p:nvSpPr>
          <p:cNvPr id="19" name="Shape 14"/>
          <p:cNvSpPr/>
          <p:nvPr/>
        </p:nvSpPr>
        <p:spPr>
          <a:xfrm>
            <a:off x="8046720" y="2240280"/>
            <a:ext cx="3566160" cy="1828800"/>
          </a:xfrm>
          <a:prstGeom prst="roundRect">
            <a:avLst>
              <a:gd name="adj" fmla="val 6000"/>
            </a:avLst>
          </a:prstGeom>
          <a:solidFill>
            <a:srgbClr val="EEEAFB"/>
          </a:solidFill>
          <a:ln w="12700">
            <a:solidFill>
              <a:srgbClr val="EEEAFB"/>
            </a:solidFill>
            <a:prstDash val="solid"/>
          </a:ln>
        </p:spPr>
      </p:sp>
      <p:sp>
        <p:nvSpPr>
          <p:cNvPr id="20" name="Shape 15"/>
          <p:cNvSpPr/>
          <p:nvPr/>
        </p:nvSpPr>
        <p:spPr>
          <a:xfrm>
            <a:off x="8275320" y="2468880"/>
            <a:ext cx="548640" cy="548640"/>
          </a:xfrm>
          <a:prstGeom prst="ellipse">
            <a:avLst/>
          </a:prstGeom>
          <a:solidFill>
            <a:srgbClr val="5B3FD0"/>
          </a:solidFill>
          <a:ln w="12700">
            <a:solidFill>
              <a:srgbClr val="5B3FD0"/>
            </a:solidFill>
            <a:prstDash val="solid"/>
          </a:ln>
        </p:spPr>
      </p:sp>
      <p:pic>
        <p:nvPicPr>
          <p:cNvPr id="21" name="Image 2" descr="preencoded.png">    </p:cNvPr>
          <p:cNvPicPr>
            <a:picLocks noChangeAspect="1"/>
          </p:cNvPicPr>
          <p:nvPr/>
        </p:nvPicPr>
        <p:blipFill>
          <a:blip r:embed="rId3"/>
          <a:stretch>
            <a:fillRect/>
          </a:stretch>
        </p:blipFill>
        <p:spPr>
          <a:xfrm>
            <a:off x="8412480" y="2606040"/>
            <a:ext cx="274320" cy="274320"/>
          </a:xfrm>
          <a:prstGeom prst="rect">
            <a:avLst/>
          </a:prstGeom>
        </p:spPr>
      </p:pic>
      <p:sp>
        <p:nvSpPr>
          <p:cNvPr id="22" name="Text 16"/>
          <p:cNvSpPr txBox="1"/>
          <p:nvPr/>
        </p:nvSpPr>
        <p:spPr>
          <a:xfrm>
            <a:off x="9006840" y="246888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3. Lo avvia</a:t>
            </a:r>
            <a:endParaRPr lang="en-US" sz="1800" dirty="0"/>
          </a:p>
        </p:txBody>
      </p:sp>
      <p:sp>
        <p:nvSpPr>
          <p:cNvPr id="23" name="Text 17"/>
          <p:cNvSpPr txBox="1"/>
          <p:nvPr/>
        </p:nvSpPr>
        <p:spPr>
          <a:xfrm>
            <a:off x="8275320" y="3154680"/>
            <a:ext cx="3108960" cy="73152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e lo fa ripartire a ogni riavvio</a:t>
            </a:r>
            <a:endParaRPr lang="en-US" sz="1600" dirty="0"/>
          </a:p>
        </p:txBody>
      </p:sp>
      <p:sp>
        <p:nvSpPr>
          <p:cNvPr id="24" name="Shape 18"/>
          <p:cNvSpPr/>
          <p:nvPr/>
        </p:nvSpPr>
        <p:spPr>
          <a:xfrm>
            <a:off x="548640" y="4343400"/>
            <a:ext cx="5440680" cy="1645920"/>
          </a:xfrm>
          <a:prstGeom prst="roundRect">
            <a:avLst>
              <a:gd name="adj" fmla="val 6667"/>
            </a:avLst>
          </a:prstGeom>
          <a:solidFill>
            <a:srgbClr val="FDF0E3"/>
          </a:solidFill>
          <a:ln w="12700">
            <a:solidFill>
              <a:srgbClr val="FDF0E3"/>
            </a:solidFill>
            <a:prstDash val="solid"/>
          </a:ln>
        </p:spPr>
      </p:sp>
      <p:sp>
        <p:nvSpPr>
          <p:cNvPr id="25" name="Shape 19"/>
          <p:cNvSpPr/>
          <p:nvPr/>
        </p:nvSpPr>
        <p:spPr>
          <a:xfrm>
            <a:off x="777240" y="4572000"/>
            <a:ext cx="548640" cy="548640"/>
          </a:xfrm>
          <a:prstGeom prst="ellipse">
            <a:avLst/>
          </a:prstGeom>
          <a:solidFill>
            <a:srgbClr val="F28C28"/>
          </a:solidFill>
          <a:ln w="12700">
            <a:solidFill>
              <a:srgbClr val="F28C28"/>
            </a:solidFill>
            <a:prstDash val="solid"/>
          </a:ln>
        </p:spPr>
      </p:sp>
      <p:pic>
        <p:nvPicPr>
          <p:cNvPr id="26" name="Image 3" descr="preencoded.png">    </p:cNvPr>
          <p:cNvPicPr>
            <a:picLocks noChangeAspect="1"/>
          </p:cNvPicPr>
          <p:nvPr/>
        </p:nvPicPr>
        <p:blipFill>
          <a:blip r:embed="rId4"/>
          <a:stretch>
            <a:fillRect/>
          </a:stretch>
        </p:blipFill>
        <p:spPr>
          <a:xfrm>
            <a:off x="914400" y="4709160"/>
            <a:ext cx="274320" cy="274320"/>
          </a:xfrm>
          <a:prstGeom prst="rect">
            <a:avLst/>
          </a:prstGeom>
        </p:spPr>
      </p:pic>
      <p:sp>
        <p:nvSpPr>
          <p:cNvPr id="27" name="Text 20"/>
          <p:cNvSpPr txBox="1"/>
          <p:nvPr/>
        </p:nvSpPr>
        <p:spPr>
          <a:xfrm>
            <a:off x="1508760" y="457200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Gira UNA volta sola</a:t>
            </a:r>
            <a:endParaRPr lang="en-US" sz="1800" dirty="0"/>
          </a:p>
        </p:txBody>
      </p:sp>
      <p:sp>
        <p:nvSpPr>
          <p:cNvPr id="28" name="Text 21"/>
          <p:cNvSpPr txBox="1"/>
          <p:nvPr/>
        </p:nvSpPr>
        <p:spPr>
          <a:xfrm>
            <a:off x="777240" y="5257800"/>
            <a:ext cx="4983480" cy="54864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al primo avvio, come amministratore (root)</a:t>
            </a:r>
            <a:endParaRPr lang="en-US" sz="1600" dirty="0"/>
          </a:p>
        </p:txBody>
      </p:sp>
      <p:sp>
        <p:nvSpPr>
          <p:cNvPr id="29" name="Shape 22"/>
          <p:cNvSpPr/>
          <p:nvPr/>
        </p:nvSpPr>
        <p:spPr>
          <a:xfrm>
            <a:off x="6172200" y="4343400"/>
            <a:ext cx="5468112" cy="1645920"/>
          </a:xfrm>
          <a:prstGeom prst="roundRect">
            <a:avLst>
              <a:gd name="adj" fmla="val 6667"/>
            </a:avLst>
          </a:prstGeom>
          <a:solidFill>
            <a:srgbClr val="FBE9E9"/>
          </a:solidFill>
          <a:ln w="12700">
            <a:solidFill>
              <a:srgbClr val="FBE9E9"/>
            </a:solidFill>
            <a:prstDash val="solid"/>
          </a:ln>
        </p:spPr>
      </p:sp>
      <p:sp>
        <p:nvSpPr>
          <p:cNvPr id="30" name="Shape 23"/>
          <p:cNvSpPr/>
          <p:nvPr/>
        </p:nvSpPr>
        <p:spPr>
          <a:xfrm>
            <a:off x="6400800" y="4572000"/>
            <a:ext cx="548640" cy="548640"/>
          </a:xfrm>
          <a:prstGeom prst="ellipse">
            <a:avLst/>
          </a:prstGeom>
          <a:solidFill>
            <a:srgbClr val="D64545"/>
          </a:solidFill>
          <a:ln w="12700">
            <a:solidFill>
              <a:srgbClr val="D64545"/>
            </a:solidFill>
            <a:prstDash val="solid"/>
          </a:ln>
        </p:spPr>
      </p:sp>
      <p:pic>
        <p:nvPicPr>
          <p:cNvPr id="31" name="Image 4" descr="preencoded.png">    </p:cNvPr>
          <p:cNvPicPr>
            <a:picLocks noChangeAspect="1"/>
          </p:cNvPicPr>
          <p:nvPr/>
        </p:nvPicPr>
        <p:blipFill>
          <a:blip r:embed="rId5"/>
          <a:stretch>
            <a:fillRect/>
          </a:stretch>
        </p:blipFill>
        <p:spPr>
          <a:xfrm>
            <a:off x="6537960" y="4709160"/>
            <a:ext cx="274320" cy="274320"/>
          </a:xfrm>
          <a:prstGeom prst="rect">
            <a:avLst/>
          </a:prstGeom>
        </p:spPr>
      </p:pic>
      <p:sp>
        <p:nvSpPr>
          <p:cNvPr id="32" name="Text 24"/>
          <p:cNvSpPr txBox="1"/>
          <p:nvPr/>
        </p:nvSpPr>
        <p:spPr>
          <a:xfrm>
            <a:off x="7132320" y="457200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Se lo cambi, il server non lo rilegge</a:t>
            </a:r>
            <a:endParaRPr lang="en-US" sz="1800" dirty="0"/>
          </a:p>
        </p:txBody>
      </p:sp>
      <p:sp>
        <p:nvSpPr>
          <p:cNvPr id="33" name="Text 25"/>
          <p:cNvSpPr txBox="1"/>
          <p:nvPr/>
        </p:nvSpPr>
        <p:spPr>
          <a:xfrm>
            <a:off x="6400800" y="5257800"/>
            <a:ext cx="5010912" cy="54864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per questo Terraform ricrea il server (user_data_replace_on_change)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 permessi del server: role e instance profile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EC2: il server</a:t>
            </a:r>
            <a:endParaRPr lang="en-US" sz="1000" dirty="0"/>
          </a:p>
        </p:txBody>
      </p:sp>
      <p:sp>
        <p:nvSpPr>
          <p:cNvPr id="5" name="Shape 2"/>
          <p:cNvSpPr/>
          <p:nvPr/>
        </p:nvSpPr>
        <p:spPr>
          <a:xfrm>
            <a:off x="548640" y="1280160"/>
            <a:ext cx="11094415" cy="731520"/>
          </a:xfrm>
          <a:prstGeom prst="roundRect">
            <a:avLst>
              <a:gd name="adj" fmla="val 12500"/>
            </a:avLst>
          </a:prstGeom>
          <a:solidFill>
            <a:srgbClr val="5B3FD0"/>
          </a:solidFill>
          <a:ln w="12700">
            <a:solidFill>
              <a:srgbClr val="5B3FD0"/>
            </a:solidFill>
            <a:prstDash val="solid"/>
          </a:ln>
        </p:spPr>
      </p:sp>
      <p:sp>
        <p:nvSpPr>
          <p:cNvPr id="6" name="Text 3"/>
          <p:cNvSpPr txBox="1"/>
          <p:nvPr/>
        </p:nvSpPr>
        <p:spPr>
          <a:xfrm>
            <a:off x="822960" y="1280160"/>
            <a:ext cx="10545775" cy="731520"/>
          </a:xfrm>
          <a:prstGeom prst="rect">
            <a:avLst/>
          </a:prstGeom>
          <a:noFill/>
          <a:ln/>
        </p:spPr>
        <p:txBody>
          <a:bodyPr wrap="square" lIns="0" tIns="0" rIns="0" bIns="0" rtlCol="0" anchor="ctr"/>
          <a:lstStyle/>
          <a:p>
            <a:pPr algn="l" indent="0" marL="0">
              <a:buNone/>
            </a:pPr>
            <a:r>
              <a:rPr lang="en-US" sz="1900" b="1" dirty="0">
                <a:solidFill>
                  <a:srgbClr val="FFFFFF"/>
                </a:solidFill>
                <a:latin typeface="Calibri" pitchFamily="34" charset="0"/>
                <a:ea typeface="Calibri" pitchFamily="34" charset="-122"/>
                <a:cs typeface="Calibri" pitchFamily="34" charset="-120"/>
              </a:rPr>
              <a:t>Niente chiavi dentro il server: un ROLE (lezione 1), attaccato con l'INSTANCE PROFILE.</a:t>
            </a:r>
            <a:endParaRPr lang="en-US" sz="1900" dirty="0"/>
          </a:p>
        </p:txBody>
      </p:sp>
      <p:sp>
        <p:nvSpPr>
          <p:cNvPr id="7" name="Shape 4"/>
          <p:cNvSpPr/>
          <p:nvPr/>
        </p:nvSpPr>
        <p:spPr>
          <a:xfrm>
            <a:off x="548640" y="2240280"/>
            <a:ext cx="3566160" cy="2377440"/>
          </a:xfrm>
          <a:prstGeom prst="roundRect">
            <a:avLst>
              <a:gd name="adj" fmla="val 4615"/>
            </a:avLst>
          </a:prstGeom>
          <a:solidFill>
            <a:srgbClr val="EEEAFB"/>
          </a:solidFill>
          <a:ln w="12700">
            <a:solidFill>
              <a:srgbClr val="EEEAFB"/>
            </a:solidFill>
            <a:prstDash val="solid"/>
          </a:ln>
        </p:spPr>
      </p:sp>
      <p:sp>
        <p:nvSpPr>
          <p:cNvPr id="8" name="Shape 5"/>
          <p:cNvSpPr/>
          <p:nvPr/>
        </p:nvSpPr>
        <p:spPr>
          <a:xfrm>
            <a:off x="777240" y="2468880"/>
            <a:ext cx="548640" cy="548640"/>
          </a:xfrm>
          <a:prstGeom prst="ellipse">
            <a:avLst/>
          </a:prstGeom>
          <a:solidFill>
            <a:srgbClr val="5B3FD0"/>
          </a:solidFill>
          <a:ln w="12700">
            <a:solidFill>
              <a:srgbClr val="5B3FD0"/>
            </a:solidFill>
            <a:prstDash val="solid"/>
          </a:ln>
        </p:spPr>
      </p:sp>
      <p:pic>
        <p:nvPicPr>
          <p:cNvPr id="9" name="Image 0" descr="preencoded.png">    </p:cNvPr>
          <p:cNvPicPr>
            <a:picLocks noChangeAspect="1"/>
          </p:cNvPicPr>
          <p:nvPr/>
        </p:nvPicPr>
        <p:blipFill>
          <a:blip r:embed="rId1"/>
          <a:stretch>
            <a:fillRect/>
          </a:stretch>
        </p:blipFill>
        <p:spPr>
          <a:xfrm>
            <a:off x="914400" y="2606040"/>
            <a:ext cx="274320" cy="274320"/>
          </a:xfrm>
          <a:prstGeom prst="rect">
            <a:avLst/>
          </a:prstGeom>
        </p:spPr>
      </p:pic>
      <p:sp>
        <p:nvSpPr>
          <p:cNvPr id="10" name="Text 6"/>
          <p:cNvSpPr txBox="1"/>
          <p:nvPr/>
        </p:nvSpPr>
        <p:spPr>
          <a:xfrm>
            <a:off x="1508760" y="246888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Trust policy</a:t>
            </a:r>
            <a:endParaRPr lang="en-US" sz="1800" dirty="0"/>
          </a:p>
        </p:txBody>
      </p:sp>
      <p:sp>
        <p:nvSpPr>
          <p:cNvPr id="11" name="Text 7"/>
          <p:cNvSpPr txBox="1"/>
          <p:nvPr/>
        </p:nvSpPr>
        <p:spPr>
          <a:xfrm>
            <a:off x="777240" y="3154680"/>
            <a:ext cx="3108960" cy="128016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"il servizio EC2 può assumere questo role"</a:t>
            </a:r>
            <a:endParaRPr lang="en-US" sz="1600" dirty="0"/>
          </a:p>
        </p:txBody>
      </p:sp>
      <p:sp>
        <p:nvSpPr>
          <p:cNvPr id="12" name="Shape 8"/>
          <p:cNvSpPr/>
          <p:nvPr/>
        </p:nvSpPr>
        <p:spPr>
          <a:xfrm>
            <a:off x="4297680" y="2240280"/>
            <a:ext cx="3566160" cy="2377440"/>
          </a:xfrm>
          <a:prstGeom prst="roundRect">
            <a:avLst>
              <a:gd name="adj" fmla="val 4615"/>
            </a:avLst>
          </a:prstGeom>
          <a:solidFill>
            <a:srgbClr val="EEEAFB"/>
          </a:solidFill>
          <a:ln w="12700">
            <a:solidFill>
              <a:srgbClr val="EEEAFB"/>
            </a:solidFill>
            <a:prstDash val="solid"/>
          </a:ln>
        </p:spPr>
      </p:sp>
      <p:sp>
        <p:nvSpPr>
          <p:cNvPr id="13" name="Shape 9"/>
          <p:cNvSpPr/>
          <p:nvPr/>
        </p:nvSpPr>
        <p:spPr>
          <a:xfrm>
            <a:off x="4526280" y="2468880"/>
            <a:ext cx="548640" cy="548640"/>
          </a:xfrm>
          <a:prstGeom prst="ellipse">
            <a:avLst/>
          </a:prstGeom>
          <a:solidFill>
            <a:srgbClr val="5B3FD0"/>
          </a:solidFill>
          <a:ln w="12700">
            <a:solidFill>
              <a:srgbClr val="5B3FD0"/>
            </a:solidFill>
            <a:prstDash val="solid"/>
          </a:ln>
        </p:spPr>
      </p:sp>
      <p:pic>
        <p:nvPicPr>
          <p:cNvPr id="14" name="Image 1" descr="preencoded.png">    </p:cNvPr>
          <p:cNvPicPr>
            <a:picLocks noChangeAspect="1"/>
          </p:cNvPicPr>
          <p:nvPr/>
        </p:nvPicPr>
        <p:blipFill>
          <a:blip r:embed="rId2"/>
          <a:stretch>
            <a:fillRect/>
          </a:stretch>
        </p:blipFill>
        <p:spPr>
          <a:xfrm>
            <a:off x="4663440" y="2606040"/>
            <a:ext cx="274320" cy="274320"/>
          </a:xfrm>
          <a:prstGeom prst="rect">
            <a:avLst/>
          </a:prstGeom>
        </p:spPr>
      </p:pic>
      <p:sp>
        <p:nvSpPr>
          <p:cNvPr id="15" name="Text 10"/>
          <p:cNvSpPr txBox="1"/>
          <p:nvPr/>
        </p:nvSpPr>
        <p:spPr>
          <a:xfrm>
            <a:off x="5257800" y="246888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Permission policy</a:t>
            </a:r>
            <a:endParaRPr lang="en-US" sz="1800" dirty="0"/>
          </a:p>
        </p:txBody>
      </p:sp>
      <p:sp>
        <p:nvSpPr>
          <p:cNvPr id="16" name="Text 11"/>
          <p:cNvSpPr txBox="1"/>
          <p:nvPr/>
        </p:nvSpPr>
        <p:spPr>
          <a:xfrm>
            <a:off x="4526280" y="3154680"/>
            <a:ext cx="3108960" cy="128016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cosa può fare: farsi gestire da SSM (AmazonSSMManagedInstanceCore)</a:t>
            </a:r>
            <a:endParaRPr lang="en-US" sz="1600" dirty="0"/>
          </a:p>
        </p:txBody>
      </p:sp>
      <p:sp>
        <p:nvSpPr>
          <p:cNvPr id="17" name="Shape 12"/>
          <p:cNvSpPr/>
          <p:nvPr/>
        </p:nvSpPr>
        <p:spPr>
          <a:xfrm>
            <a:off x="8046720" y="2240280"/>
            <a:ext cx="3566160" cy="2377440"/>
          </a:xfrm>
          <a:prstGeom prst="roundRect">
            <a:avLst>
              <a:gd name="adj" fmla="val 4615"/>
            </a:avLst>
          </a:prstGeom>
          <a:solidFill>
            <a:srgbClr val="FDF0E3"/>
          </a:solidFill>
          <a:ln w="12700">
            <a:solidFill>
              <a:srgbClr val="FDF0E3"/>
            </a:solidFill>
            <a:prstDash val="solid"/>
          </a:ln>
        </p:spPr>
      </p:sp>
      <p:sp>
        <p:nvSpPr>
          <p:cNvPr id="18" name="Shape 13"/>
          <p:cNvSpPr/>
          <p:nvPr/>
        </p:nvSpPr>
        <p:spPr>
          <a:xfrm>
            <a:off x="8275320" y="2468880"/>
            <a:ext cx="548640" cy="548640"/>
          </a:xfrm>
          <a:prstGeom prst="ellipse">
            <a:avLst/>
          </a:prstGeom>
          <a:solidFill>
            <a:srgbClr val="F28C28"/>
          </a:solidFill>
          <a:ln w="12700">
            <a:solidFill>
              <a:srgbClr val="F28C28"/>
            </a:solidFill>
            <a:prstDash val="solid"/>
          </a:ln>
        </p:spPr>
      </p:sp>
      <p:pic>
        <p:nvPicPr>
          <p:cNvPr id="19" name="Image 2" descr="preencoded.png">    </p:cNvPr>
          <p:cNvPicPr>
            <a:picLocks noChangeAspect="1"/>
          </p:cNvPicPr>
          <p:nvPr/>
        </p:nvPicPr>
        <p:blipFill>
          <a:blip r:embed="rId3"/>
          <a:stretch>
            <a:fillRect/>
          </a:stretch>
        </p:blipFill>
        <p:spPr>
          <a:xfrm>
            <a:off x="8412480" y="2606040"/>
            <a:ext cx="274320" cy="274320"/>
          </a:xfrm>
          <a:prstGeom prst="rect">
            <a:avLst/>
          </a:prstGeom>
        </p:spPr>
      </p:pic>
      <p:sp>
        <p:nvSpPr>
          <p:cNvPr id="20" name="Text 14"/>
          <p:cNvSpPr txBox="1"/>
          <p:nvPr/>
        </p:nvSpPr>
        <p:spPr>
          <a:xfrm>
            <a:off x="9006840" y="246888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Instance profile</a:t>
            </a:r>
            <a:endParaRPr lang="en-US" sz="1800" dirty="0"/>
          </a:p>
        </p:txBody>
      </p:sp>
      <p:sp>
        <p:nvSpPr>
          <p:cNvPr id="21" name="Text 15"/>
          <p:cNvSpPr txBox="1"/>
          <p:nvPr/>
        </p:nvSpPr>
        <p:spPr>
          <a:xfrm>
            <a:off x="8275320" y="3154680"/>
            <a:ext cx="3108960" cy="128016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il "porta-badge" che attacca il role al server</a:t>
            </a:r>
            <a:endParaRPr lang="en-US" sz="1600" dirty="0"/>
          </a:p>
        </p:txBody>
      </p:sp>
      <p:sp>
        <p:nvSpPr>
          <p:cNvPr id="22" name="Shape 16"/>
          <p:cNvSpPr/>
          <p:nvPr/>
        </p:nvSpPr>
        <p:spPr>
          <a:xfrm>
            <a:off x="548640" y="4892040"/>
            <a:ext cx="11094415" cy="914400"/>
          </a:xfrm>
          <a:prstGeom prst="roundRect">
            <a:avLst>
              <a:gd name="adj" fmla="val 10000"/>
            </a:avLst>
          </a:prstGeom>
          <a:solidFill>
            <a:srgbClr val="FDF0E3"/>
          </a:solidFill>
          <a:ln w="12700">
            <a:solidFill>
              <a:srgbClr val="FDF0E3"/>
            </a:solidFill>
            <a:prstDash val="solid"/>
          </a:ln>
        </p:spPr>
      </p:sp>
      <p:sp>
        <p:nvSpPr>
          <p:cNvPr id="23" name="Text 17"/>
          <p:cNvSpPr txBox="1"/>
          <p:nvPr/>
        </p:nvSpPr>
        <p:spPr>
          <a:xfrm>
            <a:off x="822960" y="4892040"/>
            <a:ext cx="10545775" cy="914400"/>
          </a:xfrm>
          <a:prstGeom prst="rect">
            <a:avLst/>
          </a:prstGeom>
          <a:noFill/>
          <a:ln/>
        </p:spPr>
        <p:txBody>
          <a:bodyPr wrap="square" lIns="0" tIns="0" rIns="0" bIns="0" rtlCol="0" anchor="ctr"/>
          <a:lstStyle/>
          <a:p>
            <a:pPr algn="l" indent="0" marL="0">
              <a:buNone/>
            </a:pPr>
            <a:r>
              <a:rPr lang="en-US" sz="1800" b="1" dirty="0">
                <a:solidFill>
                  <a:srgbClr val="22253A"/>
                </a:solidFill>
                <a:latin typeface="Calibri" pitchFamily="34" charset="0"/>
                <a:ea typeface="Calibri" pitchFamily="34" charset="-122"/>
                <a:cs typeface="Calibri" pitchFamily="34" charset="-120"/>
              </a:rPr>
              <a:t>Un server non indossa un role direttamente: indossa un instance profile, che contiene il role.</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Entrare nel server: perché non SSH</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EC2: il server</a:t>
            </a:r>
            <a:endParaRPr lang="en-US" sz="1000" dirty="0"/>
          </a:p>
        </p:txBody>
      </p:sp>
      <p:sp>
        <p:nvSpPr>
          <p:cNvPr id="5" name="Shape 2"/>
          <p:cNvSpPr/>
          <p:nvPr/>
        </p:nvSpPr>
        <p:spPr>
          <a:xfrm>
            <a:off x="548640" y="1371600"/>
            <a:ext cx="3566160" cy="2743200"/>
          </a:xfrm>
          <a:prstGeom prst="roundRect">
            <a:avLst>
              <a:gd name="adj" fmla="val 4000"/>
            </a:avLst>
          </a:prstGeom>
          <a:solidFill>
            <a:srgbClr val="FBE9E9"/>
          </a:solidFill>
          <a:ln w="12700">
            <a:solidFill>
              <a:srgbClr val="FBE9E9"/>
            </a:solidFill>
            <a:prstDash val="solid"/>
          </a:ln>
        </p:spPr>
      </p:sp>
      <p:sp>
        <p:nvSpPr>
          <p:cNvPr id="6" name="Shape 3"/>
          <p:cNvSpPr/>
          <p:nvPr/>
        </p:nvSpPr>
        <p:spPr>
          <a:xfrm>
            <a:off x="777240" y="1600200"/>
            <a:ext cx="548640" cy="548640"/>
          </a:xfrm>
          <a:prstGeom prst="ellipse">
            <a:avLst/>
          </a:prstGeom>
          <a:solidFill>
            <a:srgbClr val="D64545"/>
          </a:solidFill>
          <a:ln w="12700">
            <a:solidFill>
              <a:srgbClr val="D64545"/>
            </a:solidFill>
            <a:prstDash val="solid"/>
          </a:ln>
        </p:spPr>
      </p:sp>
      <p:pic>
        <p:nvPicPr>
          <p:cNvPr id="7" name="Image 0" descr="preencoded.png">    </p:cNvPr>
          <p:cNvPicPr>
            <a:picLocks noChangeAspect="1"/>
          </p:cNvPicPr>
          <p:nvPr/>
        </p:nvPicPr>
        <p:blipFill>
          <a:blip r:embed="rId1"/>
          <a:stretch>
            <a:fillRect/>
          </a:stretch>
        </p:blipFill>
        <p:spPr>
          <a:xfrm>
            <a:off x="914400" y="1737360"/>
            <a:ext cx="274320" cy="274320"/>
          </a:xfrm>
          <a:prstGeom prst="rect">
            <a:avLst/>
          </a:prstGeom>
        </p:spPr>
      </p:pic>
      <p:sp>
        <p:nvSpPr>
          <p:cNvPr id="8" name="Text 4"/>
          <p:cNvSpPr txBox="1"/>
          <p:nvPr/>
        </p:nvSpPr>
        <p:spPr>
          <a:xfrm>
            <a:off x="1508760" y="160020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Una porta da aprire</a:t>
            </a:r>
            <a:endParaRPr lang="en-US" sz="1800" dirty="0"/>
          </a:p>
        </p:txBody>
      </p:sp>
      <p:sp>
        <p:nvSpPr>
          <p:cNvPr id="9" name="Text 5"/>
          <p:cNvSpPr txBox="1"/>
          <p:nvPr/>
        </p:nvSpPr>
        <p:spPr>
          <a:xfrm>
            <a:off x="777240" y="2286000"/>
            <a:ext cx="3108960" cy="164592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la 22, in ingresso, da raggiungere (il server è in una subnet privata!)</a:t>
            </a:r>
            <a:endParaRPr lang="en-US" sz="1600" dirty="0"/>
          </a:p>
        </p:txBody>
      </p:sp>
      <p:sp>
        <p:nvSpPr>
          <p:cNvPr id="10" name="Shape 6"/>
          <p:cNvSpPr/>
          <p:nvPr/>
        </p:nvSpPr>
        <p:spPr>
          <a:xfrm>
            <a:off x="4297680" y="1371600"/>
            <a:ext cx="3566160" cy="2743200"/>
          </a:xfrm>
          <a:prstGeom prst="roundRect">
            <a:avLst>
              <a:gd name="adj" fmla="val 4000"/>
            </a:avLst>
          </a:prstGeom>
          <a:solidFill>
            <a:srgbClr val="FBE9E9"/>
          </a:solidFill>
          <a:ln w="12700">
            <a:solidFill>
              <a:srgbClr val="FBE9E9"/>
            </a:solidFill>
            <a:prstDash val="solid"/>
          </a:ln>
        </p:spPr>
      </p:sp>
      <p:sp>
        <p:nvSpPr>
          <p:cNvPr id="11" name="Shape 7"/>
          <p:cNvSpPr/>
          <p:nvPr/>
        </p:nvSpPr>
        <p:spPr>
          <a:xfrm>
            <a:off x="4526280" y="1600200"/>
            <a:ext cx="548640" cy="548640"/>
          </a:xfrm>
          <a:prstGeom prst="ellipse">
            <a:avLst/>
          </a:prstGeom>
          <a:solidFill>
            <a:srgbClr val="D64545"/>
          </a:solidFill>
          <a:ln w="12700">
            <a:solidFill>
              <a:srgbClr val="D64545"/>
            </a:solidFill>
            <a:prstDash val="solid"/>
          </a:ln>
        </p:spPr>
      </p:sp>
      <p:pic>
        <p:nvPicPr>
          <p:cNvPr id="12" name="Image 1" descr="preencoded.png">    </p:cNvPr>
          <p:cNvPicPr>
            <a:picLocks noChangeAspect="1"/>
          </p:cNvPicPr>
          <p:nvPr/>
        </p:nvPicPr>
        <p:blipFill>
          <a:blip r:embed="rId2"/>
          <a:stretch>
            <a:fillRect/>
          </a:stretch>
        </p:blipFill>
        <p:spPr>
          <a:xfrm>
            <a:off x="4663440" y="1737360"/>
            <a:ext cx="274320" cy="274320"/>
          </a:xfrm>
          <a:prstGeom prst="rect">
            <a:avLst/>
          </a:prstGeom>
        </p:spPr>
      </p:pic>
      <p:sp>
        <p:nvSpPr>
          <p:cNvPr id="13" name="Text 8"/>
          <p:cNvSpPr txBox="1"/>
          <p:nvPr/>
        </p:nvSpPr>
        <p:spPr>
          <a:xfrm>
            <a:off x="5257800" y="160020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Chiavi da custodire</a:t>
            </a:r>
            <a:endParaRPr lang="en-US" sz="1800" dirty="0"/>
          </a:p>
        </p:txBody>
      </p:sp>
      <p:sp>
        <p:nvSpPr>
          <p:cNvPr id="14" name="Text 9"/>
          <p:cNvSpPr txBox="1"/>
          <p:nvPr/>
        </p:nvSpPr>
        <p:spPr>
          <a:xfrm>
            <a:off x="4526280" y="2286000"/>
            <a:ext cx="3108960" cy="164592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da distribuire e revocare quando qualcuno se ne va</a:t>
            </a:r>
            <a:endParaRPr lang="en-US" sz="1600" dirty="0"/>
          </a:p>
        </p:txBody>
      </p:sp>
      <p:sp>
        <p:nvSpPr>
          <p:cNvPr id="15" name="Shape 10"/>
          <p:cNvSpPr/>
          <p:nvPr/>
        </p:nvSpPr>
        <p:spPr>
          <a:xfrm>
            <a:off x="8046720" y="1371600"/>
            <a:ext cx="3566160" cy="2743200"/>
          </a:xfrm>
          <a:prstGeom prst="roundRect">
            <a:avLst>
              <a:gd name="adj" fmla="val 4000"/>
            </a:avLst>
          </a:prstGeom>
          <a:solidFill>
            <a:srgbClr val="FBE9E9"/>
          </a:solidFill>
          <a:ln w="12700">
            <a:solidFill>
              <a:srgbClr val="FBE9E9"/>
            </a:solidFill>
            <a:prstDash val="solid"/>
          </a:ln>
        </p:spPr>
      </p:sp>
      <p:sp>
        <p:nvSpPr>
          <p:cNvPr id="16" name="Shape 11"/>
          <p:cNvSpPr/>
          <p:nvPr/>
        </p:nvSpPr>
        <p:spPr>
          <a:xfrm>
            <a:off x="8275320" y="1600200"/>
            <a:ext cx="548640" cy="548640"/>
          </a:xfrm>
          <a:prstGeom prst="ellipse">
            <a:avLst/>
          </a:prstGeom>
          <a:solidFill>
            <a:srgbClr val="D64545"/>
          </a:solidFill>
          <a:ln w="12700">
            <a:solidFill>
              <a:srgbClr val="D64545"/>
            </a:solidFill>
            <a:prstDash val="solid"/>
          </a:ln>
        </p:spPr>
      </p:sp>
      <p:pic>
        <p:nvPicPr>
          <p:cNvPr id="17" name="Image 2" descr="preencoded.png">    </p:cNvPr>
          <p:cNvPicPr>
            <a:picLocks noChangeAspect="1"/>
          </p:cNvPicPr>
          <p:nvPr/>
        </p:nvPicPr>
        <p:blipFill>
          <a:blip r:embed="rId3"/>
          <a:stretch>
            <a:fillRect/>
          </a:stretch>
        </p:blipFill>
        <p:spPr>
          <a:xfrm>
            <a:off x="8412480" y="1737360"/>
            <a:ext cx="274320" cy="274320"/>
          </a:xfrm>
          <a:prstGeom prst="rect">
            <a:avLst/>
          </a:prstGeom>
        </p:spPr>
      </p:pic>
      <p:sp>
        <p:nvSpPr>
          <p:cNvPr id="18" name="Text 12"/>
          <p:cNvSpPr txBox="1"/>
          <p:nvPr/>
        </p:nvSpPr>
        <p:spPr>
          <a:xfrm>
            <a:off x="9006840" y="160020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Chi ha fatto cosa?</a:t>
            </a:r>
            <a:endParaRPr lang="en-US" sz="1800" dirty="0"/>
          </a:p>
        </p:txBody>
      </p:sp>
      <p:sp>
        <p:nvSpPr>
          <p:cNvPr id="19" name="Text 13"/>
          <p:cNvSpPr txBox="1"/>
          <p:nvPr/>
        </p:nvSpPr>
        <p:spPr>
          <a:xfrm>
            <a:off x="8275320" y="2286000"/>
            <a:ext cx="3108960" cy="164592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difficile da sapere</a:t>
            </a:r>
            <a:endParaRPr lang="en-US" sz="1600" dirty="0"/>
          </a:p>
        </p:txBody>
      </p:sp>
      <p:sp>
        <p:nvSpPr>
          <p:cNvPr id="20" name="Shape 14"/>
          <p:cNvSpPr/>
          <p:nvPr/>
        </p:nvSpPr>
        <p:spPr>
          <a:xfrm>
            <a:off x="548640" y="4434840"/>
            <a:ext cx="11094415" cy="1097280"/>
          </a:xfrm>
          <a:prstGeom prst="roundRect">
            <a:avLst>
              <a:gd name="adj" fmla="val 8333"/>
            </a:avLst>
          </a:prstGeom>
          <a:solidFill>
            <a:srgbClr val="5B3FD0"/>
          </a:solidFill>
          <a:ln w="12700">
            <a:solidFill>
              <a:srgbClr val="5B3FD0"/>
            </a:solidFill>
            <a:prstDash val="solid"/>
          </a:ln>
        </p:spPr>
      </p:sp>
      <p:sp>
        <p:nvSpPr>
          <p:cNvPr id="21" name="Text 15"/>
          <p:cNvSpPr txBox="1"/>
          <p:nvPr/>
        </p:nvSpPr>
        <p:spPr>
          <a:xfrm>
            <a:off x="822960" y="4434840"/>
            <a:ext cx="10545775" cy="10972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SSM Session Manager rovescia il problema: nessuna porta in ingresso, nessuna chiave.</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SSM Session Manager: il server chiama, tu entri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EC2: il server</a:t>
            </a:r>
            <a:endParaRPr lang="en-US" sz="1000" dirty="0"/>
          </a:p>
        </p:txBody>
      </p:sp>
      <p:sp>
        <p:nvSpPr>
          <p:cNvPr id="5" name="Shape 2"/>
          <p:cNvSpPr/>
          <p:nvPr/>
        </p:nvSpPr>
        <p:spPr>
          <a:xfrm>
            <a:off x="1417320" y="1371600"/>
            <a:ext cx="914400" cy="914400"/>
          </a:xfrm>
          <a:prstGeom prst="ellipse">
            <a:avLst/>
          </a:prstGeom>
          <a:solidFill>
            <a:srgbClr val="5B3FD0"/>
          </a:solidFill>
          <a:ln w="12700">
            <a:solidFill>
              <a:srgbClr val="5B3FD0"/>
            </a:solidFill>
            <a:prstDash val="solid"/>
          </a:ln>
        </p:spPr>
      </p:sp>
      <p:pic>
        <p:nvPicPr>
          <p:cNvPr id="6" name="Image 0" descr="preencoded.png">    </p:cNvPr>
          <p:cNvPicPr>
            <a:picLocks noChangeAspect="1"/>
          </p:cNvPicPr>
          <p:nvPr/>
        </p:nvPicPr>
        <p:blipFill>
          <a:blip r:embed="rId1"/>
          <a:stretch>
            <a:fillRect/>
          </a:stretch>
        </p:blipFill>
        <p:spPr>
          <a:xfrm>
            <a:off x="1645920" y="1600200"/>
            <a:ext cx="457200" cy="457200"/>
          </a:xfrm>
          <a:prstGeom prst="rect">
            <a:avLst/>
          </a:prstGeom>
        </p:spPr>
      </p:pic>
      <p:sp>
        <p:nvSpPr>
          <p:cNvPr id="7" name="Text 3"/>
          <p:cNvSpPr txBox="1"/>
          <p:nvPr/>
        </p:nvSpPr>
        <p:spPr>
          <a:xfrm>
            <a:off x="548640" y="2377440"/>
            <a:ext cx="2651760" cy="457200"/>
          </a:xfrm>
          <a:prstGeom prst="rect">
            <a:avLst/>
          </a:prstGeom>
          <a:noFill/>
          <a:ln/>
        </p:spPr>
        <p:txBody>
          <a:bodyPr wrap="square" lIns="0" tIns="0" rIns="0" bIns="0" rtlCol="0" anchor="ctr"/>
          <a:lstStyle/>
          <a:p>
            <a:pPr algn="ctr" indent="0" marL="0">
              <a:buNone/>
            </a:pPr>
            <a:r>
              <a:rPr lang="en-US" sz="1700" b="1" dirty="0">
                <a:solidFill>
                  <a:srgbClr val="22253A"/>
                </a:solidFill>
                <a:latin typeface="Calibri" pitchFamily="34" charset="0"/>
                <a:ea typeface="Calibri" pitchFamily="34" charset="-122"/>
                <a:cs typeface="Calibri" pitchFamily="34" charset="-120"/>
              </a:rPr>
              <a:t>1. L'agente sul server</a:t>
            </a:r>
            <a:endParaRPr lang="en-US" sz="1700" dirty="0"/>
          </a:p>
        </p:txBody>
      </p:sp>
      <p:sp>
        <p:nvSpPr>
          <p:cNvPr id="8" name="Text 4"/>
          <p:cNvSpPr txBox="1"/>
          <p:nvPr/>
        </p:nvSpPr>
        <p:spPr>
          <a:xfrm>
            <a:off x="548640" y="2834640"/>
            <a:ext cx="2651760" cy="548640"/>
          </a:xfrm>
          <a:prstGeom prst="rect">
            <a:avLst/>
          </a:prstGeom>
          <a:noFill/>
          <a:ln/>
        </p:spPr>
        <p:txBody>
          <a:bodyPr wrap="square" lIns="0" tIns="0" rIns="0" bIns="0" rtlCol="0" anchor="ctr"/>
          <a:lstStyle/>
          <a:p>
            <a:pPr algn="ctr" indent="0" marL="0">
              <a:buNone/>
            </a:pPr>
            <a:r>
              <a:rPr lang="en-US" sz="1400" dirty="0">
                <a:solidFill>
                  <a:srgbClr val="5F6478"/>
                </a:solidFill>
                <a:latin typeface="Calibri" pitchFamily="34" charset="0"/>
                <a:ea typeface="Calibri" pitchFamily="34" charset="-122"/>
                <a:cs typeface="Calibri" pitchFamily="34" charset="-120"/>
              </a:rPr>
              <a:t>chiama SSM in uscita (443, via NAT)</a:t>
            </a:r>
            <a:endParaRPr lang="en-US" sz="1400" dirty="0"/>
          </a:p>
        </p:txBody>
      </p:sp>
      <p:sp>
        <p:nvSpPr>
          <p:cNvPr id="9" name="Shape 5"/>
          <p:cNvSpPr/>
          <p:nvPr/>
        </p:nvSpPr>
        <p:spPr>
          <a:xfrm>
            <a:off x="2377440" y="1828800"/>
            <a:ext cx="1828800" cy="0"/>
          </a:xfrm>
          <a:prstGeom prst="line">
            <a:avLst/>
          </a:prstGeom>
          <a:noFill/>
          <a:ln w="25400">
            <a:solidFill>
              <a:srgbClr val="D9D6EC"/>
            </a:solidFill>
            <a:prstDash val="solid"/>
            <a:tailEnd type="triangle"/>
          </a:ln>
        </p:spPr>
      </p:sp>
      <p:sp>
        <p:nvSpPr>
          <p:cNvPr id="10" name="Shape 6"/>
          <p:cNvSpPr/>
          <p:nvPr/>
        </p:nvSpPr>
        <p:spPr>
          <a:xfrm>
            <a:off x="4251960" y="1371600"/>
            <a:ext cx="914400" cy="914400"/>
          </a:xfrm>
          <a:prstGeom prst="ellipse">
            <a:avLst/>
          </a:prstGeom>
          <a:solidFill>
            <a:srgbClr val="5B3FD0"/>
          </a:solidFill>
          <a:ln w="12700">
            <a:solidFill>
              <a:srgbClr val="5B3FD0"/>
            </a:solidFill>
            <a:prstDash val="solid"/>
          </a:ln>
        </p:spPr>
      </p:sp>
      <p:pic>
        <p:nvPicPr>
          <p:cNvPr id="11" name="Image 1" descr="preencoded.png">    </p:cNvPr>
          <p:cNvPicPr>
            <a:picLocks noChangeAspect="1"/>
          </p:cNvPicPr>
          <p:nvPr/>
        </p:nvPicPr>
        <p:blipFill>
          <a:blip r:embed="rId2"/>
          <a:stretch>
            <a:fillRect/>
          </a:stretch>
        </p:blipFill>
        <p:spPr>
          <a:xfrm>
            <a:off x="4480560" y="1600200"/>
            <a:ext cx="457200" cy="457200"/>
          </a:xfrm>
          <a:prstGeom prst="rect">
            <a:avLst/>
          </a:prstGeom>
        </p:spPr>
      </p:pic>
      <p:sp>
        <p:nvSpPr>
          <p:cNvPr id="12" name="Text 7"/>
          <p:cNvSpPr txBox="1"/>
          <p:nvPr/>
        </p:nvSpPr>
        <p:spPr>
          <a:xfrm>
            <a:off x="3383280" y="2377440"/>
            <a:ext cx="2651760" cy="457200"/>
          </a:xfrm>
          <a:prstGeom prst="rect">
            <a:avLst/>
          </a:prstGeom>
          <a:noFill/>
          <a:ln/>
        </p:spPr>
        <p:txBody>
          <a:bodyPr wrap="square" lIns="0" tIns="0" rIns="0" bIns="0" rtlCol="0" anchor="ctr"/>
          <a:lstStyle/>
          <a:p>
            <a:pPr algn="ctr" indent="0" marL="0">
              <a:buNone/>
            </a:pPr>
            <a:r>
              <a:rPr lang="en-US" sz="1700" b="1" dirty="0">
                <a:solidFill>
                  <a:srgbClr val="22253A"/>
                </a:solidFill>
                <a:latin typeface="Calibri" pitchFamily="34" charset="0"/>
                <a:ea typeface="Calibri" pitchFamily="34" charset="-122"/>
                <a:cs typeface="Calibri" pitchFamily="34" charset="-120"/>
              </a:rPr>
              <a:t>2. Tu chiedi una sessione</a:t>
            </a:r>
            <a:endParaRPr lang="en-US" sz="1700" dirty="0"/>
          </a:p>
        </p:txBody>
      </p:sp>
      <p:sp>
        <p:nvSpPr>
          <p:cNvPr id="13" name="Text 8"/>
          <p:cNvSpPr txBox="1"/>
          <p:nvPr/>
        </p:nvSpPr>
        <p:spPr>
          <a:xfrm>
            <a:off x="3383280" y="2834640"/>
            <a:ext cx="2651760" cy="548640"/>
          </a:xfrm>
          <a:prstGeom prst="rect">
            <a:avLst/>
          </a:prstGeom>
          <a:noFill/>
          <a:ln/>
        </p:spPr>
        <p:txBody>
          <a:bodyPr wrap="square" lIns="0" tIns="0" rIns="0" bIns="0" rtlCol="0" anchor="ctr"/>
          <a:lstStyle/>
          <a:p>
            <a:pPr algn="ctr" indent="0" marL="0">
              <a:buNone/>
            </a:pPr>
            <a:r>
              <a:rPr lang="en-US" sz="1400" dirty="0">
                <a:solidFill>
                  <a:srgbClr val="5F6478"/>
                </a:solidFill>
                <a:latin typeface="Calibri" pitchFamily="34" charset="0"/>
                <a:ea typeface="Calibri" pitchFamily="34" charset="-122"/>
                <a:cs typeface="Calibri" pitchFamily="34" charset="-120"/>
              </a:rPr>
              <a:t>login AWS + permessi IAM</a:t>
            </a:r>
            <a:endParaRPr lang="en-US" sz="1400" dirty="0"/>
          </a:p>
        </p:txBody>
      </p:sp>
      <p:sp>
        <p:nvSpPr>
          <p:cNvPr id="14" name="Shape 9"/>
          <p:cNvSpPr/>
          <p:nvPr/>
        </p:nvSpPr>
        <p:spPr>
          <a:xfrm>
            <a:off x="5212080" y="1828800"/>
            <a:ext cx="1828800" cy="0"/>
          </a:xfrm>
          <a:prstGeom prst="line">
            <a:avLst/>
          </a:prstGeom>
          <a:noFill/>
          <a:ln w="25400">
            <a:solidFill>
              <a:srgbClr val="D9D6EC"/>
            </a:solidFill>
            <a:prstDash val="solid"/>
            <a:tailEnd type="triangle"/>
          </a:ln>
        </p:spPr>
      </p:sp>
      <p:sp>
        <p:nvSpPr>
          <p:cNvPr id="15" name="Shape 10"/>
          <p:cNvSpPr/>
          <p:nvPr/>
        </p:nvSpPr>
        <p:spPr>
          <a:xfrm>
            <a:off x="7086600" y="1371600"/>
            <a:ext cx="914400" cy="914400"/>
          </a:xfrm>
          <a:prstGeom prst="ellipse">
            <a:avLst/>
          </a:prstGeom>
          <a:solidFill>
            <a:srgbClr val="5B3FD0"/>
          </a:solidFill>
          <a:ln w="12700">
            <a:solidFill>
              <a:srgbClr val="5B3FD0"/>
            </a:solidFill>
            <a:prstDash val="solid"/>
          </a:ln>
        </p:spPr>
      </p:sp>
      <p:pic>
        <p:nvPicPr>
          <p:cNvPr id="16" name="Image 2" descr="preencoded.png">    </p:cNvPr>
          <p:cNvPicPr>
            <a:picLocks noChangeAspect="1"/>
          </p:cNvPicPr>
          <p:nvPr/>
        </p:nvPicPr>
        <p:blipFill>
          <a:blip r:embed="rId3"/>
          <a:stretch>
            <a:fillRect/>
          </a:stretch>
        </p:blipFill>
        <p:spPr>
          <a:xfrm>
            <a:off x="7315200" y="1600200"/>
            <a:ext cx="457200" cy="457200"/>
          </a:xfrm>
          <a:prstGeom prst="rect">
            <a:avLst/>
          </a:prstGeom>
        </p:spPr>
      </p:pic>
      <p:sp>
        <p:nvSpPr>
          <p:cNvPr id="17" name="Text 11"/>
          <p:cNvSpPr txBox="1"/>
          <p:nvPr/>
        </p:nvSpPr>
        <p:spPr>
          <a:xfrm>
            <a:off x="6217920" y="2377440"/>
            <a:ext cx="2651760" cy="457200"/>
          </a:xfrm>
          <a:prstGeom prst="rect">
            <a:avLst/>
          </a:prstGeom>
          <a:noFill/>
          <a:ln/>
        </p:spPr>
        <p:txBody>
          <a:bodyPr wrap="square" lIns="0" tIns="0" rIns="0" bIns="0" rtlCol="0" anchor="ctr"/>
          <a:lstStyle/>
          <a:p>
            <a:pPr algn="ctr" indent="0" marL="0">
              <a:buNone/>
            </a:pPr>
            <a:r>
              <a:rPr lang="en-US" sz="1700" b="1" dirty="0">
                <a:solidFill>
                  <a:srgbClr val="22253A"/>
                </a:solidFill>
                <a:latin typeface="Calibri" pitchFamily="34" charset="0"/>
                <a:ea typeface="Calibri" pitchFamily="34" charset="-122"/>
                <a:cs typeface="Calibri" pitchFamily="34" charset="-120"/>
              </a:rPr>
              <a:t>3. AWS le aggancia</a:t>
            </a:r>
            <a:endParaRPr lang="en-US" sz="1700" dirty="0"/>
          </a:p>
        </p:txBody>
      </p:sp>
      <p:sp>
        <p:nvSpPr>
          <p:cNvPr id="18" name="Text 12"/>
          <p:cNvSpPr txBox="1"/>
          <p:nvPr/>
        </p:nvSpPr>
        <p:spPr>
          <a:xfrm>
            <a:off x="6217920" y="2834640"/>
            <a:ext cx="2651760" cy="548640"/>
          </a:xfrm>
          <a:prstGeom prst="rect">
            <a:avLst/>
          </a:prstGeom>
          <a:noFill/>
          <a:ln/>
        </p:spPr>
        <p:txBody>
          <a:bodyPr wrap="square" lIns="0" tIns="0" rIns="0" bIns="0" rtlCol="0" anchor="ctr"/>
          <a:lstStyle/>
          <a:p>
            <a:pPr algn="ctr" indent="0" marL="0">
              <a:buNone/>
            </a:pPr>
            <a:r>
              <a:rPr lang="en-US" sz="1400" dirty="0">
                <a:solidFill>
                  <a:srgbClr val="5F6478"/>
                </a:solidFill>
                <a:latin typeface="Calibri" pitchFamily="34" charset="0"/>
                <a:ea typeface="Calibri" pitchFamily="34" charset="-122"/>
                <a:cs typeface="Calibri" pitchFamily="34" charset="-120"/>
              </a:rPr>
              <a:t>alla connessione già aperta</a:t>
            </a:r>
            <a:endParaRPr lang="en-US" sz="1400" dirty="0"/>
          </a:p>
        </p:txBody>
      </p:sp>
      <p:sp>
        <p:nvSpPr>
          <p:cNvPr id="19" name="Shape 13"/>
          <p:cNvSpPr/>
          <p:nvPr/>
        </p:nvSpPr>
        <p:spPr>
          <a:xfrm>
            <a:off x="8046720" y="1828800"/>
            <a:ext cx="1828800" cy="0"/>
          </a:xfrm>
          <a:prstGeom prst="line">
            <a:avLst/>
          </a:prstGeom>
          <a:noFill/>
          <a:ln w="25400">
            <a:solidFill>
              <a:srgbClr val="D9D6EC"/>
            </a:solidFill>
            <a:prstDash val="solid"/>
            <a:tailEnd type="triangle"/>
          </a:ln>
        </p:spPr>
      </p:sp>
      <p:sp>
        <p:nvSpPr>
          <p:cNvPr id="20" name="Shape 14"/>
          <p:cNvSpPr/>
          <p:nvPr/>
        </p:nvSpPr>
        <p:spPr>
          <a:xfrm>
            <a:off x="9921240" y="1371600"/>
            <a:ext cx="914400" cy="914400"/>
          </a:xfrm>
          <a:prstGeom prst="ellipse">
            <a:avLst/>
          </a:prstGeom>
          <a:solidFill>
            <a:srgbClr val="2E9E6B"/>
          </a:solidFill>
          <a:ln w="12700">
            <a:solidFill>
              <a:srgbClr val="2E9E6B"/>
            </a:solidFill>
            <a:prstDash val="solid"/>
          </a:ln>
        </p:spPr>
      </p:sp>
      <p:pic>
        <p:nvPicPr>
          <p:cNvPr id="21" name="Image 3" descr="preencoded.png">    </p:cNvPr>
          <p:cNvPicPr>
            <a:picLocks noChangeAspect="1"/>
          </p:cNvPicPr>
          <p:nvPr/>
        </p:nvPicPr>
        <p:blipFill>
          <a:blip r:embed="rId4"/>
          <a:stretch>
            <a:fillRect/>
          </a:stretch>
        </p:blipFill>
        <p:spPr>
          <a:xfrm>
            <a:off x="10149840" y="1600200"/>
            <a:ext cx="457200" cy="457200"/>
          </a:xfrm>
          <a:prstGeom prst="rect">
            <a:avLst/>
          </a:prstGeom>
        </p:spPr>
      </p:pic>
      <p:sp>
        <p:nvSpPr>
          <p:cNvPr id="22" name="Text 15"/>
          <p:cNvSpPr txBox="1"/>
          <p:nvPr/>
        </p:nvSpPr>
        <p:spPr>
          <a:xfrm>
            <a:off x="9052560" y="2377440"/>
            <a:ext cx="2651760" cy="457200"/>
          </a:xfrm>
          <a:prstGeom prst="rect">
            <a:avLst/>
          </a:prstGeom>
          <a:noFill/>
          <a:ln/>
        </p:spPr>
        <p:txBody>
          <a:bodyPr wrap="square" lIns="0" tIns="0" rIns="0" bIns="0" rtlCol="0" anchor="ctr"/>
          <a:lstStyle/>
          <a:p>
            <a:pPr algn="ctr" indent="0" marL="0">
              <a:buNone/>
            </a:pPr>
            <a:r>
              <a:rPr lang="en-US" sz="1700" b="1" dirty="0">
                <a:solidFill>
                  <a:srgbClr val="22253A"/>
                </a:solidFill>
                <a:latin typeface="Calibri" pitchFamily="34" charset="0"/>
                <a:ea typeface="Calibri" pitchFamily="34" charset="-122"/>
                <a:cs typeface="Calibri" pitchFamily="34" charset="-120"/>
              </a:rPr>
              <a:t>4. Terminale aperto</a:t>
            </a:r>
            <a:endParaRPr lang="en-US" sz="1700" dirty="0"/>
          </a:p>
        </p:txBody>
      </p:sp>
      <p:sp>
        <p:nvSpPr>
          <p:cNvPr id="23" name="Text 16"/>
          <p:cNvSpPr txBox="1"/>
          <p:nvPr/>
        </p:nvSpPr>
        <p:spPr>
          <a:xfrm>
            <a:off x="9052560" y="2834640"/>
            <a:ext cx="2651760" cy="548640"/>
          </a:xfrm>
          <a:prstGeom prst="rect">
            <a:avLst/>
          </a:prstGeom>
          <a:noFill/>
          <a:ln/>
        </p:spPr>
        <p:txBody>
          <a:bodyPr wrap="square" lIns="0" tIns="0" rIns="0" bIns="0" rtlCol="0" anchor="ctr"/>
          <a:lstStyle/>
          <a:p>
            <a:pPr algn="ctr" indent="0" marL="0">
              <a:buNone/>
            </a:pPr>
            <a:r>
              <a:rPr lang="en-US" sz="1400" dirty="0">
                <a:solidFill>
                  <a:srgbClr val="5F6478"/>
                </a:solidFill>
                <a:latin typeface="Calibri" pitchFamily="34" charset="0"/>
                <a:ea typeface="Calibri" pitchFamily="34" charset="-122"/>
                <a:cs typeface="Calibri" pitchFamily="34" charset="-120"/>
              </a:rPr>
              <a:t>nel browser o nel terminale</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703320"/>
          <a:ext cx="11094415" cy="914400"/>
        </p:xfrm>
        <a:graphic>
          <a:graphicData uri="http://schemas.openxmlformats.org/drawingml/2006/table">
            <a:tbl>
              <a:tblPr/>
              <a:tblGrid>
                <a:gridCol w="3108960"/>
                <a:gridCol w="3474720"/>
                <a:gridCol w="4507992"/>
              </a:tblGrid>
              <a:tr h="548640">
                <a:tc>
                  <a:txBody>
                    <a:bodyPr/>
                    <a:lstStyle/>
                    <a:p>
                      <a:pPr indent="0" marL="0">
                        <a:buNone/>
                      </a:pP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SSH</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SSM Session Manager</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548640">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Porte in ingresso</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D64545"/>
                          </a:solidFill>
                          <a:latin typeface="Calibri" pitchFamily="34" charset="0"/>
                          <a:ea typeface="Calibri" pitchFamily="34" charset="-122"/>
                          <a:cs typeface="Calibri" pitchFamily="34" charset="-120"/>
                        </a:rPr>
                        <a:t>la 22, aperta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b="1" dirty="0">
                          <a:solidFill>
                            <a:srgbClr val="2E9E6B"/>
                          </a:solidFill>
                          <a:latin typeface="Calibri" pitchFamily="34" charset="0"/>
                          <a:ea typeface="Calibri" pitchFamily="34" charset="-122"/>
                          <a:cs typeface="Calibri" pitchFamily="34" charset="-120"/>
                        </a:rPr>
                        <a:t>nessuna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548640">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Chiavi da custodire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dirty="0">
                          <a:solidFill>
                            <a:srgbClr val="D64545"/>
                          </a:solidFill>
                          <a:latin typeface="Calibri" pitchFamily="34" charset="0"/>
                          <a:ea typeface="Calibri" pitchFamily="34" charset="-122"/>
                          <a:cs typeface="Calibri" pitchFamily="34" charset="-120"/>
                        </a:rPr>
                        <a:t>una per persona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600" b="1" dirty="0">
                          <a:solidFill>
                            <a:srgbClr val="2E9E6B"/>
                          </a:solidFill>
                          <a:latin typeface="Calibri" pitchFamily="34" charset="0"/>
                          <a:ea typeface="Calibri" pitchFamily="34" charset="-122"/>
                          <a:cs typeface="Calibri" pitchFamily="34" charset="-120"/>
                        </a:rPr>
                        <a:t>nessuna: login AWS con MFA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548640">
                <a:tc>
                  <a:txBody>
                    <a:bodyPr/>
                    <a:lstStyle/>
                    <a:p>
                      <a:pPr indent="0" marL="0">
                        <a:buNone/>
                      </a:pPr>
                      <a:r>
                        <a:rPr lang="en-US" sz="1600" b="1" dirty="0">
                          <a:solidFill>
                            <a:srgbClr val="22253A"/>
                          </a:solidFill>
                          <a:latin typeface="Calibri" pitchFamily="34" charset="0"/>
                          <a:ea typeface="Calibri" pitchFamily="34" charset="-122"/>
                          <a:cs typeface="Calibri" pitchFamily="34" charset="-120"/>
                        </a:rPr>
                        <a:t>Registro di chi entra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dirty="0">
                          <a:solidFill>
                            <a:srgbClr val="22253A"/>
                          </a:solidFill>
                          <a:latin typeface="Calibri" pitchFamily="34" charset="0"/>
                          <a:ea typeface="Calibri" pitchFamily="34" charset="-122"/>
                          <a:cs typeface="Calibri" pitchFamily="34" charset="-120"/>
                        </a:rPr>
                        <a:t>da configurare</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600" b="1" dirty="0">
                          <a:solidFill>
                            <a:srgbClr val="2E9E6B"/>
                          </a:solidFill>
                          <a:latin typeface="Calibri" pitchFamily="34" charset="0"/>
                          <a:ea typeface="Calibri" pitchFamily="34" charset="-122"/>
                          <a:cs typeface="Calibri" pitchFamily="34" charset="-120"/>
                        </a:rPr>
                        <a:t>ogni sessione registrata</a:t>
                      </a:r>
                      <a:endParaRPr lang="en-US" sz="16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Cosa serve perché SSM funzioni (lo abbiamo già)</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EC2: il server</a:t>
            </a:r>
            <a:endParaRPr lang="en-US" sz="1000" dirty="0"/>
          </a:p>
        </p:txBody>
      </p:sp>
      <p:sp>
        <p:nvSpPr>
          <p:cNvPr id="5" name="Shape 2"/>
          <p:cNvSpPr/>
          <p:nvPr/>
        </p:nvSpPr>
        <p:spPr>
          <a:xfrm>
            <a:off x="548640" y="1371600"/>
            <a:ext cx="3566160" cy="2560320"/>
          </a:xfrm>
          <a:prstGeom prst="roundRect">
            <a:avLst>
              <a:gd name="adj" fmla="val 4286"/>
            </a:avLst>
          </a:prstGeom>
          <a:solidFill>
            <a:srgbClr val="E5F4EC"/>
          </a:solidFill>
          <a:ln w="12700">
            <a:solidFill>
              <a:srgbClr val="E5F4EC"/>
            </a:solidFill>
            <a:prstDash val="solid"/>
          </a:ln>
        </p:spPr>
      </p:sp>
      <p:sp>
        <p:nvSpPr>
          <p:cNvPr id="6" name="Shape 3"/>
          <p:cNvSpPr/>
          <p:nvPr/>
        </p:nvSpPr>
        <p:spPr>
          <a:xfrm>
            <a:off x="777240" y="1600200"/>
            <a:ext cx="548640" cy="548640"/>
          </a:xfrm>
          <a:prstGeom prst="ellipse">
            <a:avLst/>
          </a:prstGeom>
          <a:solidFill>
            <a:srgbClr val="2E9E6B"/>
          </a:solidFill>
          <a:ln w="12700">
            <a:solidFill>
              <a:srgbClr val="2E9E6B"/>
            </a:solidFill>
            <a:prstDash val="solid"/>
          </a:ln>
        </p:spPr>
      </p:sp>
      <p:pic>
        <p:nvPicPr>
          <p:cNvPr id="7" name="Image 0" descr="preencoded.png">    </p:cNvPr>
          <p:cNvPicPr>
            <a:picLocks noChangeAspect="1"/>
          </p:cNvPicPr>
          <p:nvPr/>
        </p:nvPicPr>
        <p:blipFill>
          <a:blip r:embed="rId1"/>
          <a:stretch>
            <a:fillRect/>
          </a:stretch>
        </p:blipFill>
        <p:spPr>
          <a:xfrm>
            <a:off x="914400" y="1737360"/>
            <a:ext cx="274320" cy="274320"/>
          </a:xfrm>
          <a:prstGeom prst="rect">
            <a:avLst/>
          </a:prstGeom>
        </p:spPr>
      </p:pic>
      <p:sp>
        <p:nvSpPr>
          <p:cNvPr id="8" name="Text 4"/>
          <p:cNvSpPr txBox="1"/>
          <p:nvPr/>
        </p:nvSpPr>
        <p:spPr>
          <a:xfrm>
            <a:off x="1508760" y="160020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L'agente SSM</a:t>
            </a:r>
            <a:endParaRPr lang="en-US" sz="1800" dirty="0"/>
          </a:p>
        </p:txBody>
      </p:sp>
      <p:sp>
        <p:nvSpPr>
          <p:cNvPr id="9" name="Text 5"/>
          <p:cNvSpPr txBox="1"/>
          <p:nvPr/>
        </p:nvSpPr>
        <p:spPr>
          <a:xfrm>
            <a:off x="777240" y="2286000"/>
            <a:ext cx="3108960" cy="146304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già dentro Amazon Linux 2023</a:t>
            </a:r>
            <a:endParaRPr lang="en-US" sz="1600" dirty="0"/>
          </a:p>
        </p:txBody>
      </p:sp>
      <p:sp>
        <p:nvSpPr>
          <p:cNvPr id="10" name="Text 6"/>
          <p:cNvSpPr txBox="1"/>
          <p:nvPr/>
        </p:nvSpPr>
        <p:spPr>
          <a:xfrm>
            <a:off x="548640" y="3429000"/>
            <a:ext cx="3566160" cy="411480"/>
          </a:xfrm>
          <a:prstGeom prst="rect">
            <a:avLst/>
          </a:prstGeom>
          <a:noFill/>
          <a:ln/>
        </p:spPr>
        <p:txBody>
          <a:bodyPr wrap="square" lIns="0" tIns="0" rIns="0" bIns="0" rtlCol="0" anchor="ctr"/>
          <a:lstStyle/>
          <a:p>
            <a:pPr algn="ctr" indent="0" marL="0">
              <a:buNone/>
            </a:pPr>
            <a:r>
              <a:rPr lang="en-US" sz="1600" b="1" dirty="0">
                <a:solidFill>
                  <a:srgbClr val="2E9E6B"/>
                </a:solidFill>
                <a:latin typeface="Calibri" pitchFamily="34" charset="0"/>
                <a:ea typeface="Calibri" pitchFamily="34" charset="-122"/>
                <a:cs typeface="Calibri" pitchFamily="34" charset="-120"/>
              </a:rPr>
              <a:t>✓ c'è già</a:t>
            </a:r>
            <a:endParaRPr lang="en-US" sz="1600" dirty="0"/>
          </a:p>
        </p:txBody>
      </p:sp>
      <p:sp>
        <p:nvSpPr>
          <p:cNvPr id="11" name="Shape 7"/>
          <p:cNvSpPr/>
          <p:nvPr/>
        </p:nvSpPr>
        <p:spPr>
          <a:xfrm>
            <a:off x="4297680" y="1371600"/>
            <a:ext cx="3566160" cy="2560320"/>
          </a:xfrm>
          <a:prstGeom prst="roundRect">
            <a:avLst>
              <a:gd name="adj" fmla="val 4286"/>
            </a:avLst>
          </a:prstGeom>
          <a:solidFill>
            <a:srgbClr val="E5F4EC"/>
          </a:solidFill>
          <a:ln w="12700">
            <a:solidFill>
              <a:srgbClr val="E5F4EC"/>
            </a:solidFill>
            <a:prstDash val="solid"/>
          </a:ln>
        </p:spPr>
      </p:sp>
      <p:sp>
        <p:nvSpPr>
          <p:cNvPr id="12" name="Shape 8"/>
          <p:cNvSpPr/>
          <p:nvPr/>
        </p:nvSpPr>
        <p:spPr>
          <a:xfrm>
            <a:off x="4526280" y="1600200"/>
            <a:ext cx="548640" cy="548640"/>
          </a:xfrm>
          <a:prstGeom prst="ellipse">
            <a:avLst/>
          </a:prstGeom>
          <a:solidFill>
            <a:srgbClr val="2E9E6B"/>
          </a:solidFill>
          <a:ln w="12700">
            <a:solidFill>
              <a:srgbClr val="2E9E6B"/>
            </a:solidFill>
            <a:prstDash val="solid"/>
          </a:ln>
        </p:spPr>
      </p:sp>
      <p:pic>
        <p:nvPicPr>
          <p:cNvPr id="13" name="Image 1" descr="preencoded.png">    </p:cNvPr>
          <p:cNvPicPr>
            <a:picLocks noChangeAspect="1"/>
          </p:cNvPicPr>
          <p:nvPr/>
        </p:nvPicPr>
        <p:blipFill>
          <a:blip r:embed="rId2"/>
          <a:stretch>
            <a:fillRect/>
          </a:stretch>
        </p:blipFill>
        <p:spPr>
          <a:xfrm>
            <a:off x="4663440" y="1737360"/>
            <a:ext cx="274320" cy="274320"/>
          </a:xfrm>
          <a:prstGeom prst="rect">
            <a:avLst/>
          </a:prstGeom>
        </p:spPr>
      </p:pic>
      <p:sp>
        <p:nvSpPr>
          <p:cNvPr id="14" name="Text 9"/>
          <p:cNvSpPr txBox="1"/>
          <p:nvPr/>
        </p:nvSpPr>
        <p:spPr>
          <a:xfrm>
            <a:off x="5257800" y="160020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Il role</a:t>
            </a:r>
            <a:endParaRPr lang="en-US" sz="1800" dirty="0"/>
          </a:p>
        </p:txBody>
      </p:sp>
      <p:sp>
        <p:nvSpPr>
          <p:cNvPr id="15" name="Text 10"/>
          <p:cNvSpPr txBox="1"/>
          <p:nvPr/>
        </p:nvSpPr>
        <p:spPr>
          <a:xfrm>
            <a:off x="4526280" y="2286000"/>
            <a:ext cx="3108960" cy="146304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con AmazonSSMManagedInstanceCore</a:t>
            </a:r>
            <a:endParaRPr lang="en-US" sz="1600" dirty="0"/>
          </a:p>
        </p:txBody>
      </p:sp>
      <p:sp>
        <p:nvSpPr>
          <p:cNvPr id="16" name="Text 11"/>
          <p:cNvSpPr txBox="1"/>
          <p:nvPr/>
        </p:nvSpPr>
        <p:spPr>
          <a:xfrm>
            <a:off x="4297680" y="3429000"/>
            <a:ext cx="3566160" cy="411480"/>
          </a:xfrm>
          <a:prstGeom prst="rect">
            <a:avLst/>
          </a:prstGeom>
          <a:noFill/>
          <a:ln/>
        </p:spPr>
        <p:txBody>
          <a:bodyPr wrap="square" lIns="0" tIns="0" rIns="0" bIns="0" rtlCol="0" anchor="ctr"/>
          <a:lstStyle/>
          <a:p>
            <a:pPr algn="ctr" indent="0" marL="0">
              <a:buNone/>
            </a:pPr>
            <a:r>
              <a:rPr lang="en-US" sz="1600" b="1" dirty="0">
                <a:solidFill>
                  <a:srgbClr val="2E9E6B"/>
                </a:solidFill>
                <a:latin typeface="Calibri" pitchFamily="34" charset="0"/>
                <a:ea typeface="Calibri" pitchFamily="34" charset="-122"/>
                <a:cs typeface="Calibri" pitchFamily="34" charset="-120"/>
              </a:rPr>
              <a:t>✓ lo creiamo oggi</a:t>
            </a:r>
            <a:endParaRPr lang="en-US" sz="1600" dirty="0"/>
          </a:p>
        </p:txBody>
      </p:sp>
      <p:sp>
        <p:nvSpPr>
          <p:cNvPr id="17" name="Shape 12"/>
          <p:cNvSpPr/>
          <p:nvPr/>
        </p:nvSpPr>
        <p:spPr>
          <a:xfrm>
            <a:off x="8046720" y="1371600"/>
            <a:ext cx="3566160" cy="2560320"/>
          </a:xfrm>
          <a:prstGeom prst="roundRect">
            <a:avLst>
              <a:gd name="adj" fmla="val 4286"/>
            </a:avLst>
          </a:prstGeom>
          <a:solidFill>
            <a:srgbClr val="E5F4EC"/>
          </a:solidFill>
          <a:ln w="12700">
            <a:solidFill>
              <a:srgbClr val="E5F4EC"/>
            </a:solidFill>
            <a:prstDash val="solid"/>
          </a:ln>
        </p:spPr>
      </p:sp>
      <p:sp>
        <p:nvSpPr>
          <p:cNvPr id="18" name="Shape 13"/>
          <p:cNvSpPr/>
          <p:nvPr/>
        </p:nvSpPr>
        <p:spPr>
          <a:xfrm>
            <a:off x="8275320" y="1600200"/>
            <a:ext cx="548640" cy="548640"/>
          </a:xfrm>
          <a:prstGeom prst="ellipse">
            <a:avLst/>
          </a:prstGeom>
          <a:solidFill>
            <a:srgbClr val="2E9E6B"/>
          </a:solidFill>
          <a:ln w="12700">
            <a:solidFill>
              <a:srgbClr val="2E9E6B"/>
            </a:solidFill>
            <a:prstDash val="solid"/>
          </a:ln>
        </p:spPr>
      </p:sp>
      <p:pic>
        <p:nvPicPr>
          <p:cNvPr id="19" name="Image 2" descr="preencoded.png">    </p:cNvPr>
          <p:cNvPicPr>
            <a:picLocks noChangeAspect="1"/>
          </p:cNvPicPr>
          <p:nvPr/>
        </p:nvPicPr>
        <p:blipFill>
          <a:blip r:embed="rId3"/>
          <a:stretch>
            <a:fillRect/>
          </a:stretch>
        </p:blipFill>
        <p:spPr>
          <a:xfrm>
            <a:off x="8412480" y="1737360"/>
            <a:ext cx="274320" cy="274320"/>
          </a:xfrm>
          <a:prstGeom prst="rect">
            <a:avLst/>
          </a:prstGeom>
        </p:spPr>
      </p:pic>
      <p:sp>
        <p:nvSpPr>
          <p:cNvPr id="20" name="Text 14"/>
          <p:cNvSpPr txBox="1"/>
          <p:nvPr/>
        </p:nvSpPr>
        <p:spPr>
          <a:xfrm>
            <a:off x="9006840" y="1600200"/>
            <a:ext cx="237744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L'uscita sulla 443</a:t>
            </a:r>
            <a:endParaRPr lang="en-US" sz="1800" dirty="0"/>
          </a:p>
        </p:txBody>
      </p:sp>
      <p:sp>
        <p:nvSpPr>
          <p:cNvPr id="21" name="Text 15"/>
          <p:cNvSpPr txBox="1"/>
          <p:nvPr/>
        </p:nvSpPr>
        <p:spPr>
          <a:xfrm>
            <a:off x="8275320" y="2286000"/>
            <a:ext cx="3108960" cy="1463040"/>
          </a:xfrm>
          <a:prstGeom prst="rect">
            <a:avLst/>
          </a:prstGeom>
          <a:noFill/>
          <a:ln/>
        </p:spPr>
        <p:txBody>
          <a:bodyPr wrap="square" lIns="0" tIns="0" rIns="0" bIns="0" rtlCol="0" anchor="t"/>
          <a:lstStyle/>
          <a:p>
            <a:pPr indent="0" marL="0">
              <a:spcAft>
                <a:spcPts val="600"/>
              </a:spcAft>
              <a:buNone/>
            </a:pPr>
            <a:r>
              <a:rPr lang="en-US" sz="1600" dirty="0">
                <a:solidFill>
                  <a:srgbClr val="22253A"/>
                </a:solidFill>
                <a:latin typeface="Calibri" pitchFamily="34" charset="0"/>
                <a:ea typeface="Calibri" pitchFamily="34" charset="-122"/>
                <a:cs typeface="Calibri" pitchFamily="34" charset="-120"/>
              </a:rPr>
              <a:t>SG app (lezione 3) + NAT (lezione 2)</a:t>
            </a:r>
            <a:endParaRPr lang="en-US" sz="1600" dirty="0"/>
          </a:p>
        </p:txBody>
      </p:sp>
      <p:sp>
        <p:nvSpPr>
          <p:cNvPr id="22" name="Text 16"/>
          <p:cNvSpPr txBox="1"/>
          <p:nvPr/>
        </p:nvSpPr>
        <p:spPr>
          <a:xfrm>
            <a:off x="8046720" y="3429000"/>
            <a:ext cx="3566160" cy="411480"/>
          </a:xfrm>
          <a:prstGeom prst="rect">
            <a:avLst/>
          </a:prstGeom>
          <a:noFill/>
          <a:ln/>
        </p:spPr>
        <p:txBody>
          <a:bodyPr wrap="square" lIns="0" tIns="0" rIns="0" bIns="0" rtlCol="0" anchor="ctr"/>
          <a:lstStyle/>
          <a:p>
            <a:pPr algn="ctr" indent="0" marL="0">
              <a:buNone/>
            </a:pPr>
            <a:r>
              <a:rPr lang="en-US" sz="1600" b="1" dirty="0">
                <a:solidFill>
                  <a:srgbClr val="2E9E6B"/>
                </a:solidFill>
                <a:latin typeface="Calibri" pitchFamily="34" charset="0"/>
                <a:ea typeface="Calibri" pitchFamily="34" charset="-122"/>
                <a:cs typeface="Calibri" pitchFamily="34" charset="-120"/>
              </a:rPr>
              <a:t>✓ c'è già</a:t>
            </a:r>
            <a:endParaRPr lang="en-US" sz="1600" dirty="0"/>
          </a:p>
        </p:txBody>
      </p:sp>
      <p:sp>
        <p:nvSpPr>
          <p:cNvPr id="23" name="Shape 17"/>
          <p:cNvSpPr/>
          <p:nvPr/>
        </p:nvSpPr>
        <p:spPr>
          <a:xfrm>
            <a:off x="548640" y="4343400"/>
            <a:ext cx="11094415" cy="1005840"/>
          </a:xfrm>
          <a:prstGeom prst="roundRect">
            <a:avLst>
              <a:gd name="adj" fmla="val 9091"/>
            </a:avLst>
          </a:prstGeom>
          <a:solidFill>
            <a:srgbClr val="FDF0E3"/>
          </a:solidFill>
          <a:ln w="12700">
            <a:solidFill>
              <a:srgbClr val="FDF0E3"/>
            </a:solidFill>
            <a:prstDash val="solid"/>
          </a:ln>
        </p:spPr>
      </p:sp>
      <p:sp>
        <p:nvSpPr>
          <p:cNvPr id="24" name="Text 18"/>
          <p:cNvSpPr txBox="1"/>
          <p:nvPr/>
        </p:nvSpPr>
        <p:spPr>
          <a:xfrm>
            <a:off x="822960" y="4343400"/>
            <a:ext cx="10545775" cy="1005840"/>
          </a:xfrm>
          <a:prstGeom prst="rect">
            <a:avLst/>
          </a:prstGeom>
          <a:noFill/>
          <a:ln/>
        </p:spPr>
        <p:txBody>
          <a:bodyPr wrap="square" lIns="0" tIns="0" rIns="0" bIns="0" rtlCol="0" anchor="ctr"/>
          <a:lstStyle/>
          <a:p>
            <a:pPr algn="l" indent="0" marL="0">
              <a:buNone/>
            </a:pPr>
            <a:r>
              <a:rPr lang="en-US" sz="1900" b="1" dirty="0">
                <a:solidFill>
                  <a:srgbClr val="22253A"/>
                </a:solidFill>
                <a:latin typeface="Calibri" pitchFamily="34" charset="0"/>
                <a:ea typeface="Calibri" pitchFamily="34" charset="-122"/>
                <a:cs typeface="Calibri" pitchFamily="34" charset="-120"/>
              </a:rPr>
              <a:t>SSM per i comandi sul server. Per aprire l'applicazione dal tuo browser serve la VPN (lezione 5).</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Due impostazioni di sicurezza in più</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EC2: il server</a:t>
            </a:r>
            <a:endParaRPr lang="en-US" sz="1000" dirty="0"/>
          </a:p>
        </p:txBody>
      </p:sp>
      <p:sp>
        <p:nvSpPr>
          <p:cNvPr id="5" name="Shape 2"/>
          <p:cNvSpPr/>
          <p:nvPr/>
        </p:nvSpPr>
        <p:spPr>
          <a:xfrm>
            <a:off x="548640" y="1371600"/>
            <a:ext cx="5440680" cy="3108960"/>
          </a:xfrm>
          <a:prstGeom prst="roundRect">
            <a:avLst>
              <a:gd name="adj" fmla="val 3529"/>
            </a:avLst>
          </a:prstGeom>
          <a:solidFill>
            <a:srgbClr val="EEEAFB"/>
          </a:solidFill>
          <a:ln w="12700">
            <a:solidFill>
              <a:srgbClr val="EEEAFB"/>
            </a:solidFill>
            <a:prstDash val="solid"/>
          </a:ln>
        </p:spPr>
      </p:sp>
      <p:sp>
        <p:nvSpPr>
          <p:cNvPr id="6" name="Shape 3"/>
          <p:cNvSpPr/>
          <p:nvPr/>
        </p:nvSpPr>
        <p:spPr>
          <a:xfrm>
            <a:off x="777240" y="1600200"/>
            <a:ext cx="548640" cy="548640"/>
          </a:xfrm>
          <a:prstGeom prst="ellipse">
            <a:avLst/>
          </a:prstGeom>
          <a:solidFill>
            <a:srgbClr val="5B3FD0"/>
          </a:solidFill>
          <a:ln w="12700">
            <a:solidFill>
              <a:srgbClr val="5B3FD0"/>
            </a:solidFill>
            <a:prstDash val="solid"/>
          </a:ln>
        </p:spPr>
      </p:sp>
      <p:pic>
        <p:nvPicPr>
          <p:cNvPr id="7" name="Image 0" descr="preencoded.png">    </p:cNvPr>
          <p:cNvPicPr>
            <a:picLocks noChangeAspect="1"/>
          </p:cNvPicPr>
          <p:nvPr/>
        </p:nvPicPr>
        <p:blipFill>
          <a:blip r:embed="rId1"/>
          <a:stretch>
            <a:fillRect/>
          </a:stretch>
        </p:blipFill>
        <p:spPr>
          <a:xfrm>
            <a:off x="914400" y="1737360"/>
            <a:ext cx="274320" cy="274320"/>
          </a:xfrm>
          <a:prstGeom prst="rect">
            <a:avLst/>
          </a:prstGeom>
        </p:spPr>
      </p:pic>
      <p:sp>
        <p:nvSpPr>
          <p:cNvPr id="8" name="Text 4"/>
          <p:cNvSpPr txBox="1"/>
          <p:nvPr/>
        </p:nvSpPr>
        <p:spPr>
          <a:xfrm>
            <a:off x="1508760" y="160020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Disco cifrato</a:t>
            </a:r>
            <a:endParaRPr lang="en-US" sz="1800" dirty="0"/>
          </a:p>
        </p:txBody>
      </p:sp>
      <p:sp>
        <p:nvSpPr>
          <p:cNvPr id="9" name="Text 5"/>
          <p:cNvSpPr txBox="1"/>
          <p:nvPr/>
        </p:nvSpPr>
        <p:spPr>
          <a:xfrm>
            <a:off x="777240" y="2286000"/>
            <a:ext cx="4983480" cy="201168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Il disco del server (volume EBS) è cifrato</a:t>
            </a:r>
            <a:endParaRPr lang="en-US" sz="1700" dirty="0"/>
          </a:p>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Una copia rubata non si può leggere</a:t>
            </a:r>
            <a:endParaRPr lang="en-US" sz="1700" dirty="0"/>
          </a:p>
          <a:p>
            <a:pPr marL="342900" indent="-342900">
              <a:spcAft>
                <a:spcPts val="600"/>
              </a:spcAft>
              <a:buSzPct val="100000"/>
              <a:buChar char="•"/>
            </a:pPr>
            <a:r>
              <a:rPr lang="en-US" sz="1700" dirty="0">
                <a:solidFill>
                  <a:srgbClr val="22253A"/>
                </a:solidFill>
                <a:latin typeface="Calibri" pitchFamily="34" charset="0"/>
                <a:ea typeface="Calibri" pitchFamily="34" charset="-122"/>
                <a:cs typeface="Calibri" pitchFamily="34" charset="-120"/>
              </a:rPr>
              <a:t>Non costa niente in più</a:t>
            </a:r>
            <a:endParaRPr lang="en-US" sz="1700" dirty="0"/>
          </a:p>
        </p:txBody>
      </p:sp>
      <p:sp>
        <p:nvSpPr>
          <p:cNvPr id="10" name="Shape 6"/>
          <p:cNvSpPr/>
          <p:nvPr/>
        </p:nvSpPr>
        <p:spPr>
          <a:xfrm>
            <a:off x="6172200" y="1371600"/>
            <a:ext cx="5468112" cy="3108960"/>
          </a:xfrm>
          <a:prstGeom prst="roundRect">
            <a:avLst>
              <a:gd name="adj" fmla="val 3529"/>
            </a:avLst>
          </a:prstGeom>
          <a:solidFill>
            <a:srgbClr val="FDF0E3"/>
          </a:solidFill>
          <a:ln w="12700">
            <a:solidFill>
              <a:srgbClr val="FDF0E3"/>
            </a:solidFill>
            <a:prstDash val="solid"/>
          </a:ln>
        </p:spPr>
      </p:sp>
      <p:sp>
        <p:nvSpPr>
          <p:cNvPr id="11" name="Shape 7"/>
          <p:cNvSpPr/>
          <p:nvPr/>
        </p:nvSpPr>
        <p:spPr>
          <a:xfrm>
            <a:off x="6400800" y="1600200"/>
            <a:ext cx="548640" cy="548640"/>
          </a:xfrm>
          <a:prstGeom prst="ellipse">
            <a:avLst/>
          </a:prstGeom>
          <a:solidFill>
            <a:srgbClr val="F28C28"/>
          </a:solidFill>
          <a:ln w="12700">
            <a:solidFill>
              <a:srgbClr val="F28C28"/>
            </a:solidFill>
            <a:prstDash val="solid"/>
          </a:ln>
        </p:spPr>
      </p:sp>
      <p:pic>
        <p:nvPicPr>
          <p:cNvPr id="12" name="Image 1" descr="preencoded.png">    </p:cNvPr>
          <p:cNvPicPr>
            <a:picLocks noChangeAspect="1"/>
          </p:cNvPicPr>
          <p:nvPr/>
        </p:nvPicPr>
        <p:blipFill>
          <a:blip r:embed="rId2"/>
          <a:stretch>
            <a:fillRect/>
          </a:stretch>
        </p:blipFill>
        <p:spPr>
          <a:xfrm>
            <a:off x="6537960" y="1737360"/>
            <a:ext cx="274320" cy="274320"/>
          </a:xfrm>
          <a:prstGeom prst="rect">
            <a:avLst/>
          </a:prstGeom>
        </p:spPr>
      </p:pic>
      <p:sp>
        <p:nvSpPr>
          <p:cNvPr id="13" name="Text 8"/>
          <p:cNvSpPr txBox="1"/>
          <p:nvPr/>
        </p:nvSpPr>
        <p:spPr>
          <a:xfrm>
            <a:off x="7132320" y="160020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IMDSv2 obbligatorio</a:t>
            </a:r>
            <a:endParaRPr lang="en-US" sz="1800" dirty="0"/>
          </a:p>
        </p:txBody>
      </p:sp>
      <p:sp>
        <p:nvSpPr>
          <p:cNvPr id="14" name="Text 9"/>
          <p:cNvSpPr txBox="1"/>
          <p:nvPr/>
        </p:nvSpPr>
        <p:spPr>
          <a:xfrm>
            <a:off x="6400800" y="2286000"/>
            <a:ext cx="5010912" cy="20116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Il server chiede a un indirizzo interno chi è e le credenziali del role</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La versione 2 vuole un "biglietto" a ogni richiesta</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Protegge le credenziali del role dai furti</a:t>
            </a:r>
            <a:endParaRPr lang="en-US" sz="1600" dirty="0"/>
          </a:p>
        </p:txBody>
      </p:sp>
      <p:sp>
        <p:nvSpPr>
          <p:cNvPr id="15" name="Shape 10"/>
          <p:cNvSpPr/>
          <p:nvPr/>
        </p:nvSpPr>
        <p:spPr>
          <a:xfrm>
            <a:off x="548640" y="4754880"/>
            <a:ext cx="11094415" cy="1188720"/>
          </a:xfrm>
          <a:prstGeom prst="roundRect">
            <a:avLst>
              <a:gd name="adj" fmla="val 6154"/>
            </a:avLst>
          </a:prstGeom>
          <a:solidFill>
            <a:srgbClr val="1E1E2E"/>
          </a:solidFill>
          <a:ln w="12700">
            <a:solidFill>
              <a:srgbClr val="1E1E2E"/>
            </a:solidFill>
            <a:prstDash val="solid"/>
          </a:ln>
        </p:spPr>
      </p:sp>
      <p:sp>
        <p:nvSpPr>
          <p:cNvPr id="16" name="Text 11"/>
          <p:cNvSpPr txBox="1"/>
          <p:nvPr/>
        </p:nvSpPr>
        <p:spPr>
          <a:xfrm>
            <a:off x="731520" y="482803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ec2.tf</a:t>
            </a:r>
            <a:endParaRPr lang="en-US" sz="1300" dirty="0"/>
          </a:p>
        </p:txBody>
      </p:sp>
      <p:sp>
        <p:nvSpPr>
          <p:cNvPr id="17" name="Text 12"/>
          <p:cNvSpPr txBox="1"/>
          <p:nvPr/>
        </p:nvSpPr>
        <p:spPr>
          <a:xfrm>
            <a:off x="731520" y="5166360"/>
            <a:ext cx="10728655" cy="640080"/>
          </a:xfrm>
          <a:prstGeom prst="rect">
            <a:avLst/>
          </a:prstGeom>
          <a:noFill/>
          <a:ln/>
        </p:spPr>
        <p:txBody>
          <a:bodyPr wrap="square" lIns="0" tIns="0" rIns="0" bIns="0" rtlCol="0" anchor="t"/>
          <a:lstStyle/>
          <a:p>
            <a:pPr indent="0" marL="0">
              <a:buNone/>
            </a:pPr>
            <a:r>
              <a:rPr lang="en-US" sz="1600" dirty="0">
                <a:solidFill>
                  <a:srgbClr val="E6E6F0"/>
                </a:solidFill>
                <a:latin typeface="Courier New" pitchFamily="34" charset="0"/>
                <a:ea typeface="Courier New" pitchFamily="34" charset="-122"/>
                <a:cs typeface="Courier New" pitchFamily="34" charset="-120"/>
              </a:rPr>
              <a:t>root_block_device { encrypted = true }</a:t>
            </a:r>
            <a:endParaRPr lang="en-US" sz="1600" dirty="0"/>
          </a:p>
          <a:p>
            <a:pPr indent="0" marL="0">
              <a:buNone/>
            </a:pPr>
            <a:r>
              <a:rPr lang="en-US" sz="1600" dirty="0">
                <a:solidFill>
                  <a:srgbClr val="E6E6F0"/>
                </a:solidFill>
                <a:latin typeface="Courier New" pitchFamily="34" charset="0"/>
                <a:ea typeface="Courier New" pitchFamily="34" charset="-122"/>
                <a:cs typeface="Courier New" pitchFamily="34" charset="-120"/>
              </a:rPr>
              <a:t>metadata_options  { http_tokens = "required" }   </a:t>
            </a:r>
            <a:pPr indent="0" marL="0">
              <a:buNone/>
            </a:pPr>
            <a:r>
              <a:rPr lang="en-US" sz="1600" dirty="0">
                <a:solidFill>
                  <a:srgbClr val="8FD694"/>
                </a:solidFill>
                <a:latin typeface="Courier New" pitchFamily="34" charset="0"/>
                <a:ea typeface="Courier New" pitchFamily="34" charset="-122"/>
                <a:cs typeface="Courier New" pitchFamily="34" charset="-120"/>
              </a:rPr>
              <a:t># IMDSv2</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In Terraform: il role e l'instance profile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EC2: il server</a:t>
            </a:r>
            <a:endParaRPr lang="en-US" sz="1000" dirty="0"/>
          </a:p>
        </p:txBody>
      </p:sp>
      <p:sp>
        <p:nvSpPr>
          <p:cNvPr id="5" name="Shape 2"/>
          <p:cNvSpPr/>
          <p:nvPr/>
        </p:nvSpPr>
        <p:spPr>
          <a:xfrm>
            <a:off x="548640" y="1280160"/>
            <a:ext cx="11094415" cy="4983480"/>
          </a:xfrm>
          <a:prstGeom prst="roundRect">
            <a:avLst>
              <a:gd name="adj" fmla="val 1468"/>
            </a:avLst>
          </a:prstGeom>
          <a:solidFill>
            <a:srgbClr val="1E1E2E"/>
          </a:solidFill>
          <a:ln w="12700">
            <a:solidFill>
              <a:srgbClr val="1E1E2E"/>
            </a:solidFill>
            <a:prstDash val="solid"/>
          </a:ln>
        </p:spPr>
      </p:sp>
      <p:sp>
        <p:nvSpPr>
          <p:cNvPr id="6" name="Text 3"/>
          <p:cNvSpPr txBox="1"/>
          <p:nvPr/>
        </p:nvSpPr>
        <p:spPr>
          <a:xfrm>
            <a:off x="731520" y="135331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ec2.tf</a:t>
            </a:r>
            <a:endParaRPr lang="en-US" sz="1300" dirty="0"/>
          </a:p>
        </p:txBody>
      </p:sp>
      <p:sp>
        <p:nvSpPr>
          <p:cNvPr id="7" name="Text 4"/>
          <p:cNvSpPr txBox="1"/>
          <p:nvPr/>
        </p:nvSpPr>
        <p:spPr>
          <a:xfrm>
            <a:off x="731520" y="1691640"/>
            <a:ext cx="10728655" cy="4434840"/>
          </a:xfrm>
          <a:prstGeom prst="rect">
            <a:avLst/>
          </a:prstGeom>
          <a:noFill/>
          <a:ln/>
        </p:spPr>
        <p:txBody>
          <a:bodyPr wrap="square" lIns="0" tIns="0" rIns="0" bIns="0" rtlCol="0" anchor="t"/>
          <a:lstStyle/>
          <a:p>
            <a:pPr indent="0" marL="0">
              <a:buNone/>
            </a:pPr>
            <a:r>
              <a:rPr lang="en-US" sz="1400" dirty="0">
                <a:solidFill>
                  <a:srgbClr val="E6E6F0"/>
                </a:solidFill>
                <a:latin typeface="Courier New" pitchFamily="34" charset="0"/>
                <a:ea typeface="Courier New" pitchFamily="34" charset="-122"/>
                <a:cs typeface="Courier New" pitchFamily="34" charset="-120"/>
              </a:rPr>
              <a:t>data "aws_iam_policy_document" "ec2_trust" {</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  statement {</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    actions = ["sts:AssumeRole"]</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    principals {</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      type        = "Service"</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      identifiers = ["ec2.amazonaws.com"]     </a:t>
            </a:r>
            <a:pPr indent="0" marL="0">
              <a:buNone/>
            </a:pPr>
            <a:r>
              <a:rPr lang="en-US" sz="1400" dirty="0">
                <a:solidFill>
                  <a:srgbClr val="8FD694"/>
                </a:solidFill>
                <a:latin typeface="Courier New" pitchFamily="34" charset="0"/>
                <a:ea typeface="Courier New" pitchFamily="34" charset="-122"/>
                <a:cs typeface="Courier New" pitchFamily="34" charset="-120"/>
              </a:rPr>
              <a:t># il servizio EC2</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resource "aws_iam_role" "app" {</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  name               = "${var.project}-app-server"</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  assume_role_policy = data.aws_iam_policy_document.ec2_trust.json</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resource "aws_iam_role_policy_attachment" "app_ssm" {</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  role       = aws_iam_role.app.name</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  policy_arn = "arn:aws:iam::aws:policy/AmazonSSMManagedInstanceCore"</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resource "aws_iam_instance_profile" "app" {</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  name = "${var.project}-app-server"</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  role = aws_iam_role.app.name                 </a:t>
            </a:r>
            <a:pPr indent="0" marL="0">
              <a:buNone/>
            </a:pPr>
            <a:r>
              <a:rPr lang="en-US" sz="1400" dirty="0">
                <a:solidFill>
                  <a:srgbClr val="8FD694"/>
                </a:solidFill>
                <a:latin typeface="Courier New" pitchFamily="34" charset="0"/>
                <a:ea typeface="Courier New" pitchFamily="34" charset="-122"/>
                <a:cs typeface="Courier New" pitchFamily="34" charset="-120"/>
              </a:rPr>
              <a:t># il porta-badge</a:t>
            </a:r>
            <a:endParaRPr lang="en-US" sz="1400" dirty="0"/>
          </a:p>
          <a:p>
            <a:pPr indent="0" marL="0">
              <a:buNone/>
            </a:pPr>
            <a:r>
              <a:rPr lang="en-US" sz="1400" dirty="0">
                <a:solidFill>
                  <a:srgbClr val="E6E6F0"/>
                </a:solidFill>
                <a:latin typeface="Courier New" pitchFamily="34" charset="0"/>
                <a:ea typeface="Courier New" pitchFamily="34" charset="-122"/>
                <a:cs typeface="Courier New" pitchFamily="34" charset="-120"/>
              </a:rPr>
              <a:t>}</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In Terraform: il server</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EC2: il server</a:t>
            </a:r>
            <a:endParaRPr lang="en-US" sz="1000" dirty="0"/>
          </a:p>
        </p:txBody>
      </p:sp>
      <p:sp>
        <p:nvSpPr>
          <p:cNvPr id="5" name="Shape 2"/>
          <p:cNvSpPr/>
          <p:nvPr/>
        </p:nvSpPr>
        <p:spPr>
          <a:xfrm>
            <a:off x="548640" y="1280160"/>
            <a:ext cx="11094415" cy="3886200"/>
          </a:xfrm>
          <a:prstGeom prst="roundRect">
            <a:avLst>
              <a:gd name="adj" fmla="val 1882"/>
            </a:avLst>
          </a:prstGeom>
          <a:solidFill>
            <a:srgbClr val="1E1E2E"/>
          </a:solidFill>
          <a:ln w="12700">
            <a:solidFill>
              <a:srgbClr val="1E1E2E"/>
            </a:solidFill>
            <a:prstDash val="solid"/>
          </a:ln>
        </p:spPr>
      </p:sp>
      <p:sp>
        <p:nvSpPr>
          <p:cNvPr id="6" name="Text 3"/>
          <p:cNvSpPr txBox="1"/>
          <p:nvPr/>
        </p:nvSpPr>
        <p:spPr>
          <a:xfrm>
            <a:off x="731520" y="135331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ec2.tf</a:t>
            </a:r>
            <a:endParaRPr lang="en-US" sz="1300" dirty="0"/>
          </a:p>
        </p:txBody>
      </p:sp>
      <p:sp>
        <p:nvSpPr>
          <p:cNvPr id="7" name="Text 4"/>
          <p:cNvSpPr txBox="1"/>
          <p:nvPr/>
        </p:nvSpPr>
        <p:spPr>
          <a:xfrm>
            <a:off x="731520" y="1691640"/>
            <a:ext cx="10728655" cy="3337560"/>
          </a:xfrm>
          <a:prstGeom prst="rect">
            <a:avLst/>
          </a:prstGeom>
          <a:noFill/>
          <a:ln/>
        </p:spPr>
        <p:txBody>
          <a:bodyPr wrap="square" lIns="0" tIns="0" rIns="0" bIns="0" rtlCol="0" anchor="t"/>
          <a:lstStyle/>
          <a:p>
            <a:pPr indent="0" marL="0">
              <a:buNone/>
            </a:pPr>
            <a:r>
              <a:rPr lang="en-US" sz="1500" dirty="0">
                <a:solidFill>
                  <a:srgbClr val="E6E6F0"/>
                </a:solidFill>
                <a:latin typeface="Courier New" pitchFamily="34" charset="0"/>
                <a:ea typeface="Courier New" pitchFamily="34" charset="-122"/>
                <a:cs typeface="Courier New" pitchFamily="34" charset="-120"/>
              </a:rPr>
              <a:t>resource "aws_instance" "app"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ami                    = data.aws_ssm_parameter.al2023.insecure_value</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instance_type          = var.instance_type                     </a:t>
            </a:r>
            <a:pPr indent="0" marL="0">
              <a:buNone/>
            </a:pPr>
            <a:r>
              <a:rPr lang="en-US" sz="1500" dirty="0">
                <a:solidFill>
                  <a:srgbClr val="8FD694"/>
                </a:solidFill>
                <a:latin typeface="Courier New" pitchFamily="34" charset="0"/>
                <a:ea typeface="Courier New" pitchFamily="34" charset="-122"/>
                <a:cs typeface="Courier New" pitchFamily="34" charset="-120"/>
              </a:rPr>
              <a:t># t4g.micro</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subnet_id              = aws_subnet.private[local.azs[0]].id   </a:t>
            </a:r>
            <a:pPr indent="0" marL="0">
              <a:buNone/>
            </a:pPr>
            <a:r>
              <a:rPr lang="en-US" sz="1500" dirty="0">
                <a:solidFill>
                  <a:srgbClr val="8FD694"/>
                </a:solidFill>
                <a:latin typeface="Courier New" pitchFamily="34" charset="0"/>
                <a:ea typeface="Courier New" pitchFamily="34" charset="-122"/>
                <a:cs typeface="Courier New" pitchFamily="34" charset="-120"/>
              </a:rPr>
              <a:t># subnet privata</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vpc_security_group_ids = [aws_security_group.app.id]           </a:t>
            </a:r>
            <a:pPr indent="0" marL="0">
              <a:buNone/>
            </a:pPr>
            <a:r>
              <a:rPr lang="en-US" sz="1500" dirty="0">
                <a:solidFill>
                  <a:srgbClr val="8FD694"/>
                </a:solidFill>
                <a:latin typeface="Courier New" pitchFamily="34" charset="0"/>
                <a:ea typeface="Courier New" pitchFamily="34" charset="-122"/>
                <a:cs typeface="Courier New" pitchFamily="34" charset="-120"/>
              </a:rPr>
              <a:t># lezione 3</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iam_instance_profile   = aws_iam_instance_profile.app.name     </a:t>
            </a:r>
            <a:pPr indent="0" marL="0">
              <a:buNone/>
            </a:pPr>
            <a:r>
              <a:rPr lang="en-US" sz="1500" dirty="0">
                <a:solidFill>
                  <a:srgbClr val="8FD694"/>
                </a:solidFill>
                <a:latin typeface="Courier New" pitchFamily="34" charset="0"/>
                <a:ea typeface="Courier New" pitchFamily="34" charset="-122"/>
                <a:cs typeface="Courier New" pitchFamily="34" charset="-120"/>
              </a:rPr>
              <a:t># il porta-badge</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associate_public_ip_address = false                            </a:t>
            </a:r>
            <a:pPr indent="0" marL="0">
              <a:buNone/>
            </a:pPr>
            <a:r>
              <a:rPr lang="en-US" sz="1500" dirty="0">
                <a:solidFill>
                  <a:srgbClr val="8FD694"/>
                </a:solidFill>
                <a:latin typeface="Courier New" pitchFamily="34" charset="0"/>
                <a:ea typeface="Courier New" pitchFamily="34" charset="-122"/>
                <a:cs typeface="Courier New" pitchFamily="34" charset="-120"/>
              </a:rPr>
              <a:t># nessun IP pubblico</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root_block_device { encrypted = true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metadata_options  { http_tokens = "required"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a:t>
            </a:r>
            <a:pPr indent="0" marL="0">
              <a:buNone/>
            </a:pPr>
            <a:r>
              <a:rPr lang="en-US" sz="1500" dirty="0">
                <a:solidFill>
                  <a:srgbClr val="8FD694"/>
                </a:solidFill>
                <a:latin typeface="Courier New" pitchFamily="34" charset="0"/>
                <a:ea typeface="Courier New" pitchFamily="34" charset="-122"/>
                <a:cs typeface="Courier New" pitchFamily="34" charset="-120"/>
              </a:rPr>
              <a:t># nessun key_name: nessuna chiave SSH</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a:t>
            </a:r>
            <a:endParaRPr lang="en-US" sz="1500" dirty="0"/>
          </a:p>
        </p:txBody>
      </p:sp>
      <p:sp>
        <p:nvSpPr>
          <p:cNvPr id="8" name="Shape 5"/>
          <p:cNvSpPr/>
          <p:nvPr/>
        </p:nvSpPr>
        <p:spPr>
          <a:xfrm>
            <a:off x="548640" y="5349240"/>
            <a:ext cx="11094415" cy="777240"/>
          </a:xfrm>
          <a:prstGeom prst="roundRect">
            <a:avLst>
              <a:gd name="adj" fmla="val 11765"/>
            </a:avLst>
          </a:prstGeom>
          <a:solidFill>
            <a:srgbClr val="FDF0E3"/>
          </a:solidFill>
          <a:ln w="12700">
            <a:solidFill>
              <a:srgbClr val="FDF0E3"/>
            </a:solidFill>
            <a:prstDash val="solid"/>
          </a:ln>
        </p:spPr>
      </p:sp>
      <p:sp>
        <p:nvSpPr>
          <p:cNvPr id="9" name="Text 6"/>
          <p:cNvSpPr txBox="1"/>
          <p:nvPr/>
        </p:nvSpPr>
        <p:spPr>
          <a:xfrm>
            <a:off x="822960" y="5349240"/>
            <a:ext cx="10545775" cy="777240"/>
          </a:xfrm>
          <a:prstGeom prst="rect">
            <a:avLst/>
          </a:prstGeom>
          <a:noFill/>
          <a:ln/>
        </p:spPr>
        <p:txBody>
          <a:bodyPr wrap="square" lIns="0" tIns="0" rIns="0" bIns="0" rtlCol="0" anchor="ctr"/>
          <a:lstStyle/>
          <a:p>
            <a:pPr algn="l" indent="0" marL="0">
              <a:buNone/>
            </a:pPr>
            <a:r>
              <a:rPr lang="en-US" sz="1800" b="1" dirty="0">
                <a:solidFill>
                  <a:srgbClr val="22253A"/>
                </a:solidFill>
                <a:latin typeface="Calibri" pitchFamily="34" charset="0"/>
                <a:ea typeface="Calibri" pitchFamily="34" charset="-122"/>
                <a:cs typeface="Calibri" pitchFamily="34" charset="-120"/>
              </a:rPr>
              <a:t>Nota cosa MANCA: key_name. Nessuna chiave SSH, perché per entrare usiamo SSM.</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In Terraform: lo script del primo avvio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EC2: il server</a:t>
            </a:r>
            <a:endParaRPr lang="en-US" sz="1000" dirty="0"/>
          </a:p>
        </p:txBody>
      </p:sp>
      <p:sp>
        <p:nvSpPr>
          <p:cNvPr id="5" name="Shape 2"/>
          <p:cNvSpPr/>
          <p:nvPr/>
        </p:nvSpPr>
        <p:spPr>
          <a:xfrm>
            <a:off x="548640" y="1280160"/>
            <a:ext cx="11094415" cy="3520440"/>
          </a:xfrm>
          <a:prstGeom prst="roundRect">
            <a:avLst>
              <a:gd name="adj" fmla="val 2078"/>
            </a:avLst>
          </a:prstGeom>
          <a:solidFill>
            <a:srgbClr val="1E1E2E"/>
          </a:solidFill>
          <a:ln w="12700">
            <a:solidFill>
              <a:srgbClr val="1E1E2E"/>
            </a:solidFill>
            <a:prstDash val="solid"/>
          </a:ln>
        </p:spPr>
      </p:sp>
      <p:sp>
        <p:nvSpPr>
          <p:cNvPr id="6" name="Text 3"/>
          <p:cNvSpPr txBox="1"/>
          <p:nvPr/>
        </p:nvSpPr>
        <p:spPr>
          <a:xfrm>
            <a:off x="731520" y="135331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ec2.tf · dentro aws_instance.app</a:t>
            </a:r>
            <a:endParaRPr lang="en-US" sz="1300" dirty="0"/>
          </a:p>
        </p:txBody>
      </p:sp>
      <p:sp>
        <p:nvSpPr>
          <p:cNvPr id="7" name="Text 4"/>
          <p:cNvSpPr txBox="1"/>
          <p:nvPr/>
        </p:nvSpPr>
        <p:spPr>
          <a:xfrm>
            <a:off x="731520" y="1691640"/>
            <a:ext cx="10728655" cy="2971800"/>
          </a:xfrm>
          <a:prstGeom prst="rect">
            <a:avLst/>
          </a:prstGeom>
          <a:noFill/>
          <a:ln/>
        </p:spPr>
        <p:txBody>
          <a:bodyPr wrap="square" lIns="0" tIns="0" rIns="0" bIns="0" rtlCol="0" anchor="t"/>
          <a:lstStyle/>
          <a:p>
            <a:pPr indent="0" marL="0">
              <a:buNone/>
            </a:pPr>
            <a:r>
              <a:rPr lang="en-US" sz="1500" dirty="0">
                <a:solidFill>
                  <a:srgbClr val="E6E6F0"/>
                </a:solidFill>
                <a:latin typeface="Courier New" pitchFamily="34" charset="0"/>
                <a:ea typeface="Courier New" pitchFamily="34" charset="-122"/>
                <a:cs typeface="Courier New" pitchFamily="34" charset="-120"/>
              </a:rPr>
              <a:t>user_data_replace_on_change = true          </a:t>
            </a:r>
            <a:pPr indent="0" marL="0">
              <a:buNone/>
            </a:pPr>
            <a:r>
              <a:rPr lang="en-US" sz="1500" dirty="0">
                <a:solidFill>
                  <a:srgbClr val="8FD694"/>
                </a:solidFill>
                <a:latin typeface="Courier New" pitchFamily="34" charset="0"/>
                <a:ea typeface="Courier New" pitchFamily="34" charset="-122"/>
                <a:cs typeface="Courier New" pitchFamily="34" charset="-120"/>
              </a:rPr>
              <a:t># script cambiato → server ricreato</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user_data = &lt;&lt;-EOF</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a:t>
            </a:r>
            <a:pPr indent="0" marL="0">
              <a:buNone/>
            </a:pPr>
            <a:r>
              <a:rPr lang="en-US" sz="1500" dirty="0">
                <a:solidFill>
                  <a:srgbClr val="8FD694"/>
                </a:solidFill>
                <a:latin typeface="Courier New" pitchFamily="34" charset="0"/>
                <a:ea typeface="Courier New" pitchFamily="34" charset="-122"/>
                <a:cs typeface="Courier New" pitchFamily="34" charset="-120"/>
              </a:rPr>
              <a:t>#!/bin/bash</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mkdir -p /opt/app</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echo "&lt;h1&gt;Ciao dal server di ${var.project}&lt;/h1&gt;" &gt; /opt/app/index.html</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a:t>
            </a:r>
            <a:pPr indent="0" marL="0">
              <a:buNone/>
            </a:pPr>
            <a:r>
              <a:rPr lang="en-US" sz="1500" dirty="0">
                <a:solidFill>
                  <a:srgbClr val="8FD694"/>
                </a:solidFill>
                <a:latin typeface="Courier New" pitchFamily="34" charset="0"/>
                <a:ea typeface="Courier New" pitchFamily="34" charset="-122"/>
                <a:cs typeface="Courier New" pitchFamily="34" charset="-120"/>
              </a:rPr>
              <a:t># … crea il servizio "app":</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a:t>
            </a:r>
            <a:pPr indent="0" marL="0">
              <a:buNone/>
            </a:pPr>
            <a:r>
              <a:rPr lang="en-US" sz="1500" dirty="0">
                <a:solidFill>
                  <a:srgbClr val="8FD694"/>
                </a:solidFill>
                <a:latin typeface="Courier New" pitchFamily="34" charset="0"/>
                <a:ea typeface="Courier New" pitchFamily="34" charset="-122"/>
                <a:cs typeface="Courier New" pitchFamily="34" charset="-120"/>
              </a:rPr>
              <a:t>#   python3 -m http.server 8080 --directory /opt/app</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systemctl daemon-reload</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  systemctl enable --now app                 </a:t>
            </a:r>
            <a:pPr indent="0" marL="0">
              <a:buNone/>
            </a:pPr>
            <a:r>
              <a:rPr lang="en-US" sz="1500" dirty="0">
                <a:solidFill>
                  <a:srgbClr val="8FD694"/>
                </a:solidFill>
                <a:latin typeface="Courier New" pitchFamily="34" charset="0"/>
                <a:ea typeface="Courier New" pitchFamily="34" charset="-122"/>
                <a:cs typeface="Courier New" pitchFamily="34" charset="-120"/>
              </a:rPr>
              <a:t># avvialo, anche dopo i riavvii</a:t>
            </a:r>
            <a:endParaRPr lang="en-US" sz="1500" dirty="0"/>
          </a:p>
          <a:p>
            <a:pPr indent="0" marL="0">
              <a:buNone/>
            </a:pPr>
            <a:r>
              <a:rPr lang="en-US" sz="1500" dirty="0">
                <a:solidFill>
                  <a:srgbClr val="E6E6F0"/>
                </a:solidFill>
                <a:latin typeface="Courier New" pitchFamily="34" charset="0"/>
                <a:ea typeface="Courier New" pitchFamily="34" charset="-122"/>
                <a:cs typeface="Courier New" pitchFamily="34" charset="-120"/>
              </a:rPr>
              <a:t>EOF</a:t>
            </a:r>
            <a:endParaRPr lang="en-US" sz="1500" dirty="0"/>
          </a:p>
        </p:txBody>
      </p:sp>
      <p:sp>
        <p:nvSpPr>
          <p:cNvPr id="8" name="Shape 5"/>
          <p:cNvSpPr/>
          <p:nvPr/>
        </p:nvSpPr>
        <p:spPr>
          <a:xfrm>
            <a:off x="548640" y="4983480"/>
            <a:ext cx="5440680" cy="1234440"/>
          </a:xfrm>
          <a:prstGeom prst="roundRect">
            <a:avLst>
              <a:gd name="adj" fmla="val 8889"/>
            </a:avLst>
          </a:prstGeom>
          <a:solidFill>
            <a:srgbClr val="EEEAFB"/>
          </a:solidFill>
          <a:ln w="12700">
            <a:solidFill>
              <a:srgbClr val="EEEAFB"/>
            </a:solidFill>
            <a:prstDash val="solid"/>
          </a:ln>
        </p:spPr>
      </p:sp>
      <p:sp>
        <p:nvSpPr>
          <p:cNvPr id="9" name="Shape 6"/>
          <p:cNvSpPr/>
          <p:nvPr/>
        </p:nvSpPr>
        <p:spPr>
          <a:xfrm>
            <a:off x="777240" y="5212080"/>
            <a:ext cx="548640" cy="548640"/>
          </a:xfrm>
          <a:prstGeom prst="ellipse">
            <a:avLst/>
          </a:prstGeom>
          <a:solidFill>
            <a:srgbClr val="5B3FD0"/>
          </a:solidFill>
          <a:ln w="12700">
            <a:solidFill>
              <a:srgbClr val="5B3FD0"/>
            </a:solidFill>
            <a:prstDash val="solid"/>
          </a:ln>
        </p:spPr>
      </p:sp>
      <p:pic>
        <p:nvPicPr>
          <p:cNvPr id="10" name="Image 0" descr="preencoded.png">    </p:cNvPr>
          <p:cNvPicPr>
            <a:picLocks noChangeAspect="1"/>
          </p:cNvPicPr>
          <p:nvPr/>
        </p:nvPicPr>
        <p:blipFill>
          <a:blip r:embed="rId1"/>
          <a:stretch>
            <a:fillRect/>
          </a:stretch>
        </p:blipFill>
        <p:spPr>
          <a:xfrm>
            <a:off x="914400" y="5349240"/>
            <a:ext cx="274320" cy="274320"/>
          </a:xfrm>
          <a:prstGeom prst="rect">
            <a:avLst/>
          </a:prstGeom>
        </p:spPr>
      </p:pic>
      <p:sp>
        <p:nvSpPr>
          <p:cNvPr id="11" name="Text 7"/>
          <p:cNvSpPr txBox="1"/>
          <p:nvPr/>
        </p:nvSpPr>
        <p:spPr>
          <a:xfrm>
            <a:off x="1508760" y="521208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&lt;&lt;-EOF … EOF</a:t>
            </a:r>
            <a:endParaRPr lang="en-US" sz="1800" dirty="0"/>
          </a:p>
        </p:txBody>
      </p:sp>
      <p:sp>
        <p:nvSpPr>
          <p:cNvPr id="12" name="Text 8"/>
          <p:cNvSpPr txBox="1"/>
          <p:nvPr/>
        </p:nvSpPr>
        <p:spPr>
          <a:xfrm>
            <a:off x="777240" y="5897880"/>
            <a:ext cx="4983480" cy="13716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un testo su più righe (heredoc)</a:t>
            </a:r>
            <a:endParaRPr lang="en-US" sz="1500" dirty="0"/>
          </a:p>
        </p:txBody>
      </p:sp>
      <p:sp>
        <p:nvSpPr>
          <p:cNvPr id="13" name="Shape 9"/>
          <p:cNvSpPr/>
          <p:nvPr/>
        </p:nvSpPr>
        <p:spPr>
          <a:xfrm>
            <a:off x="6172200" y="4983480"/>
            <a:ext cx="5468112" cy="1234440"/>
          </a:xfrm>
          <a:prstGeom prst="roundRect">
            <a:avLst>
              <a:gd name="adj" fmla="val 8889"/>
            </a:avLst>
          </a:prstGeom>
          <a:solidFill>
            <a:srgbClr val="FDF0E3"/>
          </a:solidFill>
          <a:ln w="12700">
            <a:solidFill>
              <a:srgbClr val="FDF0E3"/>
            </a:solidFill>
            <a:prstDash val="solid"/>
          </a:ln>
        </p:spPr>
      </p:sp>
      <p:sp>
        <p:nvSpPr>
          <p:cNvPr id="14" name="Shape 10"/>
          <p:cNvSpPr/>
          <p:nvPr/>
        </p:nvSpPr>
        <p:spPr>
          <a:xfrm>
            <a:off x="6400800" y="5212080"/>
            <a:ext cx="548640" cy="548640"/>
          </a:xfrm>
          <a:prstGeom prst="ellipse">
            <a:avLst/>
          </a:prstGeom>
          <a:solidFill>
            <a:srgbClr val="F28C28"/>
          </a:solidFill>
          <a:ln w="12700">
            <a:solidFill>
              <a:srgbClr val="F28C28"/>
            </a:solidFill>
            <a:prstDash val="solid"/>
          </a:ln>
        </p:spPr>
      </p:sp>
      <p:pic>
        <p:nvPicPr>
          <p:cNvPr id="15" name="Image 1" descr="preencoded.png">    </p:cNvPr>
          <p:cNvPicPr>
            <a:picLocks noChangeAspect="1"/>
          </p:cNvPicPr>
          <p:nvPr/>
        </p:nvPicPr>
        <p:blipFill>
          <a:blip r:embed="rId2"/>
          <a:stretch>
            <a:fillRect/>
          </a:stretch>
        </p:blipFill>
        <p:spPr>
          <a:xfrm>
            <a:off x="6537960" y="5349240"/>
            <a:ext cx="274320" cy="274320"/>
          </a:xfrm>
          <a:prstGeom prst="rect">
            <a:avLst/>
          </a:prstGeom>
        </p:spPr>
      </p:pic>
      <p:sp>
        <p:nvSpPr>
          <p:cNvPr id="16" name="Text 11"/>
          <p:cNvSpPr txBox="1"/>
          <p:nvPr/>
        </p:nvSpPr>
        <p:spPr>
          <a:xfrm>
            <a:off x="7132320" y="521208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${var.project}</a:t>
            </a:r>
            <a:endParaRPr lang="en-US" sz="1800" dirty="0"/>
          </a:p>
        </p:txBody>
      </p:sp>
      <p:sp>
        <p:nvSpPr>
          <p:cNvPr id="17" name="Text 12"/>
          <p:cNvSpPr txBox="1"/>
          <p:nvPr/>
        </p:nvSpPr>
        <p:spPr>
          <a:xfrm>
            <a:off x="6400800" y="5897880"/>
            <a:ext cx="5010912" cy="137160"/>
          </a:xfrm>
          <a:prstGeom prst="rect">
            <a:avLst/>
          </a:prstGeom>
          <a:noFill/>
          <a:ln/>
        </p:spPr>
        <p:txBody>
          <a:bodyPr wrap="square" lIns="0" tIns="0" rIns="0" bIns="0" rtlCol="0" anchor="t"/>
          <a:lstStyle/>
          <a:p>
            <a:pPr indent="0" marL="0">
              <a:spcAft>
                <a:spcPts val="600"/>
              </a:spcAft>
              <a:buNone/>
            </a:pPr>
            <a:r>
              <a:rPr lang="en-US" sz="1500" dirty="0">
                <a:solidFill>
                  <a:srgbClr val="22253A"/>
                </a:solidFill>
                <a:latin typeface="Calibri" pitchFamily="34" charset="0"/>
                <a:ea typeface="Calibri" pitchFamily="34" charset="-122"/>
                <a:cs typeface="Calibri" pitchFamily="34" charset="-120"/>
              </a:rPr>
              <a:t>lo sostituisce Terraform, prima di passare lo script al server</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Un dettaglio importante: ignore_changes = [ami]</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EC2: il server</a:t>
            </a:r>
            <a:endParaRPr lang="en-US" sz="1000" dirty="0"/>
          </a:p>
        </p:txBody>
      </p:sp>
      <p:sp>
        <p:nvSpPr>
          <p:cNvPr id="5" name="Shape 2"/>
          <p:cNvSpPr/>
          <p:nvPr/>
        </p:nvSpPr>
        <p:spPr>
          <a:xfrm>
            <a:off x="548640" y="1371600"/>
            <a:ext cx="5440680" cy="2743200"/>
          </a:xfrm>
          <a:prstGeom prst="roundRect">
            <a:avLst>
              <a:gd name="adj" fmla="val 4000"/>
            </a:avLst>
          </a:prstGeom>
          <a:solidFill>
            <a:srgbClr val="FBE9E9"/>
          </a:solidFill>
          <a:ln w="12700">
            <a:solidFill>
              <a:srgbClr val="FBE9E9"/>
            </a:solidFill>
            <a:prstDash val="solid"/>
          </a:ln>
        </p:spPr>
      </p:sp>
      <p:sp>
        <p:nvSpPr>
          <p:cNvPr id="6" name="Shape 3"/>
          <p:cNvSpPr/>
          <p:nvPr/>
        </p:nvSpPr>
        <p:spPr>
          <a:xfrm>
            <a:off x="777240" y="1600200"/>
            <a:ext cx="548640" cy="548640"/>
          </a:xfrm>
          <a:prstGeom prst="ellipse">
            <a:avLst/>
          </a:prstGeom>
          <a:solidFill>
            <a:srgbClr val="D64545"/>
          </a:solidFill>
          <a:ln w="12700">
            <a:solidFill>
              <a:srgbClr val="D64545"/>
            </a:solidFill>
            <a:prstDash val="solid"/>
          </a:ln>
        </p:spPr>
      </p:sp>
      <p:pic>
        <p:nvPicPr>
          <p:cNvPr id="7" name="Image 0" descr="preencoded.png">    </p:cNvPr>
          <p:cNvPicPr>
            <a:picLocks noChangeAspect="1"/>
          </p:cNvPicPr>
          <p:nvPr/>
        </p:nvPicPr>
        <p:blipFill>
          <a:blip r:embed="rId1"/>
          <a:stretch>
            <a:fillRect/>
          </a:stretch>
        </p:blipFill>
        <p:spPr>
          <a:xfrm>
            <a:off x="914400" y="1737360"/>
            <a:ext cx="274320" cy="274320"/>
          </a:xfrm>
          <a:prstGeom prst="rect">
            <a:avLst/>
          </a:prstGeom>
        </p:spPr>
      </p:pic>
      <p:sp>
        <p:nvSpPr>
          <p:cNvPr id="8" name="Text 4"/>
          <p:cNvSpPr txBox="1"/>
          <p:nvPr/>
        </p:nvSpPr>
        <p:spPr>
          <a:xfrm>
            <a:off x="1508760" y="1600200"/>
            <a:ext cx="4251960"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Senza ignore_changes</a:t>
            </a:r>
            <a:endParaRPr lang="en-US" sz="1800" dirty="0"/>
          </a:p>
        </p:txBody>
      </p:sp>
      <p:sp>
        <p:nvSpPr>
          <p:cNvPr id="9" name="Text 5"/>
          <p:cNvSpPr txBox="1"/>
          <p:nvPr/>
        </p:nvSpPr>
        <p:spPr>
          <a:xfrm>
            <a:off x="777240" y="2286000"/>
            <a:ext cx="4983480" cy="16459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Esce una nuova AMI → il parametro cambia</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Il plan propone -/+: il server verrebbe RICREATO</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Una sorpresa, ogni poche settimane</a:t>
            </a:r>
            <a:endParaRPr lang="en-US" sz="1600" dirty="0"/>
          </a:p>
        </p:txBody>
      </p:sp>
      <p:sp>
        <p:nvSpPr>
          <p:cNvPr id="10" name="Shape 6"/>
          <p:cNvSpPr/>
          <p:nvPr/>
        </p:nvSpPr>
        <p:spPr>
          <a:xfrm>
            <a:off x="6172200" y="1371600"/>
            <a:ext cx="5468112" cy="2743200"/>
          </a:xfrm>
          <a:prstGeom prst="roundRect">
            <a:avLst>
              <a:gd name="adj" fmla="val 4000"/>
            </a:avLst>
          </a:prstGeom>
          <a:solidFill>
            <a:srgbClr val="E5F4EC"/>
          </a:solidFill>
          <a:ln w="12700">
            <a:solidFill>
              <a:srgbClr val="E5F4EC"/>
            </a:solidFill>
            <a:prstDash val="solid"/>
          </a:ln>
        </p:spPr>
      </p:sp>
      <p:sp>
        <p:nvSpPr>
          <p:cNvPr id="11" name="Shape 7"/>
          <p:cNvSpPr/>
          <p:nvPr/>
        </p:nvSpPr>
        <p:spPr>
          <a:xfrm>
            <a:off x="6400800" y="1600200"/>
            <a:ext cx="548640" cy="548640"/>
          </a:xfrm>
          <a:prstGeom prst="ellipse">
            <a:avLst/>
          </a:prstGeom>
          <a:solidFill>
            <a:srgbClr val="2E9E6B"/>
          </a:solidFill>
          <a:ln w="12700">
            <a:solidFill>
              <a:srgbClr val="2E9E6B"/>
            </a:solidFill>
            <a:prstDash val="solid"/>
          </a:ln>
        </p:spPr>
      </p:sp>
      <p:pic>
        <p:nvPicPr>
          <p:cNvPr id="12" name="Image 1" descr="preencoded.png">    </p:cNvPr>
          <p:cNvPicPr>
            <a:picLocks noChangeAspect="1"/>
          </p:cNvPicPr>
          <p:nvPr/>
        </p:nvPicPr>
        <p:blipFill>
          <a:blip r:embed="rId2"/>
          <a:stretch>
            <a:fillRect/>
          </a:stretch>
        </p:blipFill>
        <p:spPr>
          <a:xfrm>
            <a:off x="6537960" y="1737360"/>
            <a:ext cx="274320" cy="274320"/>
          </a:xfrm>
          <a:prstGeom prst="rect">
            <a:avLst/>
          </a:prstGeom>
        </p:spPr>
      </p:pic>
      <p:sp>
        <p:nvSpPr>
          <p:cNvPr id="13" name="Text 8"/>
          <p:cNvSpPr txBox="1"/>
          <p:nvPr/>
        </p:nvSpPr>
        <p:spPr>
          <a:xfrm>
            <a:off x="7132320" y="1600200"/>
            <a:ext cx="4279392" cy="54864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Con ignore_changes = [ami]</a:t>
            </a:r>
            <a:endParaRPr lang="en-US" sz="1800" dirty="0"/>
          </a:p>
        </p:txBody>
      </p:sp>
      <p:sp>
        <p:nvSpPr>
          <p:cNvPr id="14" name="Text 9"/>
          <p:cNvSpPr txBox="1"/>
          <p:nvPr/>
        </p:nvSpPr>
        <p:spPr>
          <a:xfrm>
            <a:off x="6400800" y="2286000"/>
            <a:ext cx="5010912" cy="16459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L'AMI nuova si usa solo per server nuovi</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Il server esistente non viene toccato</a:t>
            </a:r>
            <a:endParaRPr lang="en-US" sz="1600" dirty="0"/>
          </a:p>
          <a:p>
            <a:pPr marL="342900" indent="-342900">
              <a:spcAft>
                <a:spcPts val="600"/>
              </a:spcAft>
              <a:buSzPct val="100000"/>
              <a:buChar char="•"/>
            </a:pPr>
            <a:r>
              <a:rPr lang="en-US" sz="1600" dirty="0">
                <a:solidFill>
                  <a:srgbClr val="22253A"/>
                </a:solidFill>
                <a:latin typeface="Calibri" pitchFamily="34" charset="0"/>
                <a:ea typeface="Calibri" pitchFamily="34" charset="-122"/>
                <a:cs typeface="Calibri" pitchFamily="34" charset="-120"/>
              </a:rPr>
              <a:t>Aggiornare diventa una scelta tua</a:t>
            </a:r>
            <a:endParaRPr lang="en-US" sz="1600" dirty="0"/>
          </a:p>
        </p:txBody>
      </p:sp>
      <p:sp>
        <p:nvSpPr>
          <p:cNvPr id="15" name="Shape 10"/>
          <p:cNvSpPr/>
          <p:nvPr/>
        </p:nvSpPr>
        <p:spPr>
          <a:xfrm>
            <a:off x="548640" y="4389120"/>
            <a:ext cx="11094415" cy="1463040"/>
          </a:xfrm>
          <a:prstGeom prst="roundRect">
            <a:avLst>
              <a:gd name="adj" fmla="val 5000"/>
            </a:avLst>
          </a:prstGeom>
          <a:solidFill>
            <a:srgbClr val="1E1E2E"/>
          </a:solidFill>
          <a:ln w="12700">
            <a:solidFill>
              <a:srgbClr val="1E1E2E"/>
            </a:solidFill>
            <a:prstDash val="solid"/>
          </a:ln>
        </p:spPr>
      </p:sp>
      <p:sp>
        <p:nvSpPr>
          <p:cNvPr id="16" name="Text 11"/>
          <p:cNvSpPr txBox="1"/>
          <p:nvPr/>
        </p:nvSpPr>
        <p:spPr>
          <a:xfrm>
            <a:off x="731520" y="4462272"/>
            <a:ext cx="10728655" cy="274320"/>
          </a:xfrm>
          <a:prstGeom prst="rect">
            <a:avLst/>
          </a:prstGeom>
          <a:noFill/>
          <a:ln/>
        </p:spPr>
        <p:txBody>
          <a:bodyPr wrap="square" lIns="0" tIns="0" rIns="0" bIns="0" rtlCol="0" anchor="t"/>
          <a:lstStyle/>
          <a:p>
            <a:pPr indent="0" marL="0">
              <a:buNone/>
            </a:pPr>
            <a:r>
              <a:rPr lang="en-US" sz="1300" b="1" dirty="0">
                <a:solidFill>
                  <a:srgbClr val="F2B880"/>
                </a:solidFill>
                <a:latin typeface="Calibri" pitchFamily="34" charset="0"/>
                <a:ea typeface="Calibri" pitchFamily="34" charset="-122"/>
                <a:cs typeface="Calibri" pitchFamily="34" charset="-120"/>
              </a:rPr>
              <a:t>ec2.tf · dentro aws_instance.app</a:t>
            </a:r>
            <a:endParaRPr lang="en-US" sz="1300" dirty="0"/>
          </a:p>
        </p:txBody>
      </p:sp>
      <p:sp>
        <p:nvSpPr>
          <p:cNvPr id="17" name="Text 12"/>
          <p:cNvSpPr txBox="1"/>
          <p:nvPr/>
        </p:nvSpPr>
        <p:spPr>
          <a:xfrm>
            <a:off x="731520" y="4800600"/>
            <a:ext cx="10728655" cy="914400"/>
          </a:xfrm>
          <a:prstGeom prst="rect">
            <a:avLst/>
          </a:prstGeom>
          <a:noFill/>
          <a:ln/>
        </p:spPr>
        <p:txBody>
          <a:bodyPr wrap="square" lIns="0" tIns="0" rIns="0" bIns="0" rtlCol="0" anchor="t"/>
          <a:lstStyle/>
          <a:p>
            <a:pPr indent="0" marL="0">
              <a:buNone/>
            </a:pPr>
            <a:r>
              <a:rPr lang="en-US" sz="1800" dirty="0">
                <a:solidFill>
                  <a:srgbClr val="E6E6F0"/>
                </a:solidFill>
                <a:latin typeface="Courier New" pitchFamily="34" charset="0"/>
                <a:ea typeface="Courier New" pitchFamily="34" charset="-122"/>
                <a:cs typeface="Courier New" pitchFamily="34" charset="-120"/>
              </a:rPr>
              <a:t>lifecycle {</a:t>
            </a:r>
            <a:endParaRPr lang="en-US" sz="1800" dirty="0"/>
          </a:p>
          <a:p>
            <a:pPr indent="0" marL="0">
              <a:buNone/>
            </a:pPr>
            <a:r>
              <a:rPr lang="en-US" sz="1800" dirty="0">
                <a:solidFill>
                  <a:srgbClr val="E6E6F0"/>
                </a:solidFill>
                <a:latin typeface="Courier New" pitchFamily="34" charset="0"/>
                <a:ea typeface="Courier New" pitchFamily="34" charset="-122"/>
                <a:cs typeface="Courier New" pitchFamily="34" charset="-120"/>
              </a:rPr>
              <a:t>  ignore_changes = [ami]</a:t>
            </a:r>
            <a:endParaRPr lang="en-US" sz="1800" dirty="0"/>
          </a:p>
          <a:p>
            <a:pPr indent="0" marL="0">
              <a:buNone/>
            </a:pPr>
            <a:r>
              <a:rPr lang="en-US" sz="1800" dirty="0">
                <a:solidFill>
                  <a:srgbClr val="E6E6F0"/>
                </a:solidFill>
                <a:latin typeface="Courier New" pitchFamily="34" charset="0"/>
                <a:ea typeface="Courier New" pitchFamily="34" charset="-122"/>
                <a:cs typeface="Courier New" pitchFamily="34" charset="-120"/>
              </a:rPr>
              <a:t>}</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Esercizio (1/2): crea il server ed entra</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EC2: il server</a:t>
            </a:r>
            <a:endParaRPr lang="en-US" sz="1000" dirty="0"/>
          </a:p>
        </p:txBody>
      </p:sp>
      <p:sp>
        <p:nvSpPr>
          <p:cNvPr id="5" name="Shape 2"/>
          <p:cNvSpPr/>
          <p:nvPr/>
        </p:nvSpPr>
        <p:spPr>
          <a:xfrm>
            <a:off x="548640" y="1508760"/>
            <a:ext cx="640080" cy="640080"/>
          </a:xfrm>
          <a:prstGeom prst="ellipse">
            <a:avLst/>
          </a:prstGeom>
          <a:solidFill>
            <a:srgbClr val="5B3FD0"/>
          </a:solidFill>
          <a:ln w="12700">
            <a:solidFill>
              <a:srgbClr val="5B3FD0"/>
            </a:solidFill>
            <a:prstDash val="solid"/>
          </a:ln>
        </p:spPr>
      </p:sp>
      <p:sp>
        <p:nvSpPr>
          <p:cNvPr id="6" name="Text 3"/>
          <p:cNvSpPr txBox="1"/>
          <p:nvPr/>
        </p:nvSpPr>
        <p:spPr>
          <a:xfrm>
            <a:off x="548640" y="150876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7" name="Text 4"/>
          <p:cNvSpPr txBox="1"/>
          <p:nvPr/>
        </p:nvSpPr>
        <p:spPr>
          <a:xfrm>
            <a:off x="1371600" y="1325880"/>
            <a:ext cx="10180015" cy="91440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terraform plan, poi apply</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In console EC2 → Instances: il server ha un indirizzo pubblico? (atteso: no, solo 10.20.10.x)</a:t>
            </a:r>
            <a:endParaRPr lang="en-US" sz="1800" dirty="0"/>
          </a:p>
        </p:txBody>
      </p:sp>
      <p:sp>
        <p:nvSpPr>
          <p:cNvPr id="8" name="Shape 5"/>
          <p:cNvSpPr/>
          <p:nvPr/>
        </p:nvSpPr>
        <p:spPr>
          <a:xfrm>
            <a:off x="548640" y="2560320"/>
            <a:ext cx="640080" cy="640080"/>
          </a:xfrm>
          <a:prstGeom prst="ellipse">
            <a:avLst/>
          </a:prstGeom>
          <a:solidFill>
            <a:srgbClr val="5B3FD0"/>
          </a:solidFill>
          <a:ln w="12700">
            <a:solidFill>
              <a:srgbClr val="5B3FD0"/>
            </a:solidFill>
            <a:prstDash val="solid"/>
          </a:ln>
        </p:spPr>
      </p:sp>
      <p:sp>
        <p:nvSpPr>
          <p:cNvPr id="9" name="Text 6"/>
          <p:cNvSpPr txBox="1"/>
          <p:nvPr/>
        </p:nvSpPr>
        <p:spPr>
          <a:xfrm>
            <a:off x="548640" y="256032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0" name="Text 7"/>
          <p:cNvSpPr txBox="1"/>
          <p:nvPr/>
        </p:nvSpPr>
        <p:spPr>
          <a:xfrm>
            <a:off x="1371600" y="2377440"/>
            <a:ext cx="10180015" cy="91440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Entra con SSM</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Console: istanza → Connect → Session Manager · oppure: aws ssm start-session --target &lt;id&gt;</a:t>
            </a:r>
            <a:endParaRPr lang="en-US" sz="1800" dirty="0"/>
          </a:p>
        </p:txBody>
      </p:sp>
      <p:sp>
        <p:nvSpPr>
          <p:cNvPr id="11" name="Shape 8"/>
          <p:cNvSpPr/>
          <p:nvPr/>
        </p:nvSpPr>
        <p:spPr>
          <a:xfrm>
            <a:off x="548640" y="3611880"/>
            <a:ext cx="640080" cy="640080"/>
          </a:xfrm>
          <a:prstGeom prst="ellipse">
            <a:avLst/>
          </a:prstGeom>
          <a:solidFill>
            <a:srgbClr val="5B3FD0"/>
          </a:solidFill>
          <a:ln w="12700">
            <a:solidFill>
              <a:srgbClr val="5B3FD0"/>
            </a:solidFill>
            <a:prstDash val="solid"/>
          </a:ln>
        </p:spPr>
      </p:sp>
      <p:sp>
        <p:nvSpPr>
          <p:cNvPr id="12" name="Text 9"/>
          <p:cNvSpPr txBox="1"/>
          <p:nvPr/>
        </p:nvSpPr>
        <p:spPr>
          <a:xfrm>
            <a:off x="548640" y="361188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13" name="Text 10"/>
          <p:cNvSpPr txBox="1"/>
          <p:nvPr/>
        </p:nvSpPr>
        <p:spPr>
          <a:xfrm>
            <a:off x="1371600" y="3429000"/>
            <a:ext cx="10180015" cy="91440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curl http://localhost:8080</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Atteso: &lt;h1&gt;Ciao dal server di corso-aws&lt;/h1&gt; · e systemctl status app</a:t>
            </a:r>
            <a:endParaRPr lang="en-US" sz="1800" dirty="0"/>
          </a:p>
        </p:txBody>
      </p:sp>
      <p:sp>
        <p:nvSpPr>
          <p:cNvPr id="14" name="Shape 11"/>
          <p:cNvSpPr/>
          <p:nvPr/>
        </p:nvSpPr>
        <p:spPr>
          <a:xfrm>
            <a:off x="548640" y="4663440"/>
            <a:ext cx="640080" cy="640080"/>
          </a:xfrm>
          <a:prstGeom prst="ellipse">
            <a:avLst/>
          </a:prstGeom>
          <a:solidFill>
            <a:srgbClr val="5B3FD0"/>
          </a:solidFill>
          <a:ln w="12700">
            <a:solidFill>
              <a:srgbClr val="5B3FD0"/>
            </a:solidFill>
            <a:prstDash val="solid"/>
          </a:ln>
        </p:spPr>
      </p:sp>
      <p:sp>
        <p:nvSpPr>
          <p:cNvPr id="15" name="Text 12"/>
          <p:cNvSpPr txBox="1"/>
          <p:nvPr/>
        </p:nvSpPr>
        <p:spPr>
          <a:xfrm>
            <a:off x="548640" y="466344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a:t>
            </a:r>
            <a:endParaRPr lang="en-US" sz="1900" dirty="0"/>
          </a:p>
        </p:txBody>
      </p:sp>
      <p:sp>
        <p:nvSpPr>
          <p:cNvPr id="16" name="Text 13"/>
          <p:cNvSpPr txBox="1"/>
          <p:nvPr/>
        </p:nvSpPr>
        <p:spPr>
          <a:xfrm>
            <a:off x="1371600" y="4480560"/>
            <a:ext cx="10180015" cy="91440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aws sts get-caller-identity (dal server)</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Atteso: assumed-role/corso-aws-app-server/i-… · credenziali che nessuno ha scritto</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Esercizio (2/2): firewall, user_data, registro</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EC2: il server</a:t>
            </a:r>
            <a:endParaRPr lang="en-US" sz="1000" dirty="0"/>
          </a:p>
        </p:txBody>
      </p:sp>
      <p:sp>
        <p:nvSpPr>
          <p:cNvPr id="5" name="Shape 2"/>
          <p:cNvSpPr/>
          <p:nvPr/>
        </p:nvSpPr>
        <p:spPr>
          <a:xfrm>
            <a:off x="548640" y="1508760"/>
            <a:ext cx="640080" cy="640080"/>
          </a:xfrm>
          <a:prstGeom prst="ellipse">
            <a:avLst/>
          </a:prstGeom>
          <a:solidFill>
            <a:srgbClr val="5B3FD0"/>
          </a:solidFill>
          <a:ln w="12700">
            <a:solidFill>
              <a:srgbClr val="5B3FD0"/>
            </a:solidFill>
            <a:prstDash val="solid"/>
          </a:ln>
        </p:spPr>
      </p:sp>
      <p:sp>
        <p:nvSpPr>
          <p:cNvPr id="6" name="Text 3"/>
          <p:cNvSpPr txBox="1"/>
          <p:nvPr/>
        </p:nvSpPr>
        <p:spPr>
          <a:xfrm>
            <a:off x="548640" y="150876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5</a:t>
            </a:r>
            <a:endParaRPr lang="en-US" sz="1900" dirty="0"/>
          </a:p>
        </p:txBody>
      </p:sp>
      <p:sp>
        <p:nvSpPr>
          <p:cNvPr id="7" name="Text 4"/>
          <p:cNvSpPr txBox="1"/>
          <p:nvPr/>
        </p:nvSpPr>
        <p:spPr>
          <a:xfrm>
            <a:off x="1371600" y="1325880"/>
            <a:ext cx="10180015" cy="91440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curl https://… (443)  e  curl http://… (80)</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La prima risponde, la seconda scade: il SG app esce solo sulla 443 (lezione 3)</a:t>
            </a:r>
            <a:endParaRPr lang="en-US" sz="1800" dirty="0"/>
          </a:p>
        </p:txBody>
      </p:sp>
      <p:sp>
        <p:nvSpPr>
          <p:cNvPr id="8" name="Shape 5"/>
          <p:cNvSpPr/>
          <p:nvPr/>
        </p:nvSpPr>
        <p:spPr>
          <a:xfrm>
            <a:off x="548640" y="2560320"/>
            <a:ext cx="640080" cy="640080"/>
          </a:xfrm>
          <a:prstGeom prst="ellipse">
            <a:avLst/>
          </a:prstGeom>
          <a:solidFill>
            <a:srgbClr val="5B3FD0"/>
          </a:solidFill>
          <a:ln w="12700">
            <a:solidFill>
              <a:srgbClr val="5B3FD0"/>
            </a:solidFill>
            <a:prstDash val="solid"/>
          </a:ln>
        </p:spPr>
      </p:sp>
      <p:sp>
        <p:nvSpPr>
          <p:cNvPr id="9" name="Text 6"/>
          <p:cNvSpPr txBox="1"/>
          <p:nvPr/>
        </p:nvSpPr>
        <p:spPr>
          <a:xfrm>
            <a:off x="548640" y="256032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6</a:t>
            </a:r>
            <a:endParaRPr lang="en-US" sz="1900" dirty="0"/>
          </a:p>
        </p:txBody>
      </p:sp>
      <p:sp>
        <p:nvSpPr>
          <p:cNvPr id="10" name="Text 7"/>
          <p:cNvSpPr txBox="1"/>
          <p:nvPr/>
        </p:nvSpPr>
        <p:spPr>
          <a:xfrm>
            <a:off x="1371600" y="2377440"/>
            <a:ext cx="10180015" cy="91440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Cambia il testo nel user_data, poi plan</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Atteso: -/+, il server viene ricreato. Applica e ricontrolla la pagina</a:t>
            </a:r>
            <a:endParaRPr lang="en-US" sz="1800" dirty="0"/>
          </a:p>
        </p:txBody>
      </p:sp>
      <p:sp>
        <p:nvSpPr>
          <p:cNvPr id="11" name="Shape 8"/>
          <p:cNvSpPr/>
          <p:nvPr/>
        </p:nvSpPr>
        <p:spPr>
          <a:xfrm>
            <a:off x="548640" y="3611880"/>
            <a:ext cx="640080" cy="640080"/>
          </a:xfrm>
          <a:prstGeom prst="ellipse">
            <a:avLst/>
          </a:prstGeom>
          <a:solidFill>
            <a:srgbClr val="5B3FD0"/>
          </a:solidFill>
          <a:ln w="12700">
            <a:solidFill>
              <a:srgbClr val="5B3FD0"/>
            </a:solidFill>
            <a:prstDash val="solid"/>
          </a:ln>
        </p:spPr>
      </p:sp>
      <p:sp>
        <p:nvSpPr>
          <p:cNvPr id="12" name="Text 9"/>
          <p:cNvSpPr txBox="1"/>
          <p:nvPr/>
        </p:nvSpPr>
        <p:spPr>
          <a:xfrm>
            <a:off x="548640" y="361188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7</a:t>
            </a:r>
            <a:endParaRPr lang="en-US" sz="1900" dirty="0"/>
          </a:p>
        </p:txBody>
      </p:sp>
      <p:sp>
        <p:nvSpPr>
          <p:cNvPr id="13" name="Text 10"/>
          <p:cNvSpPr txBox="1"/>
          <p:nvPr/>
        </p:nvSpPr>
        <p:spPr>
          <a:xfrm>
            <a:off x="1371600" y="3429000"/>
            <a:ext cx="10180015" cy="91440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Systems Manager → Session Manager → Session history</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Trovi le tue sessioni: chi è entrato, e quando</a:t>
            </a:r>
            <a:endParaRPr lang="en-US" sz="1800" dirty="0"/>
          </a:p>
        </p:txBody>
      </p:sp>
      <p:sp>
        <p:nvSpPr>
          <p:cNvPr id="14" name="Shape 11"/>
          <p:cNvSpPr/>
          <p:nvPr/>
        </p:nvSpPr>
        <p:spPr>
          <a:xfrm>
            <a:off x="548640" y="4663440"/>
            <a:ext cx="640080" cy="640080"/>
          </a:xfrm>
          <a:prstGeom prst="ellipse">
            <a:avLst/>
          </a:prstGeom>
          <a:solidFill>
            <a:srgbClr val="D64545"/>
          </a:solidFill>
          <a:ln w="12700">
            <a:solidFill>
              <a:srgbClr val="D64545"/>
            </a:solidFill>
            <a:prstDash val="solid"/>
          </a:ln>
        </p:spPr>
      </p:sp>
      <p:sp>
        <p:nvSpPr>
          <p:cNvPr id="15" name="Text 12"/>
          <p:cNvSpPr txBox="1"/>
          <p:nvPr/>
        </p:nvSpPr>
        <p:spPr>
          <a:xfrm>
            <a:off x="548640" y="4663440"/>
            <a:ext cx="640080" cy="64008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8</a:t>
            </a:r>
            <a:endParaRPr lang="en-US" sz="1900" dirty="0"/>
          </a:p>
        </p:txBody>
      </p:sp>
      <p:sp>
        <p:nvSpPr>
          <p:cNvPr id="16" name="Text 13"/>
          <p:cNvSpPr txBox="1"/>
          <p:nvPr/>
        </p:nvSpPr>
        <p:spPr>
          <a:xfrm>
            <a:off x="1371600" y="4480560"/>
            <a:ext cx="10180015" cy="914400"/>
          </a:xfrm>
          <a:prstGeom prst="rect">
            <a:avLst/>
          </a:prstGeom>
          <a:noFill/>
          <a:ln/>
        </p:spPr>
        <p:txBody>
          <a:bodyPr wrap="square" lIns="0" tIns="0" rIns="0" bIns="0" rtlCol="0" anchor="ctr"/>
          <a:lstStyle/>
          <a:p>
            <a:pPr indent="0" marL="0">
              <a:buNone/>
            </a:pPr>
            <a:r>
              <a:rPr lang="en-US" sz="1800" b="1" dirty="0">
                <a:solidFill>
                  <a:srgbClr val="22253A"/>
                </a:solidFill>
                <a:latin typeface="Calibri" pitchFamily="34" charset="0"/>
                <a:ea typeface="Calibri" pitchFamily="34" charset="-122"/>
                <a:cs typeface="Calibri" pitchFamily="34" charset="-120"/>
              </a:rPr>
              <a:t>terraform destroy (o lascia acceso per la lezione 5)</a:t>
            </a:r>
            <a:endParaRPr lang="en-US" sz="1800" dirty="0"/>
          </a:p>
          <a:p>
            <a:pPr indent="0" marL="0">
              <a:buNone/>
            </a:pPr>
            <a:r>
              <a:rPr lang="en-US" sz="1500" dirty="0">
                <a:solidFill>
                  <a:srgbClr val="5F6478"/>
                </a:solidFill>
                <a:latin typeface="Calibri" pitchFamily="34" charset="0"/>
                <a:ea typeface="Calibri" pitchFamily="34" charset="-122"/>
                <a:cs typeface="Calibri" pitchFamily="34" charset="-120"/>
              </a:rPr>
              <a:t>Il server si paga a ore finché è acceso</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777240"/>
          </a:xfrm>
          <a:prstGeom prst="rect">
            <a:avLst/>
          </a:prstGeom>
          <a:noFill/>
          <a:ln/>
        </p:spPr>
        <p:txBody>
          <a:bodyPr wrap="square" lIns="0" tIns="0" rIns="0" bIns="0" rtlCol="0" anchor="ctr"/>
          <a:lstStyle/>
          <a:p>
            <a:pPr indent="0" marL="0">
              <a:buNone/>
            </a:pPr>
            <a:r>
              <a:rPr lang="en-US" sz="3200" b="1" dirty="0">
                <a:solidFill>
                  <a:srgbClr val="22253A"/>
                </a:solidFill>
                <a:latin typeface="Calibri" pitchFamily="34" charset="0"/>
                <a:ea typeface="Calibri" pitchFamily="34" charset="-122"/>
                <a:cs typeface="Calibri" pitchFamily="34" charset="-120"/>
              </a:rPr>
              <a:t>Le parole della lezione</a:t>
            </a:r>
            <a:endParaRPr lang="en-US" sz="3200" dirty="0"/>
          </a:p>
        </p:txBody>
      </p:sp>
      <p:sp>
        <p:nvSpPr>
          <p:cNvPr id="3" name="Text 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F6478"/>
                </a:solidFill>
                <a:latin typeface="Calibri" pitchFamily="34" charset="0"/>
                <a:ea typeface="Calibri" pitchFamily="34" charset="-122"/>
                <a:cs typeface="Calibri" pitchFamily="34" charset="-120"/>
              </a:rPr>
              <a:t>Dispensa 4 · EC2: il server</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011680"/>
                <a:gridCol w="3566160"/>
                <a:gridCol w="2377440"/>
                <a:gridCol w="3136392"/>
              </a:tblGrid>
              <a:tr h="64008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Parola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Significato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Parola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Significato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5B3FD0"/>
                    </a:solidFill>
                  </a:tcPr>
                </a:tc>
              </a:tr>
              <a:tr h="64008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EC2</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il servizio dei server virtuali</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instance profile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il porta-badge del role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istanza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un server EC2</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SSM Session Manager</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entrare senza SSH né porte</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4008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AMI</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l'immagine di partenza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agente SSM</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il programma che chiama SSM</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tipo di istanza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la potenza (t4g.micro)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EBS</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il disco del server</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r h="64008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user_data</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lo script del primo avvio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IMDSv2</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domande del server su sé stesso, con biglietto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FFFFF"/>
                    </a:solidFill>
                  </a:tcPr>
                </a:tc>
              </a:tr>
              <a:tr h="640080">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heredoc</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un testo su più righe (&lt;&lt;-EOF)</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b="1" dirty="0">
                          <a:solidFill>
                            <a:srgbClr val="22253A"/>
                          </a:solidFill>
                          <a:latin typeface="Calibri" pitchFamily="34" charset="0"/>
                          <a:ea typeface="Calibri" pitchFamily="34" charset="-122"/>
                          <a:cs typeface="Calibri" pitchFamily="34" charset="-120"/>
                        </a:rPr>
                        <a:t>ignore_changes</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c>
                  <a:txBody>
                    <a:bodyPr/>
                    <a:lstStyle/>
                    <a:p>
                      <a:pPr indent="0" marL="0">
                        <a:buNone/>
                      </a:pPr>
                      <a:r>
                        <a:rPr lang="en-US" sz="1500" dirty="0">
                          <a:solidFill>
                            <a:srgbClr val="22253A"/>
                          </a:solidFill>
                          <a:latin typeface="Calibri" pitchFamily="34" charset="0"/>
                          <a:ea typeface="Calibri" pitchFamily="34" charset="-122"/>
                          <a:cs typeface="Calibri" pitchFamily="34" charset="-120"/>
                        </a:rPr>
                        <a:t>"non ricreare per questo motivo"</a:t>
                      </a:r>
                      <a:endParaRPr lang="en-US" sz="1500" dirty="0">
                        <a:latin typeface="Calibri" charset="0"/>
                        <a:ea typeface="Calibri" charset="0"/>
                        <a:cs typeface="Calibri" charset="0"/>
                      </a:endParaRPr>
                    </a:p>
                  </a:txBody>
                  <a:tcPr marL="73152" marR="73152" marT="73152" marB="73152" anchor="ctr">
                    <a:lnL w="9525" cap="flat" cmpd="sng" algn="ctr">
                      <a:solidFill>
                        <a:srgbClr val="D9D6EC"/>
                      </a:solidFill>
                      <a:prstDash val="solid"/>
                      <a:round/>
                      <a:headEnd type="none" w="med" len="med"/>
                      <a:tailEnd type="none" w="med" len="med"/>
                    </a:lnL>
                    <a:lnR w="9525" cap="flat" cmpd="sng" algn="ctr">
                      <a:solidFill>
                        <a:srgbClr val="D9D6EC"/>
                      </a:solidFill>
                      <a:prstDash val="solid"/>
                      <a:round/>
                      <a:headEnd type="none" w="med" len="med"/>
                      <a:tailEnd type="none" w="med" len="med"/>
                    </a:lnR>
                    <a:lnT w="9525" cap="flat" cmpd="sng" algn="ctr">
                      <a:solidFill>
                        <a:srgbClr val="D9D6EC"/>
                      </a:solidFill>
                      <a:prstDash val="solid"/>
                      <a:round/>
                      <a:headEnd type="none" w="med" len="med"/>
                      <a:tailEnd type="none" w="med" len="med"/>
                    </a:lnT>
                    <a:lnB w="9525" cap="flat" cmpd="sng" algn="ctr">
                      <a:solidFill>
                        <a:srgbClr val="D9D6EC"/>
                      </a:solidFill>
                      <a:prstDash val="solid"/>
                      <a:round/>
                      <a:headEnd type="none" w="med" len="med"/>
                      <a:tailEnd type="none" w="med" len="med"/>
                    </a:lnB>
                    <a:solidFill>
                      <a:srgbClr val="F7F6FD"/>
                    </a:solidFill>
                  </a:tcPr>
                </a:tc>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4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1F3B"/>
        </a:solidFill>
      </p:bgPr>
    </p:bg>
    <p:spTree>
      <p:nvGrpSpPr>
        <p:cNvPr id="1" name=""/>
        <p:cNvGrpSpPr/>
        <p:nvPr/>
      </p:nvGrpSpPr>
      <p:grpSpPr>
        <a:xfrm>
          <a:off x="0" y="0"/>
          <a:ext cx="0" cy="0"/>
          <a:chOff x="0" y="0"/>
          <a:chExt cx="0" cy="0"/>
        </a:xfrm>
      </p:grpSpPr>
      <p:sp>
        <p:nvSpPr>
          <p:cNvPr id="2" name="Text 0"/>
          <p:cNvSpPr txBox="1"/>
          <p:nvPr/>
        </p:nvSpPr>
        <p:spPr>
          <a:xfrm>
            <a:off x="548640" y="457200"/>
            <a:ext cx="1097280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Riepilogo</a:t>
            </a:r>
            <a:endParaRPr lang="en-US" sz="3600" dirty="0"/>
          </a:p>
        </p:txBody>
      </p:sp>
      <p:sp>
        <p:nvSpPr>
          <p:cNvPr id="3" name="Text 1"/>
          <p:cNvSpPr txBox="1"/>
          <p:nvPr/>
        </p:nvSpPr>
        <p:spPr>
          <a:xfrm>
            <a:off x="548640" y="1463040"/>
            <a:ext cx="6949440" cy="420624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Un'istanza EC2 nasce da un'AMI e da un tipo (t4g.micro)</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L'AMI si legge da un parametro di AWS, con ignore_changes = [ami]</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user_data = script del primo avvio; se cambia, il server si ricrea</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Permessi con un role + instance profile: nessuna chiave dentro</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SSM: si entra senza SSH, senza porte, con il login AWS</a:t>
            </a:r>
            <a:endParaRPr lang="en-US" sz="1800" dirty="0"/>
          </a:p>
          <a:p>
            <a:pPr marL="342900" indent="-342900">
              <a:spcAft>
                <a:spcPts val="1000"/>
              </a:spcAft>
              <a:buSzPct val="100000"/>
              <a:buChar char="•"/>
            </a:pPr>
            <a:r>
              <a:rPr lang="en-US" sz="1800" dirty="0">
                <a:solidFill>
                  <a:srgbClr val="E4E5F2"/>
                </a:solidFill>
                <a:latin typeface="Calibri" pitchFamily="34" charset="0"/>
                <a:ea typeface="Calibri" pitchFamily="34" charset="-122"/>
                <a:cs typeface="Calibri" pitchFamily="34" charset="-120"/>
              </a:rPr>
              <a:t>Subnet privata, SG app, disco cifrato, IMDSv2</a:t>
            </a:r>
            <a:endParaRPr lang="en-US" sz="1800" dirty="0"/>
          </a:p>
        </p:txBody>
      </p:sp>
      <p:sp>
        <p:nvSpPr>
          <p:cNvPr id="4" name="Shape 2"/>
          <p:cNvSpPr/>
          <p:nvPr/>
        </p:nvSpPr>
        <p:spPr>
          <a:xfrm>
            <a:off x="7955280" y="1463040"/>
            <a:ext cx="3685032" cy="2103120"/>
          </a:xfrm>
          <a:prstGeom prst="roundRect">
            <a:avLst>
              <a:gd name="adj" fmla="val 5217"/>
            </a:avLst>
          </a:prstGeom>
          <a:solidFill>
            <a:srgbClr val="2A2F55"/>
          </a:solidFill>
          <a:ln w="12700">
            <a:solidFill>
              <a:srgbClr val="2A2F55"/>
            </a:solidFill>
            <a:prstDash val="solid"/>
          </a:ln>
        </p:spPr>
      </p:sp>
      <p:sp>
        <p:nvSpPr>
          <p:cNvPr id="5" name="Text 3"/>
          <p:cNvSpPr txBox="1"/>
          <p:nvPr/>
        </p:nvSpPr>
        <p:spPr>
          <a:xfrm>
            <a:off x="8183880" y="1645920"/>
            <a:ext cx="3291840" cy="1737360"/>
          </a:xfrm>
          <a:prstGeom prst="rect">
            <a:avLst/>
          </a:prstGeom>
          <a:noFill/>
          <a:ln/>
        </p:spPr>
        <p:txBody>
          <a:bodyPr wrap="square" lIns="0" tIns="0" rIns="0" bIns="0" rtlCol="0" anchor="t"/>
          <a:lstStyle/>
          <a:p>
            <a:pPr indent="0" marL="0">
              <a:buNone/>
            </a:pPr>
            <a:r>
              <a:rPr lang="en-US" sz="1600" b="1" dirty="0">
                <a:solidFill>
                  <a:srgbClr val="F28C28"/>
                </a:solidFill>
                <a:latin typeface="Calibri" pitchFamily="34" charset="0"/>
                <a:ea typeface="Calibri" pitchFamily="34" charset="-122"/>
                <a:cs typeface="Calibri" pitchFamily="34" charset="-120"/>
              </a:rPr>
              <a:t>Materiale di studio</a:t>
            </a:r>
            <a:endParaRPr lang="en-US" sz="1600" dirty="0"/>
          </a:p>
          <a:p>
            <a:pPr indent="0" marL="0">
              <a:buNone/>
            </a:pPr>
            <a:r>
              <a:rPr lang="en-US" sz="1400" dirty="0">
                <a:solidFill>
                  <a:srgbClr val="FFFFFF"/>
                </a:solidFill>
                <a:latin typeface="Courier New" pitchFamily="34" charset="0"/>
                <a:ea typeface="Courier New" pitchFamily="34" charset="-122"/>
                <a:cs typeface="Courier New" pitchFamily="34" charset="-120"/>
              </a:rPr>
              <a:t>dispense/dispensa-4-ec2.md</a:t>
            </a:r>
            <a:endParaRPr lang="en-US" sz="1600" dirty="0"/>
          </a:p>
        </p:txBody>
      </p:sp>
      <p:sp>
        <p:nvSpPr>
          <p:cNvPr id="6" name="Shape 4"/>
          <p:cNvSpPr/>
          <p:nvPr/>
        </p:nvSpPr>
        <p:spPr>
          <a:xfrm>
            <a:off x="7955280" y="3840480"/>
            <a:ext cx="3685032" cy="1463040"/>
          </a:xfrm>
          <a:prstGeom prst="roundRect">
            <a:avLst>
              <a:gd name="adj" fmla="val 7500"/>
            </a:avLst>
          </a:prstGeom>
          <a:solidFill>
            <a:srgbClr val="5B3FD0"/>
          </a:solidFill>
          <a:ln w="12700">
            <a:solidFill>
              <a:srgbClr val="5B3FD0"/>
            </a:solidFill>
            <a:prstDash val="solid"/>
          </a:ln>
        </p:spPr>
      </p:sp>
      <p:sp>
        <p:nvSpPr>
          <p:cNvPr id="7" name="Text 5"/>
          <p:cNvSpPr txBox="1"/>
          <p:nvPr/>
        </p:nvSpPr>
        <p:spPr>
          <a:xfrm>
            <a:off x="8183880" y="4023360"/>
            <a:ext cx="3291840" cy="1097280"/>
          </a:xfrm>
          <a:prstGeom prst="rect">
            <a:avLst/>
          </a:prstGeom>
          <a:noFill/>
          <a:ln/>
        </p:spPr>
        <p:txBody>
          <a:bodyPr wrap="square" lIns="0" tIns="0" rIns="0" bIns="0" rtlCol="0" anchor="t"/>
          <a:lstStyle/>
          <a:p>
            <a:pPr indent="0" marL="0">
              <a:buNone/>
            </a:pPr>
            <a:r>
              <a:rPr lang="en-US" sz="1400" b="1" dirty="0">
                <a:solidFill>
                  <a:srgbClr val="D9D2FF"/>
                </a:solidFill>
                <a:latin typeface="Calibri" pitchFamily="34" charset="0"/>
                <a:ea typeface="Calibri" pitchFamily="34" charset="-122"/>
                <a:cs typeface="Calibri" pitchFamily="34" charset="-120"/>
              </a:rPr>
              <a:t>Prossima lezione</a:t>
            </a:r>
            <a:endParaRPr lang="en-US" sz="1400" dirty="0"/>
          </a:p>
          <a:p>
            <a:pPr indent="0" marL="0">
              <a:buNone/>
            </a:pPr>
            <a:r>
              <a:rPr lang="en-US" sz="1800" b="1" dirty="0">
                <a:solidFill>
                  <a:srgbClr val="FFFFFF"/>
                </a:solidFill>
                <a:latin typeface="Calibri" pitchFamily="34" charset="0"/>
                <a:ea typeface="Calibri" pitchFamily="34" charset="-122"/>
                <a:cs typeface="Calibri" pitchFamily="34" charset="-120"/>
              </a:rPr>
              <a:t>Accesso remoto: Tailscale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cereZ23</dc:creator>
  <cp:lastModifiedBy>cereZ23</cp:lastModifiedBy>
  <cp:revision>1</cp:revision>
  <dcterms:created xsi:type="dcterms:W3CDTF">2026-10-08T07:42:52Z</dcterms:created>
  <dcterms:modified xsi:type="dcterms:W3CDTF">2026-10-08T07:42:52Z</dcterms:modified>
</cp:coreProperties>
</file>