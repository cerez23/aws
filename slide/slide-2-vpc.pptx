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Tutto quello che costruiremo dopo, firewall, VPN, server, database, vive dentro questa rete. Se il VPC è progettato male, il resto si costruisce su fondamenta storte. Oggi partiamo dalle basi: cos'è un indirizzo IP, come si scrive un blocco di indirizzi, cosa rende una subnet pubblica o privata. Poi vediamo come Terraform genera tutta la rete da tre variabili.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VPC è una rete privata e isolata dentro AWS, tutta vostra: nessun altro cliente la vede. L'analogia dell'edificio: le subnet sono i piani, la route table è la segnaletica di ogni piano, l'Internet Gateway è il portone sulla strada, il NAT Gateway è un'uscita di servizio: si esce a fare commissioni, ma nessuno entra da lì.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l'architettura che avremo alla fine. Un VPC su due Availability Zone, cioè due data center di Milano. In ognuna tre livelli di subnet: pubblica, dove sta il NAT; privata, dove staranno i server EC2 dell'applicazione; database, dove starà RDS. Le pubbliche parlano con internet, le private escono solo tramite il NAT, le database non escono affatto. In laboratorio c'è un solo NAT; in produzione uno per 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dispositivo in rete ha un indirizzo IP, come un numero civico. Nella versione 4 è fatto di quattro numeri da 0 a 255. I dati viaggiano in pacchetti, e ogni pacchetto ha scritto il mittente e il destinatario, come una busta. Ci sono IP pubblici, unici al mondo e raggiungibili da internet, e IP privati, in tre intervalli riservati: chiunque li usa dentro la propria rete, ma internet non li trasporta. Tutto il nostro VPC usa IP privati.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blocco di indirizzi si scrive con un indirizzo, una barra e un numero. Il numero dice quante cifre binarie sono fisse partendo da sinistra. In pratica, visto che ogni numero dell'indirizzo vale otto bit: barra 16 fissa i primi due numeri, quindi dieci punto venti punto qualunque cosa, sessantacinquemila indirizzi. Barra 24 fissa i primi tre, duecentocinquantasei indirizzi. Barra zero non fissa niente: significa qualunque indirizzo. Più piccolo il numero, più grande il blocco.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ogni subnet AWS riserva cinque indirizzi: i primi quattro e l'ultimo. L'indirizzo di rete, che è il nome del blocco; il router del VPC, che smista i pacchetti secondo la route table; il DNS, la rubrica che traduce nomi in indirizzi; uno riservato per il futuro; e l'ultimo, il broadcast. Quindi una barra 24 ha 251 indirizzi utilizzabili, non 256.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CIDR di un VPC si pianifica prima: cambiarlo dopo significa distruggere e ricreare tutta la rete. Regole: intervalli privati; nessuna sovrapposizione con le reti con cui un giorno si dovrà comunicare, altri VPC, la rete dell'azienda, i client VPN; niente reti di casa, perché 192.168.0 e 192.168.1 sono i default dei router domestici. La numerazione a decine rende i livelli riconoscibili: un 10.20.2 qualcosa è sicuramente un database.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Availability Zone è uno o più data center separati dagli altri della stessa regione, con alimentazione e rete indipendenti. Milano ne ha tre. Il punto chiave: ogni subnet vive in una sola AZ. Se la AZ ha un problema, le sue subnet sono a rischio. Per questo ogni livello si duplica su almeno due AZ. RDS Multi-AZ, che vedremo, lo pretende.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concetto che sblocca tutto: una subnet non è pubblica o privata per un'impostazione, lo è per la sua route table. Si guarda dove porta la rotta zero zero zero zero barra zero, cioè tutto il resto. Verso l'Internet Gateway: pubblica. Verso il NAT: privata, esce ma non è raggiungibile. Nessuna rotta: isolata, parla solo col VPC. Nel nostro progetto: pubbliche per il NAT, private per l'applicazione, isolate per il database.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rotta dice: i pacchetti diretti a questo blocco mandali a questo gateway. Ogni route table ha sempre la rotta local per il blocco del VPC, che fa parlare tutte le subnet tra loro e non si toglie. Se un indirizzo corrisponde a più rotte, vince la più specifica, cioè quella col numero dopo la barra più grande. Un pacchetto per 10.20.11.7 segue local; un pacchetto per un sito su internet segue zero zero zero zero barra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essere raggiungibile da internet non basta la subnet pubblica. Servono tre cose: la rotta verso l'Internet Gateway, un IP pubblico, e un firewall che lasci passare il traffico, che vediamo nella prossima dispensa. Attenzione: in una subnet pubblica una risorsa senza IP pubblico non riesce nemmeno a uscire. Per uscire senza IP pubblico serve una subnet privata col NAT. Noi lasciamo spenta l'assegnazione automatica di IP pubblici anche nelle subnet pubbliche: lì ci va solo il NAT.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L'Internet Gateway è il collegamento tra VPC e internet: uno per VPC, gestito da AWS, gratuito. Il NAT, network address translation, permette alle subnet private di iniziare connessioni verso internet. Sostituisce il mittente privato con il proprio Elastic IP e si annota la connessione, così sa a chi girare la risposta. Un pacchetto che arriva da fuori senza essere una risposta non corrisponde a nessun appunto e viene scartato. Il NAT sta in una subnet pubblica, vive in una sola AZ e si paga a 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scelta di progetto. Un NAT per AZ, ognuna usa il suo: se cade una AZ le altre continuano a uscire, ma costa di più. È la scelta di produzione. Un solo NAT condiviso: se cade la sua AZ nessuno esce, ma costa meno. È la scelta da laboratorio. Nel codice è una variabile, single_nat_gateway, così lo stesso progetto serve a entrambi.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cose da non dimenticare. Il DNS è la rubrica della rete: traduce un nome nell'indirizzo IP. I servizi AWS si raggiungono per nome, quindi le due opzioni DNS del VPC vanno entrambe attive: senza, non funzionano il database, SSM e i VPC endpoint, con sintomi che sembrano tutt'altro. I Flow Logs registrano chi ha parlato con chi: sorgente, destinazione, porte, se è stato accettato o rifiutato. Non il contenuto. Servono per capire perché una connessione non passa e per la sicurezza. Sono facoltativi.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Nuovo costrutto del linguaggio. Le subnet sono quasi identiche: cambiano solo AZ e CIDR. for_each dice a Terraform: crea una copia di questa risorsa per ogni elemento della mappa. Dentro il blocco, each punto key è la chiave dell'elemento corrente, each punto value il valore. Ogni copia ha un nome con la chiave tra parentesi quadre. Se aggiungete o togliete una AZ, cambia solo quella copia.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Secondo costrutto nuovo. Un'espressione for costruisce una lista o una mappa a partire da un'altra, applicando una formula a ogni elemento. Si legge: per ogni x nella lista, calcola questo. Se è racchiusa tra parentesi quadre produce una lista. Se è tra graffe, con la freccia uguale maggiore tra chiave e valore, produce una mappa. Con due variabili, i e x, la prima è la posizione nella lista, contando da zero. Lo usiamo nella prossima slide per calcolare tutte le subnet.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Invece di scrivere sei subnet a mano, le calcoliamo. La funzione cidrsubnet prende il blocco del VPC, aggiunge otto bit e restituisce la barra 24 numero n: il numero n finisce nel terzo numero dell'indirizzo. L'espressione for che abbiamo appena visto scorre le AZ con la posizione i e per ognuna calcola i tre CIDR: pubblica i, privata dieci più i, database venti più i. Le graffe e la freccia la rendono una mappa con chiave la AZ, esattamente la forma che serve a for_each. Tre variabili governano tutto: vpc_cidr, az_count e single_nat_gateway.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L'esercizio completo è nella sezione 9 della dispensa. Si prova cidrsubnet in console, si legge il plan contando le risorse per tipo, si applica e si controllano le route table dalla CLI. Poi tre plan con l'opzione meno var, che cambia una variabile solo per quel comando: un NAT per AZ, una AZ in più, un CIDR diverso. Il terzo mostra la modifica più pericolosa: ricrea tutto. Alla fine destroy, perché il NAT si paga a 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Riassumendo. Il materiale di studio è la dispensa 2: contiene le basi di rete, il codice completo spiegato passo per passo e l'esercizio con i risultati attesi. Oggi abbiamo visto dove il traffico può andare; la prossima volta vediamo cosa può passare: i firewall.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0" y="548640"/>
            <a:ext cx="420624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VPC: la rete privata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233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9C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Indirizzi, subnet, route table, Internet Gateway e NAT Gateway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Corso: Infrastruttura AWS con Terraform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VPC è un edificio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731520" cy="73152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4480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08760" y="13716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4297680" y="1371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l'edificio: una rete isolata, tutta tua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2331720"/>
            <a:ext cx="731520" cy="73152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1460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08760" y="23317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4297680" y="23317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piani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548640" y="3291840"/>
            <a:ext cx="731520" cy="73152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474720"/>
            <a:ext cx="365760" cy="3657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508760" y="32918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table</a:t>
            </a:r>
            <a:endParaRPr lang="en-US" sz="2000" dirty="0"/>
          </a:p>
        </p:txBody>
      </p:sp>
      <p:sp>
        <p:nvSpPr>
          <p:cNvPr id="16" name="Text 10"/>
          <p:cNvSpPr txBox="1"/>
          <p:nvPr/>
        </p:nvSpPr>
        <p:spPr>
          <a:xfrm>
            <a:off x="4297680" y="32918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segnaletica: dove porta ogni corridoio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48640" y="4251960"/>
            <a:ext cx="731520" cy="73152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434840"/>
            <a:ext cx="365760" cy="3657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508760" y="42519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2000" dirty="0"/>
          </a:p>
        </p:txBody>
      </p:sp>
      <p:sp>
        <p:nvSpPr>
          <p:cNvPr id="20" name="Text 13"/>
          <p:cNvSpPr txBox="1"/>
          <p:nvPr/>
        </p:nvSpPr>
        <p:spPr>
          <a:xfrm>
            <a:off x="4297680" y="42519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portone sulla strada</a:t>
            </a:r>
            <a:endParaRPr lang="en-US" sz="1800" dirty="0"/>
          </a:p>
        </p:txBody>
      </p:sp>
      <p:sp>
        <p:nvSpPr>
          <p:cNvPr id="21" name="Shape 14"/>
          <p:cNvSpPr/>
          <p:nvPr/>
        </p:nvSpPr>
        <p:spPr>
          <a:xfrm>
            <a:off x="548640" y="5212080"/>
            <a:ext cx="731520" cy="7315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394960"/>
            <a:ext cx="365760" cy="3657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508760" y="52120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</a:t>
            </a:r>
            <a:endParaRPr lang="en-US" sz="2000" dirty="0"/>
          </a:p>
        </p:txBody>
      </p:sp>
      <p:sp>
        <p:nvSpPr>
          <p:cNvPr id="24" name="Text 16"/>
          <p:cNvSpPr txBox="1"/>
          <p:nvPr/>
        </p:nvSpPr>
        <p:spPr>
          <a:xfrm>
            <a:off x="4297680" y="5212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l'uscita di servizio: si esce, non si entra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arriviamo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11094415" cy="4892040"/>
          </a:xfrm>
          <a:prstGeom prst="roundRect">
            <a:avLst>
              <a:gd name="adj" fmla="val 2243"/>
            </a:avLst>
          </a:prstGeom>
          <a:solidFill>
            <a:srgbClr val="F7F6FD"/>
          </a:solidFill>
          <a:ln w="1905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10.20.0.0/16 · eu-south-1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846320" y="146304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846320" y="1463040"/>
            <a:ext cx="2468880" cy="6400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360920" y="1783080"/>
            <a:ext cx="1097280" cy="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headEnd type="triangle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8503920" y="1463040"/>
            <a:ext cx="2011680" cy="640080"/>
          </a:xfrm>
          <a:prstGeom prst="roundRect">
            <a:avLst>
              <a:gd name="adj" fmla="val 14286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503920" y="1463040"/>
            <a:ext cx="2011680" cy="6400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22960" y="2331720"/>
            <a:ext cx="530352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97280" y="2377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eu-south-1a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097280" y="2788920"/>
            <a:ext cx="4754880" cy="868680"/>
          </a:xfrm>
          <a:prstGeom prst="roundRect">
            <a:avLst>
              <a:gd name="adj" fmla="val 1052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97280" y="2788920"/>
            <a:ext cx="4754880" cy="868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PUBBLICA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 · entra ed esce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097280" y="3840480"/>
            <a:ext cx="4754880" cy="868680"/>
          </a:xfrm>
          <a:prstGeom prst="roundRect">
            <a:avLst>
              <a:gd name="adj" fmla="val 10526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3840480"/>
            <a:ext cx="4754880" cy="868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PRIVATA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· esce tramite il NAT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1097280" y="4892040"/>
            <a:ext cx="4754880" cy="868680"/>
          </a:xfrm>
          <a:prstGeom prst="roundRect">
            <a:avLst>
              <a:gd name="adj" fmla="val 10526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97280" y="4892040"/>
            <a:ext cx="4754880" cy="868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DATABASE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· nessuna uscita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400800" y="2331720"/>
            <a:ext cx="5303520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86800" y="2377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eu-south-1b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675120" y="2788920"/>
            <a:ext cx="4754880" cy="868680"/>
          </a:xfrm>
          <a:prstGeom prst="roundRect">
            <a:avLst>
              <a:gd name="adj" fmla="val 1052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75120" y="2788920"/>
            <a:ext cx="4754880" cy="868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PUBBLICA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ed esce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675120" y="3840480"/>
            <a:ext cx="4754880" cy="868680"/>
          </a:xfrm>
          <a:prstGeom prst="roundRect">
            <a:avLst>
              <a:gd name="adj" fmla="val 10526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675120" y="3840480"/>
            <a:ext cx="4754880" cy="868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PRIVATA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· esce tramite il NAT della AZ-a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675120" y="4892040"/>
            <a:ext cx="4754880" cy="868680"/>
          </a:xfrm>
          <a:prstGeom prst="roundRect">
            <a:avLst>
              <a:gd name="adj" fmla="val 10526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675120" y="4892040"/>
            <a:ext cx="4754880" cy="868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DATABASE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· nessuna uscita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5394960" y="2103120"/>
            <a:ext cx="0" cy="68580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headEnd type="triangle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6766560" y="2103120"/>
            <a:ext cx="0" cy="68580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headEnd type="triangle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indirizzi IP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234440" cy="1097280"/>
          </a:xfrm>
          <a:prstGeom prst="roundRect">
            <a:avLst>
              <a:gd name="adj" fmla="val 8333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1234440" cy="10972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1554480"/>
            <a:ext cx="182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1965960" y="1554480"/>
            <a:ext cx="1234440" cy="1097280"/>
          </a:xfrm>
          <a:prstGeom prst="roundRect">
            <a:avLst>
              <a:gd name="adj" fmla="val 8333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65960" y="1554480"/>
            <a:ext cx="1234440" cy="10972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3200400" y="1554480"/>
            <a:ext cx="182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600" dirty="0"/>
          </a:p>
        </p:txBody>
      </p:sp>
      <p:sp>
        <p:nvSpPr>
          <p:cNvPr id="11" name="Shape 8"/>
          <p:cNvSpPr/>
          <p:nvPr/>
        </p:nvSpPr>
        <p:spPr>
          <a:xfrm>
            <a:off x="3383280" y="1554480"/>
            <a:ext cx="1234440" cy="1097280"/>
          </a:xfrm>
          <a:prstGeom prst="roundRect">
            <a:avLst>
              <a:gd name="adj" fmla="val 8333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83280" y="1554480"/>
            <a:ext cx="1234440" cy="10972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617720" y="1554480"/>
            <a:ext cx="182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3600" dirty="0"/>
          </a:p>
        </p:txBody>
      </p:sp>
      <p:sp>
        <p:nvSpPr>
          <p:cNvPr id="14" name="Shape 11"/>
          <p:cNvSpPr/>
          <p:nvPr/>
        </p:nvSpPr>
        <p:spPr>
          <a:xfrm>
            <a:off x="4800600" y="1554480"/>
            <a:ext cx="1234440" cy="1097280"/>
          </a:xfrm>
          <a:prstGeom prst="roundRect">
            <a:avLst>
              <a:gd name="adj" fmla="val 8333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00600" y="1554480"/>
            <a:ext cx="1234440" cy="10972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7432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numeri da 0 a 255 · ogni pacchetto porta mittente e destinatario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492240" y="1463040"/>
            <a:ext cx="5148072" cy="2011680"/>
          </a:xfrm>
          <a:prstGeom prst="roundRect">
            <a:avLst>
              <a:gd name="adj" fmla="val 5455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0840" y="169164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828800"/>
            <a:ext cx="274320" cy="27432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452360" y="1691640"/>
            <a:ext cx="3959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pubblici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6720840" y="2377440"/>
            <a:ext cx="4690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Unici al mondo, raggiungibili da internet. Es. l'indirizzo di un sito web.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6492240" y="3657600"/>
            <a:ext cx="5148072" cy="2286000"/>
          </a:xfrm>
          <a:prstGeom prst="roundRect">
            <a:avLst>
              <a:gd name="adj" fmla="val 4800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0840" y="388620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4023360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452360" y="3886200"/>
            <a:ext cx="3959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privati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6720840" y="4572000"/>
            <a:ext cx="4690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Riusabili in ogni rete, internet non li trasporta. Iniziano con 10. · 172.16–31. · 192.168.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548640" y="3657600"/>
            <a:ext cx="5577840" cy="2286000"/>
          </a:xfrm>
          <a:prstGeom prst="roundRect">
            <a:avLst>
              <a:gd name="adj" fmla="val 4000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365760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Tutto il nostro VPC usa IP privati. Per uscire su internet serve una "traduzione" (il NAT).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notazione CIDR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3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/16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10.20.x.x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290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65.536 indirizzi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931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l'intero VPC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146304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16002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5B3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/24</a:t>
            </a:r>
            <a:endParaRPr lang="en-US" sz="6000" dirty="0"/>
          </a:p>
        </p:txBody>
      </p:sp>
      <p:sp>
        <p:nvSpPr>
          <p:cNvPr id="12" name="Text 9"/>
          <p:cNvSpPr txBox="1"/>
          <p:nvPr/>
        </p:nvSpPr>
        <p:spPr>
          <a:xfrm>
            <a:off x="429768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10.20.1.x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297680" y="34290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indirizzi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297680" y="3931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subnet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0" y="1463040"/>
            <a:ext cx="3566160" cy="3566160"/>
          </a:xfrm>
          <a:prstGeom prst="roundRect">
            <a:avLst>
              <a:gd name="adj" fmla="val 3077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046720" y="16002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/0</a:t>
            </a:r>
            <a:endParaRPr lang="en-US" sz="60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0" y="28346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0.0.0.0/0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34290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qualunque indirizzo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0" y="3931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"tutto il resto"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11765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34924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piccolo il numero dopo la barra, più grande il blocco.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si tiene 5 indirizzi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840480" cy="4480560"/>
          </a:xfrm>
          <a:prstGeom prst="roundRect">
            <a:avLst>
              <a:gd name="adj" fmla="val 2857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011680"/>
            <a:ext cx="3840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490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4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indirizzi utilizzabili in una /24, non 256</a:t>
            </a:r>
            <a:endParaRPr lang="en-US" sz="2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63040"/>
          <a:ext cx="69768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87375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Riservato per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10.20.1.0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 di rete: il nome del blocco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10.20.1.1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Router del VPC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10.20.1.2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DNS di AWS: la rubrica dei nomi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10.20.1.3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futuro di AWS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10.20.1.255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Broadcast ("a tutti"): non supportato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piano indirizzi del corso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75895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840480"/>
                <a:gridCol w="18288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Blocco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10.20.0.0/16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Pubbliche (a, 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10.20.0.0/24 · 10.20.1.0/24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(a, 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10.20.10.0/24 · 10.20.11.0/24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Applicazione (EC2)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(a, 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10.20.20.0/24 · 10.20.21.0/24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VPN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10.100.0.0/22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Fuori dal VPC (dispensa 4)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8321040" y="1463040"/>
            <a:ext cx="3319272" cy="4480560"/>
          </a:xfrm>
          <a:prstGeom prst="roundRect">
            <a:avLst>
              <a:gd name="adj" fmla="val 330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8549640" y="169164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82880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281160" y="1691640"/>
            <a:ext cx="2130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Pianificare prima</a:t>
            </a:r>
            <a:endParaRPr lang="en-US" sz="1800" dirty="0"/>
          </a:p>
        </p:txBody>
      </p:sp>
      <p:sp>
        <p:nvSpPr>
          <p:cNvPr id="10" name="Text 5"/>
          <p:cNvSpPr txBox="1"/>
          <p:nvPr/>
        </p:nvSpPr>
        <p:spPr>
          <a:xfrm>
            <a:off x="8549640" y="2377440"/>
            <a:ext cx="286207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intervalli privati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sovrapposizione con altri VPC, rete aziendale, VPN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Niente 192.168.0.x e 192.168.1.x: reti di casa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Cambiare il CIDR dopo = ricreare tutto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Zone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11094415" cy="2926080"/>
          </a:xfrm>
          <a:prstGeom prst="roundRect">
            <a:avLst>
              <a:gd name="adj" fmla="val 3750"/>
            </a:avLst>
          </a:prstGeom>
          <a:solidFill>
            <a:srgbClr val="F7F6FD"/>
          </a:solidFill>
          <a:ln w="1905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 eu-south-1 · Milano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914400" y="2011680"/>
            <a:ext cx="32918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194560" y="2194560"/>
            <a:ext cx="731520" cy="73152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7440" y="237744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14400" y="3017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eu-south-1a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914400" y="34747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usata dal corso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572000" y="2011680"/>
            <a:ext cx="32918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852160" y="2194560"/>
            <a:ext cx="731520" cy="73152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37744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72000" y="3017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eu-south-1b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0" y="34747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usata dal corso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8229600" y="2011680"/>
            <a:ext cx="32918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D9D6EC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509760" y="2194560"/>
            <a:ext cx="731520" cy="731520"/>
          </a:xfrm>
          <a:prstGeom prst="ellipse">
            <a:avLst/>
          </a:prstGeom>
          <a:solidFill>
            <a:srgbClr val="5F6478"/>
          </a:solidFill>
          <a:ln w="12700">
            <a:solidFill>
              <a:srgbClr val="5F6478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2377440"/>
            <a:ext cx="365760" cy="3657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229600" y="3017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eu-south-1c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8229600" y="34747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disponibile (az_count = 3)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548640" y="4754880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22960" y="475488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subnet vive in UNA sola AZ → ogni livello si duplica su almeno due AZ.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route table decide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11094415" cy="868680"/>
          </a:xfrm>
          <a:prstGeom prst="roundRect">
            <a:avLst>
              <a:gd name="adj" fmla="val 10526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37160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subnet non è pubblica o privata per un'impostazione: lo è per la sua route table.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514600"/>
            <a:ext cx="3566160" cy="3474720"/>
          </a:xfrm>
          <a:prstGeom prst="roundRect">
            <a:avLst>
              <a:gd name="adj" fmla="val 3158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20240" y="2697480"/>
            <a:ext cx="822960" cy="8229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5980" y="290322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3611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41148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8C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0.0.0.0/0 → Internet Gateway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ed esce, se la risorsa ha un IP pubblico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297680" y="2514600"/>
            <a:ext cx="3566160" cy="3474720"/>
          </a:xfrm>
          <a:prstGeom prst="roundRect">
            <a:avLst>
              <a:gd name="adj" fmla="val 3158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669280" y="2697480"/>
            <a:ext cx="822960" cy="82296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020" y="290322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297680" y="3611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PRIVATA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4480560" y="41148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3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0.0.0.0/0 → NAT Gateway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452628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Esce, ma non è raggiungibile da fuori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8046720" y="2514600"/>
            <a:ext cx="3566160" cy="3474720"/>
          </a:xfrm>
          <a:prstGeom prst="roundRect">
            <a:avLst>
              <a:gd name="adj" fmla="val 3158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418320" y="2697480"/>
            <a:ext cx="822960" cy="82296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4060" y="290322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046720" y="36118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ISOLATA</a:t>
            </a:r>
            <a:endParaRPr lang="en-US" sz="22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0" y="41148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nessuna rotta 0.0.0.0/0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275320" y="470916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Parla solo con il resto del VPC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Vince la rotta più specifica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table di una subnet privata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65176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Destinazione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10.20.0.0/16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local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0.0.0.0/0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nat-0abc…</a:t>
                      </a:r>
                      <a:endParaRPr lang="en-US" sz="1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400800" y="1463040"/>
            <a:ext cx="5239512" cy="1234440"/>
          </a:xfrm>
          <a:prstGeom prst="roundRect">
            <a:avLst>
              <a:gd name="adj" fmla="val 7407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00800" y="1463040"/>
            <a:ext cx="5239512" cy="123444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pacchetto per 10.20.11.7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corrisponde a /16 e a /0 → vince /16 → local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6400800" y="2926080"/>
            <a:ext cx="5239512" cy="1234440"/>
          </a:xfrm>
          <a:prstGeom prst="roundRect">
            <a:avLst>
              <a:gd name="adj" fmla="val 7407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0" y="2926080"/>
            <a:ext cx="5239512" cy="1234440"/>
          </a:xfrm>
          <a:prstGeom prst="rect">
            <a:avLst/>
          </a:prstGeom>
          <a:noFill/>
          <a:ln/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pacchetto per 142.250.180.4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corrisponde solo a /0 → NAT → internet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548640" y="4480560"/>
            <a:ext cx="11094415" cy="914400"/>
          </a:xfrm>
          <a:prstGeom prst="roundRect">
            <a:avLst>
              <a:gd name="adj" fmla="val 10000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48056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traffico interno resta interno: solo quello verso l'esterno segue 0.0.0.0/0.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Raggiungibile da internet: tre condizioni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2880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691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Rotta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377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0.0.0.0/0 verso l'Internet Gateway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4114800" y="21945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11" name="Shape 7"/>
          <p:cNvSpPr/>
          <p:nvPr/>
        </p:nvSpPr>
        <p:spPr>
          <a:xfrm>
            <a:off x="4297680" y="146304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526280" y="169164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82880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257800" y="1691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IP pubblico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2377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automatico (cambia) o Elastic IP (fisso)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7863840" y="21945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3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800" dirty="0"/>
          </a:p>
        </p:txBody>
      </p:sp>
      <p:sp>
        <p:nvSpPr>
          <p:cNvPr id="17" name="Shape 12"/>
          <p:cNvSpPr/>
          <p:nvPr/>
        </p:nvSpPr>
        <p:spPr>
          <a:xfrm>
            <a:off x="8046720" y="146304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275320" y="169164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82880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006840" y="1691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Firewall</a:t>
            </a:r>
            <a:endParaRPr lang="en-US" sz="2000" dirty="0"/>
          </a:p>
        </p:txBody>
      </p:sp>
      <p:sp>
        <p:nvSpPr>
          <p:cNvPr id="21" name="Text 15"/>
          <p:cNvSpPr txBox="1"/>
          <p:nvPr/>
        </p:nvSpPr>
        <p:spPr>
          <a:xfrm>
            <a:off x="8275320" y="2377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 ammettere il traffico: dispensa 3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548640" y="402336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FBE9E9"/>
          </a:solidFill>
          <a:ln w="12700">
            <a:solidFill>
              <a:srgbClr val="FBE9E9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22960" y="4023360"/>
            <a:ext cx="105457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 IP pubblico, in una subnet pubblica non si esce nemmeno. Per uscire senza IP pubblico: subnet privata + NAT.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548640" y="52578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731520" y="539496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map_public_ip_on_launch = false   </a:t>
            </a:r>
            <a:pPr indent="0" marL="0">
              <a:buNone/>
            </a:pPr>
            <a:r>
              <a:rPr lang="en-US" sz="17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mai IP pubblici automatici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 e NAT Gateway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2468880" cy="1188720"/>
          </a:xfrm>
          <a:prstGeom prst="roundRect">
            <a:avLst>
              <a:gd name="adj" fmla="val 769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463040"/>
            <a:ext cx="246888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10.20.10.5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 privata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035808" y="2057400"/>
            <a:ext cx="329184" cy="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3383280" y="1463040"/>
            <a:ext cx="2468880" cy="1188720"/>
          </a:xfrm>
          <a:prstGeom prst="roundRect">
            <a:avLst>
              <a:gd name="adj" fmla="val 7692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83280" y="1463040"/>
            <a:ext cx="246888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mittente → Elastic IP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annota la connessione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870448" y="2057400"/>
            <a:ext cx="329184" cy="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6217920" y="1463040"/>
            <a:ext cx="2468880" cy="1188720"/>
          </a:xfrm>
          <a:prstGeom prst="roundRect">
            <a:avLst>
              <a:gd name="adj" fmla="val 769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0" y="1463040"/>
            <a:ext cx="246888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705088" y="2057400"/>
            <a:ext cx="329184" cy="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9052560" y="1463040"/>
            <a:ext cx="2468880" cy="1188720"/>
          </a:xfrm>
          <a:prstGeom prst="roundRect">
            <a:avLst>
              <a:gd name="adj" fmla="val 7692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052560" y="1463040"/>
            <a:ext cx="246888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7432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risposte tornano indietro · una connessione INIZIATA da fuori non ha nessun percorso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3383280"/>
            <a:ext cx="5440680" cy="2560320"/>
          </a:xfrm>
          <a:prstGeom prst="roundRect">
            <a:avLst>
              <a:gd name="adj" fmla="val 4286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77240" y="361188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749040"/>
            <a:ext cx="274320" cy="27432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508760" y="36118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777240" y="4297680"/>
            <a:ext cx="4983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Collega il VPC a internet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per VPC, gestito da AWS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Gratuito: serve solo una rotta che lo usi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6172200" y="3383280"/>
            <a:ext cx="5440680" cy="2560320"/>
          </a:xfrm>
          <a:prstGeom prst="roundRect">
            <a:avLst>
              <a:gd name="adj" fmla="val 428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400800" y="361188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3749040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132320" y="361188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6400800" y="4297680"/>
            <a:ext cx="4983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uscita, dalle subnet private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 in una subnet PUBBLICA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 in una sola AZ e si paga a ore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NAT o uno per AZ?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2880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69164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NAT per AZ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377440"/>
            <a:ext cx="4983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cade una AZ, le altre escono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più alto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Produzione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172200" y="146304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400800" y="169164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82880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132320" y="169164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NAT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2377440"/>
            <a:ext cx="4983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cade la sua AZ, nessuno esce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più basso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Laboratorio, sviluppo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48640" y="484632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31520" y="4983480"/>
            <a:ext cx="10728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variable "single_nat_gateway"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type    = bool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default = true 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lab: un solo NAT. false = uno per AZ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e Flow Logs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40680" cy="4480560"/>
          </a:xfrm>
          <a:prstGeom prst="roundRect">
            <a:avLst>
              <a:gd name="adj" fmla="val 2449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2880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69164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DNS: la rubrica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37744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Traduce un nome nell'indirizzo IP da contattare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enable_dns_support = true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enable_dns_hostnames = true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Senza: niente nome del database, SSM, VPC endpoint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6172200" y="1463040"/>
            <a:ext cx="5440680" cy="4480560"/>
          </a:xfrm>
          <a:prstGeom prst="roundRect">
            <a:avLst>
              <a:gd name="adj" fmla="val 2449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400800" y="169164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82880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132320" y="1691640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Logs (facoltativi)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237744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ha parlato con chi: sorgente, destinazione, porta, esito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registrano il contenuto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il troubleshooting e la sicurezza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S3, in un bucket dedicato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for_each: una risorsa, tante copie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6400800" cy="3291840"/>
          </a:xfrm>
          <a:prstGeom prst="roundRect">
            <a:avLst>
              <a:gd name="adj" fmla="val 2222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6035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"aws_subnet" "public"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for_each =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"eu-south-1a" = "10.20.0.0/24"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"eu-south-1b" = "10.20.1.0/24"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vpc_id            = aws_vpc.main.id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availability_zone = each.key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chiave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cidr_block        = each.value  </a:t>
            </a:r>
            <a:pPr indent="0" marL="0">
              <a:buNone/>
            </a:pPr>
            <a:r>
              <a:rPr lang="en-US" sz="16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valore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178040" y="137160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risultato: due subnet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178040" y="1874520"/>
            <a:ext cx="4462272" cy="731520"/>
          </a:xfrm>
          <a:prstGeom prst="roundRect">
            <a:avLst>
              <a:gd name="adj" fmla="val 12500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78040" y="1874520"/>
            <a:ext cx="4462272" cy="73152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aws_subnet.public["eu-south-1a"]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178040" y="2743200"/>
            <a:ext cx="4462272" cy="731520"/>
          </a:xfrm>
          <a:prstGeom prst="roundRect">
            <a:avLst>
              <a:gd name="adj" fmla="val 12500"/>
            </a:avLst>
          </a:prstGeom>
          <a:solidFill>
            <a:srgbClr val="EEEAFB"/>
          </a:solidFill>
          <a:ln w="12700">
            <a:solidFill>
              <a:srgbClr val="EEEA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78040" y="2743200"/>
            <a:ext cx="4462272" cy="73152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aws_subnet.public["eu-south-1b"]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178040" y="3703320"/>
            <a:ext cx="4462272" cy="960120"/>
          </a:xfrm>
          <a:prstGeom prst="roundRect">
            <a:avLst>
              <a:gd name="adj" fmla="val 9524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52360" y="3703320"/>
            <a:ext cx="39136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copia ha un nome stabile (la AZ): aggiungere o togliere una AZ tocca solo quella.</a:t>
            </a:r>
            <a:endParaRPr lang="en-US" sz="1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46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023360"/>
                <a:gridCol w="432511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Dentro il blocco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Esempio (prima copia)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each.key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chiave dell'elemento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"eu-south-1a"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each.value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valore dell'elemento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"10.20.0.0/24"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espressioni for: una formula per ogni elemento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2588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32588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legge: "per ogni x nella lista, calcola questo".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5669280" cy="868680"/>
          </a:xfrm>
          <a:prstGeom prst="roundRect">
            <a:avLst>
              <a:gd name="adj" fmla="val 8421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42316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[for x in ["a", "b"] : upper(x)]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263640" y="2715768"/>
            <a:ext cx="365760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6720840" y="2286000"/>
            <a:ext cx="2651760" cy="868680"/>
          </a:xfrm>
          <a:prstGeom prst="roundRect">
            <a:avLst>
              <a:gd name="adj" fmla="val 10526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20840" y="2286000"/>
            <a:ext cx="2651760" cy="868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["A", "B"]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9509760" y="2286000"/>
            <a:ext cx="2130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] → produce una LISTA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611880"/>
            <a:ext cx="5669280" cy="868680"/>
          </a:xfrm>
          <a:prstGeom prst="roundRect">
            <a:avLst>
              <a:gd name="adj" fmla="val 8421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74904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{for x in ["a", "b"] : x =&gt; upper(x)}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263640" y="4041648"/>
            <a:ext cx="365760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6720840" y="3611880"/>
            <a:ext cx="2651760" cy="868680"/>
          </a:xfrm>
          <a:prstGeom prst="roundRect">
            <a:avLst>
              <a:gd name="adj" fmla="val 10526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720840" y="3611880"/>
            <a:ext cx="2651760" cy="868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a = "A", b = "B" }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9509760" y="3611880"/>
            <a:ext cx="2130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 } e =&gt; → una MAPPA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4937760"/>
            <a:ext cx="5669280" cy="868680"/>
          </a:xfrm>
          <a:prstGeom prst="roundRect">
            <a:avLst>
              <a:gd name="adj" fmla="val 8421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07492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[for i, x in ["a", "b"] : "${i}-${x}"]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6263640" y="5367528"/>
            <a:ext cx="365760" cy="0"/>
          </a:xfrm>
          <a:prstGeom prst="line">
            <a:avLst/>
          </a:prstGeom>
          <a:noFill/>
          <a:ln w="25400">
            <a:solidFill>
              <a:srgbClr val="5B3FD0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6720840" y="4937760"/>
            <a:ext cx="2651760" cy="868680"/>
          </a:xfrm>
          <a:prstGeom prst="roundRect">
            <a:avLst>
              <a:gd name="adj" fmla="val 10526"/>
            </a:avLst>
          </a:prstGeom>
          <a:solidFill>
            <a:srgbClr val="E5F4EC"/>
          </a:solidFill>
          <a:ln w="12700">
            <a:solidFill>
              <a:srgbClr val="E5F4E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720840" y="4937760"/>
            <a:ext cx="2651760" cy="868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["0-a", "1-b"]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9509760" y="4937760"/>
            <a:ext cx="2130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= la posizione (da 0)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Tutta la rete da tre variabili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6949440" cy="2514600"/>
          </a:xfrm>
          <a:prstGeom prst="roundRect">
            <a:avLst>
              <a:gd name="adj" fmla="val 2909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65836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subnets =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i, az in local.azs : az =&gt;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 = cidrsubnet(var.vpc_cidr, 8, 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= cidrsubnet(var.vpc_cidr, 8, 10 + 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db      = cidrsubnet(var.vpc_cidr, 8, 20 + 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680960" y="1371600"/>
            <a:ext cx="3959352" cy="2514600"/>
          </a:xfrm>
          <a:prstGeom prst="roundRect">
            <a:avLst>
              <a:gd name="adj" fmla="val 3636"/>
            </a:avLst>
          </a:prstGeom>
          <a:solidFill>
            <a:srgbClr val="FDF0E3"/>
          </a:solidFill>
          <a:ln w="12700">
            <a:solidFill>
              <a:srgbClr val="FDF0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09560" y="1371600"/>
            <a:ext cx="35661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cidrsubnet(blocco, 8, n)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la /16 in /24 e dà la numero n: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finisce nel terzo numero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5B3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21 → 10.20.21.0/24</a:t>
            </a:r>
            <a:endParaRPr lang="en-US" sz="1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9768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377440"/>
                <a:gridCol w="2651760"/>
                <a:gridCol w="2651760"/>
                <a:gridCol w="26791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3FD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eu-south-1a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10.20.0.0/24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10.20.10.0/24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10.20.20.0/24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eu-south-1b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10.20.11.0/24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5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10.20.21.0/24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D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Esercizio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 2 · VPC: la rete privata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14173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console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cidrsubnet: corrisponde al piano?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25603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le risorse per tipo e spiegale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379476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37033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 + CLI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porta 0.0.0.0/0 in ogni tabella?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493776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8463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-var single_nat_gateway=false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si crea, cosa si modifica?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172200" y="150876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17220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995160" y="14173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-var az_count=3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subnet esistenti vengono toccate?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172200" y="265176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17220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6995160" y="25603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 -var vpc_cidr=10.30.0.0/16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è la più pericolosa?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172200" y="3794760"/>
            <a:ext cx="640080" cy="640080"/>
          </a:xfrm>
          <a:prstGeom prst="ellipse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172200" y="3794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6995160" y="37033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Logs (facoltativo)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arrivano file nel bucket?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172200" y="4937760"/>
            <a:ext cx="640080" cy="64008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17220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6995160" y="48463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5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5F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NAT si paga a ore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F64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Riepilogo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69494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VPC è la tua rete isolata; il VPC di default non si usa per niente di serio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CIDR si pianifica prima: niente sovrapposizioni, niente reti di casa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subnet vive in una sola AZ: ogni livello su almeno due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route table decide: pubblica, privata o isolata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IGW: entra ed esce. NAT: solo uscita, in subnet pubblica, si paga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E4E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sempre attivo, ogni subnet associata esplicitamente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955280" y="1463040"/>
            <a:ext cx="3685032" cy="2103120"/>
          </a:xfrm>
          <a:prstGeom prst="roundRect">
            <a:avLst>
              <a:gd name="adj" fmla="val 5217"/>
            </a:avLst>
          </a:prstGeom>
          <a:solidFill>
            <a:srgbClr val="2A2F55"/>
          </a:solidFill>
          <a:ln w="12700">
            <a:solidFill>
              <a:srgbClr val="2A2F5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83880" y="164592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Materiale di studio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dispense/dispensa-2-vpc.md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955280" y="3840480"/>
            <a:ext cx="3685032" cy="1463040"/>
          </a:xfrm>
          <a:prstGeom prst="roundRect">
            <a:avLst>
              <a:gd name="adj" fmla="val 7500"/>
            </a:avLst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183880" y="40233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D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Prossima lezione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Firewall: Security Group e NACL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cereZ23</dc:creator>
  <cp:lastModifiedBy>cereZ23</cp:lastModifiedBy>
  <cp:revision>1</cp:revision>
  <dcterms:created xsi:type="dcterms:W3CDTF">2026-09-30T12:49:29Z</dcterms:created>
  <dcterms:modified xsi:type="dcterms:W3CDTF">2026-09-30T12:49:29Z</dcterms:modified>
</cp:coreProperties>
</file>