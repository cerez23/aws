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Oggi costruiamo la rete in cui vivranno server e database. Partiamo dalle basi, senza dare niente per scontato: cos'è un indirizzo, come si divide una rete, come si esce su internet. Poi vediamo come Terraform crea tutta la rete da poche variabili.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Nelle prossime lezioni avremo dei server, che in AWS si chiamano EC2, e un database, che si chiama RDS. I server devono parlare con il database e scaricare aggiornamenti da internet. Il database invece non deve essere raggiungibile da internet. Una rete è un insieme di computer collegati che si scambiano dati usando degli indirizzi. In AWS la nostra rete privata si chiama VPC, e decide chi può parlare con chi.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VPC, Virtual Private Cloud, è una rete privata e isolata dentro AWS, tutta vostra. L'analogia dell'edificio: le subnet sono i piani, la route table è la segnaletica di ogni piano, l'Internet Gateway è il portone sulla strada, il NAT Gateway è un'uscita di servizio: si esce, ma nessuno entra da lì. AWS crea anche un VPC di default in ogni regione, con tutto aperto: comodo per le prove, non per noi. Creiamo il nostro.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rete che avremo alla fine. Non serve capirla tutta adesso: ogni parola la spieghiamo nelle prossime slide, e alla fine la rivediamo. Due data center di Milano, e in ognuno tre piani: pubblico, dove sta il NAT; privato, dove staranno i server; database, che non esce su internet. Il portone, l'Internet Gateway, collega le subnet pubbliche a internet.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Ogni dispositivo in rete ha un indirizzo IP, come un numero di telefono: serve agli altri per mandargli dati. È fatto di quattro numeri da 0 a 255. I dati viaggiano in pacchetti, pezzetti di dati con scritto mittente e destinatario, come una busta. Gli IP pubblici sono come un numero diretto: raggiungibili da tutto il mondo. Gli IP privati sono come un interno aziendale: valgono solo dentro l'ufficio. Il nostro VPC usa solo IP privati; per chiamare fuori serve un centralino, il NAT.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 dire un intero gruppo di indirizzi si usa la notazione CIDR: un indirizzo, una barra e un numero. Il numero dopo la barra dice quanta parte dell'indirizzo è fissa. Barra 16: i primi due numeri sono fissi, gli altri due liberi: 10.20 punto qualunque cosa, sessantacinquemila indirizzi. Barra 24: i primi tre fissi, 256 indirizzi. Barra zero: niente fisso, cioè qualunque indirizzo, tutto internet. Tecnicamente il numero conta i bit, otto per ogni numero dell'indirizzo.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regione è una città con i data center di AWS: per noi Milano. Dentro la regione ci sono più Availability Zone, abbreviato AZ: data center separati, ognuno con corrente e rete proprie. Se uno si guasta, gli altri continuano a funzionare. Milano ne ha tre. Il punto chiave: una subnet sta in un solo data center. Quindi ogni tipo di subnet, pubblica, privata e database, va creato in almeno due AZ.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Prima di scrivere codice si decide il piano degli indirizzi: cambiarlo dopo significa ricreare tutta la rete. Tutta la rete usa 10.20. Le subnet usano il terzo numero per il tipo: da 0 a 9 le pubbliche, da 10 a 19 le private, da 20 a 29 i database; i buchi lasciano spazio a nuove AZ. Due regole: se due reti collegate usano gli stessi numeri, i pacchetti non sanno dove andare; e niente 192.168, che è la rete di casa: da casa, con la VPN, il PC confonderebbe le due reti.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Ogni subnet ha una route table: un elenco di regole del tipo per andare verso questi indirizzi, passa da qui. Ogni regola si chiama rotta. Una subnet non è pubblica o privata per un'impostazione, lo è per la sua route table: si guarda dove porta la rotta zero zero zero zero barra zero, cioè tutto internet. Verso l'Internet Gateway: pubblica, qui mettiamo il NAT. Verso il NAT: privata, qui i server. Nessuna rotta: isolata, qui il database.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Ogni route table ha sempre la rotta local: tutti gli indirizzi della nostra rete, 10.20.0.0 barra 16, restano dentro. Se un indirizzo corrisponde a più rotte, vince la più precisa. È come la posta: via Roma 5, Milano batte Italia. Un pacchetto per 10.20.11.7 inizia con 10.20, quindi sta dentro la rete; sta anche in barra zero, che è tutto; vince la più precisa, local. Un pacchetto per un server di Google corrisponde solo a barra zero, quindi va al NAT e poi su internet.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L'Internet Gateway è il portone tra la rete e internet: uno per rete, gestito da AWS, gratuito. Il NAT Gateway serve ai server delle subnet private, che hanno solo indirizzi privati. Funziona come un centralino: quando un server chiama fuori, il NAT sostituisce l'indirizzo privato con il suo indirizzo pubblico e si ricorda chi ha chiamato, così sa a chi girare la risposta. Una chiamata che arriva da fuori senza essere una risposta non ha nessuno a cui andare, e viene scartata. Il NAT non ha un'uscita propria: passa anche lui dal portone.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 essere raggiungibile da internet servono tre cose insieme: la rotta verso il portone, un indirizzo pubblico, e un firewall che lasci passare, che vediamo nella prossima lezione. L'indirizzo pubblico può essere automatico, assegnato all'avvio e diverso a ogni riavvio, oppure un Elastic IP: un indirizzo pubblico fisso che si affitta da AWS. Attenzione: in una subnet pubblica, senza indirizzo pubblico non si esce nemmeno. Per sicurezza, nelle nostre subnet nessun server riceve un indirizzo pubblico se non lo chiediamo.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NAT vive in un solo data center. Con un NAT per AZ, se un data center si guasta gli altri server continuano a uscire su internet, ma si pagano più NAT: è la scelta di produzione. Con un solo NAT, se cade il suo data center i server privati di tutte le AZ perdono internet, mentre il database non ne risente perché non esce comunque; costa meno ed è la scelta da laboratorio. Nel codice è una variabile: Terraform crea un NAT se è true, uno per AZ se è false.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Nessuno ricorda gli indirizzi a memoria: si usano i nomi. Il DNS è la rubrica che traduce un nome nell'indirizzo da chiamare. Per esempio il nome del nostro database diventerà un indirizzo come 10.20.20.15. In AWS i servizi si raggiungono per nome, quindi nel VPC vanno accese due opzioni: una fa rispondere il VPC alle domande sui nomi, l'altra dà un nome alle risorse. Senza, il database e altri servizi non si trovano.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Flow Logs registrano ogni connessione nella rete: chi ha chiamato, chi ha risposto, su quale porta, e se è stata accettata o rifiutata. Non il contenuto. La porta è come lo sportello di un servizio: 443 per i siti web, 5432 per il database PostgreSQL. Servono per capire perché una connessione non funziona e per la sicurezza, per esempio scoprire qualcuno che prova tutte le porte. Sono facoltativi e si salvano in un bucket S3.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Passiamo al codice. aws_vpc crea la rete: cidr_block è il gruppo di indirizzi, preso dalla variabile vpc_cidr, e le due opzioni DNS sono accese. aws_internet_gateway crea il portone, e vpc_id dice a quale rete attaccarlo: aws_vpc.main.id è l'identificativo della rete appena creata. Come nella lezione 0, questo riferimento dice a Terraform di creare prima la rete e poi il portone.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Nuovo costrutto. Il problema: serve la stessa subnet in due data center, cambiano solo AZ e indirizzi. Invece di copiare il blocco due volte, for_each lo ripete per ogni elemento di una mappa. Dentro il blocco, each.key è la chiave dell'elemento corrente, qui la AZ, ed each.value il valore, qui gli indirizzi. Qui la mappa è scritta a mano; tra due slide la calcola Terraform. Se aggiungete eu-south-1c, Terraform crea solo quella e non tocca le altre.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 calcolare la mappa invece di scriverla a mano serve un secondo costrutto, l'espressione for: costruisce una lista o una mappa applicando una formula a ogni elemento. Si legge: per ogni x nella lista, calcola questo. Tra parentesi quadre produce una lista; tra graffe, con la freccia uguale maggiore, una mappa. Con due nomi, i e x, i è la posizione, contando da zero. upper rende maiuscolo; dollaro graffa inserisce un valore nel testo, come nella lezione 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Ecco come Terraform calcola la mappa. local.azs contiene le prime AZ della regione: quante, lo dice la variabile az_count. Per ogni AZ, con la sua posizione i, calcoliamo tre indirizzi con la funzione cidrsubnet: prende la rete barra 16, la restringe di 8, cioè a barra 24, e prende la numero n. Pubblica i, privata dieci più i, database venti più i. Il risultato è la mappa che for_each usa: for_each uguale local.subnets, e ogni subnet prende each.value.public, private o db.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Ultimo pezzo di codice. aws_eip affitta l'indirizzo pubblico fisso per il NAT. aws_nat_gateway crea il NAT e lo mette in una subnet pubblica. aws_route_table crea la segnaletica, aws_route aggiunge la regola: per tutto internet, passa dal NAT. aws_route_table_association collega ogni subnet alla sua route table. Importante: una subnet senza collegamento usa la tabella principale della rete, e se qualcuno ci aggiunge una rotta verso internet diventa pubblica per sbaglio. Per questo ogni subnet ha il suo collegamento esplicito.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Rivediamo lo schema dell'inizio: ora ogni parola ha un significato. La rete 10.20 barra 16 a Milano, due data center, in ognuno tre subnet barra 24. Le pubbliche hanno la rotta verso il portone; lì sta il NAT. Le private hanno la rotta verso il NAT: escono, ma nessuno entra. I database non hanno rotte verso internet. Il DNS è acceso. E tutto questo lo crea Terraform da tre variabili: vpc_cidr, az_count e single_nat_gateway.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L'esercizio completo è nella sezione 9 della dispensa. Uno: provate cidrsubnet in terraform console, il risultato atteso è 10.20.21.0/24. Due: plan, e contate le risorse per tipo. Tre: apply, poi controllate le route table con il comando della dispensa. Quattro, cinque e sei: tre plan con meno var, che cambia una variabile solo per quel comando. Il sesto, con un indirizzo diverso, mostra che si ricrea tutto: guardate quante risorse vengono sostituite. Otto: destroy subito, perché il NAT si paga a ore anche se non lo usate.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Riassumendo. Il materiale di studio è la dispensa 2: contiene le basi di rete, il codice completo spiegato passo per passo e l'esercizio con i risultati attesi. Oggi abbiamo visto dove il traffico può andare; la prossima volta vediamo cosa può passare: i firewall.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89520" y="548640"/>
            <a:ext cx="420624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0" b="1" dirty="0">
                <a:solidFill>
                  <a:srgbClr val="5B3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0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2 · VPC: la rete privata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7772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VPC: la rete privata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02336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9C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Indirizzi, subnet, uscite verso internet, e come Terraform costruisce tutto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035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Corso: Infrastruttura AWS con Terraform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Perché serve una rete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2 · VPC: la rete privata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280160"/>
            <a:ext cx="11094415" cy="731520"/>
          </a:xfrm>
          <a:prstGeom prst="roundRect">
            <a:avLst>
              <a:gd name="adj" fmla="val 125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28016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 = computer collegati che si scambiano dati usando indirizzi.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548640" y="2240280"/>
            <a:ext cx="3566160" cy="2103120"/>
          </a:xfrm>
          <a:prstGeom prst="roundRect">
            <a:avLst>
              <a:gd name="adj" fmla="val 5217"/>
            </a:avLst>
          </a:prstGeom>
          <a:solidFill>
            <a:srgbClr val="F7F6FD"/>
          </a:solidFill>
          <a:ln w="12700">
            <a:solidFill>
              <a:srgbClr val="D9D6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920240" y="2423160"/>
            <a:ext cx="822960" cy="82296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25980" y="2628900"/>
            <a:ext cx="411480" cy="4114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48640" y="33375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(EC2)</a:t>
            </a:r>
            <a:endParaRPr lang="en-US" sz="19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379476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l'applicazione: lezione 4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4297680" y="2240280"/>
            <a:ext cx="3566160" cy="2103120"/>
          </a:xfrm>
          <a:prstGeom prst="roundRect">
            <a:avLst>
              <a:gd name="adj" fmla="val 5217"/>
            </a:avLst>
          </a:prstGeom>
          <a:solidFill>
            <a:srgbClr val="F7F6FD"/>
          </a:solidFill>
          <a:ln w="12700">
            <a:solidFill>
              <a:srgbClr val="D9D6EC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5669280" y="2423160"/>
            <a:ext cx="822960" cy="822960"/>
          </a:xfrm>
          <a:prstGeom prst="ellipse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5020" y="2628900"/>
            <a:ext cx="411480" cy="4114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297680" y="33375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(RDS)</a:t>
            </a:r>
            <a:endParaRPr lang="en-US" sz="1900" dirty="0"/>
          </a:p>
        </p:txBody>
      </p:sp>
      <p:sp>
        <p:nvSpPr>
          <p:cNvPr id="16" name="Text 11"/>
          <p:cNvSpPr txBox="1"/>
          <p:nvPr/>
        </p:nvSpPr>
        <p:spPr>
          <a:xfrm>
            <a:off x="4297680" y="379476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dati: lezione 6</a:t>
            </a:r>
            <a:endParaRPr lang="en-US" sz="1500" dirty="0"/>
          </a:p>
        </p:txBody>
      </p:sp>
      <p:sp>
        <p:nvSpPr>
          <p:cNvPr id="17" name="Shape 12"/>
          <p:cNvSpPr/>
          <p:nvPr/>
        </p:nvSpPr>
        <p:spPr>
          <a:xfrm>
            <a:off x="8046720" y="2240280"/>
            <a:ext cx="3566160" cy="2103120"/>
          </a:xfrm>
          <a:prstGeom prst="roundRect">
            <a:avLst>
              <a:gd name="adj" fmla="val 5217"/>
            </a:avLst>
          </a:prstGeom>
          <a:solidFill>
            <a:srgbClr val="F7F6FD"/>
          </a:solidFill>
          <a:ln w="12700">
            <a:solidFill>
              <a:srgbClr val="D9D6EC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9418320" y="2423160"/>
            <a:ext cx="822960" cy="82296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24060" y="2628900"/>
            <a:ext cx="411480" cy="41148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46720" y="33375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</a:t>
            </a:r>
            <a:endParaRPr lang="en-US" sz="1900" dirty="0"/>
          </a:p>
        </p:txBody>
      </p:sp>
      <p:sp>
        <p:nvSpPr>
          <p:cNvPr id="21" name="Text 15"/>
          <p:cNvSpPr txBox="1"/>
          <p:nvPr/>
        </p:nvSpPr>
        <p:spPr>
          <a:xfrm>
            <a:off x="8046720" y="379476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aggiornamenti, utenti</a:t>
            </a:r>
            <a:endParaRPr lang="en-US" sz="1500" dirty="0"/>
          </a:p>
        </p:txBody>
      </p:sp>
      <p:sp>
        <p:nvSpPr>
          <p:cNvPr id="22" name="Shape 16"/>
          <p:cNvSpPr/>
          <p:nvPr/>
        </p:nvSpPr>
        <p:spPr>
          <a:xfrm>
            <a:off x="548640" y="4663440"/>
            <a:ext cx="11094415" cy="1188720"/>
          </a:xfrm>
          <a:prstGeom prst="roundRect">
            <a:avLst>
              <a:gd name="adj" fmla="val 7692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822960" y="4663440"/>
            <a:ext cx="105457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server deve parlare con il database e con internet. Il database NON deve essere raggiungibile da internet. Chi decide? La rete: il VPC.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VPC è un edificio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2 · VPC: la rete privata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325880"/>
            <a:ext cx="685800" cy="68580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0090" y="1497330"/>
            <a:ext cx="342900" cy="3429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63040" y="132588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4206240" y="1325880"/>
            <a:ext cx="7406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l'edificio: la tua rete privata e isolata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548640" y="2167128"/>
            <a:ext cx="685800" cy="68580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90" y="2338578"/>
            <a:ext cx="342900" cy="3429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463040" y="2167128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Subnet</a:t>
            </a:r>
            <a:endParaRPr lang="en-US" sz="2000" dirty="0"/>
          </a:p>
        </p:txBody>
      </p:sp>
      <p:sp>
        <p:nvSpPr>
          <p:cNvPr id="12" name="Text 7"/>
          <p:cNvSpPr txBox="1"/>
          <p:nvPr/>
        </p:nvSpPr>
        <p:spPr>
          <a:xfrm>
            <a:off x="4206240" y="2167128"/>
            <a:ext cx="7406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piani: pezzi della rete</a:t>
            </a:r>
            <a:endParaRPr lang="en-US" sz="1800" dirty="0"/>
          </a:p>
        </p:txBody>
      </p:sp>
      <p:sp>
        <p:nvSpPr>
          <p:cNvPr id="13" name="Shape 8"/>
          <p:cNvSpPr/>
          <p:nvPr/>
        </p:nvSpPr>
        <p:spPr>
          <a:xfrm>
            <a:off x="548640" y="3008376"/>
            <a:ext cx="685800" cy="68580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90" y="3179826"/>
            <a:ext cx="342900" cy="3429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463040" y="3008376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table</a:t>
            </a:r>
            <a:endParaRPr lang="en-US" sz="2000" dirty="0"/>
          </a:p>
        </p:txBody>
      </p:sp>
      <p:sp>
        <p:nvSpPr>
          <p:cNvPr id="16" name="Text 10"/>
          <p:cNvSpPr txBox="1"/>
          <p:nvPr/>
        </p:nvSpPr>
        <p:spPr>
          <a:xfrm>
            <a:off x="4206240" y="3008376"/>
            <a:ext cx="7406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segnaletica: dove si va da ogni piano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548640" y="3849624"/>
            <a:ext cx="685800" cy="68580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090" y="4021074"/>
            <a:ext cx="342900" cy="34290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463040" y="3849624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Gateway</a:t>
            </a:r>
            <a:endParaRPr lang="en-US" sz="2000" dirty="0"/>
          </a:p>
        </p:txBody>
      </p:sp>
      <p:sp>
        <p:nvSpPr>
          <p:cNvPr id="20" name="Text 13"/>
          <p:cNvSpPr txBox="1"/>
          <p:nvPr/>
        </p:nvSpPr>
        <p:spPr>
          <a:xfrm>
            <a:off x="4206240" y="3849624"/>
            <a:ext cx="7406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portone sulla strada: si entra e si esce</a:t>
            </a:r>
            <a:endParaRPr lang="en-US" sz="1800" dirty="0"/>
          </a:p>
        </p:txBody>
      </p:sp>
      <p:sp>
        <p:nvSpPr>
          <p:cNvPr id="21" name="Shape 14"/>
          <p:cNvSpPr/>
          <p:nvPr/>
        </p:nvSpPr>
        <p:spPr>
          <a:xfrm>
            <a:off x="548640" y="4690872"/>
            <a:ext cx="685800" cy="68580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090" y="4862322"/>
            <a:ext cx="342900" cy="34290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1463040" y="4690872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 Gateway</a:t>
            </a:r>
            <a:endParaRPr lang="en-US" sz="2000" dirty="0"/>
          </a:p>
        </p:txBody>
      </p:sp>
      <p:sp>
        <p:nvSpPr>
          <p:cNvPr id="24" name="Text 16"/>
          <p:cNvSpPr txBox="1"/>
          <p:nvPr/>
        </p:nvSpPr>
        <p:spPr>
          <a:xfrm>
            <a:off x="4206240" y="4690872"/>
            <a:ext cx="7406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l'uscita di servizio: si esce, non si entra</a:t>
            </a:r>
            <a:endParaRPr lang="en-US" sz="1800" dirty="0"/>
          </a:p>
        </p:txBody>
      </p:sp>
      <p:sp>
        <p:nvSpPr>
          <p:cNvPr id="25" name="Shape 17"/>
          <p:cNvSpPr/>
          <p:nvPr/>
        </p:nvSpPr>
        <p:spPr>
          <a:xfrm>
            <a:off x="548640" y="5577840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26" name="Text 18"/>
          <p:cNvSpPr txBox="1"/>
          <p:nvPr/>
        </p:nvSpPr>
        <p:spPr>
          <a:xfrm>
            <a:off x="822960" y="5577840"/>
            <a:ext cx="105457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crea un VPC "di default" con tutto aperto: comodo per le prove, non per noi. Creiamo il nostro.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Dove arriviamo (ogni parola la spieghiamo dopo)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2 · VPC: la rete privata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280160"/>
            <a:ext cx="11094415" cy="4937760"/>
          </a:xfrm>
          <a:prstGeom prst="roundRect">
            <a:avLst>
              <a:gd name="adj" fmla="val 2222"/>
            </a:avLst>
          </a:prstGeom>
          <a:solidFill>
            <a:srgbClr val="F7F6FD"/>
          </a:solidFill>
          <a:ln w="19050">
            <a:solidFill>
              <a:srgbClr val="5B3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3258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B3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nostra rete (VPC) · Milano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846320" y="1417320"/>
            <a:ext cx="2468880" cy="594360"/>
          </a:xfrm>
          <a:prstGeom prst="roundRect">
            <a:avLst>
              <a:gd name="adj" fmla="val 15385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846320" y="1417320"/>
            <a:ext cx="2468880" cy="5943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Gateway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7360920" y="1709928"/>
            <a:ext cx="1097280" cy="0"/>
          </a:xfrm>
          <a:prstGeom prst="line">
            <a:avLst/>
          </a:prstGeom>
          <a:noFill/>
          <a:ln w="25400">
            <a:solidFill>
              <a:srgbClr val="1B1F3B"/>
            </a:solidFill>
            <a:prstDash val="solid"/>
            <a:headEnd type="triangle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8503920" y="1417320"/>
            <a:ext cx="2011680" cy="594360"/>
          </a:xfrm>
          <a:prstGeom prst="roundRect">
            <a:avLst>
              <a:gd name="adj" fmla="val 15385"/>
            </a:avLst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503920" y="1417320"/>
            <a:ext cx="2011680" cy="5943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822960" y="2240280"/>
            <a:ext cx="5303520" cy="384048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2700">
            <a:solidFill>
              <a:srgbClr val="D9D6E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97280" y="226771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center A (AZ 1a)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1097280" y="2606040"/>
            <a:ext cx="4754880" cy="1018032"/>
          </a:xfrm>
          <a:prstGeom prst="roundRect">
            <a:avLst>
              <a:gd name="adj" fmla="val 8982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97280" y="2606040"/>
            <a:ext cx="4754880" cy="1018032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Subnet PUBBLICA</a:t>
            </a:r>
            <a:endParaRPr lang="en-US" sz="15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 Gateway · entra ed esce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1097280" y="3733800"/>
            <a:ext cx="4754880" cy="1018032"/>
          </a:xfrm>
          <a:prstGeom prst="roundRect">
            <a:avLst>
              <a:gd name="adj" fmla="val 8982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3733800"/>
            <a:ext cx="4754880" cy="1018032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Subnet PRIVATA</a:t>
            </a:r>
            <a:endParaRPr lang="en-US" sz="15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EC2 · esce tramite il NAT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1097280" y="4861560"/>
            <a:ext cx="4754880" cy="1018032"/>
          </a:xfrm>
          <a:prstGeom prst="roundRect">
            <a:avLst>
              <a:gd name="adj" fmla="val 8982"/>
            </a:avLst>
          </a:prstGeom>
          <a:solidFill>
            <a:srgbClr val="E5F4EC"/>
          </a:solidFill>
          <a:ln w="12700">
            <a:solidFill>
              <a:srgbClr val="E5F4E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097280" y="4861560"/>
            <a:ext cx="4754880" cy="1018032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Subnet DATABASE</a:t>
            </a:r>
            <a:endParaRPr lang="en-US" sz="15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RDS · nessuna uscita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6400800" y="2240280"/>
            <a:ext cx="5303520" cy="384048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2700">
            <a:solidFill>
              <a:srgbClr val="D9D6E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86800" y="226771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center B (AZ 1b)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6675120" y="2606040"/>
            <a:ext cx="4754880" cy="1018032"/>
          </a:xfrm>
          <a:prstGeom prst="roundRect">
            <a:avLst>
              <a:gd name="adj" fmla="val 8982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675120" y="2606040"/>
            <a:ext cx="4754880" cy="1018032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Subnet PUBBLICA</a:t>
            </a:r>
            <a:endParaRPr lang="en-US" sz="15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 ed esce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6675120" y="3733800"/>
            <a:ext cx="4754880" cy="1018032"/>
          </a:xfrm>
          <a:prstGeom prst="roundRect">
            <a:avLst>
              <a:gd name="adj" fmla="val 8982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675120" y="3733800"/>
            <a:ext cx="4754880" cy="1018032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Subnet PRIVATA</a:t>
            </a:r>
            <a:endParaRPr lang="en-US" sz="15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EC2 · usa il NAT dell'altra AZ</a:t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6675120" y="4861560"/>
            <a:ext cx="4754880" cy="1018032"/>
          </a:xfrm>
          <a:prstGeom prst="roundRect">
            <a:avLst>
              <a:gd name="adj" fmla="val 8982"/>
            </a:avLst>
          </a:prstGeom>
          <a:solidFill>
            <a:srgbClr val="E5F4EC"/>
          </a:solidFill>
          <a:ln w="12700">
            <a:solidFill>
              <a:srgbClr val="E5F4E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675120" y="4861560"/>
            <a:ext cx="4754880" cy="1018032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Subnet DATABASE</a:t>
            </a:r>
            <a:endParaRPr lang="en-US" sz="15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RDS · nessuna uscita</a:t>
            </a:r>
            <a:endParaRPr lang="en-US" sz="1500" dirty="0"/>
          </a:p>
        </p:txBody>
      </p:sp>
      <p:sp>
        <p:nvSpPr>
          <p:cNvPr id="28" name="Shape 25"/>
          <p:cNvSpPr/>
          <p:nvPr/>
        </p:nvSpPr>
        <p:spPr>
          <a:xfrm>
            <a:off x="5394960" y="2011680"/>
            <a:ext cx="0" cy="594360"/>
          </a:xfrm>
          <a:prstGeom prst="line">
            <a:avLst/>
          </a:prstGeom>
          <a:noFill/>
          <a:ln w="25400">
            <a:solidFill>
              <a:srgbClr val="1B1F3B"/>
            </a:solidFill>
            <a:prstDash val="solid"/>
            <a:headEnd type="triangle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6766560" y="2011680"/>
            <a:ext cx="0" cy="594360"/>
          </a:xfrm>
          <a:prstGeom prst="line">
            <a:avLst/>
          </a:prstGeom>
          <a:noFill/>
          <a:ln w="25400">
            <a:solidFill>
              <a:srgbClr val="1B1F3B"/>
            </a:solidFill>
            <a:prstDash val="solid"/>
            <a:headEnd type="triangle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indirizzi IP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2 · VPC: la rete privata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417320"/>
            <a:ext cx="1234440" cy="1005840"/>
          </a:xfrm>
          <a:prstGeom prst="roundRect">
            <a:avLst>
              <a:gd name="adj" fmla="val 9091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417320"/>
            <a:ext cx="1234440" cy="10058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1783080" y="1417320"/>
            <a:ext cx="182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1965960" y="1417320"/>
            <a:ext cx="1234440" cy="1005840"/>
          </a:xfrm>
          <a:prstGeom prst="roundRect">
            <a:avLst>
              <a:gd name="adj" fmla="val 9091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965960" y="1417320"/>
            <a:ext cx="1234440" cy="10058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3200400" y="1417320"/>
            <a:ext cx="182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3400" dirty="0"/>
          </a:p>
        </p:txBody>
      </p:sp>
      <p:sp>
        <p:nvSpPr>
          <p:cNvPr id="11" name="Shape 8"/>
          <p:cNvSpPr/>
          <p:nvPr/>
        </p:nvSpPr>
        <p:spPr>
          <a:xfrm>
            <a:off x="3383280" y="1417320"/>
            <a:ext cx="1234440" cy="1005840"/>
          </a:xfrm>
          <a:prstGeom prst="roundRect">
            <a:avLst>
              <a:gd name="adj" fmla="val 9091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383280" y="1417320"/>
            <a:ext cx="1234440" cy="10058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3400" dirty="0"/>
          </a:p>
        </p:txBody>
      </p:sp>
      <p:sp>
        <p:nvSpPr>
          <p:cNvPr id="13" name="Text 10"/>
          <p:cNvSpPr txBox="1"/>
          <p:nvPr/>
        </p:nvSpPr>
        <p:spPr>
          <a:xfrm>
            <a:off x="4617720" y="1417320"/>
            <a:ext cx="182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3400" dirty="0"/>
          </a:p>
        </p:txBody>
      </p:sp>
      <p:sp>
        <p:nvSpPr>
          <p:cNvPr id="14" name="Shape 11"/>
          <p:cNvSpPr/>
          <p:nvPr/>
        </p:nvSpPr>
        <p:spPr>
          <a:xfrm>
            <a:off x="4800600" y="1417320"/>
            <a:ext cx="1234440" cy="1005840"/>
          </a:xfrm>
          <a:prstGeom prst="roundRect">
            <a:avLst>
              <a:gd name="adj" fmla="val 9091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800600" y="1417320"/>
            <a:ext cx="1234440" cy="10058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34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251460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 = come un numero di telefono · 4 numeri da 0 a 255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548640" y="3108960"/>
            <a:ext cx="5577840" cy="1097280"/>
          </a:xfrm>
          <a:prstGeom prst="roundRect">
            <a:avLst>
              <a:gd name="adj" fmla="val 8333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2960" y="310896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Pacchetto = un pezzetto di dati spedito in rete, con mittente e destinatario, come una busta.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548640" y="4389120"/>
            <a:ext cx="5577840" cy="1463040"/>
          </a:xfrm>
          <a:prstGeom prst="roundRect">
            <a:avLst>
              <a:gd name="adj" fmla="val 6250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22960" y="438912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nostro VPC usa solo IP privati. Per chiamare fuori serve un "centralino" con un numero pubblico: il NAT.</a:t>
            </a:r>
            <a:endParaRPr lang="en-US" sz="1700" dirty="0"/>
          </a:p>
        </p:txBody>
      </p:sp>
      <p:sp>
        <p:nvSpPr>
          <p:cNvPr id="21" name="Shape 18"/>
          <p:cNvSpPr/>
          <p:nvPr/>
        </p:nvSpPr>
        <p:spPr>
          <a:xfrm>
            <a:off x="6492240" y="1417320"/>
            <a:ext cx="5148072" cy="2103120"/>
          </a:xfrm>
          <a:prstGeom prst="roundRect">
            <a:avLst>
              <a:gd name="adj" fmla="val 5217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720840" y="1645920"/>
            <a:ext cx="548640" cy="54864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1783080"/>
            <a:ext cx="274320" cy="274320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7452360" y="1645920"/>
            <a:ext cx="3959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 pubblico = numero diretto</a:t>
            </a:r>
            <a:endParaRPr lang="en-US" sz="1800" dirty="0"/>
          </a:p>
        </p:txBody>
      </p:sp>
      <p:sp>
        <p:nvSpPr>
          <p:cNvPr id="25" name="Text 21"/>
          <p:cNvSpPr txBox="1"/>
          <p:nvPr/>
        </p:nvSpPr>
        <p:spPr>
          <a:xfrm>
            <a:off x="6720840" y="2331720"/>
            <a:ext cx="4690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Unico al mondo, raggiungibile da internet. Es. l'indirizzo di un sito web.</a:t>
            </a:r>
            <a:endParaRPr lang="en-US" sz="1600" dirty="0"/>
          </a:p>
        </p:txBody>
      </p:sp>
      <p:sp>
        <p:nvSpPr>
          <p:cNvPr id="26" name="Shape 22"/>
          <p:cNvSpPr/>
          <p:nvPr/>
        </p:nvSpPr>
        <p:spPr>
          <a:xfrm>
            <a:off x="6492240" y="3703320"/>
            <a:ext cx="5148072" cy="2148840"/>
          </a:xfrm>
          <a:prstGeom prst="roundRect">
            <a:avLst>
              <a:gd name="adj" fmla="val 5106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6720840" y="3931920"/>
            <a:ext cx="548640" cy="54864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4069080"/>
            <a:ext cx="274320" cy="274320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7452360" y="3931920"/>
            <a:ext cx="3959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 privato = interno aziendale</a:t>
            </a:r>
            <a:endParaRPr lang="en-US" sz="1800" dirty="0"/>
          </a:p>
        </p:txBody>
      </p:sp>
      <p:sp>
        <p:nvSpPr>
          <p:cNvPr id="30" name="Text 25"/>
          <p:cNvSpPr txBox="1"/>
          <p:nvPr/>
        </p:nvSpPr>
        <p:spPr>
          <a:xfrm>
            <a:off x="6720840" y="4617720"/>
            <a:ext cx="46908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 solo dentro la tua rete. Inizia con 10. oppure 192.168. oppure da 172.16. a 172.31.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Scrivere un gruppo di indirizzi: CIDR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2 · VPC: la rete privata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280160"/>
            <a:ext cx="11094415" cy="731520"/>
          </a:xfrm>
          <a:prstGeom prst="roundRect">
            <a:avLst>
              <a:gd name="adj" fmla="val 125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28016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numero dopo la barra dice quanta parte dell'indirizzo è FISSA.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548640" y="2240280"/>
            <a:ext cx="3566160" cy="3200400"/>
          </a:xfrm>
          <a:prstGeom prst="roundRect">
            <a:avLst>
              <a:gd name="adj" fmla="val 3429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28600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5B3F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/16</a:t>
            </a:r>
            <a:endParaRPr lang="en-US" sz="5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29184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10.20.x.x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384048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primi 2 numeri fissi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429768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65.536 indirizzi: tutta la rete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4297680" y="2240280"/>
            <a:ext cx="3566160" cy="3200400"/>
          </a:xfrm>
          <a:prstGeom prst="roundRect">
            <a:avLst>
              <a:gd name="adj" fmla="val 3429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297680" y="228600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5B3F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/24</a:t>
            </a:r>
            <a:endParaRPr lang="en-US" sz="5400" dirty="0"/>
          </a:p>
        </p:txBody>
      </p:sp>
      <p:sp>
        <p:nvSpPr>
          <p:cNvPr id="14" name="Text 11"/>
          <p:cNvSpPr txBox="1"/>
          <p:nvPr/>
        </p:nvSpPr>
        <p:spPr>
          <a:xfrm>
            <a:off x="4297680" y="329184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10.20.1.x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4297680" y="384048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primi 3 numeri fissi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4480560" y="429768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256 indirizzi: una subnet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8046720" y="2240280"/>
            <a:ext cx="3566160" cy="3200400"/>
          </a:xfrm>
          <a:prstGeom prst="roundRect">
            <a:avLst>
              <a:gd name="adj" fmla="val 3429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046720" y="228600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28C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/0</a:t>
            </a:r>
            <a:endParaRPr lang="en-US" sz="5400" dirty="0"/>
          </a:p>
        </p:txBody>
      </p:sp>
      <p:sp>
        <p:nvSpPr>
          <p:cNvPr id="19" name="Text 16"/>
          <p:cNvSpPr txBox="1"/>
          <p:nvPr/>
        </p:nvSpPr>
        <p:spPr>
          <a:xfrm>
            <a:off x="8046720" y="329184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0.0.0.0/0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8046720" y="384048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niente fisso</a:t>
            </a:r>
            <a:endParaRPr lang="en-US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0" y="429768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qualunque indirizzo: "tutto internet"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qualunque numero da 0 a 255 · (tecnicamente il numero conta i bit: 8 per ogni numero dell'indirizzo)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Regione e Availability Zone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2 · VPC: la rete privata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280160"/>
            <a:ext cx="11094415" cy="731520"/>
          </a:xfrm>
          <a:prstGeom prst="roundRect">
            <a:avLst>
              <a:gd name="adj" fmla="val 125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28016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Regione = una città (Milano).  AZ = un data center separato in quella città, con corrente e rete proprie.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548640" y="2240280"/>
            <a:ext cx="11094415" cy="2331720"/>
          </a:xfrm>
          <a:prstGeom prst="roundRect">
            <a:avLst>
              <a:gd name="adj" fmla="val 4706"/>
            </a:avLst>
          </a:prstGeom>
          <a:solidFill>
            <a:srgbClr val="F7F6FD"/>
          </a:solidFill>
          <a:ln w="19050">
            <a:solidFill>
              <a:srgbClr val="5B3FD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22860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5B3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Regione eu-south-1 · Milano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914400" y="2697480"/>
            <a:ext cx="329184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9D6E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240280" y="2788920"/>
            <a:ext cx="640080" cy="64008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00300" y="2948940"/>
            <a:ext cx="320040" cy="3200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914400" y="34747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eu-south-1a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914400" y="38862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usata dal corso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4572000" y="2697480"/>
            <a:ext cx="329184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9D6EC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897880" y="2788920"/>
            <a:ext cx="640080" cy="64008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7900" y="2948940"/>
            <a:ext cx="320040" cy="32004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4572000" y="34747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eu-south-1b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4572000" y="38862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usata dal corso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8229600" y="2697480"/>
            <a:ext cx="329184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9D6EC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555480" y="2788920"/>
            <a:ext cx="640080" cy="640080"/>
          </a:xfrm>
          <a:prstGeom prst="ellipse">
            <a:avLst/>
          </a:prstGeom>
          <a:solidFill>
            <a:srgbClr val="5F6478"/>
          </a:solidFill>
          <a:ln w="12700">
            <a:solidFill>
              <a:srgbClr val="5F6478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5500" y="2948940"/>
            <a:ext cx="320040" cy="32004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8229600" y="34747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eu-south-1c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8229600" y="38862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disponibile, se imposti az_count = 3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548640" y="4846320"/>
            <a:ext cx="11094415" cy="1005840"/>
          </a:xfrm>
          <a:prstGeom prst="roundRect">
            <a:avLst>
              <a:gd name="adj" fmla="val 9091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822960" y="4846320"/>
            <a:ext cx="105457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subnet sta in UN solo data center → ogni tipo di subnet (pubblica, privata, database) va creato in almeno due AZ.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piano degli indirizzi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2 · VPC: la rete privata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5895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657600"/>
                <a:gridCol w="15544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D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Indirizzi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D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cosa serve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D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Tutta la rete (VPC)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10.20.0.0/16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Pubbliche (AZ 1a, 1b)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10.20.0.0/24 · 10.20.1.0/24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 Gateway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Private (AZ 1a, 1b)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10.20.10.0/24 · 10.20.11.0/24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 (EC2)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Database (AZ 1a, 1b)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10.20.20.0/24 · 10.20.21.0/24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database (RDS)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C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548640" y="4434840"/>
            <a:ext cx="7589520" cy="1097280"/>
          </a:xfrm>
          <a:prstGeom prst="roundRect">
            <a:avLst>
              <a:gd name="adj" fmla="val 8333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22960" y="4434840"/>
            <a:ext cx="7040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Terzo numero: 0-9 pubbliche, 10-19 private, 20-29 database. I buchi lasciano spazio a nuove AZ.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8321040" y="1371600"/>
            <a:ext cx="3319272" cy="4160520"/>
          </a:xfrm>
          <a:prstGeom prst="roundRect">
            <a:avLst>
              <a:gd name="adj" fmla="val 3306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8549640" y="1600200"/>
            <a:ext cx="548640" cy="54864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0" y="1737360"/>
            <a:ext cx="274320" cy="2743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281160" y="1600200"/>
            <a:ext cx="2130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regole</a:t>
            </a:r>
            <a:endParaRPr lang="en-US" sz="1800" dirty="0"/>
          </a:p>
        </p:txBody>
      </p:sp>
      <p:sp>
        <p:nvSpPr>
          <p:cNvPr id="12" name="Text 7"/>
          <p:cNvSpPr txBox="1"/>
          <p:nvPr/>
        </p:nvSpPr>
        <p:spPr>
          <a:xfrm>
            <a:off x="8549640" y="2286000"/>
            <a:ext cx="2862072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reti collegate con gli stessi numeri: i pacchetti non sanno dove andare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Niente 192.168.x: è la rete di casa, e da casa con la VPN il PC confonderebbe le due reti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route table decide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2 · VPC: la rete privata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280160"/>
            <a:ext cx="11094415" cy="731520"/>
          </a:xfrm>
          <a:prstGeom prst="roundRect">
            <a:avLst>
              <a:gd name="adj" fmla="val 125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28016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table = elenco di regole "per andare verso X, passa da Y". Ogni regola è una ROTTA.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103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Dove porta la rotta 0.0.0.0/0 ("tutto internet")? Questo decide che tipo di subnet è.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651760"/>
            <a:ext cx="3566160" cy="3474720"/>
          </a:xfrm>
          <a:prstGeom prst="roundRect">
            <a:avLst>
              <a:gd name="adj" fmla="val 3158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965960" y="2788920"/>
            <a:ext cx="731520" cy="7315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8840" y="297180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6118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PUBBLICA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685800" y="41148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8C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0.0.0.0/0 → Internet Gateway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731520" y="46177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 ed esce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731520" y="52578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qui: il NAT Gateway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4297680" y="2651760"/>
            <a:ext cx="3566160" cy="3474720"/>
          </a:xfrm>
          <a:prstGeom prst="roundRect">
            <a:avLst>
              <a:gd name="adj" fmla="val 3158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5715000" y="2788920"/>
            <a:ext cx="731520" cy="73152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297180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297680" y="36118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PRIVATA</a:t>
            </a:r>
            <a:endParaRPr lang="en-US" sz="2000" dirty="0"/>
          </a:p>
        </p:txBody>
      </p:sp>
      <p:sp>
        <p:nvSpPr>
          <p:cNvPr id="19" name="Text 14"/>
          <p:cNvSpPr txBox="1"/>
          <p:nvPr/>
        </p:nvSpPr>
        <p:spPr>
          <a:xfrm>
            <a:off x="4434840" y="41148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3F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0.0.0.0/0 → NAT Gateway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4480560" y="46177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esce, ma nessuno entra da fuori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4480560" y="52578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qui: i server</a:t>
            </a:r>
            <a:endParaRPr lang="en-US" sz="1600" dirty="0"/>
          </a:p>
        </p:txBody>
      </p:sp>
      <p:sp>
        <p:nvSpPr>
          <p:cNvPr id="22" name="Shape 17"/>
          <p:cNvSpPr/>
          <p:nvPr/>
        </p:nvSpPr>
        <p:spPr>
          <a:xfrm>
            <a:off x="8046720" y="2651760"/>
            <a:ext cx="3566160" cy="3474720"/>
          </a:xfrm>
          <a:prstGeom prst="roundRect">
            <a:avLst>
              <a:gd name="adj" fmla="val 3158"/>
            </a:avLst>
          </a:prstGeom>
          <a:solidFill>
            <a:srgbClr val="E5F4EC"/>
          </a:solidFill>
          <a:ln w="12700">
            <a:solidFill>
              <a:srgbClr val="E5F4EC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9464040" y="2788920"/>
            <a:ext cx="731520" cy="731520"/>
          </a:xfrm>
          <a:prstGeom prst="ellipse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0" y="2971800"/>
            <a:ext cx="365760" cy="36576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046720" y="36118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ISOLATA (database)</a:t>
            </a:r>
            <a:endParaRPr lang="en-US" sz="2000" dirty="0"/>
          </a:p>
        </p:txBody>
      </p:sp>
      <p:sp>
        <p:nvSpPr>
          <p:cNvPr id="26" name="Text 20"/>
          <p:cNvSpPr txBox="1"/>
          <p:nvPr/>
        </p:nvSpPr>
        <p:spPr>
          <a:xfrm>
            <a:off x="8183880" y="41148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9E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nessuna rotta 0.0.0.0/0</a:t>
            </a:r>
            <a:endParaRPr lang="en-US" sz="1300" dirty="0"/>
          </a:p>
        </p:txBody>
      </p:sp>
      <p:sp>
        <p:nvSpPr>
          <p:cNvPr id="27" name="Text 21"/>
          <p:cNvSpPr txBox="1"/>
          <p:nvPr/>
        </p:nvSpPr>
        <p:spPr>
          <a:xfrm>
            <a:off x="8229600" y="46177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parla solo con la rete interna</a:t>
            </a:r>
            <a:endParaRPr lang="en-US" sz="1600" dirty="0"/>
          </a:p>
        </p:txBody>
      </p:sp>
      <p:sp>
        <p:nvSpPr>
          <p:cNvPr id="28" name="Text 22"/>
          <p:cNvSpPr txBox="1"/>
          <p:nvPr/>
        </p:nvSpPr>
        <p:spPr>
          <a:xfrm>
            <a:off x="8229600" y="52578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qui: il database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Vince la rotta più precisa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2 · VPC: la rete privata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258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route table di una subnet privata</a:t>
            </a:r>
            <a:endParaRPr lang="en-US" sz="17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54864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200400"/>
              </a:tblGrid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andare verso…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D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passa da…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D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10.20.0.0/16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= resta dentro la rete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0.0.0.0/0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nat-0abc… = il NAT Gateway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6309360" y="1325880"/>
            <a:ext cx="5330952" cy="1417320"/>
          </a:xfrm>
          <a:prstGeom prst="roundRect">
            <a:avLst>
              <a:gd name="adj" fmla="val 6452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6309360" y="1325880"/>
            <a:ext cx="5330952" cy="1417320"/>
          </a:xfrm>
          <a:prstGeom prst="rect">
            <a:avLst/>
          </a:prstGeom>
          <a:noFill/>
          <a:ln/>
        </p:spPr>
        <p:txBody>
          <a:bodyPr wrap="square" lIns="177800" tIns="177800" rIns="177800" bIns="1778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pacchetto per 10.20.11.7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inizia con 10.20 → sta nella rete (/16) e in "tutto" (/0). Vince la più precisa: /16 → resta dentro</a:t>
            </a:r>
            <a:endParaRPr lang="en-US" sz="1500" dirty="0"/>
          </a:p>
        </p:txBody>
      </p:sp>
      <p:sp>
        <p:nvSpPr>
          <p:cNvPr id="9" name="Shape 5"/>
          <p:cNvSpPr/>
          <p:nvPr/>
        </p:nvSpPr>
        <p:spPr>
          <a:xfrm>
            <a:off x="6309360" y="2926080"/>
            <a:ext cx="5330952" cy="1417320"/>
          </a:xfrm>
          <a:prstGeom prst="roundRect">
            <a:avLst>
              <a:gd name="adj" fmla="val 6452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309360" y="2926080"/>
            <a:ext cx="5330952" cy="1417320"/>
          </a:xfrm>
          <a:prstGeom prst="rect">
            <a:avLst/>
          </a:prstGeom>
          <a:noFill/>
          <a:ln/>
        </p:spPr>
        <p:txBody>
          <a:bodyPr wrap="square" lIns="177800" tIns="177800" rIns="177800" bIns="1778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pacchetto per 142.250.180.4 (Google)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 solo in /0 → va al NAT → internet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548640" y="4572000"/>
            <a:ext cx="11094415" cy="1005840"/>
          </a:xfrm>
          <a:prstGeom prst="roundRect">
            <a:avLst>
              <a:gd name="adj" fmla="val 9091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22960" y="4572000"/>
            <a:ext cx="105457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la posta: "via Roma 5, Milano" batte "Italia". Il traffico interno resta interno.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Gateway e NAT Gateway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2 · VPC: la rete privata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371600"/>
            <a:ext cx="2468880" cy="1417320"/>
          </a:xfrm>
          <a:prstGeom prst="roundRect">
            <a:avLst>
              <a:gd name="adj" fmla="val 6452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371600"/>
            <a:ext cx="2468880" cy="141732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indirizzo privato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10.20.10.5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035808" y="1901952"/>
            <a:ext cx="329184" cy="0"/>
          </a:xfrm>
          <a:prstGeom prst="line">
            <a:avLst/>
          </a:prstGeom>
          <a:noFill/>
          <a:ln w="25400">
            <a:solidFill>
              <a:srgbClr val="2E9E6B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>
            <a:off x="3035808" y="2286000"/>
            <a:ext cx="329184" cy="0"/>
          </a:xfrm>
          <a:prstGeom prst="line">
            <a:avLst/>
          </a:prstGeom>
          <a:noFill/>
          <a:ln w="25400">
            <a:solidFill>
              <a:srgbClr val="5B3FD0"/>
            </a:solidFill>
            <a:prstDash val="solid"/>
            <a:headEnd type="triangle"/>
          </a:ln>
        </p:spPr>
      </p:sp>
      <p:sp>
        <p:nvSpPr>
          <p:cNvPr id="9" name="Shape 6"/>
          <p:cNvSpPr/>
          <p:nvPr/>
        </p:nvSpPr>
        <p:spPr>
          <a:xfrm>
            <a:off x="3383280" y="1371600"/>
            <a:ext cx="2468880" cy="1417320"/>
          </a:xfrm>
          <a:prstGeom prst="roundRect">
            <a:avLst>
              <a:gd name="adj" fmla="val 6452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383280" y="1371600"/>
            <a:ext cx="2468880" cy="141732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 Gateway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mette il suo indirizzo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pubblico e si ricorda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ha chiamato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5870448" y="1901952"/>
            <a:ext cx="329184" cy="0"/>
          </a:xfrm>
          <a:prstGeom prst="line">
            <a:avLst/>
          </a:prstGeom>
          <a:noFill/>
          <a:ln w="25400">
            <a:solidFill>
              <a:srgbClr val="2E9E6B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5870448" y="2286000"/>
            <a:ext cx="329184" cy="0"/>
          </a:xfrm>
          <a:prstGeom prst="line">
            <a:avLst/>
          </a:prstGeom>
          <a:noFill/>
          <a:ln w="25400">
            <a:solidFill>
              <a:srgbClr val="5B3FD0"/>
            </a:solidFill>
            <a:prstDash val="solid"/>
            <a:headEnd type="triangle"/>
          </a:ln>
        </p:spPr>
      </p:sp>
      <p:sp>
        <p:nvSpPr>
          <p:cNvPr id="13" name="Shape 10"/>
          <p:cNvSpPr/>
          <p:nvPr/>
        </p:nvSpPr>
        <p:spPr>
          <a:xfrm>
            <a:off x="6217920" y="1371600"/>
            <a:ext cx="2468880" cy="1417320"/>
          </a:xfrm>
          <a:prstGeom prst="roundRect">
            <a:avLst>
              <a:gd name="adj" fmla="val 6452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0" y="1371600"/>
            <a:ext cx="2468880" cy="141732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Gateway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portone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8705088" y="1901952"/>
            <a:ext cx="329184" cy="0"/>
          </a:xfrm>
          <a:prstGeom prst="line">
            <a:avLst/>
          </a:prstGeom>
          <a:noFill/>
          <a:ln w="25400">
            <a:solidFill>
              <a:srgbClr val="2E9E6B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8705088" y="2286000"/>
            <a:ext cx="329184" cy="0"/>
          </a:xfrm>
          <a:prstGeom prst="line">
            <a:avLst/>
          </a:prstGeom>
          <a:noFill/>
          <a:ln w="25400">
            <a:solidFill>
              <a:srgbClr val="5B3FD0"/>
            </a:solidFill>
            <a:prstDash val="solid"/>
            <a:headEnd type="triangle"/>
          </a:ln>
        </p:spPr>
      </p:sp>
      <p:sp>
        <p:nvSpPr>
          <p:cNvPr id="17" name="Shape 14"/>
          <p:cNvSpPr/>
          <p:nvPr/>
        </p:nvSpPr>
        <p:spPr>
          <a:xfrm>
            <a:off x="9052560" y="1371600"/>
            <a:ext cx="2468880" cy="1417320"/>
          </a:xfrm>
          <a:prstGeom prst="roundRect">
            <a:avLst>
              <a:gd name="adj" fmla="val 6452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052560" y="1371600"/>
            <a:ext cx="2468880" cy="141732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28803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verde = la richiesta esce · viola = la risposta torna · una chiamata iniziata da fuori viene scartata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48640" y="3474720"/>
            <a:ext cx="5440680" cy="2514600"/>
          </a:xfrm>
          <a:prstGeom prst="roundRect">
            <a:avLst>
              <a:gd name="adj" fmla="val 4364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77240" y="3703320"/>
            <a:ext cx="548640" cy="54864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3840480"/>
            <a:ext cx="274320" cy="27432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1508760" y="3703320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Gateway: il portone</a:t>
            </a:r>
            <a:endParaRPr lang="en-US" sz="1800" dirty="0"/>
          </a:p>
        </p:txBody>
      </p:sp>
      <p:sp>
        <p:nvSpPr>
          <p:cNvPr id="24" name="Text 20"/>
          <p:cNvSpPr txBox="1"/>
          <p:nvPr/>
        </p:nvSpPr>
        <p:spPr>
          <a:xfrm>
            <a:off x="777240" y="4389120"/>
            <a:ext cx="4983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Collega la rete a internet: si entra e si esce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Uno per rete, gestito da AWS, gratuito</a:t>
            </a:r>
            <a:endParaRPr lang="en-US" sz="1600" dirty="0"/>
          </a:p>
        </p:txBody>
      </p:sp>
      <p:sp>
        <p:nvSpPr>
          <p:cNvPr id="25" name="Shape 21"/>
          <p:cNvSpPr/>
          <p:nvPr/>
        </p:nvSpPr>
        <p:spPr>
          <a:xfrm>
            <a:off x="6172200" y="3474720"/>
            <a:ext cx="5440680" cy="2514600"/>
          </a:xfrm>
          <a:prstGeom prst="roundRect">
            <a:avLst>
              <a:gd name="adj" fmla="val 4364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6400800" y="3703320"/>
            <a:ext cx="548640" cy="54864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3840480"/>
            <a:ext cx="274320" cy="274320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7132320" y="3703320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 Gateway: il centralino</a:t>
            </a:r>
            <a:endParaRPr lang="en-US" sz="1800" dirty="0"/>
          </a:p>
        </p:txBody>
      </p:sp>
      <p:sp>
        <p:nvSpPr>
          <p:cNvPr id="29" name="Text 24"/>
          <p:cNvSpPr txBox="1"/>
          <p:nvPr/>
        </p:nvSpPr>
        <p:spPr>
          <a:xfrm>
            <a:off x="6400800" y="4389120"/>
            <a:ext cx="4983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server privati chiamano fuori, nessuno li chiama da fuori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 in una subnet pubblica e passa dal portone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Vive in una sola AZ e si paga a ore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Raggiungibile da internet: tre condizioni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2 · VPC: la rete privata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417320"/>
            <a:ext cx="3566160" cy="2377440"/>
          </a:xfrm>
          <a:prstGeom prst="roundRect">
            <a:avLst>
              <a:gd name="adj" fmla="val 4615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1645920"/>
            <a:ext cx="548640" cy="54864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783080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08760" y="16459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Rotta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331720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0.0.0.0/0 verso il portone (Internet Gateway)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4114800" y="2194560"/>
            <a:ext cx="182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B3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2800" dirty="0"/>
          </a:p>
        </p:txBody>
      </p:sp>
      <p:sp>
        <p:nvSpPr>
          <p:cNvPr id="11" name="Shape 7"/>
          <p:cNvSpPr/>
          <p:nvPr/>
        </p:nvSpPr>
        <p:spPr>
          <a:xfrm>
            <a:off x="4297680" y="1417320"/>
            <a:ext cx="3566160" cy="2377440"/>
          </a:xfrm>
          <a:prstGeom prst="roundRect">
            <a:avLst>
              <a:gd name="adj" fmla="val 4615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526280" y="1645920"/>
            <a:ext cx="548640" cy="54864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783080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257800" y="16459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Indirizzo pubblico</a:t>
            </a:r>
            <a:endParaRPr lang="en-US" sz="1900" dirty="0"/>
          </a:p>
        </p:txBody>
      </p:sp>
      <p:sp>
        <p:nvSpPr>
          <p:cNvPr id="15" name="Text 10"/>
          <p:cNvSpPr txBox="1"/>
          <p:nvPr/>
        </p:nvSpPr>
        <p:spPr>
          <a:xfrm>
            <a:off x="4526280" y="2331720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automatico (cambia a ogni riavvio) o Elastic IP (fisso, affittato da AWS)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7863840" y="2194560"/>
            <a:ext cx="182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B3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2800" dirty="0"/>
          </a:p>
        </p:txBody>
      </p:sp>
      <p:sp>
        <p:nvSpPr>
          <p:cNvPr id="17" name="Shape 12"/>
          <p:cNvSpPr/>
          <p:nvPr/>
        </p:nvSpPr>
        <p:spPr>
          <a:xfrm>
            <a:off x="8046720" y="1417320"/>
            <a:ext cx="3566160" cy="2377440"/>
          </a:xfrm>
          <a:prstGeom prst="roundRect">
            <a:avLst>
              <a:gd name="adj" fmla="val 4615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8275320" y="1645920"/>
            <a:ext cx="548640" cy="54864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783080"/>
            <a:ext cx="274320" cy="27432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9006840" y="16459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Firewall</a:t>
            </a:r>
            <a:endParaRPr lang="en-US" sz="1900" dirty="0"/>
          </a:p>
        </p:txBody>
      </p:sp>
      <p:sp>
        <p:nvSpPr>
          <p:cNvPr id="21" name="Text 15"/>
          <p:cNvSpPr txBox="1"/>
          <p:nvPr/>
        </p:nvSpPr>
        <p:spPr>
          <a:xfrm>
            <a:off x="8275320" y="2331720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 lasciar passare il traffico: lezione 3</a:t>
            </a:r>
            <a:endParaRPr lang="en-US" sz="1600" dirty="0"/>
          </a:p>
        </p:txBody>
      </p:sp>
      <p:sp>
        <p:nvSpPr>
          <p:cNvPr id="22" name="Shape 16"/>
          <p:cNvSpPr/>
          <p:nvPr/>
        </p:nvSpPr>
        <p:spPr>
          <a:xfrm>
            <a:off x="548640" y="4069080"/>
            <a:ext cx="11094415" cy="914400"/>
          </a:xfrm>
          <a:prstGeom prst="roundRect">
            <a:avLst>
              <a:gd name="adj" fmla="val 10000"/>
            </a:avLst>
          </a:prstGeom>
          <a:solidFill>
            <a:srgbClr val="FBE9E9"/>
          </a:solidFill>
          <a:ln w="12700">
            <a:solidFill>
              <a:srgbClr val="FBE9E9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822960" y="4069080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una subnet pubblica, senza indirizzo pubblico non si esce nemmeno. Per uscire senza: subnet privata + NAT.</a:t>
            </a:r>
            <a:endParaRPr lang="en-US" sz="1700" dirty="0"/>
          </a:p>
        </p:txBody>
      </p:sp>
      <p:sp>
        <p:nvSpPr>
          <p:cNvPr id="24" name="Shape 18"/>
          <p:cNvSpPr/>
          <p:nvPr/>
        </p:nvSpPr>
        <p:spPr>
          <a:xfrm>
            <a:off x="548640" y="521208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731520" y="5349240"/>
            <a:ext cx="107286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map_public_ip_on_launch = false   </a:t>
            </a:r>
            <a:pPr indent="0" marL="0">
              <a:buNone/>
            </a:pPr>
            <a:r>
              <a:rPr lang="en-US" sz="16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nessun IP pubblico se non lo chiediamo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NAT o uno per AZ?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2 · VPC: la rete privata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417320"/>
            <a:ext cx="5440680" cy="3017520"/>
          </a:xfrm>
          <a:prstGeom prst="roundRect">
            <a:avLst>
              <a:gd name="adj" fmla="val 3636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1645920"/>
            <a:ext cx="548640" cy="54864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783080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08760" y="1645920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NAT per AZ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331720"/>
            <a:ext cx="4983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cade un data center, gli altri server escono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pagano più NAT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Produzione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6172200" y="1417320"/>
            <a:ext cx="5440680" cy="3017520"/>
          </a:xfrm>
          <a:prstGeom prst="roundRect">
            <a:avLst>
              <a:gd name="adj" fmla="val 3636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400800" y="1645920"/>
            <a:ext cx="548640" cy="54864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783080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132320" y="1645920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NAT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6400800" y="2331720"/>
            <a:ext cx="4983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cade il suo data center, i server privati perdono internet (il database no)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paga un solo NAT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Laboratorio, sviluppo</a:t>
            </a:r>
            <a:endParaRPr lang="en-US" sz="1700" dirty="0"/>
          </a:p>
        </p:txBody>
      </p:sp>
      <p:sp>
        <p:nvSpPr>
          <p:cNvPr id="15" name="Shape 10"/>
          <p:cNvSpPr/>
          <p:nvPr/>
        </p:nvSpPr>
        <p:spPr>
          <a:xfrm>
            <a:off x="548640" y="4709160"/>
            <a:ext cx="11094415" cy="1325880"/>
          </a:xfrm>
          <a:prstGeom prst="roundRect">
            <a:avLst>
              <a:gd name="adj" fmla="val 5517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31520" y="4846320"/>
            <a:ext cx="1072865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variable "single_nat_gateway" {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type    = bool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default = true   </a:t>
            </a:r>
            <a:pPr indent="0" marL="0">
              <a:buNone/>
            </a:pPr>
            <a:r>
              <a:rPr lang="en-US" sz="16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true: un solo NAT · false: uno per AZ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DNS: la rubrica della rete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2 · VPC: la rete privata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280160"/>
            <a:ext cx="11094415" cy="731520"/>
          </a:xfrm>
          <a:prstGeom prst="roundRect">
            <a:avLst>
              <a:gd name="adj" fmla="val 125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28016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DNS = la rubrica: traduce un nome nell'indirizzo da chiamare.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548640" y="2286000"/>
            <a:ext cx="5669280" cy="914400"/>
          </a:xfrm>
          <a:prstGeom prst="roundRect">
            <a:avLst>
              <a:gd name="adj" fmla="val 10000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286000"/>
            <a:ext cx="5669280" cy="9144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corso-db.xxxx.eu-south-1.rds.amazonaws.com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309360" y="2743200"/>
            <a:ext cx="731520" cy="0"/>
          </a:xfrm>
          <a:prstGeom prst="line">
            <a:avLst/>
          </a:prstGeom>
          <a:noFill/>
          <a:ln w="25400">
            <a:solidFill>
              <a:srgbClr val="5B3FD0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7132320" y="2286000"/>
            <a:ext cx="4507992" cy="914400"/>
          </a:xfrm>
          <a:prstGeom prst="roundRect">
            <a:avLst>
              <a:gd name="adj" fmla="val 10000"/>
            </a:avLst>
          </a:prstGeom>
          <a:solidFill>
            <a:srgbClr val="E5F4EC"/>
          </a:solidFill>
          <a:ln w="12700">
            <a:solidFill>
              <a:srgbClr val="E5F4E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132320" y="2286000"/>
            <a:ext cx="4507992" cy="9144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10.20.20.15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548640" y="3566160"/>
            <a:ext cx="11094415" cy="1005840"/>
          </a:xfrm>
          <a:prstGeom prst="roundRect">
            <a:avLst>
              <a:gd name="adj" fmla="val 7273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31520" y="3703320"/>
            <a:ext cx="107286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enable_dns_support   = true   </a:t>
            </a:r>
            <a:pPr indent="0" marL="0">
              <a:buNone/>
            </a:pPr>
            <a:r>
              <a:rPr lang="en-US" sz="16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il VPC risponde alle domande sui nomi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enable_dns_hostnames = true   </a:t>
            </a:r>
            <a:pPr indent="0" marL="0">
              <a:buNone/>
            </a:pPr>
            <a:r>
              <a:rPr lang="en-US" sz="16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le risorse ricevono un nome, oltre all'indirizzo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548640" y="4892040"/>
            <a:ext cx="11094415" cy="914400"/>
          </a:xfrm>
          <a:prstGeom prst="roundRect">
            <a:avLst>
              <a:gd name="adj" fmla="val 10000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22960" y="4892040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Senza queste due opzioni il database e altri servizi AWS non si trovano (lezioni 4, 6, 7).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Logs: chi ha parlato con chi (facoltativo)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2 · VPC: la rete privata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280160"/>
            <a:ext cx="11094415" cy="731520"/>
          </a:xfrm>
          <a:prstGeom prst="roundRect">
            <a:avLst>
              <a:gd name="adj" fmla="val 125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28016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Logs = il registro delle chiamate della rete: chi, verso chi, quale porta, accettata o no.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2240280"/>
            <a:ext cx="3566160" cy="3566160"/>
          </a:xfrm>
          <a:prstGeom prst="roundRect">
            <a:avLst>
              <a:gd name="adj" fmla="val 3077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77240" y="2468880"/>
            <a:ext cx="548640" cy="54864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606040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08760" y="24688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Cosa registrano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777240" y="3154680"/>
            <a:ext cx="3108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ha chiamato e chi ha risposto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porta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accettata o rifiutata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il contenuto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4297680" y="2240280"/>
            <a:ext cx="3566160" cy="3566160"/>
          </a:xfrm>
          <a:prstGeom prst="roundRect">
            <a:avLst>
              <a:gd name="adj" fmla="val 3077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526280" y="2468880"/>
            <a:ext cx="548640" cy="54864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2606040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257800" y="24688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 = lo sportello del servizio</a:t>
            </a:r>
            <a:endParaRPr lang="en-US" sz="1700" dirty="0"/>
          </a:p>
        </p:txBody>
      </p:sp>
      <p:sp>
        <p:nvSpPr>
          <p:cNvPr id="16" name="Text 11"/>
          <p:cNvSpPr txBox="1"/>
          <p:nvPr/>
        </p:nvSpPr>
        <p:spPr>
          <a:xfrm>
            <a:off x="4526280" y="3154680"/>
            <a:ext cx="3108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443: siti web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5432: database PostgreSQL</a:t>
            </a:r>
            <a:endParaRPr lang="en-US" sz="1600" dirty="0"/>
          </a:p>
        </p:txBody>
      </p:sp>
      <p:sp>
        <p:nvSpPr>
          <p:cNvPr id="17" name="Shape 12"/>
          <p:cNvSpPr/>
          <p:nvPr/>
        </p:nvSpPr>
        <p:spPr>
          <a:xfrm>
            <a:off x="8046720" y="2240280"/>
            <a:ext cx="3566160" cy="3566160"/>
          </a:xfrm>
          <a:prstGeom prst="roundRect">
            <a:avLst>
              <a:gd name="adj" fmla="val 3077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8275320" y="2468880"/>
            <a:ext cx="548640" cy="54864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2606040"/>
            <a:ext cx="274320" cy="27432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9006840" y="24688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cosa servono</a:t>
            </a:r>
            <a:endParaRPr lang="en-US" sz="1700" dirty="0"/>
          </a:p>
        </p:txBody>
      </p:sp>
      <p:sp>
        <p:nvSpPr>
          <p:cNvPr id="21" name="Text 15"/>
          <p:cNvSpPr txBox="1"/>
          <p:nvPr/>
        </p:nvSpPr>
        <p:spPr>
          <a:xfrm>
            <a:off x="8275320" y="3154680"/>
            <a:ext cx="3108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capire perché una connessione non funziona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sicurezza: chi prova tutte le porte?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Terraform: la rete e il portone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2 · VPC: la rete privata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325880"/>
            <a:ext cx="11094415" cy="3108960"/>
          </a:xfrm>
          <a:prstGeom prst="roundRect">
            <a:avLst>
              <a:gd name="adj" fmla="val 2353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463040"/>
            <a:ext cx="10728655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resource "aws_vpc" "main" {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cidr_block           = var.vpc_cidr   </a:t>
            </a:r>
            <a:pPr indent="0" marL="0">
              <a:buNone/>
            </a:pPr>
            <a:r>
              <a:rPr lang="en-US" sz="17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"10.20.0.0/16"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enable_dns_support   = true           </a:t>
            </a:r>
            <a:pPr indent="0" marL="0">
              <a:buNone/>
            </a:pPr>
            <a:r>
              <a:rPr lang="en-US" sz="17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 rubrica: accesa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enable_dns_hostnames = true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resource "aws_internet_gateway" "main" {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vpc_id = aws_vpc.main.id              </a:t>
            </a:r>
            <a:pPr indent="0" marL="0">
              <a:buNone/>
            </a:pPr>
            <a:r>
              <a:rPr lang="en-US" sz="17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attaccalo a questa rete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548640" y="4663440"/>
            <a:ext cx="5440680" cy="1417320"/>
          </a:xfrm>
          <a:prstGeom prst="roundRect">
            <a:avLst>
              <a:gd name="adj" fmla="val 7742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77240" y="4892040"/>
            <a:ext cx="548640" cy="54864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029200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08760" y="4892040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aws_vpc.main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777240" y="5577840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rete: il gruppo di indirizzi e la rubrica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6172200" y="4663440"/>
            <a:ext cx="5440680" cy="1417320"/>
          </a:xfrm>
          <a:prstGeom prst="roundRect">
            <a:avLst>
              <a:gd name="adj" fmla="val 7742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400800" y="4892040"/>
            <a:ext cx="548640" cy="54864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5029200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132320" y="4892040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aws_internet_gateway.main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6400800" y="5577840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portone, attaccato alla rete (vpc_id)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for_each: una subnet per ogni AZ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2 · VPC: la rete privata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280160"/>
            <a:ext cx="11094415" cy="731520"/>
          </a:xfrm>
          <a:prstGeom prst="roundRect">
            <a:avLst>
              <a:gd name="adj" fmla="val 125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28016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Problema: la stessa subnet in 2 AZ. Invece di copiare il blocco, for_each lo ripete per ogni elemento.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548640" y="2194560"/>
            <a:ext cx="6400800" cy="3017520"/>
          </a:xfrm>
          <a:prstGeom prst="roundRect">
            <a:avLst>
              <a:gd name="adj" fmla="val 2424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2331720"/>
            <a:ext cx="60350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resource "aws_subnet" "public" {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for_each = {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"eu-south-1a" = "10.20.0.0/24"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"eu-south-1b" = "10.20.1.0/24"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vpc_id            = aws_vpc.main.id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availability_zone = each.key    </a:t>
            </a:r>
            <a:pPr indent="0" marL="0">
              <a:buNone/>
            </a:pPr>
            <a:r>
              <a:rPr lang="en-US" sz="16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 AZ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cidr_block        = each.value  </a:t>
            </a:r>
            <a:pPr indent="0" marL="0">
              <a:buNone/>
            </a:pPr>
            <a:r>
              <a:rPr lang="en-US" sz="16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gli indirizzi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178040" y="219456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risultato: due subnet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7178040" y="2697480"/>
            <a:ext cx="4462272" cy="685800"/>
          </a:xfrm>
          <a:prstGeom prst="roundRect">
            <a:avLst>
              <a:gd name="adj" fmla="val 13333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178040" y="2697480"/>
            <a:ext cx="4462272" cy="685800"/>
          </a:xfrm>
          <a:prstGeom prst="rect">
            <a:avLst/>
          </a:prstGeom>
          <a:noFill/>
          <a:ln/>
        </p:spPr>
        <p:txBody>
          <a:bodyPr wrap="square" lIns="152400" tIns="152400" rIns="152400" bIns="15240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aws_subnet.public["eu-south-1a"]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7178040" y="3520440"/>
            <a:ext cx="4462272" cy="685800"/>
          </a:xfrm>
          <a:prstGeom prst="roundRect">
            <a:avLst>
              <a:gd name="adj" fmla="val 13333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178040" y="3520440"/>
            <a:ext cx="4462272" cy="685800"/>
          </a:xfrm>
          <a:prstGeom prst="rect">
            <a:avLst/>
          </a:prstGeom>
          <a:noFill/>
          <a:ln/>
        </p:spPr>
        <p:txBody>
          <a:bodyPr wrap="square" lIns="152400" tIns="152400" rIns="152400" bIns="15240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aws_subnet.public["eu-south-1b"]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7178040" y="4389120"/>
            <a:ext cx="4462272" cy="822960"/>
          </a:xfrm>
          <a:prstGeom prst="roundRect">
            <a:avLst>
              <a:gd name="adj" fmla="val 11111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452360" y="4389120"/>
            <a:ext cx="3913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Aggiungi eu-south-1c: Terraform crea solo quella e non tocca le altre due.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4406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each.key = la chiave (la AZ) · each.value = il valore (gli indirizzi) · qui la mappa è scritta a mano: tra due slide la calcola Terraform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espressioni for: una formula per ogni elemento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2 · VPC: la rete privata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280160"/>
            <a:ext cx="11094415" cy="731520"/>
          </a:xfrm>
          <a:prstGeom prst="roundRect">
            <a:avLst>
              <a:gd name="adj" fmla="val 125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28016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legge: "per ogni x nella lista, calcola questo". Ci serve per costruire la mappa AZ → indirizzi.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548640" y="2240280"/>
            <a:ext cx="5669280" cy="777240"/>
          </a:xfrm>
          <a:prstGeom prst="roundRect">
            <a:avLst>
              <a:gd name="adj" fmla="val 9412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237744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[for x in ["a", "b"] : upper(x)]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6263640" y="2624328"/>
            <a:ext cx="365760" cy="0"/>
          </a:xfrm>
          <a:prstGeom prst="line">
            <a:avLst/>
          </a:prstGeom>
          <a:noFill/>
          <a:ln w="25400">
            <a:solidFill>
              <a:srgbClr val="5B3FD0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6720840" y="2240280"/>
            <a:ext cx="2651760" cy="777240"/>
          </a:xfrm>
          <a:prstGeom prst="roundRect">
            <a:avLst>
              <a:gd name="adj" fmla="val 11765"/>
            </a:avLst>
          </a:prstGeom>
          <a:solidFill>
            <a:srgbClr val="E5F4EC"/>
          </a:solidFill>
          <a:ln w="12700">
            <a:solidFill>
              <a:srgbClr val="E5F4E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720840" y="2240280"/>
            <a:ext cx="2651760" cy="7772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["A", "B"]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9509760" y="2240280"/>
            <a:ext cx="213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] → una LISTA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640080" y="306324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ogni x fra "a" e "b", metti upper(x) (= maiuscolo) in una lista.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548640" y="3611880"/>
            <a:ext cx="5669280" cy="777240"/>
          </a:xfrm>
          <a:prstGeom prst="roundRect">
            <a:avLst>
              <a:gd name="adj" fmla="val 9412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374904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{for x in ["a", "b"] : x =&gt; upper(x)}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263640" y="3995928"/>
            <a:ext cx="365760" cy="0"/>
          </a:xfrm>
          <a:prstGeom prst="line">
            <a:avLst/>
          </a:prstGeom>
          <a:noFill/>
          <a:ln w="25400">
            <a:solidFill>
              <a:srgbClr val="5B3FD0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6720840" y="3611880"/>
            <a:ext cx="2651760" cy="777240"/>
          </a:xfrm>
          <a:prstGeom prst="roundRect">
            <a:avLst>
              <a:gd name="adj" fmla="val 11765"/>
            </a:avLst>
          </a:prstGeom>
          <a:solidFill>
            <a:srgbClr val="E5F4EC"/>
          </a:solidFill>
          <a:ln w="12700">
            <a:solidFill>
              <a:srgbClr val="E5F4E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720840" y="3611880"/>
            <a:ext cx="2651760" cy="7772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a = "A", b = "B" }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9509760" y="3611880"/>
            <a:ext cx="213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 } e =&gt; → una MAPPA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43484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ogni x, crea la coppia chiave x → valore upper(x).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548640" y="4983480"/>
            <a:ext cx="5669280" cy="777240"/>
          </a:xfrm>
          <a:prstGeom prst="roundRect">
            <a:avLst>
              <a:gd name="adj" fmla="val 9412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31520" y="512064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[for i, x in ["a", "b"] : "${i}-${x}"]</a:t>
            </a:r>
            <a:endParaRPr lang="en-US" sz="1700" dirty="0"/>
          </a:p>
        </p:txBody>
      </p:sp>
      <p:sp>
        <p:nvSpPr>
          <p:cNvPr id="23" name="Shape 20"/>
          <p:cNvSpPr/>
          <p:nvPr/>
        </p:nvSpPr>
        <p:spPr>
          <a:xfrm>
            <a:off x="6263640" y="5367528"/>
            <a:ext cx="365760" cy="0"/>
          </a:xfrm>
          <a:prstGeom prst="line">
            <a:avLst/>
          </a:prstGeom>
          <a:noFill/>
          <a:ln w="25400">
            <a:solidFill>
              <a:srgbClr val="5B3FD0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6720840" y="4983480"/>
            <a:ext cx="2651760" cy="777240"/>
          </a:xfrm>
          <a:prstGeom prst="roundRect">
            <a:avLst>
              <a:gd name="adj" fmla="val 11765"/>
            </a:avLst>
          </a:prstGeom>
          <a:solidFill>
            <a:srgbClr val="E5F4EC"/>
          </a:solidFill>
          <a:ln w="12700">
            <a:solidFill>
              <a:srgbClr val="E5F4E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720840" y="4983480"/>
            <a:ext cx="2651760" cy="7772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["0-a", "1-b"]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9509760" y="4983480"/>
            <a:ext cx="213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= la posizione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640080" y="580644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due nomi: i è la posizione (si conta da 0), x l'elemento. ${ } inserisce il valore nel testo.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mappa delle subnet la calcola Terraform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2 · VPC: la rete privata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325880"/>
            <a:ext cx="6949440" cy="2834640"/>
          </a:xfrm>
          <a:prstGeom prst="roundRect">
            <a:avLst>
              <a:gd name="adj" fmla="val 2581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463040"/>
            <a:ext cx="65836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locals {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subnets = {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i, az in local.azs : az =&gt; {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public  = cidrsubnet(var.vpc_cidr, 8, 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private = cidrsubnet(var.vpc_cidr, 8, 10 + 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db      = cidrsubnet(var.vpc_cidr, 8, 20 + 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680960" y="1325880"/>
            <a:ext cx="3959352" cy="2834640"/>
          </a:xfrm>
          <a:prstGeom prst="roundRect">
            <a:avLst>
              <a:gd name="adj" fmla="val 3226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0" y="1417320"/>
            <a:ext cx="3611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local.azs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prime az_count AZ di Milano: ["eu-south-1a", "eu-south-1b"]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cidrsubnet(rete, 8, n)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= restringi di 8: da /16 a /24. n = quale /24: finisce nel terzo numero</a:t>
            </a:r>
            <a:endParaRPr lang="en-US" sz="15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343400"/>
          <a:ext cx="11094415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377440"/>
                <a:gridCol w="2651760"/>
                <a:gridCol w="2651760"/>
                <a:gridCol w="267919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D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D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D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private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D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D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eu-south-1a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10.20.0.0/24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10.20.10.0/24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10.20.20.0/24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eu-south-1b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10.20.1.0/24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10.20.11.0/24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10.20.21.0/24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48640" y="5623560"/>
            <a:ext cx="11094415" cy="594360"/>
          </a:xfrm>
          <a:prstGeom prst="roundRect">
            <a:avLst>
              <a:gd name="adj" fmla="val 12308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31520" y="5760720"/>
            <a:ext cx="107286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for_each = local.subnets   →   cidr_block = each.value.private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Terraform: il NAT e le route table (in breve)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2 · VPC: la rete privata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280160"/>
            <a:ext cx="11094415" cy="4206240"/>
          </a:xfrm>
          <a:prstGeom prst="roundRect">
            <a:avLst>
              <a:gd name="adj" fmla="val 1739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417320"/>
            <a:ext cx="1072865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resource "aws_eip" "nat" {}                       </a:t>
            </a:r>
            <a:pPr indent="0" marL="0">
              <a:buNone/>
            </a:pPr>
            <a:r>
              <a:rPr lang="en-US" sz="15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l'indirizzo pubblico fisso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resource "aws_nat_gateway" "main" {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allocation_id = aws_eip.nat.id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subnet_id     = aws_subnet.public["eu-south-1a"].id  </a:t>
            </a:r>
            <a:pPr indent="0" marL="0">
              <a:buNone/>
            </a:pPr>
            <a:r>
              <a:rPr lang="en-US" sz="15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sta nella PUBBLICA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resource "aws_route" "private_nat" {              </a:t>
            </a:r>
            <a:pPr indent="0" marL="0">
              <a:buNone/>
            </a:pPr>
            <a:r>
              <a:rPr lang="en-US" sz="15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 regola: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route_table_id         = aws_route_table.private.id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destination_cidr_block = "0.0.0.0/0"           </a:t>
            </a:r>
            <a:pPr indent="0" marL="0">
              <a:buNone/>
            </a:pPr>
            <a:r>
              <a:rPr lang="en-US" sz="15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per tutto internet…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nat_gateway_id         = aws_nat_gateway.main.id  </a:t>
            </a:r>
            <a:pPr indent="0" marL="0">
              <a:buNone/>
            </a:pPr>
            <a:r>
              <a:rPr lang="en-US" sz="15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…passa dal NAT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resource "aws_route_table_association" "private" { </a:t>
            </a:r>
            <a:pPr indent="0" marL="0">
              <a:buNone/>
            </a:pPr>
            <a:r>
              <a:rPr lang="en-US" sz="15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subnet ↔ route table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subnet_id      = aws_subnet.private["eu-south-1a"].id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route_table_id = aws_route_table.private.id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5577840"/>
            <a:ext cx="11094415" cy="685800"/>
          </a:xfrm>
          <a:prstGeom prst="roundRect">
            <a:avLst>
              <a:gd name="adj" fmla="val 13333"/>
            </a:avLst>
          </a:prstGeom>
          <a:solidFill>
            <a:srgbClr val="FBE9E9"/>
          </a:solidFill>
          <a:ln w="12700">
            <a:solidFill>
              <a:srgbClr val="FBE9E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557784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subnet senza collegamento usa la tabella principale: rischioso. Ogni subnet ha il suo collegamento esplicito.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 rileggiamo la rete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2 · VPC: la rete privata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280160"/>
            <a:ext cx="11094415" cy="4937760"/>
          </a:xfrm>
          <a:prstGeom prst="roundRect">
            <a:avLst>
              <a:gd name="adj" fmla="val 2222"/>
            </a:avLst>
          </a:prstGeom>
          <a:solidFill>
            <a:srgbClr val="F7F6FD"/>
          </a:solidFill>
          <a:ln w="19050">
            <a:solidFill>
              <a:srgbClr val="5B3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3258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B3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nostra rete (VPC) · Milano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846320" y="1417320"/>
            <a:ext cx="2468880" cy="594360"/>
          </a:xfrm>
          <a:prstGeom prst="roundRect">
            <a:avLst>
              <a:gd name="adj" fmla="val 15385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846320" y="1417320"/>
            <a:ext cx="2468880" cy="5943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Gateway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7360920" y="1709928"/>
            <a:ext cx="1097280" cy="0"/>
          </a:xfrm>
          <a:prstGeom prst="line">
            <a:avLst/>
          </a:prstGeom>
          <a:noFill/>
          <a:ln w="25400">
            <a:solidFill>
              <a:srgbClr val="1B1F3B"/>
            </a:solidFill>
            <a:prstDash val="solid"/>
            <a:headEnd type="triangle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8503920" y="1417320"/>
            <a:ext cx="2011680" cy="594360"/>
          </a:xfrm>
          <a:prstGeom prst="roundRect">
            <a:avLst>
              <a:gd name="adj" fmla="val 15385"/>
            </a:avLst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503920" y="1417320"/>
            <a:ext cx="2011680" cy="5943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822960" y="2240280"/>
            <a:ext cx="5303520" cy="384048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2700">
            <a:solidFill>
              <a:srgbClr val="D9D6E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97280" y="226771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center A (AZ 1a)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1097280" y="2606040"/>
            <a:ext cx="4754880" cy="1018032"/>
          </a:xfrm>
          <a:prstGeom prst="roundRect">
            <a:avLst>
              <a:gd name="adj" fmla="val 8982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97280" y="2606040"/>
            <a:ext cx="4754880" cy="1018032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Subnet PUBBLICA</a:t>
            </a:r>
            <a:endParaRPr lang="en-US" sz="15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 Gateway · entra ed esce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1097280" y="3733800"/>
            <a:ext cx="4754880" cy="1018032"/>
          </a:xfrm>
          <a:prstGeom prst="roundRect">
            <a:avLst>
              <a:gd name="adj" fmla="val 8982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3733800"/>
            <a:ext cx="4754880" cy="1018032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Subnet PRIVATA</a:t>
            </a:r>
            <a:endParaRPr lang="en-US" sz="15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EC2 · esce tramite il NAT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1097280" y="4861560"/>
            <a:ext cx="4754880" cy="1018032"/>
          </a:xfrm>
          <a:prstGeom prst="roundRect">
            <a:avLst>
              <a:gd name="adj" fmla="val 8982"/>
            </a:avLst>
          </a:prstGeom>
          <a:solidFill>
            <a:srgbClr val="E5F4EC"/>
          </a:solidFill>
          <a:ln w="12700">
            <a:solidFill>
              <a:srgbClr val="E5F4E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097280" y="4861560"/>
            <a:ext cx="4754880" cy="1018032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Subnet DATABASE</a:t>
            </a:r>
            <a:endParaRPr lang="en-US" sz="15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RDS · nessuna uscita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6400800" y="2240280"/>
            <a:ext cx="5303520" cy="384048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2700">
            <a:solidFill>
              <a:srgbClr val="D9D6E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86800" y="226771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center B (AZ 1b)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6675120" y="2606040"/>
            <a:ext cx="4754880" cy="1018032"/>
          </a:xfrm>
          <a:prstGeom prst="roundRect">
            <a:avLst>
              <a:gd name="adj" fmla="val 8982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675120" y="2606040"/>
            <a:ext cx="4754880" cy="1018032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Subnet PUBBLICA</a:t>
            </a:r>
            <a:endParaRPr lang="en-US" sz="15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 ed esce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6675120" y="3733800"/>
            <a:ext cx="4754880" cy="1018032"/>
          </a:xfrm>
          <a:prstGeom prst="roundRect">
            <a:avLst>
              <a:gd name="adj" fmla="val 8982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675120" y="3733800"/>
            <a:ext cx="4754880" cy="1018032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Subnet PRIVATA</a:t>
            </a:r>
            <a:endParaRPr lang="en-US" sz="15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EC2 · usa il NAT dell'altra AZ</a:t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6675120" y="4861560"/>
            <a:ext cx="4754880" cy="1018032"/>
          </a:xfrm>
          <a:prstGeom prst="roundRect">
            <a:avLst>
              <a:gd name="adj" fmla="val 8982"/>
            </a:avLst>
          </a:prstGeom>
          <a:solidFill>
            <a:srgbClr val="E5F4EC"/>
          </a:solidFill>
          <a:ln w="12700">
            <a:solidFill>
              <a:srgbClr val="E5F4E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675120" y="4861560"/>
            <a:ext cx="4754880" cy="1018032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Subnet DATABASE</a:t>
            </a:r>
            <a:endParaRPr lang="en-US" sz="15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RDS · nessuna uscita</a:t>
            </a:r>
            <a:endParaRPr lang="en-US" sz="1500" dirty="0"/>
          </a:p>
        </p:txBody>
      </p:sp>
      <p:sp>
        <p:nvSpPr>
          <p:cNvPr id="28" name="Shape 25"/>
          <p:cNvSpPr/>
          <p:nvPr/>
        </p:nvSpPr>
        <p:spPr>
          <a:xfrm>
            <a:off x="5394960" y="2011680"/>
            <a:ext cx="0" cy="594360"/>
          </a:xfrm>
          <a:prstGeom prst="line">
            <a:avLst/>
          </a:prstGeom>
          <a:noFill/>
          <a:ln w="25400">
            <a:solidFill>
              <a:srgbClr val="1B1F3B"/>
            </a:solidFill>
            <a:prstDash val="solid"/>
            <a:headEnd type="triangle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6766560" y="2011680"/>
            <a:ext cx="0" cy="594360"/>
          </a:xfrm>
          <a:prstGeom prst="line">
            <a:avLst/>
          </a:prstGeom>
          <a:noFill/>
          <a:ln w="25400">
            <a:solidFill>
              <a:srgbClr val="1B1F3B"/>
            </a:solidFill>
            <a:prstDash val="solid"/>
            <a:headEnd type="triangle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Esercizio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2 · VPC: la rete privata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640080" cy="64008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1371600" y="137160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cidrsubnet("10.20.0.0/16", 8, 21)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terraform console · atteso: 10.20.21.0/24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606040"/>
            <a:ext cx="640080" cy="64008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2606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1371600" y="251460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terraform plan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 le risorse per tipo e spiegale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48640" y="3749040"/>
            <a:ext cx="640080" cy="64008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3749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1371600" y="365760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terraform apply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 controlla le route table (comando nella dispensa)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548640" y="4892040"/>
            <a:ext cx="640080" cy="64008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48640" y="4892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80060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 -var single_nat_gateway=false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cosa si crea? cosa si modifica?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6172200" y="1463040"/>
            <a:ext cx="640080" cy="64008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17220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6995160" y="137160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 -var az_count=3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subnet esistenti vengono toccate?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6172200" y="2606040"/>
            <a:ext cx="640080" cy="64008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172200" y="2606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sp>
        <p:nvSpPr>
          <p:cNvPr id="22" name="Text 19"/>
          <p:cNvSpPr txBox="1"/>
          <p:nvPr/>
        </p:nvSpPr>
        <p:spPr>
          <a:xfrm>
            <a:off x="6995160" y="251460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 -var vpc_cidr=10.30.0.0/16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 quante risorse vengono ricreate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6172200" y="3749040"/>
            <a:ext cx="640080" cy="64008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172200" y="3749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6995160" y="365760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Flow Logs (facoltativo)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arrivano file nel bucket?</a:t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6172200" y="4892040"/>
            <a:ext cx="640080" cy="640080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172200" y="4892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000" dirty="0"/>
          </a:p>
        </p:txBody>
      </p:sp>
      <p:sp>
        <p:nvSpPr>
          <p:cNvPr id="28" name="Text 25"/>
          <p:cNvSpPr txBox="1"/>
          <p:nvPr/>
        </p:nvSpPr>
        <p:spPr>
          <a:xfrm>
            <a:off x="6995160" y="480060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terraform destroy, subito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NAT si paga a ore anche se non lo usi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-var cambia una variabile solo per quel comando · passi completi: dispensa 2, sezione 9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Riepilogo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69494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4E5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VPC è la tua rete privata; quello di default non si usa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4E5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indirizzi si pianificano prima: niente sovrapposizioni, niente 192.168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4E5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subnet sta in un solo data center: ogni tipo in almeno due AZ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4E5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route table decide: pubblica, privata o isolata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4E5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Gateway = portone. NAT = centralino: solo uscita, si paga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4E5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DNS acceso; ogni subnet collegata alla sua route table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955280" y="1463040"/>
            <a:ext cx="3685032" cy="2103120"/>
          </a:xfrm>
          <a:prstGeom prst="roundRect">
            <a:avLst>
              <a:gd name="adj" fmla="val 5217"/>
            </a:avLst>
          </a:prstGeom>
          <a:solidFill>
            <a:srgbClr val="2A2F55"/>
          </a:solidFill>
          <a:ln w="12700">
            <a:solidFill>
              <a:srgbClr val="2A2F5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83880" y="1645920"/>
            <a:ext cx="3291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Materiale di studio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dispense/dispensa-2-vpc.md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955280" y="3840480"/>
            <a:ext cx="3685032" cy="1463040"/>
          </a:xfrm>
          <a:prstGeom prst="roundRect">
            <a:avLst>
              <a:gd name="adj" fmla="val 75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183880" y="402336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9D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Prossima lezione</a:t>
            </a:r>
            <a:endParaRPr lang="en-US" sz="1400" dirty="0"/>
          </a:p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Firewall: Security Group e NACL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cereZ23</dc:creator>
  <cp:lastModifiedBy>cereZ23</cp:lastModifiedBy>
  <cp:revision>1</cp:revision>
  <dcterms:created xsi:type="dcterms:W3CDTF">2026-09-30T13:41:52Z</dcterms:created>
  <dcterms:modified xsi:type="dcterms:W3CDTF">2026-09-30T13:41:52Z</dcterms:modified>
</cp:coreProperties>
</file>