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IAM viene prima di reti e server perché ogni singola richiesta ad AWS passa da IAM. Oggi seguiamo un solo esempio dall'inizio alla fine: un'applicazione che deve leggere dei file da un archivio, ma non deve poterli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 problema. Abbiamo un'applicazione che gira su un server. Deve scaricare i file delle nuove versioni, le release, da un archivio di AWS. Deve poterli leggere, ma non deve poterli cancellare, né toccare altro. Chi decide cosa può fare l'applicazione? IAM, il sistema di AWS che decide chi può fare cosa. Questo esempio ci accompagna per tutta 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cominciare, sei parole che useremo continuamente. L'account è il vostro spazio in AWS, identificato da un numero di dodici cifre. Un'API è una richiesta fatta ad AWS: ogni clic in console, ogni comando, ogni apply diventa una richiesta. S3 è l'archivio di file di AWS: un bucket è un contenitore, un oggetto è un file. EC2 è un server in AWS, lo vediamo nella lezione 5. Una policy è un documento con delle regole di permesso.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volta che qualcuno chiede qualcosa ad AWS, IAM si fa sempre la stessa domanda, in quattro parti: chi lo chiede, cosa vuole fare, su quale cosa, e a quali condizioni. Nel nostro esempio: l'applicazione vuole leggere il file app-v1.0.txt, solo dalla nostra rete. IAM guarda le regole e risponde sì o no. Nelle policy le quattro parti hanno nomi inglesi: principal, action, resource,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nostro archivio è un bucket S3 chiamato corso-artefatti. Dentro ci sono file, che in S3 si chiamano oggetti. Ogni file ha un nome completo, la chiave, per esempio releases/app-v1.0.txt. Attenzione: in S3 le cartelle non esistono davvero. releases barra è solo l'inizio del nome, e si chiama prefisso; la console lo disegna come una cartella per comodità. Ci servirà per dire: puoi leggere solo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scrivere le regole dobbiamo indicare con precisione su quale cosa valgono. In AWS ogni cosa ha un indirizzo completo e unico, come un indirizzo postale: si chiama ARN. È fatto di pezzi separati dai due punti. Alcuni pezzi possono restare vuoti: per S3 non servono né regione né account, perché il nome del bucket è già unico al mondo. L'asterisco è un jolly: releases barra asterisco vuol dire tutti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può fare richieste ad AWS? Quattro tipi di identità. Root è il proprietario dell'account: può tutto, per questo non si usa mai nel lavoro di tutti i giorni. L'utente IAM è una persona con una password o una chiave fissa: se qualcuno la ruba, funziona per sempre. Il gruppo è un'etichetta per dare gli stessi permessi a più utenti. Il role è un insieme di permessi che nessuno possiede: lo indossa per un po' chi è autorizzato. È la scelta giusta quasi sempre, e la nostra applicazione userà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usa un role? L'analogia è il badge da visitatore di un'azienda. Il badge non appartiene a nessuno. Arrivi alla reception, che controlla se sei sulla lista. Se sì, ti consegna il badge, che apre certe porte e a fine giornata smette di funzionare. In AWS la reception si chiama STS. Il badge sono credenziali temporanee che scadono da sole, di default dopo un'ora. Questo passaggio si chiama assumere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role ha due regole diverse, ed è l'errore più comune. La prima è la lista della reception: chi può prendere il badge. Si chiama trust policy e l'azione è sts:AssumeRole, cioè chiedere il badge. La seconda sono le porte che il badge apre: cosa può fare chi lo indossa. Si chiama permission policy; nel nostro esempio, leggere i file delle release. Servono tutte e due: un badge senza porte non apre niente, porte senza lista non le usa nessuno.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si scrivono in un documento chiamato policy, nel formato JSON: testo con coppie nome e valore; le graffe raggruppano, le quadre fanno liste. Version è sempre questa data: si copia così. Statement è la lista delle regole. Ogni regola dice: Effect, se consentire o vietare; Action, cosa si può fare; Resource, su quale cosa, con il suo ARN. Questa policy, letta in italiano: consenti di leggere i file che iniziano con releases barra nel bucket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decide IAM se dire sì o no? Prima controlla se c'è un divieto esplicito, un Deny: se c'è, è no, qualunque altra cosa dica. Poi controlla se c'è un permesso esplicito, un Allow: se c'è, è sì. Se non c'è né l'uno né l'altro, è no: tutto ciò che non è consentito è vietato. Nel nostro esempio: leggere le release ha un Allow, quindi sì; cancellare ha un Deny, quindi no; caricare un file non ha nessuna regola, quindi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cancellare non è consentito, è già vietato: perché scrivere un Deny? Perché un Deny resta valido anche se domani qualcuno aggiunge permessi per sbaglio. Esempio, che proverete nell'esercizio: oggi il role ha un Deny sulla cancellazione. Domani un collega gli aggiunge AmazonS3FullAccess, una policy già pronta di AWS che permette tutto su S3. Da quel momento il role può caricare file, ma cancellare resta vietato, perché il Deny vince sempre.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possono stare in due posti. Sulla persona o sul role: come il badge in tasca, dicono dove puoi entrare. Si chiamano identity-based. Sulla risorsa, per esempio sul bucket: come la lista appesa alla porta di una stanza, dicono chi può entrare. Si chiamano resource-based, e sono le uniche che indicano un chi, il principal. La trust policy del role è di questo tipo: è la lista attaccata al badge. Nel corso lavoriamo in un solo account, e basta un Allow in uno dei due posti.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non scriviamo il JSON a mano: descriviamo le regole in HCL, il linguaggio della lezione 0, con un blocco data chiamato aws_iam_policy_document. Terraform genera il JSON per noi e controlla gli errori. Ogni blocco statement diventa una regola. Se effect non è scritto vale Allow. Il testo JSON pronto si legge con punto json. In questo esempio, la trust policy: il principal è il nostro account, scritto con due punti root: significa chiunque del mio account a cui è permesso, non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il badge si costruisce con tre pezzi. aws_iam_role è il badge, con dentro la lista di chi può prenderlo, cioè la trust policy. aws_iam_policy sono le porte che apre, cioè la permission policy. aws_iam_role_policy_attachment attacca le porte al badge: senza di lui, il role non può fare niente. Attenzione a una risorsa dal nome simile, aws_iam_policy_attachment senza role: toglie la policy a chiunque non sia elencato, e non si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Nell'esercizio costruiamo proprio il nostro esempio. Un role chiamato artifact-reader, che voi potete assumere dal vostro account. Le sue regole sono tre: può elencare il contenuto del bucket, ma solo dentro releases barra; può leggere i file dentro releases barra; e non può mai cancellare, con un Deny. Per comodità usiamo il bucket creato nella lezione 0 al posto di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l'apply, si configura la CLI perché usi il role: un profilo chiamato lab-reader. Poi ogni comando si lancia con meno meno profile lab-reader, e la CLI prende il badge per voi. Sei prove. Chi sono: la risposta deve dire che state usando il role. Leggere un file ed elencare releases: sì. Elencare la radice del bucket: no, perché la regola permette di elencare solo releases. Caricare un file: no, perché nessuna regola lo consente. Cancellare: no, perché c'è un Deny. I passi completi sono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che riassume la lezione: dare solo i permessi che servono, niente di più. In pratica: azioni e risorse precise, non l'asterisco dappertutto; restringere ai prefissi, come releases; partire con pochi permessi e aggiungerne quando servono, non il contrario. AWS ha anche strumenti per scoprire quali permessi si usano davvero: li vediamo nell'appendice.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con il nostro esempio: l'applicazione assume un role, il role ha una lista di chi può prenderlo e delle porte che apre, e IAM risponde sì o no a ogni richiesta. Nella dispensa 1 trovate tutto per l'esercizio: il codice completo, il profilo della CLI e le domande di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1</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1 · IAM: chi può fare cosa</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IAM: chi può fare cosa</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Identità, permessi e role, con un esempio che seguiamo dall'inizio alla fine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L'applicazione</a:t>
            </a:r>
            <a:endParaRPr lang="en-US" sz="1800" dirty="0"/>
          </a:p>
        </p:txBody>
      </p:sp>
      <p:sp>
        <p:nvSpPr>
          <p:cNvPr id="9" name="Text 5"/>
          <p:cNvSpPr txBox="1"/>
          <p:nvPr/>
        </p:nvSpPr>
        <p:spPr>
          <a:xfrm>
            <a:off x="777240" y="2331720"/>
            <a:ext cx="31089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Gira su un server. Deve scaricare i file delle nuove versioni (le release).</a:t>
            </a:r>
            <a:endParaRPr lang="en-US" sz="1700" dirty="0"/>
          </a:p>
        </p:txBody>
      </p:sp>
      <p:sp>
        <p:nvSpPr>
          <p:cNvPr id="10" name="Shape 6"/>
          <p:cNvSpPr/>
          <p:nvPr/>
        </p:nvSpPr>
        <p:spPr>
          <a:xfrm>
            <a:off x="4160520" y="2971800"/>
            <a:ext cx="457200" cy="0"/>
          </a:xfrm>
          <a:prstGeom prst="line">
            <a:avLst/>
          </a:prstGeom>
          <a:noFill/>
          <a:ln w="25400">
            <a:solidFill>
              <a:srgbClr val="5B3FD0"/>
            </a:solidFill>
            <a:prstDash val="solid"/>
            <a:tailEnd type="triangle"/>
          </a:ln>
        </p:spPr>
      </p:sp>
      <p:sp>
        <p:nvSpPr>
          <p:cNvPr id="11" name="Shape 7"/>
          <p:cNvSpPr/>
          <p:nvPr/>
        </p:nvSpPr>
        <p:spPr>
          <a:xfrm>
            <a:off x="4663440" y="1417320"/>
            <a:ext cx="3108960"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489204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029200" y="1783080"/>
            <a:ext cx="274320" cy="274320"/>
          </a:xfrm>
          <a:prstGeom prst="rect">
            <a:avLst/>
          </a:prstGeom>
        </p:spPr>
      </p:pic>
      <p:sp>
        <p:nvSpPr>
          <p:cNvPr id="14" name="Text 9"/>
          <p:cNvSpPr txBox="1"/>
          <p:nvPr/>
        </p:nvSpPr>
        <p:spPr>
          <a:xfrm>
            <a:off x="5623560" y="1645920"/>
            <a:ext cx="19202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L'archivio</a:t>
            </a:r>
            <a:endParaRPr lang="en-US" sz="1800" dirty="0"/>
          </a:p>
        </p:txBody>
      </p:sp>
      <p:sp>
        <p:nvSpPr>
          <p:cNvPr id="15" name="Text 10"/>
          <p:cNvSpPr txBox="1"/>
          <p:nvPr/>
        </p:nvSpPr>
        <p:spPr>
          <a:xfrm>
            <a:off x="4892040" y="2331720"/>
            <a:ext cx="26517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corso-artefatti: contiene le release dentro releases/</a:t>
            </a:r>
            <a:endParaRPr lang="en-US" sz="1700" dirty="0"/>
          </a:p>
        </p:txBody>
      </p:sp>
      <p:sp>
        <p:nvSpPr>
          <p:cNvPr id="16" name="Shape 11"/>
          <p:cNvSpPr/>
          <p:nvPr/>
        </p:nvSpPr>
        <p:spPr>
          <a:xfrm>
            <a:off x="7955280" y="1417320"/>
            <a:ext cx="3685032" cy="3108960"/>
          </a:xfrm>
          <a:prstGeom prst="roundRect">
            <a:avLst>
              <a:gd name="adj" fmla="val 3529"/>
            </a:avLst>
          </a:prstGeom>
          <a:solidFill>
            <a:srgbClr val="E5F4EC"/>
          </a:solidFill>
          <a:ln w="12700">
            <a:solidFill>
              <a:srgbClr val="E5F4EC"/>
            </a:solidFill>
            <a:prstDash val="solid"/>
          </a:ln>
        </p:spPr>
      </p:sp>
      <p:sp>
        <p:nvSpPr>
          <p:cNvPr id="17" name="Shape 12"/>
          <p:cNvSpPr/>
          <p:nvPr/>
        </p:nvSpPr>
        <p:spPr>
          <a:xfrm>
            <a:off x="8183880" y="1645920"/>
            <a:ext cx="548640" cy="548640"/>
          </a:xfrm>
          <a:prstGeom prst="ellipse">
            <a:avLst/>
          </a:prstGeom>
          <a:solidFill>
            <a:srgbClr val="2E9E6B"/>
          </a:solidFill>
          <a:ln w="12700">
            <a:solidFill>
              <a:srgbClr val="2E9E6B"/>
            </a:solidFill>
            <a:prstDash val="solid"/>
          </a:ln>
        </p:spPr>
      </p:sp>
      <p:pic>
        <p:nvPicPr>
          <p:cNvPr id="18" name="Image 2" descr="preencoded.png">    </p:cNvPr>
          <p:cNvPicPr>
            <a:picLocks noChangeAspect="1"/>
          </p:cNvPicPr>
          <p:nvPr/>
        </p:nvPicPr>
        <p:blipFill>
          <a:blip r:embed="rId3"/>
          <a:stretch>
            <a:fillRect/>
          </a:stretch>
        </p:blipFill>
        <p:spPr>
          <a:xfrm>
            <a:off x="8321040" y="1783080"/>
            <a:ext cx="274320" cy="274320"/>
          </a:xfrm>
          <a:prstGeom prst="rect">
            <a:avLst/>
          </a:prstGeom>
        </p:spPr>
      </p:pic>
      <p:sp>
        <p:nvSpPr>
          <p:cNvPr id="19" name="Text 13"/>
          <p:cNvSpPr txBox="1"/>
          <p:nvPr/>
        </p:nvSpPr>
        <p:spPr>
          <a:xfrm>
            <a:off x="8915400" y="1645920"/>
            <a:ext cx="24963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 regole</a:t>
            </a:r>
            <a:endParaRPr lang="en-US" sz="1800" dirty="0"/>
          </a:p>
        </p:txBody>
      </p:sp>
      <p:sp>
        <p:nvSpPr>
          <p:cNvPr id="20" name="Text 14"/>
          <p:cNvSpPr txBox="1"/>
          <p:nvPr/>
        </p:nvSpPr>
        <p:spPr>
          <a:xfrm>
            <a:off x="8183880" y="2331720"/>
            <a:ext cx="3227832" cy="2011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Leggere le release: SÌ</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Cancellarle: NO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Tutto il resto: NO</a:t>
            </a:r>
            <a:endParaRPr lang="en-US" sz="1700" dirty="0"/>
          </a:p>
        </p:txBody>
      </p:sp>
      <p:sp>
        <p:nvSpPr>
          <p:cNvPr id="21" name="Shape 15"/>
          <p:cNvSpPr/>
          <p:nvPr/>
        </p:nvSpPr>
        <p:spPr>
          <a:xfrm>
            <a:off x="548640" y="4846320"/>
            <a:ext cx="11094415" cy="1005840"/>
          </a:xfrm>
          <a:prstGeom prst="roundRect">
            <a:avLst>
              <a:gd name="adj" fmla="val 9091"/>
            </a:avLst>
          </a:prstGeom>
          <a:solidFill>
            <a:srgbClr val="5B3FD0"/>
          </a:solidFill>
          <a:ln w="12700">
            <a:solidFill>
              <a:srgbClr val="5B3FD0"/>
            </a:solidFill>
            <a:prstDash val="solid"/>
          </a:ln>
        </p:spPr>
      </p:sp>
      <p:sp>
        <p:nvSpPr>
          <p:cNvPr id="22" name="Text 16"/>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IAM è il sistema di AWS che decide chi può fare cosa. Oggi scriviamo queste tre regole.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minime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1371600"/>
          </a:xfrm>
          <a:prstGeom prst="roundRect">
            <a:avLst>
              <a:gd name="adj" fmla="val 800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a:t>
            </a:r>
            <a:endParaRPr lang="en-US" sz="1800" dirty="0"/>
          </a:p>
        </p:txBody>
      </p:sp>
      <p:sp>
        <p:nvSpPr>
          <p:cNvPr id="9" name="Text 5"/>
          <p:cNvSpPr txBox="1"/>
          <p:nvPr/>
        </p:nvSpPr>
        <p:spPr>
          <a:xfrm>
            <a:off x="77724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tuo spazio in AWS, con un numero di 12 cifre</a:t>
            </a:r>
            <a:endParaRPr lang="en-US" sz="1600" dirty="0"/>
          </a:p>
        </p:txBody>
      </p:sp>
      <p:sp>
        <p:nvSpPr>
          <p:cNvPr id="10" name="Shape 6"/>
          <p:cNvSpPr/>
          <p:nvPr/>
        </p:nvSpPr>
        <p:spPr>
          <a:xfrm>
            <a:off x="6172200" y="1417320"/>
            <a:ext cx="5440680" cy="1371600"/>
          </a:xfrm>
          <a:prstGeom prst="roundRect">
            <a:avLst>
              <a:gd name="adj" fmla="val 8000"/>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API</a:t>
            </a:r>
            <a:endParaRPr lang="en-US" sz="1800" dirty="0"/>
          </a:p>
        </p:txBody>
      </p:sp>
      <p:sp>
        <p:nvSpPr>
          <p:cNvPr id="14" name="Text 9"/>
          <p:cNvSpPr txBox="1"/>
          <p:nvPr/>
        </p:nvSpPr>
        <p:spPr>
          <a:xfrm>
            <a:off x="640080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una richiesta ad AWS: ogni clic, comando o apply</a:t>
            </a:r>
            <a:endParaRPr lang="en-US" sz="1600" dirty="0"/>
          </a:p>
        </p:txBody>
      </p:sp>
      <p:sp>
        <p:nvSpPr>
          <p:cNvPr id="15" name="Shape 10"/>
          <p:cNvSpPr/>
          <p:nvPr/>
        </p:nvSpPr>
        <p:spPr>
          <a:xfrm>
            <a:off x="548640" y="2971800"/>
            <a:ext cx="5440680" cy="1371600"/>
          </a:xfrm>
          <a:prstGeom prst="roundRect">
            <a:avLst>
              <a:gd name="adj" fmla="val 8000"/>
            </a:avLst>
          </a:prstGeom>
          <a:solidFill>
            <a:srgbClr val="EEEAFB"/>
          </a:solidFill>
          <a:ln w="12700">
            <a:solidFill>
              <a:srgbClr val="EEEAFB"/>
            </a:solidFill>
            <a:prstDash val="solid"/>
          </a:ln>
        </p:spPr>
      </p:sp>
      <p:sp>
        <p:nvSpPr>
          <p:cNvPr id="16" name="Shape 11"/>
          <p:cNvSpPr/>
          <p:nvPr/>
        </p:nvSpPr>
        <p:spPr>
          <a:xfrm>
            <a:off x="777240" y="32004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3337560"/>
            <a:ext cx="274320" cy="274320"/>
          </a:xfrm>
          <a:prstGeom prst="rect">
            <a:avLst/>
          </a:prstGeom>
        </p:spPr>
      </p:pic>
      <p:sp>
        <p:nvSpPr>
          <p:cNvPr id="18" name="Text 12"/>
          <p:cNvSpPr txBox="1"/>
          <p:nvPr/>
        </p:nvSpPr>
        <p:spPr>
          <a:xfrm>
            <a:off x="150876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S3 · bucket</a:t>
            </a:r>
            <a:endParaRPr lang="en-US" sz="1800" dirty="0"/>
          </a:p>
        </p:txBody>
      </p:sp>
      <p:sp>
        <p:nvSpPr>
          <p:cNvPr id="19" name="Text 13"/>
          <p:cNvSpPr txBox="1"/>
          <p:nvPr/>
        </p:nvSpPr>
        <p:spPr>
          <a:xfrm>
            <a:off x="77724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l'archivio di file di AWS · un contenitore</a:t>
            </a:r>
            <a:endParaRPr lang="en-US" sz="1600" dirty="0"/>
          </a:p>
        </p:txBody>
      </p:sp>
      <p:sp>
        <p:nvSpPr>
          <p:cNvPr id="20" name="Shape 14"/>
          <p:cNvSpPr/>
          <p:nvPr/>
        </p:nvSpPr>
        <p:spPr>
          <a:xfrm>
            <a:off x="6172200" y="2971800"/>
            <a:ext cx="5440680" cy="1371600"/>
          </a:xfrm>
          <a:prstGeom prst="roundRect">
            <a:avLst>
              <a:gd name="adj" fmla="val 8000"/>
            </a:avLst>
          </a:prstGeom>
          <a:solidFill>
            <a:srgbClr val="EEEAFB"/>
          </a:solidFill>
          <a:ln w="12700">
            <a:solidFill>
              <a:srgbClr val="EEEAFB"/>
            </a:solidFill>
            <a:prstDash val="solid"/>
          </a:ln>
        </p:spPr>
      </p:sp>
      <p:sp>
        <p:nvSpPr>
          <p:cNvPr id="21" name="Shape 15"/>
          <p:cNvSpPr/>
          <p:nvPr/>
        </p:nvSpPr>
        <p:spPr>
          <a:xfrm>
            <a:off x="6400800" y="320040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3337560"/>
            <a:ext cx="274320" cy="274320"/>
          </a:xfrm>
          <a:prstGeom prst="rect">
            <a:avLst/>
          </a:prstGeom>
        </p:spPr>
      </p:pic>
      <p:sp>
        <p:nvSpPr>
          <p:cNvPr id="23" name="Text 16"/>
          <p:cNvSpPr txBox="1"/>
          <p:nvPr/>
        </p:nvSpPr>
        <p:spPr>
          <a:xfrm>
            <a:off x="713232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Oggetto</a:t>
            </a:r>
            <a:endParaRPr lang="en-US" sz="1800" dirty="0"/>
          </a:p>
        </p:txBody>
      </p:sp>
      <p:sp>
        <p:nvSpPr>
          <p:cNvPr id="24" name="Text 17"/>
          <p:cNvSpPr txBox="1"/>
          <p:nvPr/>
        </p:nvSpPr>
        <p:spPr>
          <a:xfrm>
            <a:off x="640080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file dentro un bucket</a:t>
            </a:r>
            <a:endParaRPr lang="en-US" sz="1600" dirty="0"/>
          </a:p>
        </p:txBody>
      </p:sp>
      <p:sp>
        <p:nvSpPr>
          <p:cNvPr id="25" name="Shape 18"/>
          <p:cNvSpPr/>
          <p:nvPr/>
        </p:nvSpPr>
        <p:spPr>
          <a:xfrm>
            <a:off x="548640" y="4526280"/>
            <a:ext cx="5440680" cy="1371600"/>
          </a:xfrm>
          <a:prstGeom prst="roundRect">
            <a:avLst>
              <a:gd name="adj" fmla="val 8000"/>
            </a:avLst>
          </a:prstGeom>
          <a:solidFill>
            <a:srgbClr val="EEEAFB"/>
          </a:solidFill>
          <a:ln w="12700">
            <a:solidFill>
              <a:srgbClr val="EEEAFB"/>
            </a:solidFill>
            <a:prstDash val="solid"/>
          </a:ln>
        </p:spPr>
      </p:sp>
      <p:sp>
        <p:nvSpPr>
          <p:cNvPr id="26" name="Shape 19"/>
          <p:cNvSpPr/>
          <p:nvPr/>
        </p:nvSpPr>
        <p:spPr>
          <a:xfrm>
            <a:off x="777240" y="475488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914400" y="4892040"/>
            <a:ext cx="274320" cy="274320"/>
          </a:xfrm>
          <a:prstGeom prst="rect">
            <a:avLst/>
          </a:prstGeom>
        </p:spPr>
      </p:pic>
      <p:sp>
        <p:nvSpPr>
          <p:cNvPr id="28" name="Text 20"/>
          <p:cNvSpPr txBox="1"/>
          <p:nvPr/>
        </p:nvSpPr>
        <p:spPr>
          <a:xfrm>
            <a:off x="150876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EC2</a:t>
            </a:r>
            <a:endParaRPr lang="en-US" sz="1800" dirty="0"/>
          </a:p>
        </p:txBody>
      </p:sp>
      <p:sp>
        <p:nvSpPr>
          <p:cNvPr id="29" name="Text 21"/>
          <p:cNvSpPr txBox="1"/>
          <p:nvPr/>
        </p:nvSpPr>
        <p:spPr>
          <a:xfrm>
            <a:off x="77724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server in AWS (lezione 5)</a:t>
            </a:r>
            <a:endParaRPr lang="en-US" sz="1600" dirty="0"/>
          </a:p>
        </p:txBody>
      </p:sp>
      <p:sp>
        <p:nvSpPr>
          <p:cNvPr id="30" name="Shape 22"/>
          <p:cNvSpPr/>
          <p:nvPr/>
        </p:nvSpPr>
        <p:spPr>
          <a:xfrm>
            <a:off x="6172200" y="4526280"/>
            <a:ext cx="5440680" cy="1371600"/>
          </a:xfrm>
          <a:prstGeom prst="roundRect">
            <a:avLst>
              <a:gd name="adj" fmla="val 8000"/>
            </a:avLst>
          </a:prstGeom>
          <a:solidFill>
            <a:srgbClr val="EEEAFB"/>
          </a:solidFill>
          <a:ln w="12700">
            <a:solidFill>
              <a:srgbClr val="EEEAFB"/>
            </a:solidFill>
            <a:prstDash val="solid"/>
          </a:ln>
        </p:spPr>
      </p:sp>
      <p:sp>
        <p:nvSpPr>
          <p:cNvPr id="31" name="Shape 23"/>
          <p:cNvSpPr/>
          <p:nvPr/>
        </p:nvSpPr>
        <p:spPr>
          <a:xfrm>
            <a:off x="6400800" y="475488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6537960" y="4892040"/>
            <a:ext cx="274320" cy="274320"/>
          </a:xfrm>
          <a:prstGeom prst="rect">
            <a:avLst/>
          </a:prstGeom>
        </p:spPr>
      </p:pic>
      <p:sp>
        <p:nvSpPr>
          <p:cNvPr id="33" name="Text 24"/>
          <p:cNvSpPr txBox="1"/>
          <p:nvPr/>
        </p:nvSpPr>
        <p:spPr>
          <a:xfrm>
            <a:off x="713232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Policy</a:t>
            </a:r>
            <a:endParaRPr lang="en-US" sz="1800" dirty="0"/>
          </a:p>
        </p:txBody>
      </p:sp>
      <p:sp>
        <p:nvSpPr>
          <p:cNvPr id="34" name="Text 25"/>
          <p:cNvSpPr txBox="1"/>
          <p:nvPr/>
        </p:nvSpPr>
        <p:spPr>
          <a:xfrm>
            <a:off x="640080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documento con regole di permesso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Ogni richiesta è una domanda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651760" cy="3108960"/>
          </a:xfrm>
          <a:prstGeom prst="roundRect">
            <a:avLst>
              <a:gd name="adj" fmla="val 4138"/>
            </a:avLst>
          </a:prstGeom>
          <a:solidFill>
            <a:srgbClr val="EEEAFB"/>
          </a:solidFill>
          <a:ln w="12700">
            <a:solidFill>
              <a:srgbClr val="EEEAFB"/>
            </a:solidFill>
            <a:prstDash val="solid"/>
          </a:ln>
        </p:spPr>
      </p:sp>
      <p:sp>
        <p:nvSpPr>
          <p:cNvPr id="6" name="Shape 3"/>
          <p:cNvSpPr/>
          <p:nvPr/>
        </p:nvSpPr>
        <p:spPr>
          <a:xfrm>
            <a:off x="1417320" y="1600200"/>
            <a:ext cx="914400" cy="91440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1645920" y="1828800"/>
            <a:ext cx="457200" cy="457200"/>
          </a:xfrm>
          <a:prstGeom prst="rect">
            <a:avLst/>
          </a:prstGeom>
        </p:spPr>
      </p:pic>
      <p:sp>
        <p:nvSpPr>
          <p:cNvPr id="8" name="Text 4"/>
          <p:cNvSpPr txBox="1"/>
          <p:nvPr/>
        </p:nvSpPr>
        <p:spPr>
          <a:xfrm>
            <a:off x="54864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Chi?</a:t>
            </a:r>
            <a:endParaRPr lang="en-US" sz="1900" dirty="0"/>
          </a:p>
        </p:txBody>
      </p:sp>
      <p:sp>
        <p:nvSpPr>
          <p:cNvPr id="9" name="Text 5"/>
          <p:cNvSpPr txBox="1"/>
          <p:nvPr/>
        </p:nvSpPr>
        <p:spPr>
          <a:xfrm>
            <a:off x="68580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l'applicazione</a:t>
            </a:r>
            <a:endParaRPr lang="en-US" sz="1700" dirty="0"/>
          </a:p>
        </p:txBody>
      </p:sp>
      <p:sp>
        <p:nvSpPr>
          <p:cNvPr id="10" name="Text 6"/>
          <p:cNvSpPr txBox="1"/>
          <p:nvPr/>
        </p:nvSpPr>
        <p:spPr>
          <a:xfrm>
            <a:off x="68580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principal</a:t>
            </a:r>
            <a:endParaRPr lang="en-US" sz="1300" dirty="0"/>
          </a:p>
        </p:txBody>
      </p:sp>
      <p:sp>
        <p:nvSpPr>
          <p:cNvPr id="11" name="Shape 7"/>
          <p:cNvSpPr/>
          <p:nvPr/>
        </p:nvSpPr>
        <p:spPr>
          <a:xfrm>
            <a:off x="3383280" y="1417320"/>
            <a:ext cx="2651760" cy="3108960"/>
          </a:xfrm>
          <a:prstGeom prst="roundRect">
            <a:avLst>
              <a:gd name="adj" fmla="val 4138"/>
            </a:avLst>
          </a:prstGeom>
          <a:solidFill>
            <a:srgbClr val="EEEAFB"/>
          </a:solidFill>
          <a:ln w="12700">
            <a:solidFill>
              <a:srgbClr val="EEEAFB"/>
            </a:solidFill>
            <a:prstDash val="solid"/>
          </a:ln>
        </p:spPr>
      </p:sp>
      <p:sp>
        <p:nvSpPr>
          <p:cNvPr id="12" name="Shape 8"/>
          <p:cNvSpPr/>
          <p:nvPr/>
        </p:nvSpPr>
        <p:spPr>
          <a:xfrm>
            <a:off x="4251960" y="1600200"/>
            <a:ext cx="914400" cy="91440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80560" y="1828800"/>
            <a:ext cx="457200" cy="457200"/>
          </a:xfrm>
          <a:prstGeom prst="rect">
            <a:avLst/>
          </a:prstGeom>
        </p:spPr>
      </p:pic>
      <p:sp>
        <p:nvSpPr>
          <p:cNvPr id="14" name="Text 9"/>
          <p:cNvSpPr txBox="1"/>
          <p:nvPr/>
        </p:nvSpPr>
        <p:spPr>
          <a:xfrm>
            <a:off x="338328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Cosa vuole fare?</a:t>
            </a:r>
            <a:endParaRPr lang="en-US" sz="1900" dirty="0"/>
          </a:p>
        </p:txBody>
      </p:sp>
      <p:sp>
        <p:nvSpPr>
          <p:cNvPr id="15" name="Text 10"/>
          <p:cNvSpPr txBox="1"/>
          <p:nvPr/>
        </p:nvSpPr>
        <p:spPr>
          <a:xfrm>
            <a:off x="352044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leggere un file</a:t>
            </a:r>
            <a:endParaRPr lang="en-US" sz="1700" dirty="0"/>
          </a:p>
        </p:txBody>
      </p:sp>
      <p:sp>
        <p:nvSpPr>
          <p:cNvPr id="16" name="Text 11"/>
          <p:cNvSpPr txBox="1"/>
          <p:nvPr/>
        </p:nvSpPr>
        <p:spPr>
          <a:xfrm>
            <a:off x="352044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action · s3:GetObject</a:t>
            </a:r>
            <a:endParaRPr lang="en-US" sz="1300" dirty="0"/>
          </a:p>
        </p:txBody>
      </p:sp>
      <p:sp>
        <p:nvSpPr>
          <p:cNvPr id="17" name="Shape 12"/>
          <p:cNvSpPr/>
          <p:nvPr/>
        </p:nvSpPr>
        <p:spPr>
          <a:xfrm>
            <a:off x="6217920" y="1417320"/>
            <a:ext cx="2651760" cy="3108960"/>
          </a:xfrm>
          <a:prstGeom prst="roundRect">
            <a:avLst>
              <a:gd name="adj" fmla="val 4138"/>
            </a:avLst>
          </a:prstGeom>
          <a:solidFill>
            <a:srgbClr val="EEEAFB"/>
          </a:solidFill>
          <a:ln w="12700">
            <a:solidFill>
              <a:srgbClr val="EEEAFB"/>
            </a:solidFill>
            <a:prstDash val="solid"/>
          </a:ln>
        </p:spPr>
      </p:sp>
      <p:sp>
        <p:nvSpPr>
          <p:cNvPr id="18" name="Shape 13"/>
          <p:cNvSpPr/>
          <p:nvPr/>
        </p:nvSpPr>
        <p:spPr>
          <a:xfrm>
            <a:off x="7086600" y="1600200"/>
            <a:ext cx="914400" cy="91440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7315200" y="1828800"/>
            <a:ext cx="457200" cy="457200"/>
          </a:xfrm>
          <a:prstGeom prst="rect">
            <a:avLst/>
          </a:prstGeom>
        </p:spPr>
      </p:pic>
      <p:sp>
        <p:nvSpPr>
          <p:cNvPr id="20" name="Text 14"/>
          <p:cNvSpPr txBox="1"/>
          <p:nvPr/>
        </p:nvSpPr>
        <p:spPr>
          <a:xfrm>
            <a:off x="621792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Su quale cosa?</a:t>
            </a:r>
            <a:endParaRPr lang="en-US" sz="1900" dirty="0"/>
          </a:p>
        </p:txBody>
      </p:sp>
      <p:sp>
        <p:nvSpPr>
          <p:cNvPr id="21" name="Text 15"/>
          <p:cNvSpPr txBox="1"/>
          <p:nvPr/>
        </p:nvSpPr>
        <p:spPr>
          <a:xfrm>
            <a:off x="635508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releases/app-v1.0.txt</a:t>
            </a:r>
            <a:endParaRPr lang="en-US" sz="1700" dirty="0"/>
          </a:p>
        </p:txBody>
      </p:sp>
      <p:sp>
        <p:nvSpPr>
          <p:cNvPr id="22" name="Text 16"/>
          <p:cNvSpPr txBox="1"/>
          <p:nvPr/>
        </p:nvSpPr>
        <p:spPr>
          <a:xfrm>
            <a:off x="635508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resource</a:t>
            </a:r>
            <a:endParaRPr lang="en-US" sz="1300" dirty="0"/>
          </a:p>
        </p:txBody>
      </p:sp>
      <p:sp>
        <p:nvSpPr>
          <p:cNvPr id="23" name="Shape 17"/>
          <p:cNvSpPr/>
          <p:nvPr/>
        </p:nvSpPr>
        <p:spPr>
          <a:xfrm>
            <a:off x="9052560" y="1417320"/>
            <a:ext cx="2651760" cy="3108960"/>
          </a:xfrm>
          <a:prstGeom prst="roundRect">
            <a:avLst>
              <a:gd name="adj" fmla="val 4138"/>
            </a:avLst>
          </a:prstGeom>
          <a:solidFill>
            <a:srgbClr val="EEEAFB"/>
          </a:solidFill>
          <a:ln w="12700">
            <a:solidFill>
              <a:srgbClr val="EEEAFB"/>
            </a:solidFill>
            <a:prstDash val="solid"/>
          </a:ln>
        </p:spPr>
      </p:sp>
      <p:sp>
        <p:nvSpPr>
          <p:cNvPr id="24" name="Shape 18"/>
          <p:cNvSpPr/>
          <p:nvPr/>
        </p:nvSpPr>
        <p:spPr>
          <a:xfrm>
            <a:off x="9921240" y="1600200"/>
            <a:ext cx="914400" cy="914400"/>
          </a:xfrm>
          <a:prstGeom prst="ellipse">
            <a:avLst/>
          </a:prstGeom>
          <a:solidFill>
            <a:srgbClr val="F28C28"/>
          </a:solidFill>
          <a:ln w="12700">
            <a:solidFill>
              <a:srgbClr val="F28C28"/>
            </a:solidFill>
            <a:prstDash val="solid"/>
          </a:ln>
        </p:spPr>
      </p:sp>
      <p:pic>
        <p:nvPicPr>
          <p:cNvPr id="25" name="Image 3" descr="preencoded.png">    </p:cNvPr>
          <p:cNvPicPr>
            <a:picLocks noChangeAspect="1"/>
          </p:cNvPicPr>
          <p:nvPr/>
        </p:nvPicPr>
        <p:blipFill>
          <a:blip r:embed="rId4"/>
          <a:stretch>
            <a:fillRect/>
          </a:stretch>
        </p:blipFill>
        <p:spPr>
          <a:xfrm>
            <a:off x="10149840" y="1828800"/>
            <a:ext cx="457200" cy="457200"/>
          </a:xfrm>
          <a:prstGeom prst="rect">
            <a:avLst/>
          </a:prstGeom>
        </p:spPr>
      </p:pic>
      <p:sp>
        <p:nvSpPr>
          <p:cNvPr id="26" name="Text 19"/>
          <p:cNvSpPr txBox="1"/>
          <p:nvPr/>
        </p:nvSpPr>
        <p:spPr>
          <a:xfrm>
            <a:off x="905256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A quali condizioni?</a:t>
            </a:r>
            <a:endParaRPr lang="en-US" sz="1900" dirty="0"/>
          </a:p>
        </p:txBody>
      </p:sp>
      <p:sp>
        <p:nvSpPr>
          <p:cNvPr id="27" name="Text 20"/>
          <p:cNvSpPr txBox="1"/>
          <p:nvPr/>
        </p:nvSpPr>
        <p:spPr>
          <a:xfrm>
            <a:off x="918972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solo dalla nostra rete</a:t>
            </a:r>
            <a:endParaRPr lang="en-US" sz="1700" dirty="0"/>
          </a:p>
        </p:txBody>
      </p:sp>
      <p:sp>
        <p:nvSpPr>
          <p:cNvPr id="28" name="Text 21"/>
          <p:cNvSpPr txBox="1"/>
          <p:nvPr/>
        </p:nvSpPr>
        <p:spPr>
          <a:xfrm>
            <a:off x="918972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condition (facoltativa)</a:t>
            </a:r>
            <a:endParaRPr lang="en-US" sz="1300" dirty="0"/>
          </a:p>
        </p:txBody>
      </p:sp>
      <p:sp>
        <p:nvSpPr>
          <p:cNvPr id="29" name="Shape 2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30" name="Text 2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IAM guarda le regole e risponde SÌ o NO. In piccolo: i nomi inglesi usati nelle policy.</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S3: bucket, oggetti e prefissi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760720" cy="4526280"/>
          </a:xfrm>
          <a:prstGeom prst="roundRect">
            <a:avLst>
              <a:gd name="adj" fmla="val 2424"/>
            </a:avLst>
          </a:prstGeom>
          <a:solidFill>
            <a:srgbClr val="EEEAFB"/>
          </a:solidFill>
          <a:ln w="12700">
            <a:solidFill>
              <a:srgbClr val="EEEAFB"/>
            </a:solidFill>
            <a:prstDash val="solid"/>
          </a:ln>
        </p:spPr>
      </p:sp>
      <p:sp>
        <p:nvSpPr>
          <p:cNvPr id="6" name="Shape 3"/>
          <p:cNvSpPr/>
          <p:nvPr/>
        </p:nvSpPr>
        <p:spPr>
          <a:xfrm>
            <a:off x="822960" y="1645920"/>
            <a:ext cx="640080" cy="64008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8" name="Text 4"/>
          <p:cNvSpPr txBox="1"/>
          <p:nvPr/>
        </p:nvSpPr>
        <p:spPr>
          <a:xfrm>
            <a:off x="1600200" y="1645920"/>
            <a:ext cx="4572000" cy="640080"/>
          </a:xfrm>
          <a:prstGeom prst="rect">
            <a:avLst/>
          </a:prstGeom>
          <a:noFill/>
          <a:ln/>
        </p:spPr>
        <p:txBody>
          <a:bodyPr wrap="square" lIns="0" tIns="0" rIns="0" bIns="0" rtlCol="0" anchor="ctr"/>
          <a:lstStyle/>
          <a:p>
            <a:pPr algn="l" indent="0" marL="0">
              <a:buNone/>
            </a:pPr>
            <a:r>
              <a:rPr lang="en-US" sz="1800" b="1" dirty="0">
                <a:solidFill>
                  <a:srgbClr val="22253A"/>
                </a:solidFill>
                <a:latin typeface="Courier New" pitchFamily="34" charset="0"/>
                <a:ea typeface="Courier New" pitchFamily="34" charset="-122"/>
                <a:cs typeface="Courier New" pitchFamily="34" charset="-120"/>
              </a:rPr>
              <a:t>bucket: corso-artefatti</a:t>
            </a:r>
            <a:endParaRPr lang="en-US" sz="1800" dirty="0"/>
          </a:p>
        </p:txBody>
      </p:sp>
      <p:sp>
        <p:nvSpPr>
          <p:cNvPr id="9" name="Shape 5"/>
          <p:cNvSpPr/>
          <p:nvPr/>
        </p:nvSpPr>
        <p:spPr>
          <a:xfrm>
            <a:off x="822960" y="2560320"/>
            <a:ext cx="5212080" cy="777240"/>
          </a:xfrm>
          <a:prstGeom prst="roundRect">
            <a:avLst>
              <a:gd name="adj" fmla="val 9412"/>
            </a:avLst>
          </a:prstGeom>
          <a:solidFill>
            <a:srgbClr val="FFFFFF"/>
          </a:solidFill>
          <a:ln w="12700">
            <a:solidFill>
              <a:srgbClr val="D9D6EC"/>
            </a:solidFill>
            <a:prstDash val="solid"/>
          </a:ln>
        </p:spPr>
      </p:sp>
      <p:sp>
        <p:nvSpPr>
          <p:cNvPr id="10" name="Text 6"/>
          <p:cNvSpPr txBox="1"/>
          <p:nvPr/>
        </p:nvSpPr>
        <p:spPr>
          <a:xfrm>
            <a:off x="1005840" y="256032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app-v1.0.txt</a:t>
            </a:r>
            <a:endParaRPr lang="en-US" sz="1800" dirty="0"/>
          </a:p>
        </p:txBody>
      </p:sp>
      <p:sp>
        <p:nvSpPr>
          <p:cNvPr id="11" name="Shape 7"/>
          <p:cNvSpPr/>
          <p:nvPr/>
        </p:nvSpPr>
        <p:spPr>
          <a:xfrm>
            <a:off x="822960" y="3520440"/>
            <a:ext cx="5212080" cy="777240"/>
          </a:xfrm>
          <a:prstGeom prst="roundRect">
            <a:avLst>
              <a:gd name="adj" fmla="val 9412"/>
            </a:avLst>
          </a:prstGeom>
          <a:solidFill>
            <a:srgbClr val="FFFFFF"/>
          </a:solidFill>
          <a:ln w="12700">
            <a:solidFill>
              <a:srgbClr val="D9D6EC"/>
            </a:solidFill>
            <a:prstDash val="solid"/>
          </a:ln>
        </p:spPr>
      </p:sp>
      <p:sp>
        <p:nvSpPr>
          <p:cNvPr id="12" name="Text 8"/>
          <p:cNvSpPr txBox="1"/>
          <p:nvPr/>
        </p:nvSpPr>
        <p:spPr>
          <a:xfrm>
            <a:off x="1005840" y="352044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app-v1.1.txt</a:t>
            </a:r>
            <a:endParaRPr lang="en-US" sz="1800" dirty="0"/>
          </a:p>
        </p:txBody>
      </p:sp>
      <p:sp>
        <p:nvSpPr>
          <p:cNvPr id="13" name="Shape 9"/>
          <p:cNvSpPr/>
          <p:nvPr/>
        </p:nvSpPr>
        <p:spPr>
          <a:xfrm>
            <a:off x="822960" y="4480560"/>
            <a:ext cx="5212080" cy="777240"/>
          </a:xfrm>
          <a:prstGeom prst="roundRect">
            <a:avLst>
              <a:gd name="adj" fmla="val 9412"/>
            </a:avLst>
          </a:prstGeom>
          <a:solidFill>
            <a:srgbClr val="FFFFFF"/>
          </a:solidFill>
          <a:ln w="12700">
            <a:solidFill>
              <a:srgbClr val="D9D6EC"/>
            </a:solidFill>
            <a:prstDash val="solid"/>
          </a:ln>
        </p:spPr>
      </p:sp>
      <p:sp>
        <p:nvSpPr>
          <p:cNvPr id="14" name="Text 10"/>
          <p:cNvSpPr txBox="1"/>
          <p:nvPr/>
        </p:nvSpPr>
        <p:spPr>
          <a:xfrm>
            <a:off x="1005840" y="4480560"/>
            <a:ext cx="4937760" cy="777240"/>
          </a:xfrm>
          <a:prstGeom prst="rect">
            <a:avLst/>
          </a:prstGeom>
          <a:noFill/>
          <a:ln/>
        </p:spPr>
        <p:txBody>
          <a:bodyPr wrap="square" lIns="0" tIns="0" rIns="0" bIns="0" rtlCol="0" anchor="ctr"/>
          <a:lstStyle/>
          <a:p>
            <a:pPr indent="0" marL="0">
              <a:buNone/>
            </a:pPr>
            <a:r>
              <a:rPr lang="en-US" sz="1800" b="1" dirty="0">
                <a:solidFill>
                  <a:srgbClr val="5F6478"/>
                </a:solidFill>
                <a:latin typeface="Courier New" pitchFamily="34" charset="0"/>
                <a:ea typeface="Courier New" pitchFamily="34" charset="-122"/>
                <a:cs typeface="Courier New" pitchFamily="34" charset="-120"/>
              </a:rPr>
              <a:t>logs/</a:t>
            </a:r>
            <a:pPr indent="0" marL="0">
              <a:buNone/>
            </a:pPr>
            <a:r>
              <a:rPr lang="en-US" sz="1800" dirty="0">
                <a:solidFill>
                  <a:srgbClr val="22253A"/>
                </a:solidFill>
                <a:latin typeface="Courier New" pitchFamily="34" charset="0"/>
                <a:ea typeface="Courier New" pitchFamily="34" charset="-122"/>
                <a:cs typeface="Courier New" pitchFamily="34" charset="-120"/>
              </a:rPr>
              <a:t>2026-01.txt</a:t>
            </a:r>
            <a:endParaRPr lang="en-US" sz="1800" dirty="0"/>
          </a:p>
        </p:txBody>
      </p:sp>
      <p:sp>
        <p:nvSpPr>
          <p:cNvPr id="15" name="Text 11"/>
          <p:cNvSpPr txBox="1"/>
          <p:nvPr/>
        </p:nvSpPr>
        <p:spPr>
          <a:xfrm>
            <a:off x="822960" y="5440680"/>
            <a:ext cx="5212080" cy="365760"/>
          </a:xfrm>
          <a:prstGeom prst="rect">
            <a:avLst/>
          </a:prstGeom>
          <a:noFill/>
          <a:ln/>
        </p:spPr>
        <p:txBody>
          <a:bodyPr wrap="square" lIns="0" tIns="0" rIns="0" bIns="0" rtlCol="0" anchor="ctr"/>
          <a:lstStyle/>
          <a:p>
            <a:pPr algn="ctr" indent="0" marL="0">
              <a:buNone/>
            </a:pPr>
            <a:r>
              <a:rPr lang="en-US" sz="1400" i="1" dirty="0">
                <a:solidFill>
                  <a:srgbClr val="5F6478"/>
                </a:solidFill>
                <a:latin typeface="Calibri" pitchFamily="34" charset="0"/>
                <a:ea typeface="Calibri" pitchFamily="34" charset="-122"/>
                <a:cs typeface="Calibri" pitchFamily="34" charset="-120"/>
              </a:rPr>
              <a:t>ogni riga è un oggetto (un file) · in arancione il prefisso</a:t>
            </a:r>
            <a:endParaRPr lang="en-US" sz="1400" dirty="0"/>
          </a:p>
        </p:txBody>
      </p:sp>
      <p:sp>
        <p:nvSpPr>
          <p:cNvPr id="16" name="Shape 12"/>
          <p:cNvSpPr/>
          <p:nvPr/>
        </p:nvSpPr>
        <p:spPr>
          <a:xfrm>
            <a:off x="6537960" y="1417320"/>
            <a:ext cx="5102352" cy="960120"/>
          </a:xfrm>
          <a:prstGeom prst="roundRect">
            <a:avLst>
              <a:gd name="adj" fmla="val 9524"/>
            </a:avLst>
          </a:prstGeom>
          <a:solidFill>
            <a:srgbClr val="F7F6FD"/>
          </a:solidFill>
          <a:ln w="12700">
            <a:solidFill>
              <a:srgbClr val="F7F6FD"/>
            </a:solidFill>
            <a:prstDash val="solid"/>
          </a:ln>
        </p:spPr>
      </p:sp>
      <p:sp>
        <p:nvSpPr>
          <p:cNvPr id="17" name="Text 13"/>
          <p:cNvSpPr txBox="1"/>
          <p:nvPr/>
        </p:nvSpPr>
        <p:spPr>
          <a:xfrm>
            <a:off x="6537960" y="1417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S3</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l'archivio di file di AWS</a:t>
            </a:r>
            <a:endParaRPr lang="en-US" sz="1700" dirty="0"/>
          </a:p>
        </p:txBody>
      </p:sp>
      <p:sp>
        <p:nvSpPr>
          <p:cNvPr id="18" name="Shape 14"/>
          <p:cNvSpPr/>
          <p:nvPr/>
        </p:nvSpPr>
        <p:spPr>
          <a:xfrm>
            <a:off x="6537960" y="2560320"/>
            <a:ext cx="5102352" cy="960120"/>
          </a:xfrm>
          <a:prstGeom prst="roundRect">
            <a:avLst>
              <a:gd name="adj" fmla="val 9524"/>
            </a:avLst>
          </a:prstGeom>
          <a:solidFill>
            <a:srgbClr val="F7F6FD"/>
          </a:solidFill>
          <a:ln w="12700">
            <a:solidFill>
              <a:srgbClr val="F7F6FD"/>
            </a:solidFill>
            <a:prstDash val="solid"/>
          </a:ln>
        </p:spPr>
      </p:sp>
      <p:sp>
        <p:nvSpPr>
          <p:cNvPr id="19" name="Text 15"/>
          <p:cNvSpPr txBox="1"/>
          <p:nvPr/>
        </p:nvSpPr>
        <p:spPr>
          <a:xfrm>
            <a:off x="6537960" y="2560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Bucket</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il contenitore: corso-artefatti</a:t>
            </a:r>
            <a:endParaRPr lang="en-US" sz="1700" dirty="0"/>
          </a:p>
        </p:txBody>
      </p:sp>
      <p:sp>
        <p:nvSpPr>
          <p:cNvPr id="20" name="Shape 16"/>
          <p:cNvSpPr/>
          <p:nvPr/>
        </p:nvSpPr>
        <p:spPr>
          <a:xfrm>
            <a:off x="6537960" y="3703320"/>
            <a:ext cx="5102352" cy="960120"/>
          </a:xfrm>
          <a:prstGeom prst="roundRect">
            <a:avLst>
              <a:gd name="adj" fmla="val 9524"/>
            </a:avLst>
          </a:prstGeom>
          <a:solidFill>
            <a:srgbClr val="F7F6FD"/>
          </a:solidFill>
          <a:ln w="12700">
            <a:solidFill>
              <a:srgbClr val="F7F6FD"/>
            </a:solidFill>
            <a:prstDash val="solid"/>
          </a:ln>
        </p:spPr>
      </p:sp>
      <p:sp>
        <p:nvSpPr>
          <p:cNvPr id="21" name="Text 17"/>
          <p:cNvSpPr txBox="1"/>
          <p:nvPr/>
        </p:nvSpPr>
        <p:spPr>
          <a:xfrm>
            <a:off x="6537960" y="3703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Oggetto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un file, con il suo nome completo</a:t>
            </a:r>
            <a:endParaRPr lang="en-US" sz="1700" dirty="0"/>
          </a:p>
        </p:txBody>
      </p:sp>
      <p:sp>
        <p:nvSpPr>
          <p:cNvPr id="22" name="Shape 18"/>
          <p:cNvSpPr/>
          <p:nvPr/>
        </p:nvSpPr>
        <p:spPr>
          <a:xfrm>
            <a:off x="6537960" y="4846320"/>
            <a:ext cx="5102352" cy="960120"/>
          </a:xfrm>
          <a:prstGeom prst="roundRect">
            <a:avLst>
              <a:gd name="adj" fmla="val 9524"/>
            </a:avLst>
          </a:prstGeom>
          <a:solidFill>
            <a:srgbClr val="F7F6FD"/>
          </a:solidFill>
          <a:ln w="12700">
            <a:solidFill>
              <a:srgbClr val="F7F6FD"/>
            </a:solidFill>
            <a:prstDash val="solid"/>
          </a:ln>
        </p:spPr>
      </p:sp>
      <p:sp>
        <p:nvSpPr>
          <p:cNvPr id="23" name="Text 19"/>
          <p:cNvSpPr txBox="1"/>
          <p:nvPr/>
        </p:nvSpPr>
        <p:spPr>
          <a:xfrm>
            <a:off x="6537960" y="4846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Prefisso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l'inizio del nome: releases/ (non è una vera cartella)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Gli ARN: l'indirizzo di ogni cosa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32588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ARN = l'indirizzo completo e unico di una cosa in AWS, come un indirizzo postale.</a:t>
            </a:r>
            <a:endParaRPr lang="en-US" sz="1900" dirty="0"/>
          </a:p>
        </p:txBody>
      </p:sp>
      <p:sp>
        <p:nvSpPr>
          <p:cNvPr id="7" name="Shape 4"/>
          <p:cNvSpPr/>
          <p:nvPr/>
        </p:nvSpPr>
        <p:spPr>
          <a:xfrm>
            <a:off x="548640" y="2331720"/>
            <a:ext cx="1005840" cy="822960"/>
          </a:xfrm>
          <a:prstGeom prst="roundRect">
            <a:avLst>
              <a:gd name="adj" fmla="val 11111"/>
            </a:avLst>
          </a:prstGeom>
          <a:solidFill>
            <a:srgbClr val="EEEAFB"/>
          </a:solidFill>
          <a:ln w="12700">
            <a:solidFill>
              <a:srgbClr val="EEEAFB"/>
            </a:solidFill>
            <a:prstDash val="solid"/>
          </a:ln>
        </p:spPr>
      </p:sp>
      <p:sp>
        <p:nvSpPr>
          <p:cNvPr id="8" name="Text 5"/>
          <p:cNvSpPr txBox="1"/>
          <p:nvPr/>
        </p:nvSpPr>
        <p:spPr>
          <a:xfrm>
            <a:off x="548640"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arn</a:t>
            </a:r>
            <a:endParaRPr lang="en-US" sz="1700" dirty="0"/>
          </a:p>
        </p:txBody>
      </p:sp>
      <p:sp>
        <p:nvSpPr>
          <p:cNvPr id="9" name="Text 6"/>
          <p:cNvSpPr txBox="1"/>
          <p:nvPr/>
        </p:nvSpPr>
        <p:spPr>
          <a:xfrm>
            <a:off x="548640"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arn</a:t>
            </a:r>
            <a:endParaRPr lang="en-US" sz="1400" dirty="0"/>
          </a:p>
        </p:txBody>
      </p:sp>
      <p:sp>
        <p:nvSpPr>
          <p:cNvPr id="10" name="Shape 7"/>
          <p:cNvSpPr/>
          <p:nvPr/>
        </p:nvSpPr>
        <p:spPr>
          <a:xfrm>
            <a:off x="1664208" y="2331720"/>
            <a:ext cx="1005840" cy="822960"/>
          </a:xfrm>
          <a:prstGeom prst="roundRect">
            <a:avLst>
              <a:gd name="adj" fmla="val 11111"/>
            </a:avLst>
          </a:prstGeom>
          <a:solidFill>
            <a:srgbClr val="EEEAFB"/>
          </a:solidFill>
          <a:ln w="12700">
            <a:solidFill>
              <a:srgbClr val="EEEAFB"/>
            </a:solidFill>
            <a:prstDash val="solid"/>
          </a:ln>
        </p:spPr>
      </p:sp>
      <p:sp>
        <p:nvSpPr>
          <p:cNvPr id="11" name="Text 8"/>
          <p:cNvSpPr txBox="1"/>
          <p:nvPr/>
        </p:nvSpPr>
        <p:spPr>
          <a:xfrm>
            <a:off x="1664208"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a:t>
            </a:r>
            <a:endParaRPr lang="en-US" sz="1700" dirty="0"/>
          </a:p>
        </p:txBody>
      </p:sp>
      <p:sp>
        <p:nvSpPr>
          <p:cNvPr id="12" name="Text 9"/>
          <p:cNvSpPr txBox="1"/>
          <p:nvPr/>
        </p:nvSpPr>
        <p:spPr>
          <a:xfrm>
            <a:off x="1664208"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aws</a:t>
            </a:r>
            <a:endParaRPr lang="en-US" sz="1400" dirty="0"/>
          </a:p>
        </p:txBody>
      </p:sp>
      <p:sp>
        <p:nvSpPr>
          <p:cNvPr id="13" name="Shape 10"/>
          <p:cNvSpPr/>
          <p:nvPr/>
        </p:nvSpPr>
        <p:spPr>
          <a:xfrm>
            <a:off x="2779776" y="2331720"/>
            <a:ext cx="1097280" cy="822960"/>
          </a:xfrm>
          <a:prstGeom prst="roundRect">
            <a:avLst>
              <a:gd name="adj" fmla="val 11111"/>
            </a:avLst>
          </a:prstGeom>
          <a:solidFill>
            <a:srgbClr val="EEEAFB"/>
          </a:solidFill>
          <a:ln w="12700">
            <a:solidFill>
              <a:srgbClr val="EEEAFB"/>
            </a:solidFill>
            <a:prstDash val="solid"/>
          </a:ln>
        </p:spPr>
      </p:sp>
      <p:sp>
        <p:nvSpPr>
          <p:cNvPr id="14" name="Text 11"/>
          <p:cNvSpPr txBox="1"/>
          <p:nvPr/>
        </p:nvSpPr>
        <p:spPr>
          <a:xfrm>
            <a:off x="2779776" y="2331720"/>
            <a:ext cx="109728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s3</a:t>
            </a:r>
            <a:endParaRPr lang="en-US" sz="1700" dirty="0"/>
          </a:p>
        </p:txBody>
      </p:sp>
      <p:sp>
        <p:nvSpPr>
          <p:cNvPr id="15" name="Text 12"/>
          <p:cNvSpPr txBox="1"/>
          <p:nvPr/>
        </p:nvSpPr>
        <p:spPr>
          <a:xfrm>
            <a:off x="2779776" y="3200400"/>
            <a:ext cx="10972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il servizio</a:t>
            </a:r>
            <a:endParaRPr lang="en-US" sz="1400" dirty="0"/>
          </a:p>
        </p:txBody>
      </p:sp>
      <p:sp>
        <p:nvSpPr>
          <p:cNvPr id="16" name="Shape 13"/>
          <p:cNvSpPr/>
          <p:nvPr/>
        </p:nvSpPr>
        <p:spPr>
          <a:xfrm>
            <a:off x="3986784" y="2331720"/>
            <a:ext cx="1188720" cy="822960"/>
          </a:xfrm>
          <a:prstGeom prst="roundRect">
            <a:avLst>
              <a:gd name="adj" fmla="val 11111"/>
            </a:avLst>
          </a:prstGeom>
          <a:solidFill>
            <a:srgbClr val="F4F4F6"/>
          </a:solidFill>
          <a:ln w="12700">
            <a:solidFill>
              <a:srgbClr val="F4F4F6"/>
            </a:solidFill>
            <a:prstDash val="solid"/>
          </a:ln>
        </p:spPr>
      </p:sp>
      <p:sp>
        <p:nvSpPr>
          <p:cNvPr id="17" name="Text 14"/>
          <p:cNvSpPr txBox="1"/>
          <p:nvPr/>
        </p:nvSpPr>
        <p:spPr>
          <a:xfrm>
            <a:off x="3986784"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18" name="Text 15"/>
          <p:cNvSpPr txBox="1"/>
          <p:nvPr/>
        </p:nvSpPr>
        <p:spPr>
          <a:xfrm>
            <a:off x="3986784"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regione</a:t>
            </a:r>
            <a:endParaRPr lang="en-US" sz="1400" dirty="0"/>
          </a:p>
        </p:txBody>
      </p:sp>
      <p:sp>
        <p:nvSpPr>
          <p:cNvPr id="19" name="Shape 16"/>
          <p:cNvSpPr/>
          <p:nvPr/>
        </p:nvSpPr>
        <p:spPr>
          <a:xfrm>
            <a:off x="5285232" y="2331720"/>
            <a:ext cx="1188720" cy="822960"/>
          </a:xfrm>
          <a:prstGeom prst="roundRect">
            <a:avLst>
              <a:gd name="adj" fmla="val 11111"/>
            </a:avLst>
          </a:prstGeom>
          <a:solidFill>
            <a:srgbClr val="F4F4F6"/>
          </a:solidFill>
          <a:ln w="12700">
            <a:solidFill>
              <a:srgbClr val="F4F4F6"/>
            </a:solidFill>
            <a:prstDash val="solid"/>
          </a:ln>
        </p:spPr>
      </p:sp>
      <p:sp>
        <p:nvSpPr>
          <p:cNvPr id="20" name="Text 17"/>
          <p:cNvSpPr txBox="1"/>
          <p:nvPr/>
        </p:nvSpPr>
        <p:spPr>
          <a:xfrm>
            <a:off x="5285232"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21" name="Text 18"/>
          <p:cNvSpPr txBox="1"/>
          <p:nvPr/>
        </p:nvSpPr>
        <p:spPr>
          <a:xfrm>
            <a:off x="5285232"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account</a:t>
            </a:r>
            <a:endParaRPr lang="en-US" sz="1400" dirty="0"/>
          </a:p>
        </p:txBody>
      </p:sp>
      <p:sp>
        <p:nvSpPr>
          <p:cNvPr id="22" name="Shape 19"/>
          <p:cNvSpPr/>
          <p:nvPr/>
        </p:nvSpPr>
        <p:spPr>
          <a:xfrm>
            <a:off x="6583680" y="2331720"/>
            <a:ext cx="5056632" cy="822960"/>
          </a:xfrm>
          <a:prstGeom prst="roundRect">
            <a:avLst>
              <a:gd name="adj" fmla="val 11111"/>
            </a:avLst>
          </a:prstGeom>
          <a:solidFill>
            <a:srgbClr val="EEEAFB"/>
          </a:solidFill>
          <a:ln w="12700">
            <a:solidFill>
              <a:srgbClr val="EEEAFB"/>
            </a:solidFill>
            <a:prstDash val="solid"/>
          </a:ln>
        </p:spPr>
      </p:sp>
      <p:sp>
        <p:nvSpPr>
          <p:cNvPr id="23" name="Text 20"/>
          <p:cNvSpPr txBox="1"/>
          <p:nvPr/>
        </p:nvSpPr>
        <p:spPr>
          <a:xfrm>
            <a:off x="6583680" y="2331720"/>
            <a:ext cx="5056632"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corso-artefatti/releases/*</a:t>
            </a:r>
            <a:endParaRPr lang="en-US" sz="1700" dirty="0"/>
          </a:p>
        </p:txBody>
      </p:sp>
      <p:sp>
        <p:nvSpPr>
          <p:cNvPr id="24" name="Text 21"/>
          <p:cNvSpPr txBox="1"/>
          <p:nvPr/>
        </p:nvSpPr>
        <p:spPr>
          <a:xfrm>
            <a:off x="6583680" y="3200400"/>
            <a:ext cx="5056632"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la cosa</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6217920"/>
                <a:gridCol w="487375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ARN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Indica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bucket (il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arn:aws:s3:::corso-artefatti/releases/*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tutti i file che iniziano con releases/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6" name="Text 22"/>
          <p:cNvSpPr txBox="1"/>
          <p:nvPr/>
        </p:nvSpPr>
        <p:spPr>
          <a:xfrm>
            <a:off x="548640" y="562356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Per S3 regione e account restano vuoti: il nome del bucket è già unico al mondo. * = "qualunque cosa".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fare richieste: le identità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6309360"/>
                <a:gridCol w="2679192"/>
              </a:tblGrid>
              <a:tr h="73152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Identità</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 parole semplici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Quando si usa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Root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proprietario dell'account: può 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quasi mai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Utente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una persona con password o chiave fissa: se la rubano, vale per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raramente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Gruppo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un'etichetta per dare gli stessi permessi a più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per organizzare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Role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insieme di permessi che nessuno possiede: lo "indossa" per un po' chi è autorizzato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quasi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r>
            </a:tbl>
          </a:graphicData>
        </a:graphic>
      </p:graphicFrame>
      <p:sp>
        <p:nvSpPr>
          <p:cNvPr id="6" name="Shape 2"/>
          <p:cNvSpPr/>
          <p:nvPr/>
        </p:nvSpPr>
        <p:spPr>
          <a:xfrm>
            <a:off x="548640" y="5212080"/>
            <a:ext cx="11094415" cy="822960"/>
          </a:xfrm>
          <a:prstGeom prst="roundRect">
            <a:avLst>
              <a:gd name="adj" fmla="val 11111"/>
            </a:avLst>
          </a:prstGeom>
          <a:solidFill>
            <a:srgbClr val="FDF0E3"/>
          </a:solidFill>
          <a:ln w="12700">
            <a:solidFill>
              <a:srgbClr val="FDF0E3"/>
            </a:solidFill>
            <a:prstDash val="solid"/>
          </a:ln>
        </p:spPr>
      </p:sp>
      <p:sp>
        <p:nvSpPr>
          <p:cNvPr id="7" name="Text 3"/>
          <p:cNvSpPr txBox="1"/>
          <p:nvPr/>
        </p:nvSpPr>
        <p:spPr>
          <a:xfrm>
            <a:off x="822960" y="521208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La nostra applicazione userà un role. Anche le persone, con il login SSO della lezione 0, lavorano tramite role.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Assumere un role: il badge da visitatore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1417320" y="1463040"/>
            <a:ext cx="914400" cy="91440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645920" y="1691640"/>
            <a:ext cx="457200" cy="457200"/>
          </a:xfrm>
          <a:prstGeom prst="rect">
            <a:avLst/>
          </a:prstGeom>
        </p:spPr>
      </p:pic>
      <p:sp>
        <p:nvSpPr>
          <p:cNvPr id="7" name="Text 3"/>
          <p:cNvSpPr txBox="1"/>
          <p:nvPr/>
        </p:nvSpPr>
        <p:spPr>
          <a:xfrm>
            <a:off x="54864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o il server</a:t>
            </a:r>
            <a:endParaRPr lang="en-US" sz="1800" dirty="0"/>
          </a:p>
        </p:txBody>
      </p:sp>
      <p:sp>
        <p:nvSpPr>
          <p:cNvPr id="8" name="Text 4"/>
          <p:cNvSpPr txBox="1"/>
          <p:nvPr/>
        </p:nvSpPr>
        <p:spPr>
          <a:xfrm>
            <a:off x="54864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chiedi il badge</a:t>
            </a:r>
            <a:endParaRPr lang="en-US" sz="1600" dirty="0"/>
          </a:p>
        </p:txBody>
      </p:sp>
      <p:sp>
        <p:nvSpPr>
          <p:cNvPr id="9" name="Shape 5"/>
          <p:cNvSpPr/>
          <p:nvPr/>
        </p:nvSpPr>
        <p:spPr>
          <a:xfrm>
            <a:off x="2423160" y="1920240"/>
            <a:ext cx="1737360" cy="0"/>
          </a:xfrm>
          <a:prstGeom prst="line">
            <a:avLst/>
          </a:prstGeom>
          <a:noFill/>
          <a:ln w="25400">
            <a:solidFill>
              <a:srgbClr val="D9D6EC"/>
            </a:solidFill>
            <a:prstDash val="solid"/>
            <a:tailEnd type="triangle"/>
          </a:ln>
        </p:spPr>
      </p:sp>
      <p:sp>
        <p:nvSpPr>
          <p:cNvPr id="10" name="Shape 6"/>
          <p:cNvSpPr/>
          <p:nvPr/>
        </p:nvSpPr>
        <p:spPr>
          <a:xfrm>
            <a:off x="4251960" y="1463040"/>
            <a:ext cx="914400" cy="914400"/>
          </a:xfrm>
          <a:prstGeom prst="ellipse">
            <a:avLst/>
          </a:prstGeom>
          <a:solidFill>
            <a:srgbClr val="F28C28"/>
          </a:solidFill>
          <a:ln w="12700">
            <a:solidFill>
              <a:srgbClr val="F28C28"/>
            </a:solidFill>
            <a:prstDash val="solid"/>
          </a:ln>
        </p:spPr>
      </p:sp>
      <p:pic>
        <p:nvPicPr>
          <p:cNvPr id="11" name="Image 1" descr="preencoded.png">    </p:cNvPr>
          <p:cNvPicPr>
            <a:picLocks noChangeAspect="1"/>
          </p:cNvPicPr>
          <p:nvPr/>
        </p:nvPicPr>
        <p:blipFill>
          <a:blip r:embed="rId2"/>
          <a:stretch>
            <a:fillRect/>
          </a:stretch>
        </p:blipFill>
        <p:spPr>
          <a:xfrm>
            <a:off x="4480560" y="1691640"/>
            <a:ext cx="457200" cy="457200"/>
          </a:xfrm>
          <a:prstGeom prst="rect">
            <a:avLst/>
          </a:prstGeom>
        </p:spPr>
      </p:pic>
      <p:sp>
        <p:nvSpPr>
          <p:cNvPr id="12" name="Text 7"/>
          <p:cNvSpPr txBox="1"/>
          <p:nvPr/>
        </p:nvSpPr>
        <p:spPr>
          <a:xfrm>
            <a:off x="338328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La reception (STS)</a:t>
            </a:r>
            <a:endParaRPr lang="en-US" sz="1800" dirty="0"/>
          </a:p>
        </p:txBody>
      </p:sp>
      <p:sp>
        <p:nvSpPr>
          <p:cNvPr id="13" name="Text 8"/>
          <p:cNvSpPr txBox="1"/>
          <p:nvPr/>
        </p:nvSpPr>
        <p:spPr>
          <a:xfrm>
            <a:off x="338328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sei sulla lista?</a:t>
            </a:r>
            <a:endParaRPr lang="en-US" sz="1600" dirty="0"/>
          </a:p>
        </p:txBody>
      </p:sp>
      <p:sp>
        <p:nvSpPr>
          <p:cNvPr id="14" name="Shape 9"/>
          <p:cNvSpPr/>
          <p:nvPr/>
        </p:nvSpPr>
        <p:spPr>
          <a:xfrm>
            <a:off x="5257800" y="1920240"/>
            <a:ext cx="1737360" cy="0"/>
          </a:xfrm>
          <a:prstGeom prst="line">
            <a:avLst/>
          </a:prstGeom>
          <a:noFill/>
          <a:ln w="25400">
            <a:solidFill>
              <a:srgbClr val="D9D6EC"/>
            </a:solidFill>
            <a:prstDash val="solid"/>
            <a:tailEnd type="triangle"/>
          </a:ln>
        </p:spPr>
      </p:sp>
      <p:sp>
        <p:nvSpPr>
          <p:cNvPr id="15" name="Shape 10"/>
          <p:cNvSpPr/>
          <p:nvPr/>
        </p:nvSpPr>
        <p:spPr>
          <a:xfrm>
            <a:off x="7086600" y="1463040"/>
            <a:ext cx="914400" cy="91440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315200" y="1691640"/>
            <a:ext cx="457200" cy="457200"/>
          </a:xfrm>
          <a:prstGeom prst="rect">
            <a:avLst/>
          </a:prstGeom>
        </p:spPr>
      </p:pic>
      <p:sp>
        <p:nvSpPr>
          <p:cNvPr id="17" name="Text 11"/>
          <p:cNvSpPr txBox="1"/>
          <p:nvPr/>
        </p:nvSpPr>
        <p:spPr>
          <a:xfrm>
            <a:off x="621792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Badge temporaneo</a:t>
            </a:r>
            <a:endParaRPr lang="en-US" sz="1800" dirty="0"/>
          </a:p>
        </p:txBody>
      </p:sp>
      <p:sp>
        <p:nvSpPr>
          <p:cNvPr id="18" name="Text 12"/>
          <p:cNvSpPr txBox="1"/>
          <p:nvPr/>
        </p:nvSpPr>
        <p:spPr>
          <a:xfrm>
            <a:off x="621792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scade da solo</a:t>
            </a:r>
            <a:endParaRPr lang="en-US" sz="1600" dirty="0"/>
          </a:p>
        </p:txBody>
      </p:sp>
      <p:sp>
        <p:nvSpPr>
          <p:cNvPr id="19" name="Shape 13"/>
          <p:cNvSpPr/>
          <p:nvPr/>
        </p:nvSpPr>
        <p:spPr>
          <a:xfrm>
            <a:off x="8092440" y="1920240"/>
            <a:ext cx="1737360" cy="0"/>
          </a:xfrm>
          <a:prstGeom prst="line">
            <a:avLst/>
          </a:prstGeom>
          <a:noFill/>
          <a:ln w="25400">
            <a:solidFill>
              <a:srgbClr val="D9D6EC"/>
            </a:solidFill>
            <a:prstDash val="solid"/>
            <a:tailEnd type="triangle"/>
          </a:ln>
        </p:spPr>
      </p:sp>
      <p:sp>
        <p:nvSpPr>
          <p:cNvPr id="20" name="Shape 14"/>
          <p:cNvSpPr/>
          <p:nvPr/>
        </p:nvSpPr>
        <p:spPr>
          <a:xfrm>
            <a:off x="9921240" y="1463040"/>
            <a:ext cx="914400" cy="914400"/>
          </a:xfrm>
          <a:prstGeom prst="ellipse">
            <a:avLst/>
          </a:prstGeom>
          <a:solidFill>
            <a:srgbClr val="5B3FD0"/>
          </a:solidFill>
          <a:ln w="12700">
            <a:solidFill>
              <a:srgbClr val="5B3FD0"/>
            </a:solidFill>
            <a:prstDash val="solid"/>
          </a:ln>
        </p:spPr>
      </p:sp>
      <p:pic>
        <p:nvPicPr>
          <p:cNvPr id="21" name="Image 3" descr="preencoded.png">    </p:cNvPr>
          <p:cNvPicPr>
            <a:picLocks noChangeAspect="1"/>
          </p:cNvPicPr>
          <p:nvPr/>
        </p:nvPicPr>
        <p:blipFill>
          <a:blip r:embed="rId4"/>
          <a:stretch>
            <a:fillRect/>
          </a:stretch>
        </p:blipFill>
        <p:spPr>
          <a:xfrm>
            <a:off x="10149840" y="1691640"/>
            <a:ext cx="457200" cy="457200"/>
          </a:xfrm>
          <a:prstGeom prst="rect">
            <a:avLst/>
          </a:prstGeom>
        </p:spPr>
      </p:pic>
      <p:sp>
        <p:nvSpPr>
          <p:cNvPr id="22" name="Text 15"/>
          <p:cNvSpPr txBox="1"/>
          <p:nvPr/>
        </p:nvSpPr>
        <p:spPr>
          <a:xfrm>
            <a:off x="905256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Le porte</a:t>
            </a:r>
            <a:endParaRPr lang="en-US" sz="1800" dirty="0"/>
          </a:p>
        </p:txBody>
      </p:sp>
      <p:sp>
        <p:nvSpPr>
          <p:cNvPr id="23" name="Text 16"/>
          <p:cNvSpPr txBox="1"/>
          <p:nvPr/>
        </p:nvSpPr>
        <p:spPr>
          <a:xfrm>
            <a:off x="905256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badge apre questa?</a:t>
            </a:r>
            <a:endParaRPr lang="en-US" sz="1600" dirty="0"/>
          </a:p>
        </p:txBody>
      </p:sp>
      <p:sp>
        <p:nvSpPr>
          <p:cNvPr id="24" name="Shape 17"/>
          <p:cNvSpPr/>
          <p:nvPr/>
        </p:nvSpPr>
        <p:spPr>
          <a:xfrm>
            <a:off x="548640" y="3840480"/>
            <a:ext cx="11094415" cy="914400"/>
          </a:xfrm>
          <a:prstGeom prst="roundRect">
            <a:avLst>
              <a:gd name="adj" fmla="val 10000"/>
            </a:avLst>
          </a:prstGeom>
          <a:solidFill>
            <a:srgbClr val="5B3FD0"/>
          </a:solidFill>
          <a:ln w="12700">
            <a:solidFill>
              <a:srgbClr val="5B3FD0"/>
            </a:solidFill>
            <a:prstDash val="solid"/>
          </a:ln>
        </p:spPr>
      </p:sp>
      <p:sp>
        <p:nvSpPr>
          <p:cNvPr id="25" name="Text 18"/>
          <p:cNvSpPr txBox="1"/>
          <p:nvPr/>
        </p:nvSpPr>
        <p:spPr>
          <a:xfrm>
            <a:off x="822960" y="3840480"/>
            <a:ext cx="10545775" cy="91440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Assumere un role = chiedere alla reception (STS) un badge temporaneo con certi permessi.</a:t>
            </a:r>
            <a:endParaRPr lang="en-US" sz="1900" dirty="0"/>
          </a:p>
        </p:txBody>
      </p:sp>
      <p:sp>
        <p:nvSpPr>
          <p:cNvPr id="26" name="Text 19"/>
          <p:cNvSpPr txBox="1"/>
          <p:nvPr/>
        </p:nvSpPr>
        <p:spPr>
          <a:xfrm>
            <a:off x="548640" y="4983480"/>
            <a:ext cx="11094415" cy="822960"/>
          </a:xfrm>
          <a:prstGeom prst="rect">
            <a:avLst/>
          </a:prstGeom>
          <a:noFill/>
          <a:ln/>
        </p:spPr>
        <p:txBody>
          <a:bodyPr wrap="square" lIns="0" tIns="0" rIns="0" bIns="0" rtlCol="0" anchor="ctr"/>
          <a:lstStyle/>
          <a:p>
            <a:pPr algn="l" indent="0" marL="0">
              <a:buNone/>
            </a:pPr>
            <a:r>
              <a:rPr lang="en-US" sz="1700" dirty="0">
                <a:solidFill>
                  <a:srgbClr val="5F6478"/>
                </a:solidFill>
                <a:latin typeface="Calibri" pitchFamily="34" charset="0"/>
                <a:ea typeface="Calibri" pitchFamily="34" charset="-122"/>
                <a:cs typeface="Calibri" pitchFamily="34" charset="-120"/>
              </a:rPr>
              <a:t>Il badge sono credenziali temporanee: scadono da sole (di default dopo un'ora). Nessuna password fissa da rubare.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badge ha due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83464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17320"/>
            <a:ext cx="283464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 il server</a:t>
            </a:r>
            <a:endParaRPr lang="en-US" sz="1800" dirty="0"/>
          </a:p>
        </p:txBody>
      </p:sp>
      <p:sp>
        <p:nvSpPr>
          <p:cNvPr id="7" name="Shape 4"/>
          <p:cNvSpPr/>
          <p:nvPr/>
        </p:nvSpPr>
        <p:spPr>
          <a:xfrm>
            <a:off x="3429000" y="1965960"/>
            <a:ext cx="1828800" cy="0"/>
          </a:xfrm>
          <a:prstGeom prst="line">
            <a:avLst/>
          </a:prstGeom>
          <a:noFill/>
          <a:ln w="25400">
            <a:solidFill>
              <a:srgbClr val="F28C28"/>
            </a:solidFill>
            <a:prstDash val="solid"/>
            <a:tailEnd type="triangle"/>
          </a:ln>
        </p:spPr>
      </p:sp>
      <p:sp>
        <p:nvSpPr>
          <p:cNvPr id="8" name="Text 5"/>
          <p:cNvSpPr txBox="1"/>
          <p:nvPr/>
        </p:nvSpPr>
        <p:spPr>
          <a:xfrm>
            <a:off x="3429000" y="1325880"/>
            <a:ext cx="1828800" cy="548640"/>
          </a:xfrm>
          <a:prstGeom prst="rect">
            <a:avLst/>
          </a:prstGeom>
          <a:noFill/>
          <a:ln/>
        </p:spPr>
        <p:txBody>
          <a:bodyPr wrap="square" lIns="0" tIns="0" rIns="0" bIns="0" rtlCol="0" anchor="ctr"/>
          <a:lstStyle/>
          <a:p>
            <a:pPr algn="ctr" indent="0" marL="0">
              <a:buNone/>
            </a:pPr>
            <a:r>
              <a:rPr lang="en-US" sz="1400" b="1" dirty="0">
                <a:solidFill>
                  <a:srgbClr val="F28C28"/>
                </a:solidFill>
                <a:latin typeface="Calibri" pitchFamily="34" charset="0"/>
                <a:ea typeface="Calibri" pitchFamily="34" charset="-122"/>
                <a:cs typeface="Calibri" pitchFamily="34" charset="-120"/>
              </a:rPr>
              <a:t>1. posso prenderlo?</a:t>
            </a:r>
            <a:endParaRPr lang="en-US" sz="1400" dirty="0"/>
          </a:p>
        </p:txBody>
      </p:sp>
      <p:sp>
        <p:nvSpPr>
          <p:cNvPr id="9" name="Shape 6"/>
          <p:cNvSpPr/>
          <p:nvPr/>
        </p:nvSpPr>
        <p:spPr>
          <a:xfrm>
            <a:off x="5303520" y="1417320"/>
            <a:ext cx="1645920" cy="1097280"/>
          </a:xfrm>
          <a:prstGeom prst="roundRect">
            <a:avLst>
              <a:gd name="adj" fmla="val 8333"/>
            </a:avLst>
          </a:prstGeom>
          <a:solidFill>
            <a:srgbClr val="5B3FD0"/>
          </a:solidFill>
          <a:ln w="12700">
            <a:solidFill>
              <a:srgbClr val="5B3FD0"/>
            </a:solidFill>
            <a:prstDash val="solid"/>
          </a:ln>
        </p:spPr>
      </p:sp>
      <p:sp>
        <p:nvSpPr>
          <p:cNvPr id="10" name="Text 7"/>
          <p:cNvSpPr txBox="1"/>
          <p:nvPr/>
        </p:nvSpPr>
        <p:spPr>
          <a:xfrm>
            <a:off x="5303520" y="1417320"/>
            <a:ext cx="1645920" cy="109728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Role</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(il badge)</a:t>
            </a:r>
            <a:endParaRPr lang="en-US" sz="1700" dirty="0"/>
          </a:p>
        </p:txBody>
      </p:sp>
      <p:sp>
        <p:nvSpPr>
          <p:cNvPr id="11" name="Shape 8"/>
          <p:cNvSpPr/>
          <p:nvPr/>
        </p:nvSpPr>
        <p:spPr>
          <a:xfrm>
            <a:off x="6995160" y="1965960"/>
            <a:ext cx="1828800" cy="0"/>
          </a:xfrm>
          <a:prstGeom prst="line">
            <a:avLst/>
          </a:prstGeom>
          <a:noFill/>
          <a:ln w="25400">
            <a:solidFill>
              <a:srgbClr val="5B3FD0"/>
            </a:solidFill>
            <a:prstDash val="solid"/>
            <a:tailEnd type="triangle"/>
          </a:ln>
        </p:spPr>
      </p:sp>
      <p:sp>
        <p:nvSpPr>
          <p:cNvPr id="12" name="Text 9"/>
          <p:cNvSpPr txBox="1"/>
          <p:nvPr/>
        </p:nvSpPr>
        <p:spPr>
          <a:xfrm>
            <a:off x="6995160" y="1325880"/>
            <a:ext cx="1828800" cy="548640"/>
          </a:xfrm>
          <a:prstGeom prst="rect">
            <a:avLst/>
          </a:prstGeom>
          <a:noFill/>
          <a:ln/>
        </p:spPr>
        <p:txBody>
          <a:bodyPr wrap="square" lIns="0" tIns="0" rIns="0" bIns="0" rtlCol="0" anchor="ctr"/>
          <a:lstStyle/>
          <a:p>
            <a:pPr algn="ctr" indent="0" marL="0">
              <a:buNone/>
            </a:pPr>
            <a:r>
              <a:rPr lang="en-US" sz="1400" b="1" dirty="0">
                <a:solidFill>
                  <a:srgbClr val="5B3FD0"/>
                </a:solidFill>
                <a:latin typeface="Calibri" pitchFamily="34" charset="0"/>
                <a:ea typeface="Calibri" pitchFamily="34" charset="-122"/>
                <a:cs typeface="Calibri" pitchFamily="34" charset="-120"/>
              </a:rPr>
              <a:t>2. cosa apre?</a:t>
            </a:r>
            <a:endParaRPr lang="en-US" sz="1400" dirty="0"/>
          </a:p>
        </p:txBody>
      </p:sp>
      <p:sp>
        <p:nvSpPr>
          <p:cNvPr id="13" name="Shape 10"/>
          <p:cNvSpPr/>
          <p:nvPr/>
        </p:nvSpPr>
        <p:spPr>
          <a:xfrm>
            <a:off x="8869680" y="1417320"/>
            <a:ext cx="2770632"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8869680" y="1417320"/>
            <a:ext cx="2770632"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ourier New" pitchFamily="34" charset="0"/>
                <a:ea typeface="Courier New" pitchFamily="34" charset="-122"/>
                <a:cs typeface="Courier New" pitchFamily="34" charset="-120"/>
              </a:rPr>
              <a:t>corso-artefatti</a:t>
            </a:r>
            <a:endParaRPr lang="en-US" sz="1600" dirty="0"/>
          </a:p>
        </p:txBody>
      </p:sp>
      <p:sp>
        <p:nvSpPr>
          <p:cNvPr id="15" name="Shape 12"/>
          <p:cNvSpPr/>
          <p:nvPr/>
        </p:nvSpPr>
        <p:spPr>
          <a:xfrm>
            <a:off x="548640" y="2834640"/>
            <a:ext cx="5440680" cy="3108960"/>
          </a:xfrm>
          <a:prstGeom prst="roundRect">
            <a:avLst>
              <a:gd name="adj" fmla="val 3529"/>
            </a:avLst>
          </a:prstGeom>
          <a:solidFill>
            <a:srgbClr val="FDF0E3"/>
          </a:solidFill>
          <a:ln w="12700">
            <a:solidFill>
              <a:srgbClr val="FDF0E3"/>
            </a:solidFill>
            <a:prstDash val="solid"/>
          </a:ln>
        </p:spPr>
      </p:sp>
      <p:sp>
        <p:nvSpPr>
          <p:cNvPr id="16" name="Shape 13"/>
          <p:cNvSpPr/>
          <p:nvPr/>
        </p:nvSpPr>
        <p:spPr>
          <a:xfrm>
            <a:off x="777240" y="3063240"/>
            <a:ext cx="548640" cy="548640"/>
          </a:xfrm>
          <a:prstGeom prst="ellipse">
            <a:avLst/>
          </a:prstGeom>
          <a:solidFill>
            <a:srgbClr val="F28C28"/>
          </a:solidFill>
          <a:ln w="12700">
            <a:solidFill>
              <a:srgbClr val="F28C28"/>
            </a:solidFill>
            <a:prstDash val="solid"/>
          </a:ln>
        </p:spPr>
      </p:sp>
      <p:pic>
        <p:nvPicPr>
          <p:cNvPr id="17" name="Image 0" descr="preencoded.png">    </p:cNvPr>
          <p:cNvPicPr>
            <a:picLocks noChangeAspect="1"/>
          </p:cNvPicPr>
          <p:nvPr/>
        </p:nvPicPr>
        <p:blipFill>
          <a:blip r:embed="rId1"/>
          <a:stretch>
            <a:fillRect/>
          </a:stretch>
        </p:blipFill>
        <p:spPr>
          <a:xfrm>
            <a:off x="914400" y="3200400"/>
            <a:ext cx="274320" cy="274320"/>
          </a:xfrm>
          <a:prstGeom prst="rect">
            <a:avLst/>
          </a:prstGeom>
        </p:spPr>
      </p:pic>
      <p:sp>
        <p:nvSpPr>
          <p:cNvPr id="18" name="Text 14"/>
          <p:cNvSpPr txBox="1"/>
          <p:nvPr/>
        </p:nvSpPr>
        <p:spPr>
          <a:xfrm>
            <a:off x="150876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Trust policy: la lista</a:t>
            </a:r>
            <a:endParaRPr lang="en-US" sz="1800" dirty="0"/>
          </a:p>
        </p:txBody>
      </p:sp>
      <p:sp>
        <p:nvSpPr>
          <p:cNvPr id="19" name="Text 15"/>
          <p:cNvSpPr txBox="1"/>
          <p:nvPr/>
        </p:nvSpPr>
        <p:spPr>
          <a:xfrm>
            <a:off x="77724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 può prendere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Azione: sts:AssumeRole (= chiedere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In Terraform: assume_role_policy</a:t>
            </a:r>
            <a:endParaRPr lang="en-US" sz="1600" dirty="0"/>
          </a:p>
        </p:txBody>
      </p:sp>
      <p:sp>
        <p:nvSpPr>
          <p:cNvPr id="20" name="Shape 16"/>
          <p:cNvSpPr/>
          <p:nvPr/>
        </p:nvSpPr>
        <p:spPr>
          <a:xfrm>
            <a:off x="6172200" y="2834640"/>
            <a:ext cx="5440680" cy="3108960"/>
          </a:xfrm>
          <a:prstGeom prst="roundRect">
            <a:avLst>
              <a:gd name="adj" fmla="val 3529"/>
            </a:avLst>
          </a:prstGeom>
          <a:solidFill>
            <a:srgbClr val="EEEAFB"/>
          </a:solidFill>
          <a:ln w="12700">
            <a:solidFill>
              <a:srgbClr val="EEEAFB"/>
            </a:solidFill>
            <a:prstDash val="solid"/>
          </a:ln>
        </p:spPr>
      </p:sp>
      <p:sp>
        <p:nvSpPr>
          <p:cNvPr id="21" name="Shape 17"/>
          <p:cNvSpPr/>
          <p:nvPr/>
        </p:nvSpPr>
        <p:spPr>
          <a:xfrm>
            <a:off x="6400800" y="3063240"/>
            <a:ext cx="548640" cy="548640"/>
          </a:xfrm>
          <a:prstGeom prst="ellipse">
            <a:avLst/>
          </a:prstGeom>
          <a:solidFill>
            <a:srgbClr val="5B3FD0"/>
          </a:solidFill>
          <a:ln w="12700">
            <a:solidFill>
              <a:srgbClr val="5B3FD0"/>
            </a:solidFill>
            <a:prstDash val="solid"/>
          </a:ln>
        </p:spPr>
      </p:sp>
      <p:pic>
        <p:nvPicPr>
          <p:cNvPr id="22" name="Image 1" descr="preencoded.png">    </p:cNvPr>
          <p:cNvPicPr>
            <a:picLocks noChangeAspect="1"/>
          </p:cNvPicPr>
          <p:nvPr/>
        </p:nvPicPr>
        <p:blipFill>
          <a:blip r:embed="rId2"/>
          <a:stretch>
            <a:fillRect/>
          </a:stretch>
        </p:blipFill>
        <p:spPr>
          <a:xfrm>
            <a:off x="6537960" y="3200400"/>
            <a:ext cx="274320" cy="274320"/>
          </a:xfrm>
          <a:prstGeom prst="rect">
            <a:avLst/>
          </a:prstGeom>
        </p:spPr>
      </p:pic>
      <p:sp>
        <p:nvSpPr>
          <p:cNvPr id="23" name="Text 18"/>
          <p:cNvSpPr txBox="1"/>
          <p:nvPr/>
        </p:nvSpPr>
        <p:spPr>
          <a:xfrm>
            <a:off x="713232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Permission policy: le porte</a:t>
            </a:r>
            <a:endParaRPr lang="en-US" sz="1800" dirty="0"/>
          </a:p>
        </p:txBody>
      </p:sp>
      <p:sp>
        <p:nvSpPr>
          <p:cNvPr id="24" name="Text 19"/>
          <p:cNvSpPr txBox="1"/>
          <p:nvPr/>
        </p:nvSpPr>
        <p:spPr>
          <a:xfrm>
            <a:off x="640080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Cosa può fare chi lo indossa?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Esempio: s3:GetObject (= leggere un file)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Si "attacca" al role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Com'è fatta una policy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7498080" cy="3383280"/>
          </a:xfrm>
          <a:prstGeom prst="roundRect">
            <a:avLst>
              <a:gd name="adj" fmla="val 2162"/>
            </a:avLst>
          </a:prstGeom>
          <a:solidFill>
            <a:srgbClr val="1E1E2E"/>
          </a:solidFill>
          <a:ln w="12700">
            <a:solidFill>
              <a:srgbClr val="1E1E2E"/>
            </a:solidFill>
            <a:prstDash val="solid"/>
          </a:ln>
        </p:spPr>
      </p:sp>
      <p:sp>
        <p:nvSpPr>
          <p:cNvPr id="6" name="Text 3"/>
          <p:cNvSpPr txBox="1"/>
          <p:nvPr/>
        </p:nvSpPr>
        <p:spPr>
          <a:xfrm>
            <a:off x="731520" y="1508760"/>
            <a:ext cx="7132320" cy="3108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 "2012-10-17",</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 "arn:aws:s3:::corso-artefatti/releases/*"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0" y="1371600"/>
          <a:ext cx="3410712" cy="914400"/>
        </p:xfrm>
        <a:graphic>
          <a:graphicData uri="http://schemas.openxmlformats.org/drawingml/2006/table">
            <a:tbl>
              <a:tblPr/>
              <a:tblGrid>
                <a:gridCol w="1280160"/>
                <a:gridCol w="2130552"/>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Nel JSON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Significa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Version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sempre questa data: si copia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Statement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la lista delle regole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Effect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Allow = consenti, Deny = vieta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Action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cosa: s3:GetObject = leggere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Resource</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su cosa: l'ARN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9" name="Text 5"/>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italiano: "consenti di leggere i file che iniziano con releases/ nel bucket corso-artefatti".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decide IAM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3108960" cy="731520"/>
          </a:xfrm>
          <a:prstGeom prst="roundRect">
            <a:avLst>
              <a:gd name="adj" fmla="val 12500"/>
            </a:avLst>
          </a:prstGeom>
          <a:solidFill>
            <a:srgbClr val="1B1F3B"/>
          </a:solidFill>
          <a:ln w="12700">
            <a:solidFill>
              <a:srgbClr val="1B1F3B"/>
            </a:solidFill>
            <a:prstDash val="solid"/>
          </a:ln>
        </p:spPr>
      </p:sp>
      <p:sp>
        <p:nvSpPr>
          <p:cNvPr id="6" name="Text 3"/>
          <p:cNvSpPr txBox="1"/>
          <p:nvPr/>
        </p:nvSpPr>
        <p:spPr>
          <a:xfrm>
            <a:off x="548640" y="1371600"/>
            <a:ext cx="3108960" cy="73152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Richiesta</a:t>
            </a:r>
            <a:endParaRPr lang="en-US" sz="1700" dirty="0"/>
          </a:p>
        </p:txBody>
      </p:sp>
      <p:sp>
        <p:nvSpPr>
          <p:cNvPr id="7" name="Shape 4"/>
          <p:cNvSpPr/>
          <p:nvPr/>
        </p:nvSpPr>
        <p:spPr>
          <a:xfrm>
            <a:off x="2103120" y="2103120"/>
            <a:ext cx="0" cy="365760"/>
          </a:xfrm>
          <a:prstGeom prst="line">
            <a:avLst/>
          </a:prstGeom>
          <a:noFill/>
          <a:ln w="25400">
            <a:solidFill>
              <a:srgbClr val="5F6478"/>
            </a:solidFill>
            <a:prstDash val="solid"/>
            <a:tailEnd type="triangle"/>
          </a:ln>
        </p:spPr>
      </p:sp>
      <p:sp>
        <p:nvSpPr>
          <p:cNvPr id="8" name="Shape 5"/>
          <p:cNvSpPr/>
          <p:nvPr/>
        </p:nvSpPr>
        <p:spPr>
          <a:xfrm>
            <a:off x="548640" y="2514600"/>
            <a:ext cx="3108960" cy="822960"/>
          </a:xfrm>
          <a:prstGeom prst="roundRect">
            <a:avLst>
              <a:gd name="adj" fmla="val 11111"/>
            </a:avLst>
          </a:prstGeom>
          <a:solidFill>
            <a:srgbClr val="FDF0E3"/>
          </a:solidFill>
          <a:ln w="12700">
            <a:solidFill>
              <a:srgbClr val="FDF0E3"/>
            </a:solidFill>
            <a:prstDash val="solid"/>
          </a:ln>
        </p:spPr>
      </p:sp>
      <p:sp>
        <p:nvSpPr>
          <p:cNvPr id="9" name="Text 6"/>
          <p:cNvSpPr txBox="1"/>
          <p:nvPr/>
        </p:nvSpPr>
        <p:spPr>
          <a:xfrm>
            <a:off x="548640" y="251460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Deny?</a:t>
            </a:r>
            <a:endParaRPr lang="en-US" sz="1700" dirty="0"/>
          </a:p>
        </p:txBody>
      </p:sp>
      <p:sp>
        <p:nvSpPr>
          <p:cNvPr id="10" name="Shape 7"/>
          <p:cNvSpPr/>
          <p:nvPr/>
        </p:nvSpPr>
        <p:spPr>
          <a:xfrm>
            <a:off x="3703320" y="2926080"/>
            <a:ext cx="822960" cy="0"/>
          </a:xfrm>
          <a:prstGeom prst="line">
            <a:avLst/>
          </a:prstGeom>
          <a:noFill/>
          <a:ln w="25400">
            <a:solidFill>
              <a:srgbClr val="5F6478"/>
            </a:solidFill>
            <a:prstDash val="solid"/>
            <a:tailEnd type="triangle"/>
          </a:ln>
        </p:spPr>
      </p:sp>
      <p:sp>
        <p:nvSpPr>
          <p:cNvPr id="11" name="Text 8"/>
          <p:cNvSpPr txBox="1"/>
          <p:nvPr/>
        </p:nvSpPr>
        <p:spPr>
          <a:xfrm>
            <a:off x="3703320" y="256032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12" name="Shape 9"/>
          <p:cNvSpPr/>
          <p:nvPr/>
        </p:nvSpPr>
        <p:spPr>
          <a:xfrm>
            <a:off x="4526280" y="2514600"/>
            <a:ext cx="1737360" cy="822960"/>
          </a:xfrm>
          <a:prstGeom prst="roundRect">
            <a:avLst>
              <a:gd name="adj" fmla="val 11111"/>
            </a:avLst>
          </a:prstGeom>
          <a:solidFill>
            <a:srgbClr val="D64545"/>
          </a:solidFill>
          <a:ln w="12700">
            <a:solidFill>
              <a:srgbClr val="D64545"/>
            </a:solidFill>
            <a:prstDash val="solid"/>
          </a:ln>
        </p:spPr>
      </p:sp>
      <p:sp>
        <p:nvSpPr>
          <p:cNvPr id="13" name="Text 10"/>
          <p:cNvSpPr txBox="1"/>
          <p:nvPr/>
        </p:nvSpPr>
        <p:spPr>
          <a:xfrm>
            <a:off x="4526280" y="251460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14" name="Shape 11"/>
          <p:cNvSpPr/>
          <p:nvPr/>
        </p:nvSpPr>
        <p:spPr>
          <a:xfrm>
            <a:off x="2103120" y="3337560"/>
            <a:ext cx="0" cy="365760"/>
          </a:xfrm>
          <a:prstGeom prst="line">
            <a:avLst/>
          </a:prstGeom>
          <a:noFill/>
          <a:ln w="25400">
            <a:solidFill>
              <a:srgbClr val="5F6478"/>
            </a:solidFill>
            <a:prstDash val="solid"/>
            <a:tailEnd type="triangle"/>
          </a:ln>
        </p:spPr>
      </p:sp>
      <p:sp>
        <p:nvSpPr>
          <p:cNvPr id="15" name="Text 12"/>
          <p:cNvSpPr txBox="1"/>
          <p:nvPr/>
        </p:nvSpPr>
        <p:spPr>
          <a:xfrm>
            <a:off x="2194560" y="333756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16" name="Shape 13"/>
          <p:cNvSpPr/>
          <p:nvPr/>
        </p:nvSpPr>
        <p:spPr>
          <a:xfrm>
            <a:off x="548640" y="3749040"/>
            <a:ext cx="3108960" cy="822960"/>
          </a:xfrm>
          <a:prstGeom prst="roundRect">
            <a:avLst>
              <a:gd name="adj" fmla="val 11111"/>
            </a:avLst>
          </a:prstGeom>
          <a:solidFill>
            <a:srgbClr val="FDF0E3"/>
          </a:solidFill>
          <a:ln w="12700">
            <a:solidFill>
              <a:srgbClr val="FDF0E3"/>
            </a:solidFill>
            <a:prstDash val="solid"/>
          </a:ln>
        </p:spPr>
      </p:sp>
      <p:sp>
        <p:nvSpPr>
          <p:cNvPr id="17" name="Text 14"/>
          <p:cNvSpPr txBox="1"/>
          <p:nvPr/>
        </p:nvSpPr>
        <p:spPr>
          <a:xfrm>
            <a:off x="548640" y="374904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Allow?</a:t>
            </a:r>
            <a:endParaRPr lang="en-US" sz="1700" dirty="0"/>
          </a:p>
        </p:txBody>
      </p:sp>
      <p:sp>
        <p:nvSpPr>
          <p:cNvPr id="18" name="Shape 15"/>
          <p:cNvSpPr/>
          <p:nvPr/>
        </p:nvSpPr>
        <p:spPr>
          <a:xfrm>
            <a:off x="3703320" y="4160520"/>
            <a:ext cx="822960" cy="0"/>
          </a:xfrm>
          <a:prstGeom prst="line">
            <a:avLst/>
          </a:prstGeom>
          <a:noFill/>
          <a:ln w="25400">
            <a:solidFill>
              <a:srgbClr val="5F6478"/>
            </a:solidFill>
            <a:prstDash val="solid"/>
            <a:tailEnd type="triangle"/>
          </a:ln>
        </p:spPr>
      </p:sp>
      <p:sp>
        <p:nvSpPr>
          <p:cNvPr id="19" name="Text 16"/>
          <p:cNvSpPr txBox="1"/>
          <p:nvPr/>
        </p:nvSpPr>
        <p:spPr>
          <a:xfrm>
            <a:off x="3703320" y="379476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20" name="Shape 17"/>
          <p:cNvSpPr/>
          <p:nvPr/>
        </p:nvSpPr>
        <p:spPr>
          <a:xfrm>
            <a:off x="4526280" y="3749040"/>
            <a:ext cx="1737360" cy="822960"/>
          </a:xfrm>
          <a:prstGeom prst="roundRect">
            <a:avLst>
              <a:gd name="adj" fmla="val 11111"/>
            </a:avLst>
          </a:prstGeom>
          <a:solidFill>
            <a:srgbClr val="D64545"/>
          </a:solidFill>
          <a:ln w="12700">
            <a:solidFill>
              <a:srgbClr val="D64545"/>
            </a:solidFill>
            <a:prstDash val="solid"/>
          </a:ln>
        </p:spPr>
      </p:sp>
      <p:sp>
        <p:nvSpPr>
          <p:cNvPr id="21" name="Text 18"/>
          <p:cNvSpPr txBox="1"/>
          <p:nvPr/>
        </p:nvSpPr>
        <p:spPr>
          <a:xfrm>
            <a:off x="4526280" y="374904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22" name="Shape 19"/>
          <p:cNvSpPr/>
          <p:nvPr/>
        </p:nvSpPr>
        <p:spPr>
          <a:xfrm>
            <a:off x="2103120" y="4572000"/>
            <a:ext cx="0" cy="365760"/>
          </a:xfrm>
          <a:prstGeom prst="line">
            <a:avLst/>
          </a:prstGeom>
          <a:noFill/>
          <a:ln w="25400">
            <a:solidFill>
              <a:srgbClr val="5F6478"/>
            </a:solidFill>
            <a:prstDash val="solid"/>
            <a:tailEnd type="triangle"/>
          </a:ln>
        </p:spPr>
      </p:sp>
      <p:sp>
        <p:nvSpPr>
          <p:cNvPr id="23" name="Text 20"/>
          <p:cNvSpPr txBox="1"/>
          <p:nvPr/>
        </p:nvSpPr>
        <p:spPr>
          <a:xfrm>
            <a:off x="2194560" y="457200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24" name="Shape 21"/>
          <p:cNvSpPr/>
          <p:nvPr/>
        </p:nvSpPr>
        <p:spPr>
          <a:xfrm>
            <a:off x="548640" y="4983480"/>
            <a:ext cx="3108960" cy="731520"/>
          </a:xfrm>
          <a:prstGeom prst="roundRect">
            <a:avLst>
              <a:gd name="adj" fmla="val 12500"/>
            </a:avLst>
          </a:prstGeom>
          <a:solidFill>
            <a:srgbClr val="2E9E6B"/>
          </a:solidFill>
          <a:ln w="12700">
            <a:solidFill>
              <a:srgbClr val="2E9E6B"/>
            </a:solidFill>
            <a:prstDash val="solid"/>
          </a:ln>
        </p:spPr>
      </p:sp>
      <p:sp>
        <p:nvSpPr>
          <p:cNvPr id="25" name="Text 22"/>
          <p:cNvSpPr txBox="1"/>
          <p:nvPr/>
        </p:nvSpPr>
        <p:spPr>
          <a:xfrm>
            <a:off x="548640" y="4983480"/>
            <a:ext cx="3108960" cy="73152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SÌ</a:t>
            </a:r>
            <a:endParaRPr lang="en-US" sz="1800" dirty="0"/>
          </a:p>
        </p:txBody>
      </p:sp>
      <p:sp>
        <p:nvSpPr>
          <p:cNvPr id="26" name="Text 23"/>
          <p:cNvSpPr txBox="1"/>
          <p:nvPr/>
        </p:nvSpPr>
        <p:spPr>
          <a:xfrm>
            <a:off x="6675120" y="1371600"/>
            <a:ext cx="4937760" cy="4572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nostro esempio</a:t>
            </a:r>
            <a:endParaRPr lang="en-US" sz="1900" dirty="0"/>
          </a:p>
        </p:txBody>
      </p:sp>
      <p:sp>
        <p:nvSpPr>
          <p:cNvPr id="27" name="Shape 24"/>
          <p:cNvSpPr/>
          <p:nvPr/>
        </p:nvSpPr>
        <p:spPr>
          <a:xfrm>
            <a:off x="6675120" y="1965960"/>
            <a:ext cx="4965192" cy="1051560"/>
          </a:xfrm>
          <a:prstGeom prst="roundRect">
            <a:avLst>
              <a:gd name="adj" fmla="val 8696"/>
            </a:avLst>
          </a:prstGeom>
          <a:solidFill>
            <a:srgbClr val="F7F6FD"/>
          </a:solidFill>
          <a:ln w="12700">
            <a:solidFill>
              <a:srgbClr val="D9D6EC"/>
            </a:solidFill>
            <a:prstDash val="solid"/>
          </a:ln>
        </p:spPr>
      </p:sp>
      <p:sp>
        <p:nvSpPr>
          <p:cNvPr id="28" name="Text 25"/>
          <p:cNvSpPr txBox="1"/>
          <p:nvPr/>
        </p:nvSpPr>
        <p:spPr>
          <a:xfrm>
            <a:off x="6903720" y="196596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Leggere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Allow</a:t>
            </a:r>
            <a:endParaRPr lang="en-US" sz="1800" dirty="0"/>
          </a:p>
        </p:txBody>
      </p:sp>
      <p:sp>
        <p:nvSpPr>
          <p:cNvPr id="29" name="Text 26"/>
          <p:cNvSpPr txBox="1"/>
          <p:nvPr/>
        </p:nvSpPr>
        <p:spPr>
          <a:xfrm>
            <a:off x="10241280" y="1965960"/>
            <a:ext cx="1280160" cy="1051560"/>
          </a:xfrm>
          <a:prstGeom prst="rect">
            <a:avLst/>
          </a:prstGeom>
          <a:noFill/>
          <a:ln/>
        </p:spPr>
        <p:txBody>
          <a:bodyPr wrap="square" lIns="0" tIns="0" rIns="0" bIns="0" rtlCol="0" anchor="ctr"/>
          <a:lstStyle/>
          <a:p>
            <a:pPr algn="ctr" indent="0" marL="0">
              <a:buNone/>
            </a:pPr>
            <a:r>
              <a:rPr lang="en-US" sz="2400" b="1" dirty="0">
                <a:solidFill>
                  <a:srgbClr val="2E9E6B"/>
                </a:solidFill>
                <a:latin typeface="Calibri" pitchFamily="34" charset="0"/>
                <a:ea typeface="Calibri" pitchFamily="34" charset="-122"/>
                <a:cs typeface="Calibri" pitchFamily="34" charset="-120"/>
              </a:rPr>
              <a:t>SÌ</a:t>
            </a:r>
            <a:endParaRPr lang="en-US" sz="2400" dirty="0"/>
          </a:p>
        </p:txBody>
      </p:sp>
      <p:sp>
        <p:nvSpPr>
          <p:cNvPr id="30" name="Shape 27"/>
          <p:cNvSpPr/>
          <p:nvPr/>
        </p:nvSpPr>
        <p:spPr>
          <a:xfrm>
            <a:off x="6675120" y="3200400"/>
            <a:ext cx="4965192" cy="1051560"/>
          </a:xfrm>
          <a:prstGeom prst="roundRect">
            <a:avLst>
              <a:gd name="adj" fmla="val 8696"/>
            </a:avLst>
          </a:prstGeom>
          <a:solidFill>
            <a:srgbClr val="F7F6FD"/>
          </a:solidFill>
          <a:ln w="12700">
            <a:solidFill>
              <a:srgbClr val="D9D6EC"/>
            </a:solidFill>
            <a:prstDash val="solid"/>
          </a:ln>
        </p:spPr>
      </p:sp>
      <p:sp>
        <p:nvSpPr>
          <p:cNvPr id="31" name="Text 28"/>
          <p:cNvSpPr txBox="1"/>
          <p:nvPr/>
        </p:nvSpPr>
        <p:spPr>
          <a:xfrm>
            <a:off x="6903720" y="320040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2" name="Text 29"/>
          <p:cNvSpPr txBox="1"/>
          <p:nvPr/>
        </p:nvSpPr>
        <p:spPr>
          <a:xfrm>
            <a:off x="10241280" y="320040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3" name="Shape 30"/>
          <p:cNvSpPr/>
          <p:nvPr/>
        </p:nvSpPr>
        <p:spPr>
          <a:xfrm>
            <a:off x="6675120" y="4434840"/>
            <a:ext cx="4965192" cy="1051560"/>
          </a:xfrm>
          <a:prstGeom prst="roundRect">
            <a:avLst>
              <a:gd name="adj" fmla="val 8696"/>
            </a:avLst>
          </a:prstGeom>
          <a:solidFill>
            <a:srgbClr val="F7F6FD"/>
          </a:solidFill>
          <a:ln w="12700">
            <a:solidFill>
              <a:srgbClr val="D9D6EC"/>
            </a:solidFill>
            <a:prstDash val="solid"/>
          </a:ln>
        </p:spPr>
      </p:sp>
      <p:sp>
        <p:nvSpPr>
          <p:cNvPr id="34" name="Text 31"/>
          <p:cNvSpPr txBox="1"/>
          <p:nvPr/>
        </p:nvSpPr>
        <p:spPr>
          <a:xfrm>
            <a:off x="6903720" y="443484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Caricare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a:t>
            </a:r>
            <a:endParaRPr lang="en-US" sz="1800" dirty="0"/>
          </a:p>
        </p:txBody>
      </p:sp>
      <p:sp>
        <p:nvSpPr>
          <p:cNvPr id="35" name="Text 32"/>
          <p:cNvSpPr txBox="1"/>
          <p:nvPr/>
        </p:nvSpPr>
        <p:spPr>
          <a:xfrm>
            <a:off x="10241280" y="443484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6" name="Text 33"/>
          <p:cNvSpPr txBox="1"/>
          <p:nvPr/>
        </p:nvSpPr>
        <p:spPr>
          <a:xfrm>
            <a:off x="6675120" y="5623560"/>
            <a:ext cx="4965192"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Tutto ciò che non è consentito è vietato.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scrivere anche un Deny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11094415" cy="914400"/>
          </a:xfrm>
          <a:prstGeom prst="roundRect">
            <a:avLst>
              <a:gd name="adj" fmla="val 10000"/>
            </a:avLst>
          </a:prstGeom>
          <a:solidFill>
            <a:srgbClr val="5B3FD0"/>
          </a:solidFill>
          <a:ln w="12700">
            <a:solidFill>
              <a:srgbClr val="5B3FD0"/>
            </a:solidFill>
            <a:prstDash val="solid"/>
          </a:ln>
        </p:spPr>
      </p:sp>
      <p:sp>
        <p:nvSpPr>
          <p:cNvPr id="6" name="Text 3"/>
          <p:cNvSpPr txBox="1"/>
          <p:nvPr/>
        </p:nvSpPr>
        <p:spPr>
          <a:xfrm>
            <a:off x="822960" y="1371600"/>
            <a:ext cx="1054577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Un Deny resta valido anche se domani qualcuno aggiunge permessi.</a:t>
            </a:r>
            <a:endParaRPr lang="en-US" sz="2400" dirty="0"/>
          </a:p>
        </p:txBody>
      </p:sp>
      <p:sp>
        <p:nvSpPr>
          <p:cNvPr id="7" name="Shape 4"/>
          <p:cNvSpPr/>
          <p:nvPr/>
        </p:nvSpPr>
        <p:spPr>
          <a:xfrm>
            <a:off x="548640" y="2606040"/>
            <a:ext cx="3566160" cy="3337560"/>
          </a:xfrm>
          <a:prstGeom prst="roundRect">
            <a:avLst>
              <a:gd name="adj" fmla="val 3288"/>
            </a:avLst>
          </a:prstGeom>
          <a:solidFill>
            <a:srgbClr val="F7F6FD"/>
          </a:solidFill>
          <a:ln w="12700">
            <a:solidFill>
              <a:srgbClr val="D9D6EC"/>
            </a:solidFill>
            <a:prstDash val="solid"/>
          </a:ln>
        </p:spPr>
      </p:sp>
      <p:sp>
        <p:nvSpPr>
          <p:cNvPr id="8" name="Shape 5"/>
          <p:cNvSpPr/>
          <p:nvPr/>
        </p:nvSpPr>
        <p:spPr>
          <a:xfrm>
            <a:off x="1920240" y="2834640"/>
            <a:ext cx="822960" cy="82296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2125980" y="3040380"/>
            <a:ext cx="411480" cy="411480"/>
          </a:xfrm>
          <a:prstGeom prst="rect">
            <a:avLst/>
          </a:prstGeom>
        </p:spPr>
      </p:pic>
      <p:sp>
        <p:nvSpPr>
          <p:cNvPr id="10" name="Text 6"/>
          <p:cNvSpPr txBox="1"/>
          <p:nvPr/>
        </p:nvSpPr>
        <p:spPr>
          <a:xfrm>
            <a:off x="54864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Oggi</a:t>
            </a:r>
            <a:endParaRPr lang="en-US" sz="2000" dirty="0"/>
          </a:p>
        </p:txBody>
      </p:sp>
      <p:sp>
        <p:nvSpPr>
          <p:cNvPr id="11" name="Text 7"/>
          <p:cNvSpPr txBox="1"/>
          <p:nvPr/>
        </p:nvSpPr>
        <p:spPr>
          <a:xfrm>
            <a:off x="77724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Il role ha un Deny: "vietato cancellare"</a:t>
            </a:r>
            <a:endParaRPr lang="en-US" sz="1700" dirty="0"/>
          </a:p>
        </p:txBody>
      </p:sp>
      <p:sp>
        <p:nvSpPr>
          <p:cNvPr id="12" name="Shape 8"/>
          <p:cNvSpPr/>
          <p:nvPr/>
        </p:nvSpPr>
        <p:spPr>
          <a:xfrm>
            <a:off x="4133088" y="4206240"/>
            <a:ext cx="155448" cy="0"/>
          </a:xfrm>
          <a:prstGeom prst="line">
            <a:avLst/>
          </a:prstGeom>
          <a:noFill/>
          <a:ln w="25400">
            <a:solidFill>
              <a:srgbClr val="5F6478"/>
            </a:solidFill>
            <a:prstDash val="solid"/>
            <a:tailEnd type="triangle"/>
          </a:ln>
        </p:spPr>
      </p:sp>
      <p:sp>
        <p:nvSpPr>
          <p:cNvPr id="13" name="Shape 9"/>
          <p:cNvSpPr/>
          <p:nvPr/>
        </p:nvSpPr>
        <p:spPr>
          <a:xfrm>
            <a:off x="4297680" y="2606040"/>
            <a:ext cx="3566160" cy="3337560"/>
          </a:xfrm>
          <a:prstGeom prst="roundRect">
            <a:avLst>
              <a:gd name="adj" fmla="val 3288"/>
            </a:avLst>
          </a:prstGeom>
          <a:solidFill>
            <a:srgbClr val="F7F6FD"/>
          </a:solidFill>
          <a:ln w="12700">
            <a:solidFill>
              <a:srgbClr val="D9D6EC"/>
            </a:solidFill>
            <a:prstDash val="solid"/>
          </a:ln>
        </p:spPr>
      </p:sp>
      <p:sp>
        <p:nvSpPr>
          <p:cNvPr id="14" name="Shape 10"/>
          <p:cNvSpPr/>
          <p:nvPr/>
        </p:nvSpPr>
        <p:spPr>
          <a:xfrm>
            <a:off x="5669280" y="2834640"/>
            <a:ext cx="822960" cy="82296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5875020" y="3040380"/>
            <a:ext cx="411480" cy="411480"/>
          </a:xfrm>
          <a:prstGeom prst="rect">
            <a:avLst/>
          </a:prstGeom>
        </p:spPr>
      </p:pic>
      <p:sp>
        <p:nvSpPr>
          <p:cNvPr id="16" name="Text 11"/>
          <p:cNvSpPr txBox="1"/>
          <p:nvPr/>
        </p:nvSpPr>
        <p:spPr>
          <a:xfrm>
            <a:off x="429768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Domani</a:t>
            </a:r>
            <a:endParaRPr lang="en-US" sz="2000" dirty="0"/>
          </a:p>
        </p:txBody>
      </p:sp>
      <p:sp>
        <p:nvSpPr>
          <p:cNvPr id="17" name="Text 12"/>
          <p:cNvSpPr txBox="1"/>
          <p:nvPr/>
        </p:nvSpPr>
        <p:spPr>
          <a:xfrm>
            <a:off x="452628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Un collega aggiunge AmazonS3FullAccess (policy pronta di AWS: tutto su S3)</a:t>
            </a:r>
            <a:endParaRPr lang="en-US" sz="1700" dirty="0"/>
          </a:p>
        </p:txBody>
      </p:sp>
      <p:sp>
        <p:nvSpPr>
          <p:cNvPr id="18" name="Shape 13"/>
          <p:cNvSpPr/>
          <p:nvPr/>
        </p:nvSpPr>
        <p:spPr>
          <a:xfrm>
            <a:off x="7882128" y="4206240"/>
            <a:ext cx="155448" cy="0"/>
          </a:xfrm>
          <a:prstGeom prst="line">
            <a:avLst/>
          </a:prstGeom>
          <a:noFill/>
          <a:ln w="25400">
            <a:solidFill>
              <a:srgbClr val="5F6478"/>
            </a:solidFill>
            <a:prstDash val="solid"/>
            <a:tailEnd type="triangle"/>
          </a:ln>
        </p:spPr>
      </p:sp>
      <p:sp>
        <p:nvSpPr>
          <p:cNvPr id="19" name="Shape 14"/>
          <p:cNvSpPr/>
          <p:nvPr/>
        </p:nvSpPr>
        <p:spPr>
          <a:xfrm>
            <a:off x="8046720" y="2606040"/>
            <a:ext cx="3566160" cy="3337560"/>
          </a:xfrm>
          <a:prstGeom prst="roundRect">
            <a:avLst>
              <a:gd name="adj" fmla="val 3288"/>
            </a:avLst>
          </a:prstGeom>
          <a:solidFill>
            <a:srgbClr val="F7F6FD"/>
          </a:solidFill>
          <a:ln w="12700">
            <a:solidFill>
              <a:srgbClr val="D9D6EC"/>
            </a:solidFill>
            <a:prstDash val="solid"/>
          </a:ln>
        </p:spPr>
      </p:sp>
      <p:sp>
        <p:nvSpPr>
          <p:cNvPr id="20" name="Shape 15"/>
          <p:cNvSpPr/>
          <p:nvPr/>
        </p:nvSpPr>
        <p:spPr>
          <a:xfrm>
            <a:off x="9418320" y="2834640"/>
            <a:ext cx="822960" cy="822960"/>
          </a:xfrm>
          <a:prstGeom prst="ellipse">
            <a:avLst/>
          </a:prstGeom>
          <a:solidFill>
            <a:srgbClr val="2E9E6B"/>
          </a:solidFill>
          <a:ln w="12700">
            <a:solidFill>
              <a:srgbClr val="2E9E6B"/>
            </a:solidFill>
            <a:prstDash val="solid"/>
          </a:ln>
        </p:spPr>
      </p:sp>
      <p:pic>
        <p:nvPicPr>
          <p:cNvPr id="21" name="Image 2" descr="preencoded.png">    </p:cNvPr>
          <p:cNvPicPr>
            <a:picLocks noChangeAspect="1"/>
          </p:cNvPicPr>
          <p:nvPr/>
        </p:nvPicPr>
        <p:blipFill>
          <a:blip r:embed="rId3"/>
          <a:stretch>
            <a:fillRect/>
          </a:stretch>
        </p:blipFill>
        <p:spPr>
          <a:xfrm>
            <a:off x="9624060" y="3040380"/>
            <a:ext cx="411480" cy="411480"/>
          </a:xfrm>
          <a:prstGeom prst="rect">
            <a:avLst/>
          </a:prstGeom>
        </p:spPr>
      </p:pic>
      <p:sp>
        <p:nvSpPr>
          <p:cNvPr id="22" name="Text 16"/>
          <p:cNvSpPr txBox="1"/>
          <p:nvPr/>
        </p:nvSpPr>
        <p:spPr>
          <a:xfrm>
            <a:off x="804672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Risultato</a:t>
            </a:r>
            <a:endParaRPr lang="en-US" sz="2000" dirty="0"/>
          </a:p>
        </p:txBody>
      </p:sp>
      <p:sp>
        <p:nvSpPr>
          <p:cNvPr id="23" name="Text 17"/>
          <p:cNvSpPr txBox="1"/>
          <p:nvPr/>
        </p:nvSpPr>
        <p:spPr>
          <a:xfrm>
            <a:off x="827532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Ora può caricare file, ma cancellare resta vietato: il Deny vince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si scrivono le regole: due posti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3200400"/>
          </a:xfrm>
          <a:prstGeom prst="roundRect">
            <a:avLst>
              <a:gd name="adj" fmla="val 34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persona o sul role</a:t>
            </a:r>
            <a:endParaRPr lang="en-US" sz="1800" dirty="0"/>
          </a:p>
        </p:txBody>
      </p:sp>
      <p:sp>
        <p:nvSpPr>
          <p:cNvPr id="9" name="Text 5"/>
          <p:cNvSpPr txBox="1"/>
          <p:nvPr/>
        </p:nvSpPr>
        <p:spPr>
          <a:xfrm>
            <a:off x="77724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il badge in tasca: dice dove PUOI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identity-based</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Esempio: "puoi leggere releases/"</a:t>
            </a:r>
            <a:endParaRPr lang="en-US" sz="1700" dirty="0"/>
          </a:p>
        </p:txBody>
      </p:sp>
      <p:sp>
        <p:nvSpPr>
          <p:cNvPr id="10" name="Shape 6"/>
          <p:cNvSpPr/>
          <p:nvPr/>
        </p:nvSpPr>
        <p:spPr>
          <a:xfrm>
            <a:off x="6172200" y="1417320"/>
            <a:ext cx="5440680" cy="3200400"/>
          </a:xfrm>
          <a:prstGeom prst="roundRect">
            <a:avLst>
              <a:gd name="adj" fmla="val 3429"/>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risorsa</a:t>
            </a:r>
            <a:endParaRPr lang="en-US" sz="1800" dirty="0"/>
          </a:p>
        </p:txBody>
      </p:sp>
      <p:sp>
        <p:nvSpPr>
          <p:cNvPr id="14" name="Text 9"/>
          <p:cNvSpPr txBox="1"/>
          <p:nvPr/>
        </p:nvSpPr>
        <p:spPr>
          <a:xfrm>
            <a:off x="640080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la lista sulla porta: dice CHI può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resource-based: indica il chi (principal)</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la policy di un bucket, la trust policy di un role</a:t>
            </a:r>
            <a:endParaRPr lang="en-US" sz="1700" dirty="0"/>
          </a:p>
        </p:txBody>
      </p:sp>
      <p:sp>
        <p:nvSpPr>
          <p:cNvPr id="15" name="Shape 10"/>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corso lavoriamo in un solo account: basta un Allow in uno dei due posti.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non si scrive il JSON a mano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85800"/>
          </a:xfrm>
          <a:prstGeom prst="roundRect">
            <a:avLst>
              <a:gd name="adj" fmla="val 13333"/>
            </a:avLst>
          </a:prstGeom>
          <a:solidFill>
            <a:srgbClr val="5B3FD0"/>
          </a:solidFill>
          <a:ln w="12700">
            <a:solidFill>
              <a:srgbClr val="5B3FD0"/>
            </a:solidFill>
            <a:prstDash val="solid"/>
          </a:ln>
        </p:spPr>
      </p:sp>
      <p:sp>
        <p:nvSpPr>
          <p:cNvPr id="6" name="Text 3"/>
          <p:cNvSpPr txBox="1"/>
          <p:nvPr/>
        </p:nvSpPr>
        <p:spPr>
          <a:xfrm>
            <a:off x="822960" y="1280160"/>
            <a:ext cx="105457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Scriviamo le regole in HCL: Terraform genera il JSON e controlla gli errori.</a:t>
            </a:r>
            <a:endParaRPr lang="en-US" sz="1800" dirty="0"/>
          </a:p>
        </p:txBody>
      </p:sp>
      <p:sp>
        <p:nvSpPr>
          <p:cNvPr id="7" name="Shape 4"/>
          <p:cNvSpPr/>
          <p:nvPr/>
        </p:nvSpPr>
        <p:spPr>
          <a:xfrm>
            <a:off x="548640" y="2103120"/>
            <a:ext cx="7589520" cy="2423160"/>
          </a:xfrm>
          <a:prstGeom prst="roundRect">
            <a:avLst>
              <a:gd name="adj" fmla="val 3019"/>
            </a:avLst>
          </a:prstGeom>
          <a:solidFill>
            <a:srgbClr val="1E1E2E"/>
          </a:solidFill>
          <a:ln w="12700">
            <a:solidFill>
              <a:srgbClr val="1E1E2E"/>
            </a:solidFill>
            <a:prstDash val="solid"/>
          </a:ln>
        </p:spPr>
      </p:sp>
      <p:sp>
        <p:nvSpPr>
          <p:cNvPr id="8" name="Text 5"/>
          <p:cNvSpPr txBox="1"/>
          <p:nvPr/>
        </p:nvSpPr>
        <p:spPr>
          <a:xfrm>
            <a:off x="731520" y="2240280"/>
            <a:ext cx="7223760" cy="2148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"trust"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"AWS"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identifiers = ["arn:aws:iam::123456789012:root"]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9" name="Shape 6"/>
          <p:cNvSpPr/>
          <p:nvPr/>
        </p:nvSpPr>
        <p:spPr>
          <a:xfrm>
            <a:off x="4206240" y="4544568"/>
            <a:ext cx="0" cy="201168"/>
          </a:xfrm>
          <a:prstGeom prst="line">
            <a:avLst/>
          </a:prstGeom>
          <a:noFill/>
          <a:ln w="25400">
            <a:solidFill>
              <a:srgbClr val="5B3FD0"/>
            </a:solidFill>
            <a:prstDash val="solid"/>
            <a:tailEnd type="triangle"/>
          </a:ln>
        </p:spPr>
      </p:sp>
      <p:sp>
        <p:nvSpPr>
          <p:cNvPr id="10" name="Shape 7"/>
          <p:cNvSpPr/>
          <p:nvPr/>
        </p:nvSpPr>
        <p:spPr>
          <a:xfrm>
            <a:off x="548640" y="4754880"/>
            <a:ext cx="7589520" cy="1572768"/>
          </a:xfrm>
          <a:prstGeom prst="roundRect">
            <a:avLst>
              <a:gd name="adj" fmla="val 4651"/>
            </a:avLst>
          </a:prstGeom>
          <a:solidFill>
            <a:srgbClr val="1E1E2E"/>
          </a:solidFill>
          <a:ln w="12700">
            <a:solidFill>
              <a:srgbClr val="1E1E2E"/>
            </a:solidFill>
            <a:prstDash val="solid"/>
          </a:ln>
        </p:spPr>
      </p:sp>
      <p:sp>
        <p:nvSpPr>
          <p:cNvPr id="11" name="Text 8"/>
          <p:cNvSpPr txBox="1"/>
          <p:nvPr/>
        </p:nvSpPr>
        <p:spPr>
          <a:xfrm>
            <a:off x="731520" y="4892040"/>
            <a:ext cx="7223760" cy="1298448"/>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 { "AWS": "arn:aws:iam::123456789012:root"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8321040" y="2148840"/>
            <a:ext cx="3319272" cy="4160520"/>
          </a:xfrm>
          <a:prstGeom prst="roundRect">
            <a:avLst>
              <a:gd name="adj" fmla="val 2755"/>
            </a:avLst>
          </a:prstGeom>
          <a:solidFill>
            <a:srgbClr val="FDF0E3"/>
          </a:solidFill>
          <a:ln w="12700">
            <a:solidFill>
              <a:srgbClr val="FDF0E3"/>
            </a:solidFill>
            <a:prstDash val="solid"/>
          </a:ln>
        </p:spPr>
      </p:sp>
      <p:sp>
        <p:nvSpPr>
          <p:cNvPr id="13" name="Text 10"/>
          <p:cNvSpPr txBox="1"/>
          <p:nvPr/>
        </p:nvSpPr>
        <p:spPr>
          <a:xfrm>
            <a:off x="8503920" y="2286000"/>
            <a:ext cx="3017520" cy="3886200"/>
          </a:xfrm>
          <a:prstGeom prst="rect">
            <a:avLst/>
          </a:prstGeom>
          <a:noFill/>
          <a:ln/>
        </p:spPr>
        <p:txBody>
          <a:bodyPr wrap="square" lIns="0" tIns="0" rIns="0" bIns="0" rtlCol="0" anchor="t"/>
          <a:lstStyle/>
          <a:p>
            <a:pPr indent="0" marL="0">
              <a:spcAft>
                <a:spcPts val="800"/>
              </a:spcAft>
              <a:buNone/>
            </a:pPr>
            <a:r>
              <a:rPr lang="en-US" sz="1500" b="1" dirty="0">
                <a:solidFill>
                  <a:srgbClr val="F28C28"/>
                </a:solidFill>
                <a:latin typeface="Calibri" pitchFamily="34" charset="0"/>
                <a:ea typeface="Calibri" pitchFamily="34" charset="-122"/>
                <a:cs typeface="Calibri" pitchFamily="34" charset="-120"/>
              </a:rPr>
              <a:t>Da sapere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Sopra: quello che scrivi. Sotto: il JSON generato</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effect non scritto = Allow</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…trust.json = il testo JSON pronto da usare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:root = "chiunque del mio account a cui è permesso", NON l'utente root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role in Terraform: tre pezzi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1828800"/>
          </a:xfrm>
          <a:prstGeom prst="roundRect">
            <a:avLst>
              <a:gd name="adj" fmla="val 6000"/>
            </a:avLst>
          </a:prstGeom>
          <a:solidFill>
            <a:srgbClr val="EEEAFB"/>
          </a:solidFill>
          <a:ln w="12700">
            <a:solidFill>
              <a:srgbClr val="EEEAFB"/>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aws_iam_role</a:t>
            </a:r>
            <a:endParaRPr lang="en-US" sz="1700" dirty="0"/>
          </a:p>
        </p:txBody>
      </p:sp>
      <p:sp>
        <p:nvSpPr>
          <p:cNvPr id="7" name="Text 4"/>
          <p:cNvSpPr txBox="1"/>
          <p:nvPr/>
        </p:nvSpPr>
        <p:spPr>
          <a:xfrm>
            <a:off x="73152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il badge, con la lista di chi può prenderlo</a:t>
            </a:r>
            <a:endParaRPr lang="en-US" sz="1700" dirty="0"/>
          </a:p>
        </p:txBody>
      </p:sp>
      <p:sp>
        <p:nvSpPr>
          <p:cNvPr id="8" name="Text 5"/>
          <p:cNvSpPr txBox="1"/>
          <p:nvPr/>
        </p:nvSpPr>
        <p:spPr>
          <a:xfrm>
            <a:off x="411480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9" name="Shape 6"/>
          <p:cNvSpPr/>
          <p:nvPr/>
        </p:nvSpPr>
        <p:spPr>
          <a:xfrm>
            <a:off x="4297680" y="1417320"/>
            <a:ext cx="3566160" cy="1828800"/>
          </a:xfrm>
          <a:prstGeom prst="roundRect">
            <a:avLst>
              <a:gd name="adj" fmla="val 6000"/>
            </a:avLst>
          </a:prstGeom>
          <a:solidFill>
            <a:srgbClr val="EEEAFB"/>
          </a:solidFill>
          <a:ln w="12700">
            <a:solidFill>
              <a:srgbClr val="EEEAFB"/>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aws_iam_policy</a:t>
            </a:r>
            <a:endParaRPr lang="en-US" sz="1700" dirty="0"/>
          </a:p>
        </p:txBody>
      </p:sp>
      <p:sp>
        <p:nvSpPr>
          <p:cNvPr id="11" name="Text 8"/>
          <p:cNvSpPr txBox="1"/>
          <p:nvPr/>
        </p:nvSpPr>
        <p:spPr>
          <a:xfrm>
            <a:off x="448056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 porte che il badge apre</a:t>
            </a:r>
            <a:endParaRPr lang="en-US" sz="1700" dirty="0"/>
          </a:p>
        </p:txBody>
      </p:sp>
      <p:sp>
        <p:nvSpPr>
          <p:cNvPr id="12" name="Text 9"/>
          <p:cNvSpPr txBox="1"/>
          <p:nvPr/>
        </p:nvSpPr>
        <p:spPr>
          <a:xfrm>
            <a:off x="786384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13" name="Shape 10"/>
          <p:cNvSpPr/>
          <p:nvPr/>
        </p:nvSpPr>
        <p:spPr>
          <a:xfrm>
            <a:off x="8046720" y="1417320"/>
            <a:ext cx="3566160" cy="1828800"/>
          </a:xfrm>
          <a:prstGeom prst="roundRect">
            <a:avLst>
              <a:gd name="adj" fmla="val 6000"/>
            </a:avLst>
          </a:prstGeom>
          <a:solidFill>
            <a:srgbClr val="E5F4EC"/>
          </a:solidFill>
          <a:ln w="12700">
            <a:solidFill>
              <a:srgbClr val="E5F4EC"/>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algn="ctr" indent="0" marL="0">
              <a:buNone/>
            </a:pPr>
            <a:r>
              <a:rPr lang="en-US" sz="1300" b="1" dirty="0">
                <a:solidFill>
                  <a:srgbClr val="5B3FD0"/>
                </a:solidFill>
                <a:latin typeface="Courier New" pitchFamily="34" charset="0"/>
                <a:ea typeface="Courier New" pitchFamily="34" charset="-122"/>
                <a:cs typeface="Courier New" pitchFamily="34" charset="-120"/>
              </a:rPr>
              <a:t>aws_iam_role_policy_attachment</a:t>
            </a:r>
            <a:endParaRPr lang="en-US" sz="1300" dirty="0"/>
          </a:p>
        </p:txBody>
      </p:sp>
      <p:sp>
        <p:nvSpPr>
          <p:cNvPr id="15" name="Text 12"/>
          <p:cNvSpPr txBox="1"/>
          <p:nvPr/>
        </p:nvSpPr>
        <p:spPr>
          <a:xfrm>
            <a:off x="822960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attacca le porte al badge</a:t>
            </a:r>
            <a:endParaRPr lang="en-US" sz="1700" dirty="0"/>
          </a:p>
        </p:txBody>
      </p:sp>
      <p:sp>
        <p:nvSpPr>
          <p:cNvPr id="16" name="Shape 13"/>
          <p:cNvSpPr/>
          <p:nvPr/>
        </p:nvSpPr>
        <p:spPr>
          <a:xfrm>
            <a:off x="548640" y="3520440"/>
            <a:ext cx="11094415" cy="1371600"/>
          </a:xfrm>
          <a:prstGeom prst="roundRect">
            <a:avLst>
              <a:gd name="adj" fmla="val 5333"/>
            </a:avLst>
          </a:prstGeom>
          <a:solidFill>
            <a:srgbClr val="1E1E2E"/>
          </a:solidFill>
          <a:ln w="12700">
            <a:solidFill>
              <a:srgbClr val="1E1E2E"/>
            </a:solidFill>
            <a:prstDash val="solid"/>
          </a:ln>
        </p:spPr>
      </p:sp>
      <p:sp>
        <p:nvSpPr>
          <p:cNvPr id="17" name="Text 14"/>
          <p:cNvSpPr txBox="1"/>
          <p:nvPr/>
        </p:nvSpPr>
        <p:spPr>
          <a:xfrm>
            <a:off x="731520" y="3657600"/>
            <a:ext cx="10728655" cy="10972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"reader"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aws_iam_role.reader.name     </a:t>
            </a:r>
            <a:pPr indent="0" marL="0">
              <a:buNone/>
            </a:pPr>
            <a:r>
              <a:rPr lang="en-US" sz="1600" dirty="0">
                <a:solidFill>
                  <a:srgbClr val="8FD694"/>
                </a:solidFill>
                <a:latin typeface="Courier New" pitchFamily="34" charset="0"/>
                <a:ea typeface="Courier New" pitchFamily="34" charset="-122"/>
                <a:cs typeface="Courier New" pitchFamily="34" charset="-120"/>
              </a:rPr>
              <a:t># quale badge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aws_iam_policy.reader.arn    </a:t>
            </a:r>
            <a:pPr indent="0" marL="0">
              <a:buNone/>
            </a:pPr>
            <a:r>
              <a:rPr lang="en-US" sz="1600" dirty="0">
                <a:solidFill>
                  <a:srgbClr val="8FD694"/>
                </a:solidFill>
                <a:latin typeface="Courier New" pitchFamily="34" charset="0"/>
                <a:ea typeface="Courier New" pitchFamily="34" charset="-122"/>
                <a:cs typeface="Courier New" pitchFamily="34" charset="-120"/>
              </a:rPr>
              <a:t># quali porte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548640" y="5166360"/>
            <a:ext cx="11094415" cy="822960"/>
          </a:xfrm>
          <a:prstGeom prst="roundRect">
            <a:avLst>
              <a:gd name="adj" fmla="val 11111"/>
            </a:avLst>
          </a:prstGeom>
          <a:solidFill>
            <a:srgbClr val="FBE9E9"/>
          </a:solidFill>
          <a:ln w="12700">
            <a:solidFill>
              <a:srgbClr val="FBE9E9"/>
            </a:solidFill>
            <a:prstDash val="solid"/>
          </a:ln>
        </p:spPr>
      </p:sp>
      <p:sp>
        <p:nvSpPr>
          <p:cNvPr id="19" name="Text 16"/>
          <p:cNvSpPr txBox="1"/>
          <p:nvPr/>
        </p:nvSpPr>
        <p:spPr>
          <a:xfrm>
            <a:off x="822960" y="516636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Mai aws_iam_policy_attachment (senza "role"): toglie la policy a chiunque non sia elencato.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costruiamo nell'esercizio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743200" cy="1005840"/>
          </a:xfrm>
          <a:prstGeom prst="roundRect">
            <a:avLst>
              <a:gd name="adj" fmla="val 9091"/>
            </a:avLst>
          </a:prstGeom>
          <a:solidFill>
            <a:srgbClr val="EEEAFB"/>
          </a:solidFill>
          <a:ln w="12700">
            <a:solidFill>
              <a:srgbClr val="EEEAFB"/>
            </a:solidFill>
            <a:prstDash val="solid"/>
          </a:ln>
        </p:spPr>
      </p:sp>
      <p:sp>
        <p:nvSpPr>
          <p:cNvPr id="6" name="Text 3"/>
          <p:cNvSpPr txBox="1"/>
          <p:nvPr/>
        </p:nvSpPr>
        <p:spPr>
          <a:xfrm>
            <a:off x="548640" y="1417320"/>
            <a:ext cx="2743200"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Tu</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dal tuo account</a:t>
            </a:r>
            <a:endParaRPr lang="en-US" sz="1700" dirty="0"/>
          </a:p>
        </p:txBody>
      </p:sp>
      <p:sp>
        <p:nvSpPr>
          <p:cNvPr id="7" name="Shape 4"/>
          <p:cNvSpPr/>
          <p:nvPr/>
        </p:nvSpPr>
        <p:spPr>
          <a:xfrm>
            <a:off x="3337560" y="1920240"/>
            <a:ext cx="822960" cy="0"/>
          </a:xfrm>
          <a:prstGeom prst="line">
            <a:avLst/>
          </a:prstGeom>
          <a:noFill/>
          <a:ln w="25400">
            <a:solidFill>
              <a:srgbClr val="F28C28"/>
            </a:solidFill>
            <a:prstDash val="solid"/>
            <a:tailEnd type="triangle"/>
          </a:ln>
        </p:spPr>
      </p:sp>
      <p:sp>
        <p:nvSpPr>
          <p:cNvPr id="8" name="Text 5"/>
          <p:cNvSpPr txBox="1"/>
          <p:nvPr/>
        </p:nvSpPr>
        <p:spPr>
          <a:xfrm>
            <a:off x="3337560" y="1417320"/>
            <a:ext cx="822960" cy="45720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assumi</a:t>
            </a:r>
            <a:endParaRPr lang="en-US" sz="1300" dirty="0"/>
          </a:p>
        </p:txBody>
      </p:sp>
      <p:sp>
        <p:nvSpPr>
          <p:cNvPr id="9" name="Shape 6"/>
          <p:cNvSpPr/>
          <p:nvPr/>
        </p:nvSpPr>
        <p:spPr>
          <a:xfrm>
            <a:off x="4206240" y="1417320"/>
            <a:ext cx="3291840" cy="1005840"/>
          </a:xfrm>
          <a:prstGeom prst="roundRect">
            <a:avLst>
              <a:gd name="adj" fmla="val 9091"/>
            </a:avLst>
          </a:prstGeom>
          <a:solidFill>
            <a:srgbClr val="5B3FD0"/>
          </a:solidFill>
          <a:ln w="12700">
            <a:solidFill>
              <a:srgbClr val="5B3FD0"/>
            </a:solidFill>
            <a:prstDash val="solid"/>
          </a:ln>
        </p:spPr>
      </p:sp>
      <p:sp>
        <p:nvSpPr>
          <p:cNvPr id="10" name="Text 7"/>
          <p:cNvSpPr txBox="1"/>
          <p:nvPr/>
        </p:nvSpPr>
        <p:spPr>
          <a:xfrm>
            <a:off x="4206240" y="1417320"/>
            <a:ext cx="3291840" cy="10058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role</a:t>
            </a:r>
            <a:endParaRPr lang="en-US" sz="1600" dirty="0"/>
          </a:p>
          <a:p>
            <a:pPr algn="ctr" indent="0" marL="0">
              <a:buNone/>
            </a:pPr>
            <a:r>
              <a:rPr lang="en-US" sz="1600" b="1" dirty="0">
                <a:solidFill>
                  <a:srgbClr val="FFFFFF"/>
                </a:solidFill>
                <a:latin typeface="Courier New" pitchFamily="34" charset="0"/>
                <a:ea typeface="Courier New" pitchFamily="34" charset="-122"/>
                <a:cs typeface="Courier New" pitchFamily="34" charset="-120"/>
              </a:rPr>
              <a:t>artifact-reader</a:t>
            </a:r>
            <a:endParaRPr lang="en-US" sz="1600" dirty="0"/>
          </a:p>
        </p:txBody>
      </p:sp>
      <p:sp>
        <p:nvSpPr>
          <p:cNvPr id="11" name="Shape 8"/>
          <p:cNvSpPr/>
          <p:nvPr/>
        </p:nvSpPr>
        <p:spPr>
          <a:xfrm>
            <a:off x="7543800" y="1920240"/>
            <a:ext cx="822960" cy="0"/>
          </a:xfrm>
          <a:prstGeom prst="line">
            <a:avLst/>
          </a:prstGeom>
          <a:noFill/>
          <a:ln w="25400">
            <a:solidFill>
              <a:srgbClr val="5B3FD0"/>
            </a:solidFill>
            <a:prstDash val="solid"/>
            <a:tailEnd type="triangle"/>
          </a:ln>
        </p:spPr>
      </p:sp>
      <p:sp>
        <p:nvSpPr>
          <p:cNvPr id="12" name="Shape 9"/>
          <p:cNvSpPr/>
          <p:nvPr/>
        </p:nvSpPr>
        <p:spPr>
          <a:xfrm>
            <a:off x="8412480" y="1417320"/>
            <a:ext cx="3227832" cy="1005840"/>
          </a:xfrm>
          <a:prstGeom prst="roundRect">
            <a:avLst>
              <a:gd name="adj" fmla="val 9091"/>
            </a:avLst>
          </a:prstGeom>
          <a:solidFill>
            <a:srgbClr val="EEEAFB"/>
          </a:solidFill>
          <a:ln w="12700">
            <a:solidFill>
              <a:srgbClr val="EEEAFB"/>
            </a:solidFill>
            <a:prstDash val="solid"/>
          </a:ln>
        </p:spPr>
      </p:sp>
      <p:sp>
        <p:nvSpPr>
          <p:cNvPr id="13" name="Text 10"/>
          <p:cNvSpPr txBox="1"/>
          <p:nvPr/>
        </p:nvSpPr>
        <p:spPr>
          <a:xfrm>
            <a:off x="8412480" y="1417320"/>
            <a:ext cx="3227832"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bucket</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della lezione 0</a:t>
            </a:r>
            <a:endParaRPr lang="en-US" sz="1700" dirty="0"/>
          </a:p>
        </p:txBody>
      </p:sp>
      <p:sp>
        <p:nvSpPr>
          <p:cNvPr id="14" name="Shape 11"/>
          <p:cNvSpPr/>
          <p:nvPr/>
        </p:nvSpPr>
        <p:spPr>
          <a:xfrm>
            <a:off x="548640" y="2697480"/>
            <a:ext cx="11094415" cy="3291840"/>
          </a:xfrm>
          <a:prstGeom prst="roundRect">
            <a:avLst>
              <a:gd name="adj" fmla="val 2222"/>
            </a:avLst>
          </a:prstGeom>
          <a:solidFill>
            <a:srgbClr val="1E1E2E"/>
          </a:solidFill>
          <a:ln w="12700">
            <a:solidFill>
              <a:srgbClr val="1E1E2E"/>
            </a:solidFill>
            <a:prstDash val="solid"/>
          </a:ln>
        </p:spPr>
      </p:sp>
      <p:sp>
        <p:nvSpPr>
          <p:cNvPr id="15" name="Text 12"/>
          <p:cNvSpPr txBox="1"/>
          <p:nvPr/>
        </p:nvSpPr>
        <p:spPr>
          <a:xfrm>
            <a:off x="731520" y="2834640"/>
            <a:ext cx="10728655" cy="30175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1. elencare, ma solo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["s3:ListBucket"]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 variable = "s3:prefix", values = ["releases/*"]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2. leggere i file in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3. mai cancellare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["s3:DeleteObject"]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le sei prove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40080"/>
          </a:xfrm>
          <a:prstGeom prst="roundRect">
            <a:avLst>
              <a:gd name="adj" fmla="val 14286"/>
            </a:avLst>
          </a:prstGeom>
          <a:solidFill>
            <a:srgbClr val="5B3FD0"/>
          </a:solidFill>
          <a:ln w="12700">
            <a:solidFill>
              <a:srgbClr val="5B3FD0"/>
            </a:solidFill>
            <a:prstDash val="solid"/>
          </a:ln>
        </p:spPr>
      </p:sp>
      <p:sp>
        <p:nvSpPr>
          <p:cNvPr id="6" name="Text 3"/>
          <p:cNvSpPr txBox="1"/>
          <p:nvPr/>
        </p:nvSpPr>
        <p:spPr>
          <a:xfrm>
            <a:off x="822960" y="1280160"/>
            <a:ext cx="10545775" cy="64008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Ogni comando si lancia con --profile lab-reader: la CLI prende il badge per te.</a:t>
            </a:r>
            <a:endParaRPr lang="en-US" sz="1700" dirty="0"/>
          </a:p>
        </p:txBody>
      </p:sp>
      <p:sp>
        <p:nvSpPr>
          <p:cNvPr id="7" name="Shape 4"/>
          <p:cNvSpPr/>
          <p:nvPr/>
        </p:nvSpPr>
        <p:spPr>
          <a:xfrm>
            <a:off x="548640" y="2103120"/>
            <a:ext cx="5440680" cy="1143000"/>
          </a:xfrm>
          <a:prstGeom prst="roundRect">
            <a:avLst>
              <a:gd name="adj" fmla="val 8000"/>
            </a:avLst>
          </a:prstGeom>
          <a:solidFill>
            <a:srgbClr val="F7F6FD"/>
          </a:solidFill>
          <a:ln w="12700">
            <a:solidFill>
              <a:srgbClr val="D9D6EC"/>
            </a:solidFill>
            <a:prstDash val="solid"/>
          </a:ln>
        </p:spPr>
      </p:sp>
      <p:sp>
        <p:nvSpPr>
          <p:cNvPr id="8" name="Shape 5"/>
          <p:cNvSpPr/>
          <p:nvPr/>
        </p:nvSpPr>
        <p:spPr>
          <a:xfrm>
            <a:off x="777240" y="2359152"/>
            <a:ext cx="640080" cy="640080"/>
          </a:xfrm>
          <a:prstGeom prst="ellipse">
            <a:avLst/>
          </a:prstGeom>
          <a:solidFill>
            <a:srgbClr val="5B3FD0"/>
          </a:solidFill>
          <a:ln w="12700">
            <a:solidFill>
              <a:srgbClr val="5B3FD0"/>
            </a:solidFill>
            <a:prstDash val="solid"/>
          </a:ln>
        </p:spPr>
      </p:sp>
      <p:sp>
        <p:nvSpPr>
          <p:cNvPr id="9" name="Text 6"/>
          <p:cNvSpPr txBox="1"/>
          <p:nvPr/>
        </p:nvSpPr>
        <p:spPr>
          <a:xfrm>
            <a:off x="77724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160020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sono?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sts get-caller-identity</a:t>
            </a:r>
            <a:endParaRPr lang="en-US" sz="1800" dirty="0"/>
          </a:p>
        </p:txBody>
      </p:sp>
      <p:sp>
        <p:nvSpPr>
          <p:cNvPr id="11" name="Text 8"/>
          <p:cNvSpPr txBox="1"/>
          <p:nvPr/>
        </p:nvSpPr>
        <p:spPr>
          <a:xfrm>
            <a:off x="4754880" y="2103120"/>
            <a:ext cx="1097280" cy="1143000"/>
          </a:xfrm>
          <a:prstGeom prst="rect">
            <a:avLst/>
          </a:prstGeom>
          <a:noFill/>
          <a:ln/>
        </p:spPr>
        <p:txBody>
          <a:bodyPr wrap="square" lIns="0" tIns="0" rIns="0" bIns="0" rtlCol="0" anchor="ctr"/>
          <a:lstStyle/>
          <a:p>
            <a:pPr algn="ctr" indent="0" marL="0">
              <a:buNone/>
            </a:pPr>
            <a:r>
              <a:rPr lang="en-US" sz="2000" b="1" dirty="0">
                <a:solidFill>
                  <a:srgbClr val="5B3FD0"/>
                </a:solidFill>
                <a:latin typeface="Calibri" pitchFamily="34" charset="0"/>
                <a:ea typeface="Calibri" pitchFamily="34" charset="-122"/>
                <a:cs typeface="Calibri" pitchFamily="34" charset="-120"/>
              </a:rPr>
              <a:t>il role</a:t>
            </a:r>
            <a:endParaRPr lang="en-US" sz="2000" dirty="0"/>
          </a:p>
        </p:txBody>
      </p:sp>
      <p:sp>
        <p:nvSpPr>
          <p:cNvPr id="12" name="Shape 9"/>
          <p:cNvSpPr/>
          <p:nvPr/>
        </p:nvSpPr>
        <p:spPr>
          <a:xfrm>
            <a:off x="548640" y="3429000"/>
            <a:ext cx="5440680" cy="1143000"/>
          </a:xfrm>
          <a:prstGeom prst="roundRect">
            <a:avLst>
              <a:gd name="adj" fmla="val 8000"/>
            </a:avLst>
          </a:prstGeom>
          <a:solidFill>
            <a:srgbClr val="F7F6FD"/>
          </a:solidFill>
          <a:ln w="12700">
            <a:solidFill>
              <a:srgbClr val="D9D6EC"/>
            </a:solidFill>
            <a:prstDash val="solid"/>
          </a:ln>
        </p:spPr>
      </p:sp>
      <p:sp>
        <p:nvSpPr>
          <p:cNvPr id="13" name="Shape 10"/>
          <p:cNvSpPr/>
          <p:nvPr/>
        </p:nvSpPr>
        <p:spPr>
          <a:xfrm>
            <a:off x="777240" y="3685032"/>
            <a:ext cx="640080" cy="640080"/>
          </a:xfrm>
          <a:prstGeom prst="ellipse">
            <a:avLst/>
          </a:prstGeom>
          <a:solidFill>
            <a:srgbClr val="5B3FD0"/>
          </a:solidFill>
          <a:ln w="12700">
            <a:solidFill>
              <a:srgbClr val="5B3FD0"/>
            </a:solidFill>
            <a:prstDash val="solid"/>
          </a:ln>
        </p:spPr>
      </p:sp>
      <p:sp>
        <p:nvSpPr>
          <p:cNvPr id="14" name="Text 11"/>
          <p:cNvSpPr txBox="1"/>
          <p:nvPr/>
        </p:nvSpPr>
        <p:spPr>
          <a:xfrm>
            <a:off x="77724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160020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Leggi un file in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s3:GetObject</a:t>
            </a:r>
            <a:endParaRPr lang="en-US" sz="1800" dirty="0"/>
          </a:p>
        </p:txBody>
      </p:sp>
      <p:sp>
        <p:nvSpPr>
          <p:cNvPr id="16" name="Text 13"/>
          <p:cNvSpPr txBox="1"/>
          <p:nvPr/>
        </p:nvSpPr>
        <p:spPr>
          <a:xfrm>
            <a:off x="4754880" y="342900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17" name="Shape 14"/>
          <p:cNvSpPr/>
          <p:nvPr/>
        </p:nvSpPr>
        <p:spPr>
          <a:xfrm>
            <a:off x="548640" y="4754880"/>
            <a:ext cx="5440680" cy="1143000"/>
          </a:xfrm>
          <a:prstGeom prst="roundRect">
            <a:avLst>
              <a:gd name="adj" fmla="val 8000"/>
            </a:avLst>
          </a:prstGeom>
          <a:solidFill>
            <a:srgbClr val="F7F6FD"/>
          </a:solidFill>
          <a:ln w="12700">
            <a:solidFill>
              <a:srgbClr val="D9D6EC"/>
            </a:solidFill>
            <a:prstDash val="solid"/>
          </a:ln>
        </p:spPr>
      </p:sp>
      <p:sp>
        <p:nvSpPr>
          <p:cNvPr id="18" name="Shape 15"/>
          <p:cNvSpPr/>
          <p:nvPr/>
        </p:nvSpPr>
        <p:spPr>
          <a:xfrm>
            <a:off x="777240" y="5010912"/>
            <a:ext cx="640080" cy="640080"/>
          </a:xfrm>
          <a:prstGeom prst="ellipse">
            <a:avLst/>
          </a:prstGeom>
          <a:solidFill>
            <a:srgbClr val="5B3FD0"/>
          </a:solidFill>
          <a:ln w="12700">
            <a:solidFill>
              <a:srgbClr val="5B3FD0"/>
            </a:solidFill>
            <a:prstDash val="solid"/>
          </a:ln>
        </p:spPr>
      </p:sp>
      <p:sp>
        <p:nvSpPr>
          <p:cNvPr id="19" name="Text 16"/>
          <p:cNvSpPr txBox="1"/>
          <p:nvPr/>
        </p:nvSpPr>
        <p:spPr>
          <a:xfrm>
            <a:off x="77724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0" name="Text 17"/>
          <p:cNvSpPr txBox="1"/>
          <p:nvPr/>
        </p:nvSpPr>
        <p:spPr>
          <a:xfrm>
            <a:off x="160020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s3:ListBucket</a:t>
            </a:r>
            <a:endParaRPr lang="en-US" sz="1800" dirty="0"/>
          </a:p>
        </p:txBody>
      </p:sp>
      <p:sp>
        <p:nvSpPr>
          <p:cNvPr id="21" name="Text 18"/>
          <p:cNvSpPr txBox="1"/>
          <p:nvPr/>
        </p:nvSpPr>
        <p:spPr>
          <a:xfrm>
            <a:off x="4754880" y="475488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22" name="Shape 19"/>
          <p:cNvSpPr/>
          <p:nvPr/>
        </p:nvSpPr>
        <p:spPr>
          <a:xfrm>
            <a:off x="6172200" y="2103120"/>
            <a:ext cx="5440680" cy="1143000"/>
          </a:xfrm>
          <a:prstGeom prst="roundRect">
            <a:avLst>
              <a:gd name="adj" fmla="val 8000"/>
            </a:avLst>
          </a:prstGeom>
          <a:solidFill>
            <a:srgbClr val="F7F6FD"/>
          </a:solidFill>
          <a:ln w="12700">
            <a:solidFill>
              <a:srgbClr val="D9D6EC"/>
            </a:solidFill>
            <a:prstDash val="solid"/>
          </a:ln>
        </p:spPr>
      </p:sp>
      <p:sp>
        <p:nvSpPr>
          <p:cNvPr id="23" name="Shape 20"/>
          <p:cNvSpPr/>
          <p:nvPr/>
        </p:nvSpPr>
        <p:spPr>
          <a:xfrm>
            <a:off x="6400800" y="2359152"/>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40080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5" name="Text 22"/>
          <p:cNvSpPr txBox="1"/>
          <p:nvPr/>
        </p:nvSpPr>
        <p:spPr>
          <a:xfrm>
            <a:off x="722376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tutto il bucket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solo releases/ è permesso</a:t>
            </a:r>
            <a:endParaRPr lang="en-US" sz="1800" dirty="0"/>
          </a:p>
        </p:txBody>
      </p:sp>
      <p:sp>
        <p:nvSpPr>
          <p:cNvPr id="26" name="Text 23"/>
          <p:cNvSpPr txBox="1"/>
          <p:nvPr/>
        </p:nvSpPr>
        <p:spPr>
          <a:xfrm>
            <a:off x="10378440" y="210312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7" name="Shape 24"/>
          <p:cNvSpPr/>
          <p:nvPr/>
        </p:nvSpPr>
        <p:spPr>
          <a:xfrm>
            <a:off x="6172200" y="3429000"/>
            <a:ext cx="5440680" cy="1143000"/>
          </a:xfrm>
          <a:prstGeom prst="roundRect">
            <a:avLst>
              <a:gd name="adj" fmla="val 8000"/>
            </a:avLst>
          </a:prstGeom>
          <a:solidFill>
            <a:srgbClr val="F7F6FD"/>
          </a:solidFill>
          <a:ln w="12700">
            <a:solidFill>
              <a:srgbClr val="D9D6EC"/>
            </a:solidFill>
            <a:prstDash val="solid"/>
          </a:ln>
        </p:spPr>
      </p:sp>
      <p:sp>
        <p:nvSpPr>
          <p:cNvPr id="28" name="Shape 25"/>
          <p:cNvSpPr/>
          <p:nvPr/>
        </p:nvSpPr>
        <p:spPr>
          <a:xfrm>
            <a:off x="6400800" y="3685032"/>
            <a:ext cx="640080" cy="640080"/>
          </a:xfrm>
          <a:prstGeom prst="ellipse">
            <a:avLst/>
          </a:prstGeom>
          <a:solidFill>
            <a:srgbClr val="5B3FD0"/>
          </a:solidFill>
          <a:ln w="12700">
            <a:solidFill>
              <a:srgbClr val="5B3FD0"/>
            </a:solidFill>
            <a:prstDash val="solid"/>
          </a:ln>
        </p:spPr>
      </p:sp>
      <p:sp>
        <p:nvSpPr>
          <p:cNvPr id="29" name="Text 26"/>
          <p:cNvSpPr txBox="1"/>
          <p:nvPr/>
        </p:nvSpPr>
        <p:spPr>
          <a:xfrm>
            <a:off x="640080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7"/>
          <p:cNvSpPr txBox="1"/>
          <p:nvPr/>
        </p:nvSpPr>
        <p:spPr>
          <a:xfrm>
            <a:off x="722376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 lo consente</a:t>
            </a:r>
            <a:endParaRPr lang="en-US" sz="1800" dirty="0"/>
          </a:p>
        </p:txBody>
      </p:sp>
      <p:sp>
        <p:nvSpPr>
          <p:cNvPr id="31" name="Text 28"/>
          <p:cNvSpPr txBox="1"/>
          <p:nvPr/>
        </p:nvSpPr>
        <p:spPr>
          <a:xfrm>
            <a:off x="10378440" y="342900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32" name="Shape 29"/>
          <p:cNvSpPr/>
          <p:nvPr/>
        </p:nvSpPr>
        <p:spPr>
          <a:xfrm>
            <a:off x="6172200" y="4754880"/>
            <a:ext cx="5440680" cy="1143000"/>
          </a:xfrm>
          <a:prstGeom prst="roundRect">
            <a:avLst>
              <a:gd name="adj" fmla="val 8000"/>
            </a:avLst>
          </a:prstGeom>
          <a:solidFill>
            <a:srgbClr val="F7F6FD"/>
          </a:solidFill>
          <a:ln w="12700">
            <a:solidFill>
              <a:srgbClr val="D9D6EC"/>
            </a:solidFill>
            <a:prstDash val="solid"/>
          </a:ln>
        </p:spPr>
      </p:sp>
      <p:sp>
        <p:nvSpPr>
          <p:cNvPr id="33" name="Shape 30"/>
          <p:cNvSpPr/>
          <p:nvPr/>
        </p:nvSpPr>
        <p:spPr>
          <a:xfrm>
            <a:off x="6400800" y="5010912"/>
            <a:ext cx="640080" cy="640080"/>
          </a:xfrm>
          <a:prstGeom prst="ellipse">
            <a:avLst/>
          </a:prstGeom>
          <a:solidFill>
            <a:srgbClr val="5B3FD0"/>
          </a:solidFill>
          <a:ln w="12700">
            <a:solidFill>
              <a:srgbClr val="5B3FD0"/>
            </a:solidFill>
            <a:prstDash val="solid"/>
          </a:ln>
        </p:spPr>
      </p:sp>
      <p:sp>
        <p:nvSpPr>
          <p:cNvPr id="34" name="Text 31"/>
          <p:cNvSpPr txBox="1"/>
          <p:nvPr/>
        </p:nvSpPr>
        <p:spPr>
          <a:xfrm>
            <a:off x="640080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5" name="Text 32"/>
          <p:cNvSpPr txBox="1"/>
          <p:nvPr/>
        </p:nvSpPr>
        <p:spPr>
          <a:xfrm>
            <a:off x="722376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6" name="Text 33"/>
          <p:cNvSpPr txBox="1"/>
          <p:nvPr/>
        </p:nvSpPr>
        <p:spPr>
          <a:xfrm>
            <a:off x="10378440" y="475488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regola d'oro: privilegi minimi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868680"/>
          </a:xfrm>
          <a:prstGeom prst="roundRect">
            <a:avLst>
              <a:gd name="adj" fmla="val 10526"/>
            </a:avLst>
          </a:prstGeom>
          <a:solidFill>
            <a:srgbClr val="5B3FD0"/>
          </a:solidFill>
          <a:ln w="12700">
            <a:solidFill>
              <a:srgbClr val="5B3FD0"/>
            </a:solidFill>
            <a:prstDash val="solid"/>
          </a:ln>
        </p:spPr>
      </p:sp>
      <p:sp>
        <p:nvSpPr>
          <p:cNvPr id="6" name="Text 3"/>
          <p:cNvSpPr txBox="1"/>
          <p:nvPr/>
        </p:nvSpPr>
        <p:spPr>
          <a:xfrm>
            <a:off x="822960" y="1325880"/>
            <a:ext cx="10545775"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Dai solo i permessi che servono, niente di più.</a:t>
            </a:r>
            <a:endParaRPr lang="en-US" sz="2400" dirty="0"/>
          </a:p>
        </p:txBody>
      </p:sp>
      <p:sp>
        <p:nvSpPr>
          <p:cNvPr id="7" name="Shape 4"/>
          <p:cNvSpPr/>
          <p:nvPr/>
        </p:nvSpPr>
        <p:spPr>
          <a:xfrm>
            <a:off x="548640" y="2468880"/>
            <a:ext cx="5440680" cy="1508760"/>
          </a:xfrm>
          <a:prstGeom prst="roundRect">
            <a:avLst>
              <a:gd name="adj" fmla="val 7273"/>
            </a:avLst>
          </a:prstGeom>
          <a:solidFill>
            <a:srgbClr val="EEEAFB"/>
          </a:solidFill>
          <a:ln w="12700">
            <a:solidFill>
              <a:srgbClr val="EEEAFB"/>
            </a:solidFill>
            <a:prstDash val="solid"/>
          </a:ln>
        </p:spPr>
      </p:sp>
      <p:sp>
        <p:nvSpPr>
          <p:cNvPr id="8" name="Shape 5"/>
          <p:cNvSpPr/>
          <p:nvPr/>
        </p:nvSpPr>
        <p:spPr>
          <a:xfrm>
            <a:off x="777240" y="26974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834640"/>
            <a:ext cx="274320" cy="274320"/>
          </a:xfrm>
          <a:prstGeom prst="rect">
            <a:avLst/>
          </a:prstGeom>
        </p:spPr>
      </p:pic>
      <p:sp>
        <p:nvSpPr>
          <p:cNvPr id="10" name="Text 6"/>
          <p:cNvSpPr txBox="1"/>
          <p:nvPr/>
        </p:nvSpPr>
        <p:spPr>
          <a:xfrm>
            <a:off x="150876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Azioni e risorse precise</a:t>
            </a:r>
            <a:endParaRPr lang="en-US" sz="1800" dirty="0"/>
          </a:p>
        </p:txBody>
      </p:sp>
      <p:sp>
        <p:nvSpPr>
          <p:cNvPr id="11" name="Text 7"/>
          <p:cNvSpPr txBox="1"/>
          <p:nvPr/>
        </p:nvSpPr>
        <p:spPr>
          <a:xfrm>
            <a:off x="77724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s3:GetObject su releases/*, non * dappertutto</a:t>
            </a:r>
            <a:endParaRPr lang="en-US" sz="1600" dirty="0"/>
          </a:p>
        </p:txBody>
      </p:sp>
      <p:sp>
        <p:nvSpPr>
          <p:cNvPr id="12" name="Shape 8"/>
          <p:cNvSpPr/>
          <p:nvPr/>
        </p:nvSpPr>
        <p:spPr>
          <a:xfrm>
            <a:off x="6172200" y="2468880"/>
            <a:ext cx="5440680" cy="1508760"/>
          </a:xfrm>
          <a:prstGeom prst="roundRect">
            <a:avLst>
              <a:gd name="adj" fmla="val 7273"/>
            </a:avLst>
          </a:prstGeom>
          <a:solidFill>
            <a:srgbClr val="EEEAFB"/>
          </a:solidFill>
          <a:ln w="12700">
            <a:solidFill>
              <a:srgbClr val="EEEAFB"/>
            </a:solidFill>
            <a:prstDash val="solid"/>
          </a:ln>
        </p:spPr>
      </p:sp>
      <p:sp>
        <p:nvSpPr>
          <p:cNvPr id="13" name="Shape 9"/>
          <p:cNvSpPr/>
          <p:nvPr/>
        </p:nvSpPr>
        <p:spPr>
          <a:xfrm>
            <a:off x="6400800" y="26974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834640"/>
            <a:ext cx="274320" cy="274320"/>
          </a:xfrm>
          <a:prstGeom prst="rect">
            <a:avLst/>
          </a:prstGeom>
        </p:spPr>
      </p:pic>
      <p:sp>
        <p:nvSpPr>
          <p:cNvPr id="15" name="Text 10"/>
          <p:cNvSpPr txBox="1"/>
          <p:nvPr/>
        </p:nvSpPr>
        <p:spPr>
          <a:xfrm>
            <a:off x="713232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Restringi ai prefissi</a:t>
            </a:r>
            <a:endParaRPr lang="en-US" sz="1800" dirty="0"/>
          </a:p>
        </p:txBody>
      </p:sp>
      <p:sp>
        <p:nvSpPr>
          <p:cNvPr id="16" name="Text 11"/>
          <p:cNvSpPr txBox="1"/>
          <p:nvPr/>
        </p:nvSpPr>
        <p:spPr>
          <a:xfrm>
            <a:off x="640080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releases/* invece di tutto il bucket</a:t>
            </a:r>
            <a:endParaRPr lang="en-US" sz="1600" dirty="0"/>
          </a:p>
        </p:txBody>
      </p:sp>
      <p:sp>
        <p:nvSpPr>
          <p:cNvPr id="17" name="Shape 12"/>
          <p:cNvSpPr/>
          <p:nvPr/>
        </p:nvSpPr>
        <p:spPr>
          <a:xfrm>
            <a:off x="548640" y="4160520"/>
            <a:ext cx="5440680" cy="1508760"/>
          </a:xfrm>
          <a:prstGeom prst="roundRect">
            <a:avLst>
              <a:gd name="adj" fmla="val 7273"/>
            </a:avLst>
          </a:prstGeom>
          <a:solidFill>
            <a:srgbClr val="EEEAFB"/>
          </a:solidFill>
          <a:ln w="12700">
            <a:solidFill>
              <a:srgbClr val="EEEAFB"/>
            </a:solidFill>
            <a:prstDash val="solid"/>
          </a:ln>
        </p:spPr>
      </p:sp>
      <p:sp>
        <p:nvSpPr>
          <p:cNvPr id="18" name="Shape 13"/>
          <p:cNvSpPr/>
          <p:nvPr/>
        </p:nvSpPr>
        <p:spPr>
          <a:xfrm>
            <a:off x="777240" y="438912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4526280"/>
            <a:ext cx="274320" cy="274320"/>
          </a:xfrm>
          <a:prstGeom prst="rect">
            <a:avLst/>
          </a:prstGeom>
        </p:spPr>
      </p:pic>
      <p:sp>
        <p:nvSpPr>
          <p:cNvPr id="20" name="Text 14"/>
          <p:cNvSpPr txBox="1"/>
          <p:nvPr/>
        </p:nvSpPr>
        <p:spPr>
          <a:xfrm>
            <a:off x="150876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Parti con poco</a:t>
            </a:r>
            <a:endParaRPr lang="en-US" sz="1800" dirty="0"/>
          </a:p>
        </p:txBody>
      </p:sp>
      <p:sp>
        <p:nvSpPr>
          <p:cNvPr id="21" name="Text 15"/>
          <p:cNvSpPr txBox="1"/>
          <p:nvPr/>
        </p:nvSpPr>
        <p:spPr>
          <a:xfrm>
            <a:off x="77724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aggiungi permessi quando servono, non il contrario</a:t>
            </a:r>
            <a:endParaRPr lang="en-US" sz="1600" dirty="0"/>
          </a:p>
        </p:txBody>
      </p:sp>
      <p:sp>
        <p:nvSpPr>
          <p:cNvPr id="22" name="Shape 16"/>
          <p:cNvSpPr/>
          <p:nvPr/>
        </p:nvSpPr>
        <p:spPr>
          <a:xfrm>
            <a:off x="6172200" y="4160520"/>
            <a:ext cx="5440680" cy="1508760"/>
          </a:xfrm>
          <a:prstGeom prst="roundRect">
            <a:avLst>
              <a:gd name="adj" fmla="val 7273"/>
            </a:avLst>
          </a:prstGeom>
          <a:solidFill>
            <a:srgbClr val="EEEAFB"/>
          </a:solidFill>
          <a:ln w="12700">
            <a:solidFill>
              <a:srgbClr val="EEEAFB"/>
            </a:solidFill>
            <a:prstDash val="solid"/>
          </a:ln>
        </p:spPr>
      </p:sp>
      <p:sp>
        <p:nvSpPr>
          <p:cNvPr id="23" name="Shape 17"/>
          <p:cNvSpPr/>
          <p:nvPr/>
        </p:nvSpPr>
        <p:spPr>
          <a:xfrm>
            <a:off x="6400800" y="438912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4526280"/>
            <a:ext cx="274320" cy="274320"/>
          </a:xfrm>
          <a:prstGeom prst="rect">
            <a:avLst/>
          </a:prstGeom>
        </p:spPr>
      </p:pic>
      <p:sp>
        <p:nvSpPr>
          <p:cNvPr id="25" name="Text 18"/>
          <p:cNvSpPr txBox="1"/>
          <p:nvPr/>
        </p:nvSpPr>
        <p:spPr>
          <a:xfrm>
            <a:off x="713232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Vieta ciò che non deve succedere mai</a:t>
            </a:r>
            <a:endParaRPr lang="en-US" sz="1800" dirty="0"/>
          </a:p>
        </p:txBody>
      </p:sp>
      <p:sp>
        <p:nvSpPr>
          <p:cNvPr id="26" name="Text 19"/>
          <p:cNvSpPr txBox="1"/>
          <p:nvPr/>
        </p:nvSpPr>
        <p:spPr>
          <a:xfrm>
            <a:off x="640080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Deny sulla cancellazione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IAM decide chi può fare cosa, su quale cosa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Role = badge temporaneo: trust policy (chi lo prende) + permission policy (cosa apre)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Deny vince; ciò che non è consentito è vietato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Su S3: bucket = contenitore, oggetto = file, prefisso = inizio del nome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Solo i permessi che servono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dispense/dispensa-1-iam.md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VPC: la rete privata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2026-09-30T13:41:46Z</dcterms:created>
  <dcterms:modified xsi:type="dcterms:W3CDTF">2026-09-30T13:41:46Z</dcterms:modified>
</cp:coreProperties>
</file>