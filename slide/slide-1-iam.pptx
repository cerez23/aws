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IAM viene prima di reti e server perché ogni singola chiamata ad AWS passa da IAM: la console, la CLI, Terraform, un server che legge un file da S3. Se IAM non è chiaro, tutto il resto sembra magia. Oggi vediamo come IAM decide se una richiesta passa, cosa sono i role e come si scrivono le policy in Terraform.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operazione su AWS, un clic in console, un comando CLI o un apply, diventa una chiamata API: una richiesta con un nome preciso, come GetObject. IAM si fa sempre la stessa domanda: chi vuole fare cosa, su quale risorsa, a quali condizioni? Il chi si chiama principal: una persona, un'applicazione, un servizio AWS. Poi risponde sì 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tipi di identità. L'utente root è l'email con cui si è creato l'account: si protegge con MFA e non si usa. Gli utenti IAM hanno chiavi permanenti, che sono il rischio numero uno. I gruppi servono solo a raggruppare utenti. I role non hanno credenziali proprie: si assumono e danno credenziali temporanee. Sono il modo giusto per quasi tutto: le persone passano da Identity Center, che dietro le quinte usa role; le macchine assumono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usa un role. Il principal chiede a STS, il servizio che rilascia credenziali temporanee, di assumere il role. STS controlla la trust policy del role: questo principal è in lista? Se sì, rilascia credenziali temporanee che scadono, di default dopo un'ora. Con quelle il principal chiama il servizio, e IAM controlla i permessi del role. L'analogia è il badge da visitatore.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policy è un documento JSON: graffe per le coppie nome valore, quadre per le liste. Contiene uno o più statement. Effect dice consenti o nega. Action le API interessate, nel formato servizio due punti azione. Resource su cosa, identificato dall'ARN. Condition vincoli aggiuntivi. Principal compare solo nelle policy attaccate alle risorse e nelle trust policy. Letta in italiano: consenti di leggere i file sotto releases, ma solo se la richiesta arriva da un certo punto di accesso privato.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L'ARN è l'indirizzo completo e unico di una risorsa AWS. È fatto di campi separati dai due punti: arn, partizione, servizio, regione, account, risorsa. Alcuni servizi lasciano campi vuoti: S3 non mette né regione né account perché il nome di un bucket è già unico al mondo; IAM non mette la regione perché è globale. L'asterisco è un jolly: qualunque sequenza di caratteri.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S3 i file si chiamano oggetti e ognuno ha una chiave, cioè il nome completo. Le cartelle non esistono: releases barra è solo l'inizio del nome, il prefisso. La console le disegna come cartelle per comodità. Il classico errore: bucket e oggetti sono risorse diverse. ListBucket, elencare, si applica al bucket, ARN senza barra. GetObject, scaricare, si applica agli oggetti, ARN con barra asterisco.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policy possono stare in due posti. Identity-based: attaccata a un'identità, dice cosa può fare quell'identità, non ha il campo Principal. Resource-based: attaccata alla risorsa, come la bucket policy o la trust policy di un role, dice chi può fare cosa su quella risorsa. Nello stesso account di solito basta un Allow in uno dei due posti; tra account diversi servono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logica di valutazione in tre regole. Si parte da no: tutto è negato di default, è il deny implicito. Serve un Allow esplicito per passare a sì. Un Deny esplicito vince sempre, qualunque cosa dicano gli Allow. Questa logica spiega il novanta per cento degli AccessDenied: davanti a un errore la domanda è: manca un Allow, o c'è un Deny da qualche parte?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un'azione non è consentita è già negata: perché scrivere un Deny? Perché il Deny protegge dal futuro. Esempio concreto, che proverete nell'esercizio: il role ha un Deny sulla cancellazione dei file. Domani qualcuno gli attacca per sbaglio una policy che consente tutto su S3. La scrittura comincia a passare, ma la cancellazione resta negata. È una cintura di sicurezza sulle azioni che non devono succedere mai.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role ha due policy di natura diversa, ed è l'errore più comune in Terraform. La trust policy risponde a: chi può assumere il role? È resource-based, ha un Principal, l'azione è sts AssumeRole, e in Terraform va in assume_role_policy. La permission policy risponde a: cosa può fare chi lo assume? È identity-based e si attacca al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principio: solo i permessi necessari, solo sulle risorse necessarie. In pratica: niente asterischi dove non servono, restringere sui prefissi, usare le condition, partire stretti e allargare quando serve. Tre strumenti aiutano: CloudTrail, il registro di tutte le chiamate API dell'account; Access Analyzer, che segnala cosa è accessibile da fuori e genera policy dall'uso reale; Last accessed, che mostra quali servizi un role ha davvero usato.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Terraform la policy non si scrive in JSON: si usa il data source aws_iam_policy_document, che non legge niente da AWS ma traduce blocchi HCL in JSON. Ogni blocco statement diventa un elemento dello Statement, principals diventa Principal, condition diventa Condition. Attenzione: se effect è omesso vale Allow. Il JSON si legge con l'attributo punto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catena dell'esercizio. Il documento trust diventa la assume_role_policy del role: a questo punto il role non può fare niente, ha solo la lista di chi può assumerlo. Il documento reader diventa una policy gestita: da sola è un documento in archivio. L'attachment le collega: solo da lì il role ha i permessi. Attenzione ai nomi simili: aws_iam_policy_attachment, senza role, è esclusiva e stacca la policy da tutte le altre identità. Non si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Nell'esercizio si crea il role, si configura un profilo della CLI che lo assume, e si fanno sei prove. Ogni comando aws s3 corrisponde a un'azione IAM. La lettura e l'elenco di releases passano. L'elenco della radice è negato dalla condition sul prefisso. La scrittura è negata implicitamente, perché nessuno la consente. La cancellazione è negata esplicitamente dal Deny. Confrontate i due messaggi d'errore: dicono proprio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Riassumendo. Il materiale di studio è la dispensa 1, con l'esercizio completo: il profilo della CLI da configurare, le sei prove con i risultati attesi e le domande di verifica. La prossima volta costruiamo la rete in cui vivrà tutto il resto: il VPC.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548640"/>
            <a:ext cx="42062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IAM: chi può fare cosa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Identità, policy, role e privilegi minimi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Corso: Infrastruttura AWS con Terraform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chiamata è una domanda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417320" y="1691640"/>
            <a:ext cx="914400" cy="9144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192024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200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persona, applicazione, servizio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38328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1691640"/>
            <a:ext cx="914400" cy="9144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2024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38328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3383280" y="3200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52044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s3:GetObject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621792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086600" y="1691640"/>
            <a:ext cx="914400" cy="9144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920240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21792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cosa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3200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35508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ARN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9052560" y="1463040"/>
            <a:ext cx="2651760" cy="2926080"/>
          </a:xfrm>
          <a:prstGeom prst="roundRect">
            <a:avLst>
              <a:gd name="adj" fmla="val 4138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9921240" y="1691640"/>
            <a:ext cx="914400" cy="9144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192024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5256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 condizioni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9052560" y="3200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918972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rete, MFA, tag…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548640" y="475488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475488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in console, comando CLI, terraform apply: tutto diventa una chiamata API. IAM risponde sì o no.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identità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69087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Identità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Credenziali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si usa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Utente root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e password dell'account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Quasi mai: MFA e in cassaforte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Utente IAM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 e chiavi PERMANENTI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Casi residuali: rischio numero uno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Gruppo IAM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Contenitore di utenti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assume: credenziali TEMPORANEE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Quasi sempre: persone (via SSO) e macchine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5120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5780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5120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Persone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777240" y="5806440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Identity Center (SSO) con MFA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172200" y="489204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6400800" y="51206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525780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32320" y="5120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Macchine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6400800" y="5806440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assunti dal servizio (EC2, Lambda, CI)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Assumere un role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tu, un server, la CI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35808" y="2148840"/>
            <a:ext cx="329184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38328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83280" y="155448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 la trust policy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870448" y="2148840"/>
            <a:ext cx="329184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21792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55448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Credenziali temporanee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scadono da sole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705088" y="2148840"/>
            <a:ext cx="329184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905256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0" y="155448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Servizio AWS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controlla i permessi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200400"/>
            <a:ext cx="11094415" cy="2651760"/>
          </a:xfrm>
          <a:prstGeom prst="roundRect">
            <a:avLst>
              <a:gd name="adj" fmla="val 4138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34290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56616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508760" y="342900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role è un badge da visitatore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114800"/>
            <a:ext cx="106372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appartiene a nessuno: la reception (STS) lo consegna a chi è in lista (trust policy)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badge apre certe porte (permission policy)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fine giornata smette di funzionare (scadenza)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di una policy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7040880" cy="4754880"/>
          </a:xfrm>
          <a:prstGeom prst="roundRect">
            <a:avLst>
              <a:gd name="adj" fmla="val 1538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66751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"2012-10-17",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"Statement": [{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"Effect": "Allow",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"Action": "s3:GetObject",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"Resource": "arn:aws:s3:::artefatti/releases/*",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"Condition":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"StringEquals":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"aws:SourceVpce": "vpce-0abc123"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371600"/>
          <a:ext cx="38679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5059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Effect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oppure Deny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Action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servizio:Azione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Resource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cosa: un ARN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Condition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vincoli: rete, MFA…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Principal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(solo resource-based)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72400" y="5394960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 di leggere i file sotto releases/, solo se la richiesta arriva da quel punto di accesso privato.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ARN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09728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23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prefisso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737360" y="155448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37360" y="1554480"/>
            <a:ext cx="11887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24231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partizione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017520" y="155448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17520" y="1554480"/>
            <a:ext cx="11887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iam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4231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297680" y="155448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F4F4F6"/>
          </a:solidFill>
          <a:ln w="12700">
            <a:solidFill>
              <a:srgbClr val="F4F4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97680" y="1554480"/>
            <a:ext cx="11887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(vuota)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24231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577840" y="155448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57784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123456789012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577840" y="24231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321040" y="1554480"/>
            <a:ext cx="2999232" cy="822960"/>
          </a:xfrm>
          <a:prstGeom prst="roundRect">
            <a:avLst>
              <a:gd name="adj" fmla="val 11111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21040" y="1554480"/>
            <a:ext cx="2999232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role/app-reader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24231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risorsa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324612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arn:aws:s3:::corso-artefatti         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il bucket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arn:aws:s3:::corso-artefatti/releases/*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gli oggetti sotto releases/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arn:aws:iam::123456789012:role/app-reader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 role (IAM: niente regione)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548640" y="51206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12064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jolly * significa "qualunque sequenza di caratteri": releases/* = tutti i file sotto releases/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Bucket, oggetti e prefissi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6916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bucket: corso-artefatti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822960" y="260604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26060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releases/</a:t>
            </a:r>
            <a:pPr indent="0" marL="0">
              <a:buNone/>
            </a:pPr>
            <a:r>
              <a:rPr lang="en-US" sz="17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app-v1.0.txt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822960" y="361188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36118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releases/</a:t>
            </a:r>
            <a:pPr indent="0" marL="0">
              <a:buNone/>
            </a:pPr>
            <a:r>
              <a:rPr lang="en-US" sz="17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app-v1.1.txt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22960" y="4617720"/>
            <a:ext cx="4572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05840" y="46177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logs/</a:t>
            </a:r>
            <a:pPr indent="0" marL="0">
              <a:buNone/>
            </a:pPr>
            <a:r>
              <a:rPr lang="en-US" sz="17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2026-01.txt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" y="5577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arancione il prefisso: non è una cartella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943600" y="1463040"/>
            <a:ext cx="5696712" cy="1417320"/>
          </a:xfrm>
          <a:prstGeom prst="roundRect">
            <a:avLst>
              <a:gd name="adj" fmla="val 6452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72200" y="1463040"/>
            <a:ext cx="5303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s3:ListBucket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elencare → si applica al BUCKET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arn:aws:s3:::corso-artefatti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943600" y="3063240"/>
            <a:ext cx="5696712" cy="1417320"/>
          </a:xfrm>
          <a:prstGeom prst="roundRect">
            <a:avLst>
              <a:gd name="adj" fmla="val 6452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3063240"/>
            <a:ext cx="5303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s3:GetObject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scaricare → si applica agli OGGETTI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arn:aws:s3:::corso-artefatti/releases/*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943600" y="4709160"/>
            <a:ext cx="5696712" cy="1234440"/>
          </a:xfrm>
          <a:prstGeom prst="roundRect">
            <a:avLst>
              <a:gd name="adj" fmla="val 740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0" y="4709160"/>
            <a:ext cx="5148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 senza / per il bucket, con /* per gli oggetti.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posti per le policy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40680" cy="3383280"/>
          </a:xfrm>
          <a:prstGeom prst="roundRect">
            <a:avLst>
              <a:gd name="adj" fmla="val 3243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91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Identity-based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77440"/>
            <a:ext cx="4983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Attaccata a utente, gruppo o role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cosa può fare questa identità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campo Principal: è implicito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managed, customer managed, inline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172200" y="1463040"/>
            <a:ext cx="5440680" cy="3383280"/>
          </a:xfrm>
          <a:prstGeom prst="roundRect">
            <a:avLst>
              <a:gd name="adj" fmla="val 324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0" y="16916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2880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691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Resource-based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377440"/>
            <a:ext cx="4983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Attaccata alla risorsa: bucket policy, trust policy di un role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chi può fare cosa su questa risorsa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il campo Principal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512064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Stesso account: basta un Allow in uno dei due. Account diversi: servono entrambi.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decide IAM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3108960" cy="777240"/>
          </a:xfrm>
          <a:prstGeom prst="roundRect">
            <a:avLst>
              <a:gd name="adj" fmla="val 1176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17320"/>
            <a:ext cx="31089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Richiesta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2103120" y="2194560"/>
            <a:ext cx="0" cy="41148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548640" y="2651760"/>
            <a:ext cx="3108960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651760"/>
            <a:ext cx="310896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C'è un Deny esplicito?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703320" y="3081528"/>
            <a:ext cx="914400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370332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663440" y="265176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63440" y="2651760"/>
            <a:ext cx="20116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NEGATO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2103120" y="3520440"/>
            <a:ext cx="0" cy="41148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1945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3977640"/>
            <a:ext cx="3108960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977640"/>
            <a:ext cx="310896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C'è un Allow esplicito?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03320" y="4407408"/>
            <a:ext cx="914400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3703320" y="4023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663440" y="397764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63440" y="3977640"/>
            <a:ext cx="20116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(implicito)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2103120" y="4846320"/>
            <a:ext cx="0" cy="41148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2194560" y="48463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5303520"/>
            <a:ext cx="3108960" cy="777240"/>
          </a:xfrm>
          <a:prstGeom prst="roundRect">
            <a:avLst>
              <a:gd name="adj" fmla="val 11765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303520"/>
            <a:ext cx="31089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CONSENTITO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7223760" y="155448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23760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138160" y="146304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parte da no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è negato di default (deny implicito)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7223760" y="301752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223760" y="3017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0" y="292608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un Allow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esplicito, in una policy applicabile</a:t>
            </a:r>
            <a:endParaRPr lang="en-US" sz="2000" dirty="0"/>
          </a:p>
        </p:txBody>
      </p:sp>
      <p:sp>
        <p:nvSpPr>
          <p:cNvPr id="32" name="Shape 29"/>
          <p:cNvSpPr/>
          <p:nvPr/>
        </p:nvSpPr>
        <p:spPr>
          <a:xfrm>
            <a:off x="7223760" y="448056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223760" y="4480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34" name="Text 31"/>
          <p:cNvSpPr txBox="1"/>
          <p:nvPr/>
        </p:nvSpPr>
        <p:spPr>
          <a:xfrm>
            <a:off x="8138160" y="4389120"/>
            <a:ext cx="35021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Deny vince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sempre, qualunque cosa dicano gli Allow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scrivere un Deny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4630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Deny protegge dal futuro.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8640" y="28346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20240" y="3063240"/>
            <a:ext cx="822960" cy="8229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980" y="326898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role ha: Deny su s3:DeleteObject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133088" y="4343400"/>
            <a:ext cx="155448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297680" y="28346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0" y="3063240"/>
            <a:ext cx="822960" cy="8229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326898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9768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Domani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452628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Qualcuno attacca AmazonS3FullAccess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7882128" y="4343400"/>
            <a:ext cx="155448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046720" y="28346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18320" y="3063240"/>
            <a:ext cx="822960" cy="8229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060" y="326898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4672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827532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scrittura passa, la cancellazione resta negata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policy e permission policy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926080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9260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 il servizio EC2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520440" y="2148840"/>
            <a:ext cx="1737360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520440" y="14630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posso assumerti?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03520" y="1554480"/>
            <a:ext cx="1645920" cy="1188720"/>
          </a:xfrm>
          <a:prstGeom prst="roundRect">
            <a:avLst>
              <a:gd name="adj" fmla="val 7692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0" y="1554480"/>
            <a:ext cx="164592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995160" y="2148840"/>
            <a:ext cx="1737360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6995160" y="14630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posso fare?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778240" y="1554480"/>
            <a:ext cx="2862072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778240" y="1554480"/>
            <a:ext cx="2862072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Risorse AWS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 un bucket S3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6908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policy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 policy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Domanda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può assumere il role?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Cosa può fare chi lo assume?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resource-based (ha Principal)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identity-based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Azione tipica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sts:AssumeRole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s3:GetObject, ec2:Describe*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Terraform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assume_role_policy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aws_iam_role_policy_attachment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Privilegi minimi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459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* dove non serve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317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e Resource specifiche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6172200" y="14173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0" y="1645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8308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6459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Restringi sui prefissi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3317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releases/* invece di tutto il bucket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548640" y="297180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77240" y="32004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33756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08760" y="32004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le condition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388620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rete, MFA, tag, regione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6172200" y="297180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0" y="32004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333756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132320" y="32004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 stretto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388620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allarga quando serve, non il contrario</a:t>
            </a:r>
            <a:endParaRPr lang="en-US" sz="1600" dirty="0"/>
          </a:p>
        </p:txBody>
      </p:sp>
      <p:sp>
        <p:nvSpPr>
          <p:cNvPr id="25" name="Shape 18"/>
          <p:cNvSpPr/>
          <p:nvPr/>
        </p:nvSpPr>
        <p:spPr>
          <a:xfrm>
            <a:off x="548640" y="466344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8640" y="4663440"/>
            <a:ext cx="3566160" cy="12801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delle chiamate API: chi, cosa, quando</a:t>
            </a:r>
            <a:endParaRPr lang="en-US" sz="1700" dirty="0"/>
          </a:p>
        </p:txBody>
      </p:sp>
      <p:sp>
        <p:nvSpPr>
          <p:cNvPr id="27" name="Shape 20"/>
          <p:cNvSpPr/>
          <p:nvPr/>
        </p:nvSpPr>
        <p:spPr>
          <a:xfrm>
            <a:off x="4297680" y="466344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297680" y="4663440"/>
            <a:ext cx="3566160" cy="12801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Analyzer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è accessibile da fuori; policy dall'uso reale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8046720" y="466344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046720" y="4663440"/>
            <a:ext cx="3566160" cy="12801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accessed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servizi un role usa davvero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HCL al JSON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7589520" cy="2514600"/>
          </a:xfrm>
          <a:prstGeom prst="roundRect">
            <a:avLst>
              <a:gd name="adj" fmla="val 290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72237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"aws_iam_policy_document" "trust"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statement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actions = ["sts:AssumeRole"]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principals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type        = "AWS"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identifiers = ["arn:aws:iam::123456789012:root"]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1325880"/>
            <a:ext cx="331927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HCL: quello che scrivi in Terraform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206240" y="3858768"/>
            <a:ext cx="0" cy="27432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48640" y="4160520"/>
            <a:ext cx="7589520" cy="2148840"/>
          </a:xfrm>
          <a:prstGeom prst="roundRect">
            <a:avLst>
              <a:gd name="adj" fmla="val 340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4297680"/>
            <a:ext cx="7223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"Effect": "Allow",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"Action": "sts:AssumeRole",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"Principal":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"AWS": "arn:aws:iam::123456789012:root"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321040" y="4160520"/>
            <a:ext cx="3319272" cy="2148840"/>
          </a:xfrm>
          <a:prstGeom prst="roundRect">
            <a:avLst>
              <a:gd name="adj" fmla="val 4255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03920" y="416052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Sotto: lo statement JSON generato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omesso = Allow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JSON si legge con .json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:root = l'account intero, NON l'utente root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role in Terraform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310896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policy_document.trust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JSON: chi può assumere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017520"/>
            <a:ext cx="310896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policy_document.reader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JSON: cosa può fare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03320" y="2057400"/>
            <a:ext cx="914400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3703320" y="1645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.json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703320" y="3520440"/>
            <a:ext cx="914400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703320" y="31089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.json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663440" y="1554480"/>
            <a:ext cx="2743200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63440" y="1554480"/>
            <a:ext cx="27432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aws_iam_role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663440" y="3017520"/>
            <a:ext cx="2743200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63440" y="3017520"/>
            <a:ext cx="27432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aws_iam_policy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52360" y="2057400"/>
            <a:ext cx="914400" cy="73152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52360" y="3520440"/>
            <a:ext cx="914400" cy="-73152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8412480" y="2240280"/>
            <a:ext cx="3227832" cy="1097280"/>
          </a:xfrm>
          <a:prstGeom prst="roundRect">
            <a:avLst>
              <a:gd name="adj" fmla="val 8333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412480" y="2240280"/>
            <a:ext cx="3227832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aws_iam_role_policy_attachment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collega policy e role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48056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7240" y="4709160"/>
            <a:ext cx="548640" cy="5486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84632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508760" y="470916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aws_iam_policy_attachment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777240" y="53949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esclusiva: stacca la policy da tutte le altre identità non elencate e può rompere cose fuori dal progetto.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Esercizio: le prove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 · IAM: chi può fare cosa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440680" cy="1234440"/>
          </a:xfrm>
          <a:prstGeom prst="roundRect">
            <a:avLst>
              <a:gd name="adj" fmla="val 740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719072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19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141732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sono?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sts get-caller-identity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297680" y="141732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role assunto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5440680" cy="1234440"/>
          </a:xfrm>
          <a:prstGeom prst="roundRect">
            <a:avLst>
              <a:gd name="adj" fmla="val 740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136392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136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600200" y="283464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 il file in releases/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s3:GetObject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283464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4251960"/>
            <a:ext cx="5440680" cy="1234440"/>
          </a:xfrm>
          <a:prstGeom prst="roundRect">
            <a:avLst>
              <a:gd name="adj" fmla="val 740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553712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4553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2519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 releases/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s3:ListBucket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425196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72200" y="1417320"/>
            <a:ext cx="5440680" cy="1234440"/>
          </a:xfrm>
          <a:prstGeom prst="roundRect">
            <a:avLst>
              <a:gd name="adj" fmla="val 740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1719072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1719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141732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 la radice del bucket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s3:ListBucket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921240" y="141732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negato: prefisso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172200" y="2834640"/>
            <a:ext cx="5440680" cy="1234440"/>
          </a:xfrm>
          <a:prstGeom prst="roundRect">
            <a:avLst>
              <a:gd name="adj" fmla="val 740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0" y="3136392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0" y="3136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223760" y="283464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 un file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s3:PutObject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921240" y="283464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negato: implicito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172200" y="4251960"/>
            <a:ext cx="5440680" cy="1234440"/>
          </a:xfrm>
          <a:prstGeom prst="roundRect">
            <a:avLst>
              <a:gd name="adj" fmla="val 740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4553712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0" y="4553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7223760" y="42519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un file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s3:DeleteObject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921240" y="425196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negato: esplicito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passi, il profilo della CLI e le domande di verifica sono nella sezione 9 della dispensa.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9494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richiesta: chi fa cosa, su quale risorsa, a quali condizioni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con credenziali temporanee, non chiavi permanenti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negato, serve un Allow, il Deny esplicito vince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policy (chi assume) ≠ permission policy (cosa fa)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S3 bucket e oggetti sono risorse diverse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Terraform: aws_iam_policy_document e aws_iam_role_policy_attachment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955280" y="1463040"/>
            <a:ext cx="3685032" cy="2103120"/>
          </a:xfrm>
          <a:prstGeom prst="roundRect">
            <a:avLst>
              <a:gd name="adj" fmla="val 5217"/>
            </a:avLst>
          </a:prstGeom>
          <a:solidFill>
            <a:srgbClr val="2A2F55"/>
          </a:solidFill>
          <a:ln w="12700">
            <a:solidFill>
              <a:srgbClr val="2A2F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64592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 di studio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dispense/dispensa-1-iam.md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3840480"/>
            <a:ext cx="3685032" cy="1463040"/>
          </a:xfrm>
          <a:prstGeom prst="roundRect">
            <a:avLst>
              <a:gd name="adj" fmla="val 7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Prossima lezione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VPC: la rete privata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cereZ23</dc:creator>
  <cp:lastModifiedBy>cereZ23</cp:lastModifiedBy>
  <cp:revision>1</cp:revision>
  <dcterms:created xsi:type="dcterms:W3CDTF">2026-09-30T12:50:15Z</dcterms:created>
  <dcterms:modified xsi:type="dcterms:W3CDTF">2026-09-30T12:50:15Z</dcterms:modified>
</cp:coreProperties>
</file>