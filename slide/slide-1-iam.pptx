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IAM viene prima di reti e server perché ogni singola chiamata ad AWS passa da IAM: la console, la CLI, Terraform, un server che legge un file da S3. Se IAM non è chiaro, tutto il resto sembra magia. Oggi vediamo come IAM decide se una richiesta passa, cosa sono i role e come si scrivono le policy in Terraform.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Ogni operazione su AWS, un clic in console, un comando CLI o un apply, diventa una chiamata API: una richiesta con un nome preciso, come GetObject. IAM si fa sempre la stessa domanda: chi vuole fare cosa, su quale risorsa, a quali condizioni? Il chi si chiama principal: una persona, un'applicazione, un servizio AWS. Poi risponde sì o 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Quattro tipi di identità. L'utente root è l'email con cui si è creato l'account: si protegge con MFA e non si usa. Gli utenti IAM hanno chiavi permanenti, che sono il rischio numero uno. I gruppi servono solo a raggruppare utenti. I role non hanno credenziali proprie: si assumono e danno credenziali temporanee. Sono il modo giusto per quasi tutto: le persone passano da Identity Center, che dietro le quinte usa role; le macchine assumono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 si usa un role. Il principal chiede a STS, il servizio che rilascia credenziali temporanee, di assumere il role. STS controlla la trust policy del role: questo principal è in lista? Se sì, rilascia credenziali temporanee che scadono, di default dopo un'ora. Con quelle il principal chiama il servizio, e IAM controlla i permessi del role. L'analogia è il badge da visitatore.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policy è un documento JSON: graffe per le coppie nome valore, quadre per le liste. Contiene uno o più statement. Effect dice consenti o nega. Action le API interessate, nel formato servizio due punti azione. Resource su cosa, identificato dall'ARN. Condition vincoli aggiuntivi. Principal compare solo nelle policy attaccate alle risorse e nelle trust policy. Letta in italiano: consenti di leggere i file sotto releases, ma solo se la richiesta arriva da un certo punto di accesso privato.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L'ARN è l'indirizzo completo e unico di una risorsa AWS. È fatto di campi separati dai due punti: arn, partizione, servizio, regione, account, risorsa. Alcuni servizi lasciano campi vuoti: S3 non mette né regione né account perché il nome di un bucket è già unico al mondo; IAM non mette la regione perché è globale. L'asterisco è un jolly: qualunque sequenza di caratteri.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S3 i file si chiamano oggetti e ognuno ha una chiave, cioè il nome completo. Le cartelle non esistono: releases barra è solo l'inizio del nome, il prefisso. La console le disegna come cartelle per comodità. Il classico errore: bucket e oggetti sono risorse diverse. ListBucket, elencare, si applica al bucket, ARN senza barra. GetObject, scaricare, si applica agli oggetti, ARN con barra asterisco.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policy possono stare in due posti. Identity-based: attaccata a un'identità, dice cosa può fare quell'identità, non ha il campo Principal. Resource-based: attaccata alla risorsa, come la bucket policy o la trust policy di un role, dice chi può fare cosa su quella risorsa. Nello stesso account di solito basta un Allow in uno dei due posti; tra account diversi servono entrambi.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logica di valutazione in tre regole. Si parte da no: tutto è negato di default, è il deny implicito. Serve un Allow esplicito per passare a sì. Un Deny esplicito vince sempre, qualunque cosa dicano gli Allow. Questa logica spiega il novanta per cento degli AccessDenied: davanti a un errore la domanda è: manca un Allow, o c'è un Deny da qualche parte?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un'azione non è consentita è già negata: perché scrivere un Deny? Perché il Deny protegge dal futuro. Esempio concreto, che proverete nell'esercizio: il role ha un Deny sulla cancellazione dei file. Domani qualcuno gli attacca per sbaglio una policy che consente tutto su S3. La scrittura comincia a passare, ma la cancellazione resta negata. È una cintura di sicurezza sulle azioni che non devono succedere mai.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role ha due policy di natura diversa, ed è l'errore più comune in Terraform. La trust policy risponde a: chi può assumere il role? È resource-based, ha un Principal, l'azione è sts AssumeRole, e in Terraform va in assume_role_policy. La permission policy risponde a: cosa può fare chi lo assume? È identity-based e si attacca al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principio: solo i permessi necessari, solo sulle risorse necessarie. In pratica: niente asterischi dove non servono, restringere sui prefissi, usare le condition, partire stretti e allargare quando serve. Tre strumenti aiutano: CloudTrail, il registro di tutte le chiamate API dell'account; Access Analyzer, che segnala cosa è accessibile da fuori e genera policy dall'uso reale; Last accessed, che mostra quali servizi un role ha davvero usato.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Terraform la policy non si scrive in JSON: si usa il data source aws_iam_policy_document, che non legge niente da AWS ma traduce blocchi HCL in JSON. Ogni blocco statement diventa un elemento dello Statement, principals diventa Principal, condition diventa Condition. Attenzione: se effect è omesso vale Allow. Il JSON si legge con l'attributo punto 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catena dell'esercizio. Il documento trust diventa la assume_role_policy del role: a questo punto il role non può fare niente, ha solo la lista di chi può assumerlo. Il documento reader diventa una policy gestita: da sola è un documento in archivio. L'attachment le collega: solo da lì il role ha i permessi. Attenzione ai nomi simili: aws_iam_policy_attachment, senza role, è esclusiva e stacca la policy da tutte le altre identità. Non si usa.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Nell'esercizio si crea il role, si configura un profilo della CLI che lo assume, e si fanno sei prove. Ogni comando aws s3 corrisponde a un'azione IAM. La lettura e l'elenco di releases passano. L'elenco della radice è negato dalla condition sul prefisso. La scrittura è negata implicitamente, perché nessuno la consente. La cancellazione è negata esplicitamente dal Deny. Confrontate i due messaggi d'errore: dicono proprio questo.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Riassumendo. Il materiale di studio è la dispensa 1, con l'esercizio completo: il profilo della CLI da configurare, le sei prove con i risultati attesi e le domande di verifica. La prossima volta costruiamo la rete in cui vivrà tutto il resto: il VPC.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548640"/>
            <a:ext cx="42062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5B3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 · IAM: chi può fare cosa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IAM: chi può fare cosa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Identità, policy, role e privilegi minimi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Corso: Infrastruttura AWS con Terraform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chiamata è una domanda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 · IAM: chi può fare cosa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417320" y="1691640"/>
            <a:ext cx="914400" cy="91440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920240"/>
            <a:ext cx="457200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2743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3200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3F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principal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3611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persona, applicazione, servizio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3383280" y="146304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251960" y="1691640"/>
            <a:ext cx="914400" cy="91440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9202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383280" y="2743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3383280" y="3200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3F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3520440" y="3611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s3:GetObject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6217920" y="146304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086600" y="1691640"/>
            <a:ext cx="914400" cy="91440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92024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217920" y="2743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cosa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6217920" y="3200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3F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355080" y="3611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ARN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9052560" y="146304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9921240" y="1691640"/>
            <a:ext cx="914400" cy="91440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192024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052560" y="2743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 condizioni</a:t>
            </a:r>
            <a:endParaRPr lang="en-US" sz="2000" dirty="0"/>
          </a:p>
        </p:txBody>
      </p:sp>
      <p:sp>
        <p:nvSpPr>
          <p:cNvPr id="27" name="Text 20"/>
          <p:cNvSpPr txBox="1"/>
          <p:nvPr/>
        </p:nvSpPr>
        <p:spPr>
          <a:xfrm>
            <a:off x="9052560" y="3200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3F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9189720" y="3611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rete, MFA, tag…</a:t>
            </a:r>
            <a:endParaRPr lang="en-US" sz="1500" dirty="0"/>
          </a:p>
        </p:txBody>
      </p:sp>
      <p:sp>
        <p:nvSpPr>
          <p:cNvPr id="29" name="Shape 22"/>
          <p:cNvSpPr/>
          <p:nvPr/>
        </p:nvSpPr>
        <p:spPr>
          <a:xfrm>
            <a:off x="548640" y="475488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822960" y="475488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in console, comando CLI, terraform apply: tutto diventa una chiamata API. IAM risponde sì o no.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identità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 · IAM: chi può fare cosa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206240"/>
                <a:gridCol w="469087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Identità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Credenziali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si usa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Utente root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e password dell'account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Quasi mai: MFA e in cassaforte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Utente IAM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 e chiavi PERMANENTI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Casi residuali: rischio numero uno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Gruppo IAM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nessuna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Contenitore di utenti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assume: credenziali TEMPORANEE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Quasi sempre: persone (via SSO) e macchine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C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89204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77240" y="512064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257800"/>
            <a:ext cx="274320" cy="2743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508760" y="512064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Persone</a:t>
            </a:r>
            <a:endParaRPr lang="en-US" sz="1800" dirty="0"/>
          </a:p>
        </p:txBody>
      </p:sp>
      <p:sp>
        <p:nvSpPr>
          <p:cNvPr id="10" name="Text 5"/>
          <p:cNvSpPr txBox="1"/>
          <p:nvPr/>
        </p:nvSpPr>
        <p:spPr>
          <a:xfrm>
            <a:off x="777240" y="580644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Identity Center (SSO) con MFA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6172200" y="489204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6400800" y="512064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525780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132320" y="512064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Macchine</a:t>
            </a:r>
            <a:endParaRPr lang="en-US" sz="1800" dirty="0"/>
          </a:p>
        </p:txBody>
      </p:sp>
      <p:sp>
        <p:nvSpPr>
          <p:cNvPr id="15" name="Text 9"/>
          <p:cNvSpPr txBox="1"/>
          <p:nvPr/>
        </p:nvSpPr>
        <p:spPr>
          <a:xfrm>
            <a:off x="6400800" y="580644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assunti dal servizio (EC2, Lambda, CI)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Assumere un role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 · IAM: chi può fare cosa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tu, un server, la CI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035808" y="2148840"/>
            <a:ext cx="329184" cy="0"/>
          </a:xfrm>
          <a:prstGeom prst="line">
            <a:avLst/>
          </a:prstGeom>
          <a:noFill/>
          <a:ln w="25400">
            <a:solidFill>
              <a:srgbClr val="5F6478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3383280" y="155448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8328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controlla la trust policy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870448" y="2148840"/>
            <a:ext cx="329184" cy="0"/>
          </a:xfrm>
          <a:prstGeom prst="line">
            <a:avLst/>
          </a:prstGeom>
          <a:noFill/>
          <a:ln w="25400">
            <a:solidFill>
              <a:srgbClr val="5F6478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6217920" y="155448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Credenziali temporanee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scadono da sole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705088" y="2148840"/>
            <a:ext cx="329184" cy="0"/>
          </a:xfrm>
          <a:prstGeom prst="line">
            <a:avLst/>
          </a:prstGeom>
          <a:noFill/>
          <a:ln w="25400">
            <a:solidFill>
              <a:srgbClr val="5F6478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9052560" y="155448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0525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Servizio AWS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controlla i permessi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11094415" cy="2651760"/>
          </a:xfrm>
          <a:prstGeom prst="roundRect">
            <a:avLst>
              <a:gd name="adj" fmla="val 4138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342900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566160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508760" y="342900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role è un badge da visitatore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777240" y="4114800"/>
            <a:ext cx="10637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appartiene a nessuno: la reception (STS) lo consegna a chi è in lista (trust policy)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badge apre certe porte (permission policy)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fine giornata smette di funzionare (scadenza)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di una policy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 · IAM: chi può fare cosa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6675120" cy="4480560"/>
          </a:xfrm>
          <a:prstGeom prst="roundRect">
            <a:avLst>
              <a:gd name="adj" fmla="val 163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0020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"Version": "2012-10-17",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"Statement": [{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"Sid": "LetturaRelease",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"Effect": "Allow",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"Action": ["s3:GetObject"],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"Resource": "arn:aws:s3:::corso-artefatti/releases/*",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"Condition":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"StringEquals": { "aws:SourceVpce": "vpce-0abc123"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463040"/>
          <a:ext cx="42336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7706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Effect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oppure Deny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Action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servizio:Azione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Resource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 cosa: un ARN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Condition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vincoli: rete, MFA, tag…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Principal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chi: solo nelle resource-based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ARN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 · IAM: chi può fare cosa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097280" cy="822960"/>
          </a:xfrm>
          <a:prstGeom prst="roundRect">
            <a:avLst>
              <a:gd name="adj" fmla="val 11111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554480"/>
            <a:ext cx="109728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arn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423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prefisso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737360" y="1554480"/>
            <a:ext cx="1188720" cy="822960"/>
          </a:xfrm>
          <a:prstGeom prst="roundRect">
            <a:avLst>
              <a:gd name="adj" fmla="val 11111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737360" y="1554480"/>
            <a:ext cx="118872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737360" y="2423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partizione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017520" y="1554480"/>
            <a:ext cx="1188720" cy="822960"/>
          </a:xfrm>
          <a:prstGeom prst="roundRect">
            <a:avLst>
              <a:gd name="adj" fmla="val 11111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017520" y="1554480"/>
            <a:ext cx="118872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iam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3017520" y="2423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servizio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297680" y="1554480"/>
            <a:ext cx="1188720" cy="822960"/>
          </a:xfrm>
          <a:prstGeom prst="roundRect">
            <a:avLst>
              <a:gd name="adj" fmla="val 11111"/>
            </a:avLst>
          </a:prstGeom>
          <a:solidFill>
            <a:srgbClr val="F4F4F6"/>
          </a:solidFill>
          <a:ln w="12700">
            <a:solidFill>
              <a:srgbClr val="F4F4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297680" y="1554480"/>
            <a:ext cx="118872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F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(vuota)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4297680" y="2423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577840" y="155448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577840" y="1554480"/>
            <a:ext cx="265176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123456789012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577840" y="2423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321040" y="1554480"/>
            <a:ext cx="2999232" cy="822960"/>
          </a:xfrm>
          <a:prstGeom prst="roundRect">
            <a:avLst>
              <a:gd name="adj" fmla="val 11111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21040" y="1554480"/>
            <a:ext cx="2999232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role/app-reader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8321040" y="242316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risorsa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48640" y="3108960"/>
            <a:ext cx="11094415" cy="1737360"/>
          </a:xfrm>
          <a:prstGeom prst="roundRect">
            <a:avLst>
              <a:gd name="adj" fmla="val 421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1520" y="3246120"/>
            <a:ext cx="107286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arn:aws:s3:::corso-artefatti           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il bucket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arn:aws:s3:::corso-artefatti/releases/*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gli oggetti sotto releases/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arn:aws:iam::123456789012:role/app-reader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 role (IAM: niente regione)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48640" y="5120640"/>
            <a:ext cx="11094415" cy="822960"/>
          </a:xfrm>
          <a:prstGeom prst="roundRect">
            <a:avLst>
              <a:gd name="adj" fmla="val 11111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2960" y="51206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jolly * significa "qualunque sequenza di caratteri": releases/* = tutti i file sotto releases/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Bucket, oggetti e prefissi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 · IAM: chi può fare cosa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85166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00200" y="16916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bucket: corso-artefatti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822960" y="2606040"/>
            <a:ext cx="4572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D6EC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005840" y="260604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releases/</a:t>
            </a:r>
            <a:pPr indent="0" marL="0">
              <a:buNone/>
            </a:pPr>
            <a:r>
              <a:rPr lang="en-US" sz="1700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app-v1.0.txt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822960" y="3611880"/>
            <a:ext cx="4572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D6EC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05840" y="36118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releases/</a:t>
            </a:r>
            <a:pPr indent="0" marL="0">
              <a:buNone/>
            </a:pPr>
            <a:r>
              <a:rPr lang="en-US" sz="1700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app-v1.1.txt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22960" y="4617720"/>
            <a:ext cx="4572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D6E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005840" y="461772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F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logs/</a:t>
            </a:r>
            <a:pPr indent="0" marL="0">
              <a:buNone/>
            </a:pPr>
            <a:r>
              <a:rPr lang="en-US" sz="1700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2026-01.txt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" y="5577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arancione il prefisso: non è una cartella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463040"/>
          <a:ext cx="5696712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417320"/>
                <a:gridCol w="2404872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Azione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applica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s3:ListBucket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bucket (elencare)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arn:aws:s3:::corso-artefatti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s3:GetObject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gli oggetti (scaricare)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arn:aws:s3:::corso-artefatti/releases/*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</a:tbl>
          </a:graphicData>
        </a:graphic>
      </p:graphicFrame>
      <p:sp>
        <p:nvSpPr>
          <p:cNvPr id="17" name="Shape 12"/>
          <p:cNvSpPr/>
          <p:nvPr/>
        </p:nvSpPr>
        <p:spPr>
          <a:xfrm>
            <a:off x="5943600" y="4206240"/>
            <a:ext cx="5696712" cy="1737360"/>
          </a:xfrm>
          <a:prstGeom prst="roundRect">
            <a:avLst>
              <a:gd name="adj" fmla="val 5263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217920" y="4206240"/>
            <a:ext cx="5148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e oggetti sono risorse diverse: ARN senza / per il bucket, con /* per gli oggetti.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posti per le policy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 · IAM: chi può fare cosa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40680" cy="3383280"/>
          </a:xfrm>
          <a:prstGeom prst="roundRect">
            <a:avLst>
              <a:gd name="adj" fmla="val 3243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69164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Identity-based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377440"/>
            <a:ext cx="4983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Attaccata a utente, gruppo o role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cosa può fare questa identità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Niente campo Principal: è implicito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managed, customer managed, inline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6172200" y="1463040"/>
            <a:ext cx="5440680" cy="3383280"/>
          </a:xfrm>
          <a:prstGeom prst="roundRect">
            <a:avLst>
              <a:gd name="adj" fmla="val 3243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00800" y="169164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82880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132320" y="169164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Resource-based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400800" y="2377440"/>
            <a:ext cx="4983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Attaccata alla risorsa: bucket policy, trust policy di un role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chi può fare cosa su questa risorsa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il campo Principal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512064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822960" y="51206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 account: basta un Allow in uno dei due. Account diversi: servono entrambi.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decide IAM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 · IAM: chi può fare cosa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108960" cy="777240"/>
          </a:xfrm>
          <a:prstGeom prst="roundRect">
            <a:avLst>
              <a:gd name="adj" fmla="val 11765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417320"/>
            <a:ext cx="310896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Richiesta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2103120" y="2194560"/>
            <a:ext cx="0" cy="411480"/>
          </a:xfrm>
          <a:prstGeom prst="line">
            <a:avLst/>
          </a:prstGeom>
          <a:noFill/>
          <a:ln w="25400">
            <a:solidFill>
              <a:srgbClr val="5F6478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548640" y="2651760"/>
            <a:ext cx="3108960" cy="868680"/>
          </a:xfrm>
          <a:prstGeom prst="roundRect">
            <a:avLst>
              <a:gd name="adj" fmla="val 10526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651760"/>
            <a:ext cx="310896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C'è un Deny esplicito?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703320" y="3081528"/>
            <a:ext cx="914400" cy="0"/>
          </a:xfrm>
          <a:prstGeom prst="line">
            <a:avLst/>
          </a:prstGeom>
          <a:noFill/>
          <a:ln w="25400">
            <a:solidFill>
              <a:srgbClr val="5F6478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3703320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sì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663440" y="265176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63440" y="2651760"/>
            <a:ext cx="201168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NEGATO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2103120" y="3520440"/>
            <a:ext cx="0" cy="411480"/>
          </a:xfrm>
          <a:prstGeom prst="line">
            <a:avLst/>
          </a:prstGeom>
          <a:noFill/>
          <a:ln w="25400">
            <a:solidFill>
              <a:srgbClr val="5F6478"/>
            </a:solidFill>
            <a:prstDash val="solid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2194560" y="35204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3977640"/>
            <a:ext cx="3108960" cy="868680"/>
          </a:xfrm>
          <a:prstGeom prst="roundRect">
            <a:avLst>
              <a:gd name="adj" fmla="val 10526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3977640"/>
            <a:ext cx="310896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C'è un Allow esplicito?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703320" y="4407408"/>
            <a:ext cx="914400" cy="0"/>
          </a:xfrm>
          <a:prstGeom prst="line">
            <a:avLst/>
          </a:prstGeom>
          <a:noFill/>
          <a:ln w="25400">
            <a:solidFill>
              <a:srgbClr val="5F6478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3703320" y="4023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663440" y="397764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663440" y="3977640"/>
            <a:ext cx="201168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(implicito)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2103120" y="4846320"/>
            <a:ext cx="0" cy="411480"/>
          </a:xfrm>
          <a:prstGeom prst="line">
            <a:avLst/>
          </a:prstGeom>
          <a:noFill/>
          <a:ln w="25400">
            <a:solidFill>
              <a:srgbClr val="5F6478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2194560" y="48463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sì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48640" y="5303520"/>
            <a:ext cx="3108960" cy="777240"/>
          </a:xfrm>
          <a:prstGeom prst="roundRect">
            <a:avLst>
              <a:gd name="adj" fmla="val 11765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48640" y="5303520"/>
            <a:ext cx="310896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CONSENTITO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7223760" y="1554480"/>
            <a:ext cx="731520" cy="73152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22376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28" name="Text 25"/>
          <p:cNvSpPr txBox="1"/>
          <p:nvPr/>
        </p:nvSpPr>
        <p:spPr>
          <a:xfrm>
            <a:off x="8138160" y="1463040"/>
            <a:ext cx="3502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parte da no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tutto è negato di default (deny implicito)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7223760" y="3017520"/>
            <a:ext cx="731520" cy="73152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223760" y="3017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31" name="Text 28"/>
          <p:cNvSpPr txBox="1"/>
          <p:nvPr/>
        </p:nvSpPr>
        <p:spPr>
          <a:xfrm>
            <a:off x="8138160" y="2926080"/>
            <a:ext cx="3502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un Allow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esplicito, in una policy applicabile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7223760" y="4480560"/>
            <a:ext cx="731520" cy="73152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223760" y="4480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34" name="Text 31"/>
          <p:cNvSpPr txBox="1"/>
          <p:nvPr/>
        </p:nvSpPr>
        <p:spPr>
          <a:xfrm>
            <a:off x="8138160" y="4389120"/>
            <a:ext cx="3502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Deny vince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sempre, qualunque cosa dicano gli Allow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scrivere un Deny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 · IAM: chi può fare cosa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46304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Deny protegge dal futuro.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283464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7F6FD"/>
          </a:solidFill>
          <a:ln w="12700">
            <a:solidFill>
              <a:srgbClr val="D9D6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20240" y="3063240"/>
            <a:ext cx="822960" cy="8229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326898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3977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Oggi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4480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role ha: Deny su s3:DeleteObject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4133088" y="4343400"/>
            <a:ext cx="155448" cy="0"/>
          </a:xfrm>
          <a:prstGeom prst="line">
            <a:avLst/>
          </a:prstGeom>
          <a:noFill/>
          <a:ln w="25400">
            <a:solidFill>
              <a:srgbClr val="5F6478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4297680" y="283464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7F6FD"/>
          </a:solidFill>
          <a:ln w="12700">
            <a:solidFill>
              <a:srgbClr val="D9D6E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669280" y="3063240"/>
            <a:ext cx="822960" cy="8229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020" y="326898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297680" y="3977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Domani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4526280" y="4480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Qualcuno attacca AmazonS3FullAccess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7882128" y="4343400"/>
            <a:ext cx="155448" cy="0"/>
          </a:xfrm>
          <a:prstGeom prst="line">
            <a:avLst/>
          </a:prstGeom>
          <a:noFill/>
          <a:ln w="25400">
            <a:solidFill>
              <a:srgbClr val="5F6478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8046720" y="283464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7F6FD"/>
          </a:solidFill>
          <a:ln w="12700">
            <a:solidFill>
              <a:srgbClr val="D9D6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418320" y="3063240"/>
            <a:ext cx="822960" cy="82296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4060" y="326898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046720" y="3977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8275320" y="4480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scrittura passa, la cancellazione resta negata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policy e permission policy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 · IAM: chi può fare cosa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926080" cy="1188720"/>
          </a:xfrm>
          <a:prstGeom prst="roundRect">
            <a:avLst>
              <a:gd name="adj" fmla="val 7692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554480"/>
            <a:ext cx="292608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es. il servizio EC2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520440" y="2148840"/>
            <a:ext cx="1737360" cy="0"/>
          </a:xfrm>
          <a:prstGeom prst="line">
            <a:avLst/>
          </a:prstGeom>
          <a:noFill/>
          <a:ln w="25400">
            <a:solidFill>
              <a:srgbClr val="5F6478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3520440" y="14630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posso assumerti?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303520" y="1554480"/>
            <a:ext cx="1645920" cy="1188720"/>
          </a:xfrm>
          <a:prstGeom prst="roundRect">
            <a:avLst>
              <a:gd name="adj" fmla="val 7692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303520" y="1554480"/>
            <a:ext cx="164592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995160" y="2148840"/>
            <a:ext cx="1737360" cy="0"/>
          </a:xfrm>
          <a:prstGeom prst="line">
            <a:avLst/>
          </a:prstGeom>
          <a:noFill/>
          <a:ln w="25400">
            <a:solidFill>
              <a:srgbClr val="5F6478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6995160" y="14630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3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B3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posso fare?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778240" y="1554480"/>
            <a:ext cx="2862072" cy="1188720"/>
          </a:xfrm>
          <a:prstGeom prst="roundRect">
            <a:avLst>
              <a:gd name="adj" fmla="val 7692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778240" y="1554480"/>
            <a:ext cx="2862072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Risorse AWS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es. un bucket S3</a:t>
            </a:r>
            <a:endParaRPr lang="en-US" sz="1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0040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206240"/>
                <a:gridCol w="469087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policy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Permission policy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Domanda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può assumere il role?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Cosa può fare chi lo assume?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resource-based (ha Principal)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identity-based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Azione tipica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sts:AssumeRole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s3:GetObject, ec2:Describe*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Terraform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assume_role_policy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aws_iam_role_policy_attachment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Privilegi minimi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 · IAM: chi può fare cosa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8308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64592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Niente * dove non serve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3317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e Resource specifiche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172200" y="141732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00800" y="164592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78308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132320" y="164592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Restringi sui prefissi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400800" y="23317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releases/* invece di tutto il bucket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548640" y="297180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77240" y="32004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33756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320040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le condition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777240" y="38862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rete, MFA, tag, regione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6172200" y="297180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400800" y="32004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333756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132320" y="320040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 stretto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6400800" y="38862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allarga quando serve, non il contrario</a:t>
            </a:r>
            <a:endParaRPr lang="en-US" sz="1600" dirty="0"/>
          </a:p>
        </p:txBody>
      </p:sp>
      <p:sp>
        <p:nvSpPr>
          <p:cNvPr id="25" name="Shape 18"/>
          <p:cNvSpPr/>
          <p:nvPr/>
        </p:nvSpPr>
        <p:spPr>
          <a:xfrm>
            <a:off x="548640" y="4663440"/>
            <a:ext cx="3566160" cy="1280160"/>
          </a:xfrm>
          <a:prstGeom prst="roundRect">
            <a:avLst>
              <a:gd name="adj" fmla="val 7143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548640" y="4663440"/>
            <a:ext cx="3566160" cy="12801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delle chiamate API: chi, cosa, quando</a:t>
            </a:r>
            <a:endParaRPr lang="en-US" sz="1700" dirty="0"/>
          </a:p>
        </p:txBody>
      </p:sp>
      <p:sp>
        <p:nvSpPr>
          <p:cNvPr id="27" name="Shape 20"/>
          <p:cNvSpPr/>
          <p:nvPr/>
        </p:nvSpPr>
        <p:spPr>
          <a:xfrm>
            <a:off x="4297680" y="4663440"/>
            <a:ext cx="3566160" cy="1280160"/>
          </a:xfrm>
          <a:prstGeom prst="roundRect">
            <a:avLst>
              <a:gd name="adj" fmla="val 7143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4297680" y="4663440"/>
            <a:ext cx="3566160" cy="12801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Analyzer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è accessibile da fuori; policy dall'uso reale</a:t>
            </a:r>
            <a:endParaRPr lang="en-US" sz="1700" dirty="0"/>
          </a:p>
        </p:txBody>
      </p:sp>
      <p:sp>
        <p:nvSpPr>
          <p:cNvPr id="29" name="Shape 22"/>
          <p:cNvSpPr/>
          <p:nvPr/>
        </p:nvSpPr>
        <p:spPr>
          <a:xfrm>
            <a:off x="8046720" y="4663440"/>
            <a:ext cx="3566160" cy="1280160"/>
          </a:xfrm>
          <a:prstGeom prst="roundRect">
            <a:avLst>
              <a:gd name="adj" fmla="val 7143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8046720" y="4663440"/>
            <a:ext cx="3566160" cy="12801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accessed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 servizi un role usa davvero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 HCL al JSON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 · IAM: chi può fare cosa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669280" cy="3566160"/>
          </a:xfrm>
          <a:prstGeom prst="roundRect">
            <a:avLst>
              <a:gd name="adj" fmla="val 205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00200"/>
            <a:ext cx="5303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"aws_iam_policy_document" "trust"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statement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actions = ["sts:AssumeRole"]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principals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type        = "AWS"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identifiers = ["arn:aws:iam::123456789012:root"]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263640" y="3246120"/>
            <a:ext cx="320040" cy="0"/>
          </a:xfrm>
          <a:prstGeom prst="line">
            <a:avLst/>
          </a:prstGeom>
          <a:noFill/>
          <a:ln w="25400">
            <a:solidFill>
              <a:srgbClr val="5B3FD0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6629400" y="1463040"/>
            <a:ext cx="5010912" cy="3566160"/>
          </a:xfrm>
          <a:prstGeom prst="roundRect">
            <a:avLst>
              <a:gd name="adj" fmla="val 205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12280" y="1600200"/>
            <a:ext cx="464515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"Version": "2012-10-17",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"Statement": [{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"Effect": "Allow",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"Action": "sts:AssumeRole",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"Principal":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"AWS": "arn:aws:iam::123456789012:root"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5303520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530352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omesso = "Allow".   Il JSON si legge con .json   ·   :root = l'account intero, NON l'utente root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role in Terraform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 · IAM: chi può fare cosa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108960" cy="1005840"/>
          </a:xfrm>
          <a:prstGeom prst="roundRect">
            <a:avLst>
              <a:gd name="adj" fmla="val 9091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554480"/>
            <a:ext cx="3108960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policy_document.trust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JSON: chi può assumere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17520"/>
            <a:ext cx="3108960" cy="1005840"/>
          </a:xfrm>
          <a:prstGeom prst="roundRect">
            <a:avLst>
              <a:gd name="adj" fmla="val 9091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3017520"/>
            <a:ext cx="3108960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policy_document.reader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JSON: cosa può fare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703320" y="2057400"/>
            <a:ext cx="914400" cy="0"/>
          </a:xfrm>
          <a:prstGeom prst="line">
            <a:avLst/>
          </a:prstGeom>
          <a:noFill/>
          <a:ln w="25400">
            <a:solidFill>
              <a:srgbClr val="5F6478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3703320" y="1645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.json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703320" y="3520440"/>
            <a:ext cx="914400" cy="0"/>
          </a:xfrm>
          <a:prstGeom prst="line">
            <a:avLst/>
          </a:prstGeom>
          <a:noFill/>
          <a:ln w="25400">
            <a:solidFill>
              <a:srgbClr val="5F6478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3703320" y="3108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.json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63440" y="155448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663440" y="1554480"/>
            <a:ext cx="2743200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aws_iam_role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663440" y="301752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663440" y="3017520"/>
            <a:ext cx="2743200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aws_iam_policy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452360" y="2057400"/>
            <a:ext cx="914400" cy="731520"/>
          </a:xfrm>
          <a:prstGeom prst="line">
            <a:avLst/>
          </a:prstGeom>
          <a:noFill/>
          <a:ln w="25400">
            <a:solidFill>
              <a:srgbClr val="5F6478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7452360" y="3520440"/>
            <a:ext cx="914400" cy="-731520"/>
          </a:xfrm>
          <a:prstGeom prst="line">
            <a:avLst/>
          </a:prstGeom>
          <a:noFill/>
          <a:ln w="25400">
            <a:solidFill>
              <a:srgbClr val="5F6478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8412480" y="2240280"/>
            <a:ext cx="3227832" cy="1097280"/>
          </a:xfrm>
          <a:prstGeom prst="roundRect">
            <a:avLst>
              <a:gd name="adj" fmla="val 8333"/>
            </a:avLst>
          </a:prstGeom>
          <a:solidFill>
            <a:srgbClr val="E5F4EC"/>
          </a:solidFill>
          <a:ln w="12700">
            <a:solidFill>
              <a:srgbClr val="E5F4E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412480" y="2240280"/>
            <a:ext cx="3227832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aws_iam_role_policy_attachment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collega policy e role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8640" y="4480560"/>
            <a:ext cx="11094415" cy="1463040"/>
          </a:xfrm>
          <a:prstGeom prst="roundRect">
            <a:avLst>
              <a:gd name="adj" fmla="val 7500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77240" y="4709160"/>
            <a:ext cx="548640" cy="54864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846320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508760" y="47091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aws_iam_policy_attachment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777240" y="539496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esclusiva: stacca la policy da tutte le altre identità non elencate e può rompere cose fuori dal progetto.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Esercizio: le prove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 · IAM: chi può fare cosa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846320"/>
                <a:gridCol w="2377440"/>
                <a:gridCol w="331927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Comando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Azione IAM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aws sts get-caller-identity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assumed-role/…-artifact-reader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aws s3 cp …/releases/app-v1.0.txt -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s3:GetObject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OK: versione 1.0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aws s3 ls …/releases/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s3:ListBucket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aws s3 ls …/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s3:ListBucket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Negato: prefisso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aws s3 cp test.txt …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s3:PutObject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Negato: implicito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aws s3 rm …/app-v1.0.txt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s3:DeleteObject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Negato: esplicito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5778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i passi, il profilo della CLI e le domande di verifica sono nella sezione 9 della dispensa.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Riepilogo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949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richiesta: chi fa cosa, su quale risorsa, a quali condizioni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con credenziali temporanee, non chiavi permanenti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negato, serve un Allow, il Deny esplicito vince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policy (chi assume) ≠ permission policy (cosa fa)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S3 bucket e oggetti sono risorse diverse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Terraform: aws_iam_policy_document e aws_iam_role_policy_attachment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955280" y="1463040"/>
            <a:ext cx="3685032" cy="2103120"/>
          </a:xfrm>
          <a:prstGeom prst="roundRect">
            <a:avLst>
              <a:gd name="adj" fmla="val 5217"/>
            </a:avLst>
          </a:prstGeom>
          <a:solidFill>
            <a:srgbClr val="2A2F55"/>
          </a:solidFill>
          <a:ln w="12700">
            <a:solidFill>
              <a:srgbClr val="2A2F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83880" y="164592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 di studio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dispense/dispensa-1-iam.md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955280" y="3840480"/>
            <a:ext cx="3685032" cy="1463040"/>
          </a:xfrm>
          <a:prstGeom prst="roundRect">
            <a:avLst>
              <a:gd name="adj" fmla="val 75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83880" y="40233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Prossima lezione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VPC: la rete privata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cereZ23</dc:creator>
  <cp:lastModifiedBy>cereZ23</cp:lastModifiedBy>
  <cp:revision>1</cp:revision>
  <dcterms:created xsi:type="dcterms:W3CDTF">2026-09-30T12:05:40Z</dcterms:created>
  <dcterms:modified xsi:type="dcterms:W3CDTF">2026-09-30T12:05:40Z</dcterms:modified>
</cp:coreProperties>
</file>