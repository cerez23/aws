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L'appendice raccoglie gli argomenti a cui le lezioni rimandano. Servono quando il progetto cresce, quando lavorano più persone o più account, o quando qualcosa viene negato e bisogna capire perché, o chi ha fatto cosa. Le sezioni sono indipendenti: si possono vedere una alla volta. CloudTrail e gli AccessDenied hanno una lezione tutta loro, la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condition key è una domanda che IAM si fa sulla richiesta. Quelle che iniziano con aws valgono per tutti i servizi; le altre hanno il prefisso del servizio. Le più utili: ha fatto login con MFA? in quale regione? da quale indirizzo? è cifrata? arriva da questo VPC endpoint? E le etichette: con aws PrincipalTag e aws ResourceTag si scrive una regola come puoi fermare i server che hanno la tua stessa etichetta team. Una policy sola vale per tutti i team: si chiama ABAC.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Esistono due livelli che non danno mai permessi: possono solo togliere. Sono tetti: sotto valgono le policy normali, sopra niente, nemmeno per un amministratore. Il permission boundary si attacca a un utente o a un role: è il limite di spesa della tua carta aziendale. Serve a delegare: uno sviluppatore può creare role, ma solo con quel boundary, così non può crearsi un role amministratore. La SCP si attacca a un intero account, con AWS Organizations: è il regolamento della sede, vale per tutti. Esempi classici: solo le regioni che usiamo, nessuno può spegnere CloudTrail.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l'ordine completo. C'è un Deny esplicito in una qualunque policy? Negata. La SCP dell'account la permette? Se no, negata. Il boundary la permette? Se no, negata. C'è un Allow, nella policy di chi chiede o in quella della risorsa? Se no, negata. Solo se supera tutto, passa. Tra account diversi serve un Allow da tutte e due le parti: come il capo che ti manda e l'altra azienda che ti aspetta.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chiave tua serve per decidere chi la usa, per condividere uno snapshot con un altro account, per SNS cifrato con gli allarmi, e per vedere ogni suo uso in CloudTrail. La key policy parte sempre dallo stesso statement: l'account, root, può tutto. Non vuol dire che l'utente root la usi: vuol dire che da lì decidono le policy IAM dell'account. Senza, nemmeno l'amministratore potrebbe usarla. Poi si aggiungono i servizi: per gli allarmi CloudWatch e il service-linked role dell'Auto Scaling. La rotazione annuale la fa AWS da solo. Per RDS la chiave si sceglie solo alla creazione.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un solo utente dbadmin, nei log del database risulta sempre dbadmin, e quando qualcuno se ne va bisogna cambiare la password a tutti. Con l'autenticazione IAM ogni persona ha il suo utente nel database, e invece della password usa un token generato con il suo login AWS, valido 15 minuti. Servono tre cose: l'opzione sul database, un utente con il ruolo rds_iam, e il permesso rds-db connect. L'applicazione può restare con la password di Secrets Manager: l'autenticazione IAM dà il meglio con le persone.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pezzo tiene il suo registro, e nessuno da solo risponde. PostgreSQL dice: dbadmin, dall'indirizzo 10.20.10.7. Quell'indirizzo è il router Tailscale: quindi qualcuno in VPN. CloudTrail dice chi ha letto la password poco prima. I log di Tailscale, se il piano li include, dicono quale dispositivo. Con l'autenticazione IAM, la risposta sta già nel log di PostgreSQL: mario. È uno dei motivi migliori per usarla.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L'esercizio completo è nell'appendice. Uno: apply. Due: gli allarmi arrivano anche con la chiave vostra. Tre: create il vostro utente nel database ed entrate con un token. Quattro: pulizia; la chiave KMS resta in attesa di cancellazione per 30 giorni.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Riassumendo. Il materiale di studio è l'appendice A. Con questa si chiude il corso: avete costruito, con un unico progetto Terraform, un'infrastruttura AWS completa, dalla rete al deploy, agli allarmi. Il passo successivo è provarla davvero, lezione per lezione, in un account di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7589520" y="548640"/>
            <a:ext cx="4206240" cy="5669280"/>
          </a:xfrm>
          <a:prstGeom prst="rect">
            <a:avLst/>
          </a:prstGeom>
          <a:noFill/>
          <a:ln/>
        </p:spPr>
        <p:txBody>
          <a:bodyPr wrap="square" lIns="0" tIns="0" rIns="0" bIns="0" rtlCol="0" anchor="ctr"/>
          <a:lstStyle/>
          <a:p>
            <a:pPr algn="r" indent="0" marL="0">
              <a:buNone/>
            </a:pPr>
            <a:r>
              <a:rPr lang="en-US" sz="30000" b="1" dirty="0">
                <a:solidFill>
                  <a:srgbClr val="5B3FD0"/>
                </a:solidFill>
                <a:latin typeface="Calibri" pitchFamily="34" charset="0"/>
                <a:ea typeface="Calibri" pitchFamily="34" charset="-122"/>
                <a:cs typeface="Calibri" pitchFamily="34" charset="-120"/>
              </a:rPr>
              <a:t>A</a:t>
            </a:r>
            <a:endParaRPr lang="en-US" sz="30000" dirty="0"/>
          </a:p>
        </p:txBody>
      </p:sp>
      <p:sp>
        <p:nvSpPr>
          <p:cNvPr id="3" name="Text 1"/>
          <p:cNvSpPr txBox="1"/>
          <p:nvPr/>
        </p:nvSpPr>
        <p:spPr>
          <a:xfrm>
            <a:off x="548640" y="1280160"/>
            <a:ext cx="7315200" cy="365760"/>
          </a:xfrm>
          <a:prstGeom prst="rect">
            <a:avLst/>
          </a:prstGeom>
          <a:noFill/>
          <a:ln/>
        </p:spPr>
        <p:txBody>
          <a:bodyPr wrap="square" lIns="0" tIns="0" rIns="0" bIns="0" rtlCol="0" anchor="ctr"/>
          <a:lstStyle/>
          <a:p>
            <a:pPr indent="0" marL="0">
              <a:buNone/>
            </a:pPr>
            <a:r>
              <a:rPr lang="en-US" sz="1600" b="1" dirty="0">
                <a:solidFill>
                  <a:srgbClr val="F28C28"/>
                </a:solidFill>
                <a:latin typeface="Calibri" pitchFamily="34" charset="0"/>
                <a:ea typeface="Calibri" pitchFamily="34" charset="-122"/>
                <a:cs typeface="Calibri" pitchFamily="34" charset="-120"/>
              </a:rPr>
              <a:t>Appendice A · IAM avanzato e audit</a:t>
            </a:r>
            <a:endParaRPr lang="en-US" sz="1600" dirty="0"/>
          </a:p>
        </p:txBody>
      </p:sp>
      <p:sp>
        <p:nvSpPr>
          <p:cNvPr id="4" name="Text 2"/>
          <p:cNvSpPr txBox="1"/>
          <p:nvPr/>
        </p:nvSpPr>
        <p:spPr>
          <a:xfrm>
            <a:off x="548640" y="1828800"/>
            <a:ext cx="7772400" cy="201168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IAM avanzato e audit</a:t>
            </a:r>
            <a:endParaRPr lang="en-US" sz="4800" dirty="0"/>
          </a:p>
        </p:txBody>
      </p:sp>
      <p:sp>
        <p:nvSpPr>
          <p:cNvPr id="5" name="Text 3"/>
          <p:cNvSpPr txBox="1"/>
          <p:nvPr/>
        </p:nvSpPr>
        <p:spPr>
          <a:xfrm>
            <a:off x="548640" y="4023360"/>
            <a:ext cx="7315200" cy="1097280"/>
          </a:xfrm>
          <a:prstGeom prst="rect">
            <a:avLst/>
          </a:prstGeom>
          <a:noFill/>
          <a:ln/>
        </p:spPr>
        <p:txBody>
          <a:bodyPr wrap="square" lIns="0" tIns="0" rIns="0" bIns="0" rtlCol="0" anchor="t"/>
          <a:lstStyle/>
          <a:p>
            <a:pPr indent="0" marL="0">
              <a:buNone/>
            </a:pPr>
            <a:r>
              <a:rPr lang="en-US" sz="2000" dirty="0">
                <a:solidFill>
                  <a:srgbClr val="C9CBE0"/>
                </a:solidFill>
                <a:latin typeface="Calibri" pitchFamily="34" charset="0"/>
                <a:ea typeface="Calibri" pitchFamily="34" charset="-122"/>
                <a:cs typeface="Calibri" pitchFamily="34" charset="-120"/>
              </a:rPr>
              <a:t>Quando il progetto cresce: limiti, account diversi, chiavi tue, database senza password, log incrociati</a:t>
            </a:r>
            <a:endParaRPr lang="en-US" sz="2000" dirty="0"/>
          </a:p>
        </p:txBody>
      </p:sp>
      <p:sp>
        <p:nvSpPr>
          <p:cNvPr id="6" name="Text 4"/>
          <p:cNvSpPr txBox="1"/>
          <p:nvPr/>
        </p:nvSpPr>
        <p:spPr>
          <a:xfrm>
            <a:off x="548640" y="6035040"/>
            <a:ext cx="7315200" cy="365760"/>
          </a:xfrm>
          <a:prstGeom prst="rect">
            <a:avLst/>
          </a:prstGeom>
          <a:noFill/>
          <a:ln/>
        </p:spPr>
        <p:txBody>
          <a:bodyPr wrap="square" lIns="0" tIns="0" rIns="0" bIns="0" rtlCol="0" anchor="ctr"/>
          <a:lstStyle/>
          <a:p>
            <a:pPr indent="0" marL="0">
              <a:buNone/>
            </a:pPr>
            <a:r>
              <a:rPr lang="en-US" sz="1200" dirty="0">
                <a:solidFill>
                  <a:srgbClr val="9A9DB8"/>
                </a:solidFill>
                <a:latin typeface="Calibri" pitchFamily="34" charset="0"/>
                <a:ea typeface="Calibri" pitchFamily="34" charset="-122"/>
                <a:cs typeface="Calibri" pitchFamily="34" charset="-120"/>
              </a:rPr>
              <a:t>Corso: Infrastruttura AWS con Terraform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condition key: "solo se…"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Appendice A · IAM avanzato e audit</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754880"/>
                <a:gridCol w="3108960"/>
                <a:gridCol w="3227832"/>
              </a:tblGrid>
              <a:tr h="65836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Condition key</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Domanda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Esempio d'uso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58368">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aws:MultiFactorAuthPresent</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login con MFA?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operazioni delicate solo con MFA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aws:RequestedRegion</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in quale regione?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vietare le regioni che non usi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58368">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aws:SecureTransport</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è cifrata?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bucket e file system solo in TLS (lezioni 7, 11)</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aws:SourceVpce</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da questo VPC endpoint?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un bucket raggiungibile solo dal VPC</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58368">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aws:PrincipalTag · aws:ResourceTag</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che etichette hanno chi chiede e la risorsa?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ABAC: "solo i server del tuo team"</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5486400"/>
            <a:ext cx="11094415" cy="54864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aws:… = valgono per tutti i servizi · s3:…, ec2:…, rds:… = del singolo servizio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 "tetti": permission boundary e SCP</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Appendice A · IAM avanzato e audit</a:t>
            </a:r>
            <a:endParaRPr lang="en-US" sz="1000" dirty="0"/>
          </a:p>
        </p:txBody>
      </p:sp>
      <p:sp>
        <p:nvSpPr>
          <p:cNvPr id="5" name="Shape 2"/>
          <p:cNvSpPr/>
          <p:nvPr/>
        </p:nvSpPr>
        <p:spPr>
          <a:xfrm>
            <a:off x="548640" y="1371600"/>
            <a:ext cx="5440680" cy="2743200"/>
          </a:xfrm>
          <a:prstGeom prst="roundRect">
            <a:avLst>
              <a:gd name="adj" fmla="val 4000"/>
            </a:avLst>
          </a:prstGeom>
          <a:solidFill>
            <a:srgbClr val="EEEAFB"/>
          </a:solidFill>
          <a:ln w="12700">
            <a:solidFill>
              <a:srgbClr val="EEEAFB"/>
            </a:solidFill>
            <a:prstDash val="solid"/>
          </a:ln>
        </p:spPr>
      </p:sp>
      <p:sp>
        <p:nvSpPr>
          <p:cNvPr id="6" name="Shape 3"/>
          <p:cNvSpPr/>
          <p:nvPr/>
        </p:nvSpPr>
        <p:spPr>
          <a:xfrm>
            <a:off x="777240" y="160020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Permission boundary</a:t>
            </a:r>
            <a:endParaRPr lang="en-US" sz="1800" dirty="0"/>
          </a:p>
        </p:txBody>
      </p:sp>
      <p:sp>
        <p:nvSpPr>
          <p:cNvPr id="9" name="Text 5"/>
          <p:cNvSpPr txBox="1"/>
          <p:nvPr/>
        </p:nvSpPr>
        <p:spPr>
          <a:xfrm>
            <a:off x="777240" y="2286000"/>
            <a:ext cx="498348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su un utente o un role</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"il limite della tua carta aziendale"</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per delegare: crei role, ma solo con questo tetto</a:t>
            </a:r>
            <a:endParaRPr lang="en-US" sz="1500" dirty="0"/>
          </a:p>
        </p:txBody>
      </p:sp>
      <p:sp>
        <p:nvSpPr>
          <p:cNvPr id="10" name="Shape 6"/>
          <p:cNvSpPr/>
          <p:nvPr/>
        </p:nvSpPr>
        <p:spPr>
          <a:xfrm>
            <a:off x="6172200" y="1371600"/>
            <a:ext cx="5468112" cy="2743200"/>
          </a:xfrm>
          <a:prstGeom prst="roundRect">
            <a:avLst>
              <a:gd name="adj" fmla="val 4000"/>
            </a:avLst>
          </a:prstGeom>
          <a:solidFill>
            <a:srgbClr val="FDF0E3"/>
          </a:solidFill>
          <a:ln w="12700">
            <a:solidFill>
              <a:srgbClr val="FDF0E3"/>
            </a:solidFill>
            <a:prstDash val="solid"/>
          </a:ln>
        </p:spPr>
      </p:sp>
      <p:sp>
        <p:nvSpPr>
          <p:cNvPr id="11" name="Shape 7"/>
          <p:cNvSpPr/>
          <p:nvPr/>
        </p:nvSpPr>
        <p:spPr>
          <a:xfrm>
            <a:off x="6400800" y="1600200"/>
            <a:ext cx="548640" cy="548640"/>
          </a:xfrm>
          <a:prstGeom prst="ellipse">
            <a:avLst/>
          </a:prstGeom>
          <a:solidFill>
            <a:srgbClr val="F28C28"/>
          </a:solidFill>
          <a:ln w="12700">
            <a:solidFill>
              <a:srgbClr val="F28C28"/>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SCP (AWS Organizations)</a:t>
            </a:r>
            <a:endParaRPr lang="en-US" sz="1800" dirty="0"/>
          </a:p>
        </p:txBody>
      </p:sp>
      <p:sp>
        <p:nvSpPr>
          <p:cNvPr id="14" name="Text 9"/>
          <p:cNvSpPr txBox="1"/>
          <p:nvPr/>
        </p:nvSpPr>
        <p:spPr>
          <a:xfrm>
            <a:off x="6400800" y="2286000"/>
            <a:ext cx="5010912"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su un intero account</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"il regolamento della sede": vale per tutti</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solo Milano · nessuno spegne CloudTrail</a:t>
            </a:r>
            <a:endParaRPr lang="en-US" sz="1500" dirty="0"/>
          </a:p>
        </p:txBody>
      </p:sp>
      <p:sp>
        <p:nvSpPr>
          <p:cNvPr id="15" name="Shape 10"/>
          <p:cNvSpPr/>
          <p:nvPr/>
        </p:nvSpPr>
        <p:spPr>
          <a:xfrm>
            <a:off x="548640" y="4389120"/>
            <a:ext cx="11094415" cy="868680"/>
          </a:xfrm>
          <a:prstGeom prst="roundRect">
            <a:avLst>
              <a:gd name="adj" fmla="val 10526"/>
            </a:avLst>
          </a:prstGeom>
          <a:solidFill>
            <a:srgbClr val="FBE9E9"/>
          </a:solidFill>
          <a:ln w="12700">
            <a:solidFill>
              <a:srgbClr val="FBE9E9"/>
            </a:solidFill>
            <a:prstDash val="solid"/>
          </a:ln>
        </p:spPr>
      </p:sp>
      <p:sp>
        <p:nvSpPr>
          <p:cNvPr id="16" name="Text 11"/>
          <p:cNvSpPr txBox="1"/>
          <p:nvPr/>
        </p:nvSpPr>
        <p:spPr>
          <a:xfrm>
            <a:off x="822960" y="4389120"/>
            <a:ext cx="10545775" cy="86868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Non danno MAI permessi: possono solo togliere. Anche a un amministratore.</a:t>
            </a:r>
            <a:endParaRPr lang="en-US" sz="2000" dirty="0"/>
          </a:p>
        </p:txBody>
      </p:sp>
      <p:sp>
        <p:nvSpPr>
          <p:cNvPr id="17" name="Text 12"/>
          <p:cNvSpPr txBox="1"/>
          <p:nvPr/>
        </p:nvSpPr>
        <p:spPr>
          <a:xfrm>
            <a:off x="548640" y="5440680"/>
            <a:ext cx="11094415" cy="54864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C'è anche la session policy: restringe una singola sessione quando si assume un role.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Come decide IAM, con i tetti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Appendice A · IAM avanzato e audit</a:t>
            </a:r>
            <a:endParaRPr lang="en-US" sz="1000" dirty="0"/>
          </a:p>
        </p:txBody>
      </p:sp>
      <p:sp>
        <p:nvSpPr>
          <p:cNvPr id="5" name="Shape 2"/>
          <p:cNvSpPr/>
          <p:nvPr/>
        </p:nvSpPr>
        <p:spPr>
          <a:xfrm>
            <a:off x="548640" y="1463040"/>
            <a:ext cx="594360" cy="594360"/>
          </a:xfrm>
          <a:prstGeom prst="ellipse">
            <a:avLst/>
          </a:prstGeom>
          <a:solidFill>
            <a:srgbClr val="D64545"/>
          </a:solidFill>
          <a:ln w="12700">
            <a:solidFill>
              <a:srgbClr val="D64545"/>
            </a:solidFill>
            <a:prstDash val="solid"/>
          </a:ln>
        </p:spPr>
      </p:sp>
      <p:sp>
        <p:nvSpPr>
          <p:cNvPr id="6" name="Text 3"/>
          <p:cNvSpPr txBox="1"/>
          <p:nvPr/>
        </p:nvSpPr>
        <p:spPr>
          <a:xfrm>
            <a:off x="548640" y="14630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3258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C'è un Deny esplicito?</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negata</a:t>
            </a:r>
            <a:endParaRPr lang="en-US" sz="1700" dirty="0"/>
          </a:p>
        </p:txBody>
      </p:sp>
      <p:sp>
        <p:nvSpPr>
          <p:cNvPr id="8" name="Shape 5"/>
          <p:cNvSpPr/>
          <p:nvPr/>
        </p:nvSpPr>
        <p:spPr>
          <a:xfrm>
            <a:off x="548640" y="2377440"/>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3774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22402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La SCP la permette?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se no: negata (SCP)</a:t>
            </a:r>
            <a:endParaRPr lang="en-US" sz="1700" dirty="0"/>
          </a:p>
        </p:txBody>
      </p:sp>
      <p:sp>
        <p:nvSpPr>
          <p:cNvPr id="11" name="Shape 8"/>
          <p:cNvSpPr/>
          <p:nvPr/>
        </p:nvSpPr>
        <p:spPr>
          <a:xfrm>
            <a:off x="548640" y="3291840"/>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3291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325880" y="31546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Il boundary la permette?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se no: negata (boundary)</a:t>
            </a:r>
            <a:endParaRPr lang="en-US" sz="1700" dirty="0"/>
          </a:p>
        </p:txBody>
      </p:sp>
      <p:sp>
        <p:nvSpPr>
          <p:cNvPr id="14" name="Shape 11"/>
          <p:cNvSpPr/>
          <p:nvPr/>
        </p:nvSpPr>
        <p:spPr>
          <a:xfrm>
            <a:off x="548640" y="4206240"/>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42062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325880" y="40690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C'è un Allow (identità o risorsa)?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se no: negata (nessun Allow)</a:t>
            </a:r>
            <a:endParaRPr lang="en-US" sz="1700" dirty="0"/>
          </a:p>
        </p:txBody>
      </p:sp>
      <p:sp>
        <p:nvSpPr>
          <p:cNvPr id="17" name="Shape 14"/>
          <p:cNvSpPr/>
          <p:nvPr/>
        </p:nvSpPr>
        <p:spPr>
          <a:xfrm>
            <a:off x="548640" y="5074920"/>
            <a:ext cx="5029200" cy="822960"/>
          </a:xfrm>
          <a:prstGeom prst="roundRect">
            <a:avLst>
              <a:gd name="adj" fmla="val 11111"/>
            </a:avLst>
          </a:prstGeom>
          <a:solidFill>
            <a:srgbClr val="E5F4EC"/>
          </a:solidFill>
          <a:ln w="25400">
            <a:solidFill>
              <a:srgbClr val="2E9E6B"/>
            </a:solidFill>
            <a:prstDash val="solid"/>
          </a:ln>
        </p:spPr>
      </p:sp>
      <p:sp>
        <p:nvSpPr>
          <p:cNvPr id="18" name="Text 15"/>
          <p:cNvSpPr txBox="1"/>
          <p:nvPr/>
        </p:nvSpPr>
        <p:spPr>
          <a:xfrm>
            <a:off x="548640" y="5074920"/>
            <a:ext cx="5029200" cy="822960"/>
          </a:xfrm>
          <a:prstGeom prst="rect">
            <a:avLst/>
          </a:prstGeom>
          <a:noFill/>
          <a:ln/>
        </p:spPr>
        <p:txBody>
          <a:bodyPr wrap="square" lIns="76200" tIns="76200" rIns="76200" bIns="76200" rtlCol="0" anchor="ctr"/>
          <a:lstStyle/>
          <a:p>
            <a:pPr algn="ctr" indent="0" marL="0">
              <a:buNone/>
            </a:pPr>
            <a:r>
              <a:rPr lang="en-US" sz="1800" b="1" dirty="0">
                <a:solidFill>
                  <a:srgbClr val="2E9E6B"/>
                </a:solidFill>
                <a:latin typeface="Calibri" pitchFamily="34" charset="0"/>
                <a:ea typeface="Calibri" pitchFamily="34" charset="-122"/>
                <a:cs typeface="Calibri" pitchFamily="34" charset="-120"/>
              </a:rPr>
              <a:t>Supera tutto: PERMESSA</a:t>
            </a:r>
            <a:endParaRPr lang="en-US" sz="1800" dirty="0"/>
          </a:p>
        </p:txBody>
      </p:sp>
      <p:sp>
        <p:nvSpPr>
          <p:cNvPr id="19" name="Shape 16"/>
          <p:cNvSpPr/>
          <p:nvPr/>
        </p:nvSpPr>
        <p:spPr>
          <a:xfrm>
            <a:off x="5852160" y="4846320"/>
            <a:ext cx="5788152" cy="1463040"/>
          </a:xfrm>
          <a:prstGeom prst="roundRect">
            <a:avLst>
              <a:gd name="adj" fmla="val 7500"/>
            </a:avLst>
          </a:prstGeom>
          <a:solidFill>
            <a:srgbClr val="EEEAFB"/>
          </a:solidFill>
          <a:ln w="12700">
            <a:solidFill>
              <a:srgbClr val="EEEAFB"/>
            </a:solidFill>
            <a:prstDash val="solid"/>
          </a:ln>
        </p:spPr>
      </p:sp>
      <p:sp>
        <p:nvSpPr>
          <p:cNvPr id="20" name="Shape 17"/>
          <p:cNvSpPr/>
          <p:nvPr/>
        </p:nvSpPr>
        <p:spPr>
          <a:xfrm>
            <a:off x="6080760" y="5074920"/>
            <a:ext cx="548640" cy="548640"/>
          </a:xfrm>
          <a:prstGeom prst="ellipse">
            <a:avLst/>
          </a:prstGeom>
          <a:solidFill>
            <a:srgbClr val="5B3FD0"/>
          </a:solidFill>
          <a:ln w="12700">
            <a:solidFill>
              <a:srgbClr val="5B3FD0"/>
            </a:solidFill>
            <a:prstDash val="solid"/>
          </a:ln>
        </p:spPr>
      </p:sp>
      <p:pic>
        <p:nvPicPr>
          <p:cNvPr id="21" name="Image 0" descr="preencoded.png">    </p:cNvPr>
          <p:cNvPicPr>
            <a:picLocks noChangeAspect="1"/>
          </p:cNvPicPr>
          <p:nvPr/>
        </p:nvPicPr>
        <p:blipFill>
          <a:blip r:embed="rId1"/>
          <a:stretch>
            <a:fillRect/>
          </a:stretch>
        </p:blipFill>
        <p:spPr>
          <a:xfrm>
            <a:off x="6217920" y="5212080"/>
            <a:ext cx="274320" cy="274320"/>
          </a:xfrm>
          <a:prstGeom prst="rect">
            <a:avLst/>
          </a:prstGeom>
        </p:spPr>
      </p:pic>
      <p:sp>
        <p:nvSpPr>
          <p:cNvPr id="22" name="Text 18"/>
          <p:cNvSpPr txBox="1"/>
          <p:nvPr/>
        </p:nvSpPr>
        <p:spPr>
          <a:xfrm>
            <a:off x="6812280" y="5074920"/>
            <a:ext cx="459943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Tra account diversi</a:t>
            </a:r>
            <a:endParaRPr lang="en-US" sz="1800" dirty="0"/>
          </a:p>
        </p:txBody>
      </p:sp>
      <p:sp>
        <p:nvSpPr>
          <p:cNvPr id="23" name="Text 19"/>
          <p:cNvSpPr txBox="1"/>
          <p:nvPr/>
        </p:nvSpPr>
        <p:spPr>
          <a:xfrm>
            <a:off x="6080760" y="5760720"/>
            <a:ext cx="5330952" cy="365760"/>
          </a:xfrm>
          <a:prstGeom prst="rect">
            <a:avLst/>
          </a:prstGeom>
          <a:noFill/>
          <a:ln/>
        </p:spPr>
        <p:txBody>
          <a:bodyPr wrap="square" lIns="0" tIns="0" rIns="0" bIns="0" rtlCol="0" anchor="t"/>
          <a:lstStyle/>
          <a:p>
            <a:pPr indent="0" marL="0">
              <a:spcAft>
                <a:spcPts val="600"/>
              </a:spcAft>
              <a:buNone/>
            </a:pPr>
            <a:r>
              <a:rPr lang="en-US" sz="1400" dirty="0">
                <a:solidFill>
                  <a:srgbClr val="22253A"/>
                </a:solidFill>
                <a:latin typeface="Calibri" pitchFamily="34" charset="0"/>
                <a:ea typeface="Calibri" pitchFamily="34" charset="-122"/>
                <a:cs typeface="Calibri" pitchFamily="34" charset="-120"/>
              </a:rPr>
              <a:t>serve un Allow da TUTTE E DUE le parti: il capo che ti manda e l'azienda che ti aspetta</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Una chiave KMS tua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Appendice A · IAM avanzato e audit</a:t>
            </a:r>
            <a:endParaRPr lang="en-US" sz="1000" dirty="0"/>
          </a:p>
        </p:txBody>
      </p:sp>
      <p:sp>
        <p:nvSpPr>
          <p:cNvPr id="5" name="Shape 2"/>
          <p:cNvSpPr/>
          <p:nvPr/>
        </p:nvSpPr>
        <p:spPr>
          <a:xfrm>
            <a:off x="548640" y="1371600"/>
            <a:ext cx="5440680" cy="2377440"/>
          </a:xfrm>
          <a:prstGeom prst="roundRect">
            <a:avLst>
              <a:gd name="adj" fmla="val 4615"/>
            </a:avLst>
          </a:prstGeom>
          <a:solidFill>
            <a:srgbClr val="EEEAFB"/>
          </a:solidFill>
          <a:ln w="12700">
            <a:solidFill>
              <a:srgbClr val="EEEAFB"/>
            </a:solidFill>
            <a:prstDash val="solid"/>
          </a:ln>
        </p:spPr>
      </p:sp>
      <p:sp>
        <p:nvSpPr>
          <p:cNvPr id="6" name="Shape 3"/>
          <p:cNvSpPr/>
          <p:nvPr/>
        </p:nvSpPr>
        <p:spPr>
          <a:xfrm>
            <a:off x="777240" y="160020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Quando serve</a:t>
            </a:r>
            <a:endParaRPr lang="en-US" sz="1800" dirty="0"/>
          </a:p>
        </p:txBody>
      </p:sp>
      <p:sp>
        <p:nvSpPr>
          <p:cNvPr id="9" name="Text 5"/>
          <p:cNvSpPr txBox="1"/>
          <p:nvPr/>
        </p:nvSpPr>
        <p:spPr>
          <a:xfrm>
            <a:off x="777240" y="2286000"/>
            <a:ext cx="498348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decidere chi la usa (key policy)</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condividere snapshot con un altro account</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SNS cifrato con gli allarmi (lezione 10)</a:t>
            </a:r>
            <a:endParaRPr lang="en-US" sz="1500" dirty="0"/>
          </a:p>
        </p:txBody>
      </p:sp>
      <p:sp>
        <p:nvSpPr>
          <p:cNvPr id="10" name="Shape 6"/>
          <p:cNvSpPr/>
          <p:nvPr/>
        </p:nvSpPr>
        <p:spPr>
          <a:xfrm>
            <a:off x="6172200" y="1371600"/>
            <a:ext cx="5468112" cy="2377440"/>
          </a:xfrm>
          <a:prstGeom prst="roundRect">
            <a:avLst>
              <a:gd name="adj" fmla="val 4615"/>
            </a:avLst>
          </a:prstGeom>
          <a:solidFill>
            <a:srgbClr val="FDF0E3"/>
          </a:solidFill>
          <a:ln w="12700">
            <a:solidFill>
              <a:srgbClr val="FDF0E3"/>
            </a:solidFill>
            <a:prstDash val="solid"/>
          </a:ln>
        </p:spPr>
      </p:sp>
      <p:sp>
        <p:nvSpPr>
          <p:cNvPr id="11" name="Shape 7"/>
          <p:cNvSpPr/>
          <p:nvPr/>
        </p:nvSpPr>
        <p:spPr>
          <a:xfrm>
            <a:off x="6400800" y="1600200"/>
            <a:ext cx="548640" cy="548640"/>
          </a:xfrm>
          <a:prstGeom prst="ellipse">
            <a:avLst/>
          </a:prstGeom>
          <a:solidFill>
            <a:srgbClr val="F28C28"/>
          </a:solidFill>
          <a:ln w="12700">
            <a:solidFill>
              <a:srgbClr val="F28C28"/>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La key policy, sempre così</a:t>
            </a:r>
            <a:endParaRPr lang="en-US" sz="1800" dirty="0"/>
          </a:p>
        </p:txBody>
      </p:sp>
      <p:sp>
        <p:nvSpPr>
          <p:cNvPr id="14" name="Text 9"/>
          <p:cNvSpPr txBox="1"/>
          <p:nvPr/>
        </p:nvSpPr>
        <p:spPr>
          <a:xfrm>
            <a:off x="6400800" y="2286000"/>
            <a:ext cx="5010912"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1. l'account (root) può tutto → decide IAM</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2. i servizi che la usano (CloudWatch, Auto Scaling)</a:t>
            </a:r>
            <a:endParaRPr lang="en-US" sz="1500" dirty="0"/>
          </a:p>
          <a:p>
            <a:pPr marL="342900" indent="-342900">
              <a:spcAft>
                <a:spcPts val="600"/>
              </a:spcAft>
              <a:buSzPct val="100000"/>
              <a:buChar char="•"/>
            </a:pPr>
            <a:r>
              <a:rPr lang="en-US" sz="1500" dirty="0">
                <a:solidFill>
                  <a:srgbClr val="22253A"/>
                </a:solidFill>
                <a:latin typeface="Calibri" pitchFamily="34" charset="0"/>
                <a:ea typeface="Calibri" pitchFamily="34" charset="-122"/>
                <a:cs typeface="Calibri" pitchFamily="34" charset="-120"/>
              </a:rPr>
              <a:t>senza la 1, nemmeno l'admin la usa</a:t>
            </a:r>
            <a:endParaRPr lang="en-US" sz="1500" dirty="0"/>
          </a:p>
        </p:txBody>
      </p:sp>
      <p:sp>
        <p:nvSpPr>
          <p:cNvPr id="15" name="Shape 10"/>
          <p:cNvSpPr/>
          <p:nvPr/>
        </p:nvSpPr>
        <p:spPr>
          <a:xfrm>
            <a:off x="548640" y="3977640"/>
            <a:ext cx="11094415" cy="1463040"/>
          </a:xfrm>
          <a:prstGeom prst="roundRect">
            <a:avLst>
              <a:gd name="adj" fmla="val 5000"/>
            </a:avLst>
          </a:prstGeom>
          <a:solidFill>
            <a:srgbClr val="1E1E2E"/>
          </a:solidFill>
          <a:ln w="12700">
            <a:solidFill>
              <a:srgbClr val="1E1E2E"/>
            </a:solidFill>
            <a:prstDash val="solid"/>
          </a:ln>
        </p:spPr>
      </p:sp>
      <p:sp>
        <p:nvSpPr>
          <p:cNvPr id="16" name="Text 11"/>
          <p:cNvSpPr txBox="1"/>
          <p:nvPr/>
        </p:nvSpPr>
        <p:spPr>
          <a:xfrm>
            <a:off x="731520" y="405079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monitoring.tf</a:t>
            </a:r>
            <a:endParaRPr lang="en-US" sz="1300" dirty="0"/>
          </a:p>
        </p:txBody>
      </p:sp>
      <p:sp>
        <p:nvSpPr>
          <p:cNvPr id="17" name="Text 12"/>
          <p:cNvSpPr txBox="1"/>
          <p:nvPr/>
        </p:nvSpPr>
        <p:spPr>
          <a:xfrm>
            <a:off x="731520" y="4389120"/>
            <a:ext cx="10728655" cy="91440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"aws_sns_topic" "alerts"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name              = "${var.project}-alerts"</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kms_master_key_id = aws_kms_alias.alerts.name     </a:t>
            </a:r>
            <a:pPr indent="0" marL="0">
              <a:buNone/>
            </a:pPr>
            <a:r>
              <a:rPr lang="en-US" sz="1600" dirty="0">
                <a:solidFill>
                  <a:srgbClr val="8FD694"/>
                </a:solidFill>
                <a:latin typeface="Courier New" pitchFamily="34" charset="0"/>
                <a:ea typeface="Courier New" pitchFamily="34" charset="-122"/>
                <a:cs typeface="Courier New" pitchFamily="34" charset="-120"/>
              </a:rPr>
              <a:t># la chiave nostra</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18" name="Text 13"/>
          <p:cNvSpPr txBox="1"/>
          <p:nvPr/>
        </p:nvSpPr>
        <p:spPr>
          <a:xfrm>
            <a:off x="548640" y="5577840"/>
            <a:ext cx="11094415" cy="54864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RDS: la chiave si sceglie alla creazione. Per cambiarla: snapshot → copia cifrata → database nuovo.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Nel database con IAM, senza password</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Appendice A · IAM avanzato e audit</a:t>
            </a:r>
            <a:endParaRPr lang="en-US" sz="1000" dirty="0"/>
          </a:p>
        </p:txBody>
      </p:sp>
      <p:sp>
        <p:nvSpPr>
          <p:cNvPr id="5" name="Shape 2"/>
          <p:cNvSpPr/>
          <p:nvPr/>
        </p:nvSpPr>
        <p:spPr>
          <a:xfrm>
            <a:off x="548640" y="1371600"/>
            <a:ext cx="3566160" cy="2103120"/>
          </a:xfrm>
          <a:prstGeom prst="roundRect">
            <a:avLst>
              <a:gd name="adj" fmla="val 5217"/>
            </a:avLst>
          </a:prstGeom>
          <a:solidFill>
            <a:srgbClr val="EEEAFB"/>
          </a:solidFill>
          <a:ln w="12700">
            <a:solidFill>
              <a:srgbClr val="EEEAFB"/>
            </a:solidFill>
            <a:prstDash val="solid"/>
          </a:ln>
        </p:spPr>
      </p:sp>
      <p:sp>
        <p:nvSpPr>
          <p:cNvPr id="6" name="Shape 3"/>
          <p:cNvSpPr/>
          <p:nvPr/>
        </p:nvSpPr>
        <p:spPr>
          <a:xfrm>
            <a:off x="777240" y="160020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1. Sul database</a:t>
            </a:r>
            <a:endParaRPr lang="en-US" sz="1800" dirty="0"/>
          </a:p>
        </p:txBody>
      </p:sp>
      <p:sp>
        <p:nvSpPr>
          <p:cNvPr id="9" name="Text 5"/>
          <p:cNvSpPr txBox="1"/>
          <p:nvPr/>
        </p:nvSpPr>
        <p:spPr>
          <a:xfrm>
            <a:off x="777240" y="2286000"/>
            <a:ext cx="3108960" cy="1005840"/>
          </a:xfrm>
          <a:prstGeom prst="rect">
            <a:avLst/>
          </a:prstGeom>
          <a:noFill/>
          <a:ln/>
        </p:spPr>
        <p:txBody>
          <a:bodyPr wrap="square" lIns="0" tIns="0" rIns="0" bIns="0" rtlCol="0" anchor="t"/>
          <a:lstStyle/>
          <a:p>
            <a:pPr indent="0" marL="0">
              <a:spcAft>
                <a:spcPts val="600"/>
              </a:spcAft>
              <a:buNone/>
            </a:pPr>
            <a:r>
              <a:rPr lang="en-US" sz="1400" dirty="0">
                <a:solidFill>
                  <a:srgbClr val="22253A"/>
                </a:solidFill>
                <a:latin typeface="Calibri" pitchFamily="34" charset="0"/>
                <a:ea typeface="Calibri" pitchFamily="34" charset="-122"/>
                <a:cs typeface="Calibri" pitchFamily="34" charset="-120"/>
              </a:rPr>
              <a:t>iam_database_authentication_enabled = true</a:t>
            </a:r>
            <a:endParaRPr lang="en-US" sz="1400" dirty="0"/>
          </a:p>
        </p:txBody>
      </p:sp>
      <p:sp>
        <p:nvSpPr>
          <p:cNvPr id="10" name="Shape 6"/>
          <p:cNvSpPr/>
          <p:nvPr/>
        </p:nvSpPr>
        <p:spPr>
          <a:xfrm>
            <a:off x="4297680" y="1371600"/>
            <a:ext cx="3566160" cy="2103120"/>
          </a:xfrm>
          <a:prstGeom prst="roundRect">
            <a:avLst>
              <a:gd name="adj" fmla="val 5217"/>
            </a:avLst>
          </a:prstGeom>
          <a:solidFill>
            <a:srgbClr val="EEEAFB"/>
          </a:solidFill>
          <a:ln w="12700">
            <a:solidFill>
              <a:srgbClr val="EEEAFB"/>
            </a:solidFill>
            <a:prstDash val="solid"/>
          </a:ln>
        </p:spPr>
      </p:sp>
      <p:sp>
        <p:nvSpPr>
          <p:cNvPr id="11" name="Shape 7"/>
          <p:cNvSpPr/>
          <p:nvPr/>
        </p:nvSpPr>
        <p:spPr>
          <a:xfrm>
            <a:off x="4526280" y="1600200"/>
            <a:ext cx="548640" cy="548640"/>
          </a:xfrm>
          <a:prstGeom prst="ellipse">
            <a:avLst/>
          </a:prstGeom>
          <a:solidFill>
            <a:srgbClr val="5B3FD0"/>
          </a:solidFill>
          <a:ln w="12700">
            <a:solidFill>
              <a:srgbClr val="5B3FD0"/>
            </a:solidFill>
            <a:prstDash val="solid"/>
          </a:ln>
        </p:spPr>
      </p:sp>
      <p:pic>
        <p:nvPicPr>
          <p:cNvPr id="12" name="Image 1" descr="preencoded.png">    </p:cNvPr>
          <p:cNvPicPr>
            <a:picLocks noChangeAspect="1"/>
          </p:cNvPicPr>
          <p:nvPr/>
        </p:nvPicPr>
        <p:blipFill>
          <a:blip r:embed="rId2"/>
          <a:stretch>
            <a:fillRect/>
          </a:stretch>
        </p:blipFill>
        <p:spPr>
          <a:xfrm>
            <a:off x="4663440" y="1737360"/>
            <a:ext cx="274320" cy="274320"/>
          </a:xfrm>
          <a:prstGeom prst="rect">
            <a:avLst/>
          </a:prstGeom>
        </p:spPr>
      </p:pic>
      <p:sp>
        <p:nvSpPr>
          <p:cNvPr id="13" name="Text 8"/>
          <p:cNvSpPr txBox="1"/>
          <p:nvPr/>
        </p:nvSpPr>
        <p:spPr>
          <a:xfrm>
            <a:off x="525780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2. Nel database</a:t>
            </a:r>
            <a:endParaRPr lang="en-US" sz="1800" dirty="0"/>
          </a:p>
        </p:txBody>
      </p:sp>
      <p:sp>
        <p:nvSpPr>
          <p:cNvPr id="14" name="Text 9"/>
          <p:cNvSpPr txBox="1"/>
          <p:nvPr/>
        </p:nvSpPr>
        <p:spPr>
          <a:xfrm>
            <a:off x="4526280" y="2286000"/>
            <a:ext cx="3108960" cy="1005840"/>
          </a:xfrm>
          <a:prstGeom prst="rect">
            <a:avLst/>
          </a:prstGeom>
          <a:noFill/>
          <a:ln/>
        </p:spPr>
        <p:txBody>
          <a:bodyPr wrap="square" lIns="0" tIns="0" rIns="0" bIns="0" rtlCol="0" anchor="t"/>
          <a:lstStyle/>
          <a:p>
            <a:pPr indent="0" marL="0">
              <a:spcAft>
                <a:spcPts val="600"/>
              </a:spcAft>
              <a:buNone/>
            </a:pPr>
            <a:r>
              <a:rPr lang="en-US" sz="1400" dirty="0">
                <a:solidFill>
                  <a:srgbClr val="22253A"/>
                </a:solidFill>
                <a:latin typeface="Calibri" pitchFamily="34" charset="0"/>
                <a:ea typeface="Calibri" pitchFamily="34" charset="-122"/>
                <a:cs typeface="Calibri" pitchFamily="34" charset="-120"/>
              </a:rPr>
              <a:t>CREATE USER mario; GRANT rds_iam TO mario;</a:t>
            </a:r>
            <a:endParaRPr lang="en-US" sz="1400" dirty="0"/>
          </a:p>
        </p:txBody>
      </p:sp>
      <p:sp>
        <p:nvSpPr>
          <p:cNvPr id="15" name="Shape 10"/>
          <p:cNvSpPr/>
          <p:nvPr/>
        </p:nvSpPr>
        <p:spPr>
          <a:xfrm>
            <a:off x="8046720" y="1371600"/>
            <a:ext cx="3566160" cy="2103120"/>
          </a:xfrm>
          <a:prstGeom prst="roundRect">
            <a:avLst>
              <a:gd name="adj" fmla="val 5217"/>
            </a:avLst>
          </a:prstGeom>
          <a:solidFill>
            <a:srgbClr val="EEEAFB"/>
          </a:solidFill>
          <a:ln w="12700">
            <a:solidFill>
              <a:srgbClr val="EEEAFB"/>
            </a:solidFill>
            <a:prstDash val="solid"/>
          </a:ln>
        </p:spPr>
      </p:sp>
      <p:sp>
        <p:nvSpPr>
          <p:cNvPr id="16" name="Shape 11"/>
          <p:cNvSpPr/>
          <p:nvPr/>
        </p:nvSpPr>
        <p:spPr>
          <a:xfrm>
            <a:off x="8275320" y="1600200"/>
            <a:ext cx="548640" cy="548640"/>
          </a:xfrm>
          <a:prstGeom prst="ellipse">
            <a:avLst/>
          </a:prstGeom>
          <a:solidFill>
            <a:srgbClr val="5B3FD0"/>
          </a:solidFill>
          <a:ln w="12700">
            <a:solidFill>
              <a:srgbClr val="5B3FD0"/>
            </a:solidFill>
            <a:prstDash val="solid"/>
          </a:ln>
        </p:spPr>
      </p:sp>
      <p:pic>
        <p:nvPicPr>
          <p:cNvPr id="17" name="Image 2" descr="preencoded.png">    </p:cNvPr>
          <p:cNvPicPr>
            <a:picLocks noChangeAspect="1"/>
          </p:cNvPicPr>
          <p:nvPr/>
        </p:nvPicPr>
        <p:blipFill>
          <a:blip r:embed="rId3"/>
          <a:stretch>
            <a:fillRect/>
          </a:stretch>
        </p:blipFill>
        <p:spPr>
          <a:xfrm>
            <a:off x="8412480" y="1737360"/>
            <a:ext cx="274320" cy="274320"/>
          </a:xfrm>
          <a:prstGeom prst="rect">
            <a:avLst/>
          </a:prstGeom>
        </p:spPr>
      </p:pic>
      <p:sp>
        <p:nvSpPr>
          <p:cNvPr id="18" name="Text 12"/>
          <p:cNvSpPr txBox="1"/>
          <p:nvPr/>
        </p:nvSpPr>
        <p:spPr>
          <a:xfrm>
            <a:off x="900684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3. In IAM</a:t>
            </a:r>
            <a:endParaRPr lang="en-US" sz="1800" dirty="0"/>
          </a:p>
        </p:txBody>
      </p:sp>
      <p:sp>
        <p:nvSpPr>
          <p:cNvPr id="19" name="Text 13"/>
          <p:cNvSpPr txBox="1"/>
          <p:nvPr/>
        </p:nvSpPr>
        <p:spPr>
          <a:xfrm>
            <a:off x="8275320" y="2286000"/>
            <a:ext cx="3108960" cy="1005840"/>
          </a:xfrm>
          <a:prstGeom prst="rect">
            <a:avLst/>
          </a:prstGeom>
          <a:noFill/>
          <a:ln/>
        </p:spPr>
        <p:txBody>
          <a:bodyPr wrap="square" lIns="0" tIns="0" rIns="0" bIns="0" rtlCol="0" anchor="t"/>
          <a:lstStyle/>
          <a:p>
            <a:pPr indent="0" marL="0">
              <a:spcAft>
                <a:spcPts val="600"/>
              </a:spcAft>
              <a:buNone/>
            </a:pPr>
            <a:r>
              <a:rPr lang="en-US" sz="1400" dirty="0">
                <a:solidFill>
                  <a:srgbClr val="22253A"/>
                </a:solidFill>
                <a:latin typeface="Calibri" pitchFamily="34" charset="0"/>
                <a:ea typeface="Calibri" pitchFamily="34" charset="-122"/>
                <a:cs typeface="Calibri" pitchFamily="34" charset="-120"/>
              </a:rPr>
              <a:t>rds-db:connect su quell'utente</a:t>
            </a:r>
            <a:endParaRPr lang="en-US" sz="1400" dirty="0"/>
          </a:p>
        </p:txBody>
      </p:sp>
      <p:sp>
        <p:nvSpPr>
          <p:cNvPr id="20" name="Shape 14"/>
          <p:cNvSpPr/>
          <p:nvPr/>
        </p:nvSpPr>
        <p:spPr>
          <a:xfrm>
            <a:off x="548640" y="3703320"/>
            <a:ext cx="11094415" cy="1463040"/>
          </a:xfrm>
          <a:prstGeom prst="roundRect">
            <a:avLst>
              <a:gd name="adj" fmla="val 5000"/>
            </a:avLst>
          </a:prstGeom>
          <a:solidFill>
            <a:srgbClr val="1E1E2E"/>
          </a:solidFill>
          <a:ln w="12700">
            <a:solidFill>
              <a:srgbClr val="1E1E2E"/>
            </a:solidFill>
            <a:prstDash val="solid"/>
          </a:ln>
        </p:spPr>
      </p:sp>
      <p:sp>
        <p:nvSpPr>
          <p:cNvPr id="21" name="Text 15"/>
          <p:cNvSpPr txBox="1"/>
          <p:nvPr/>
        </p:nvSpPr>
        <p:spPr>
          <a:xfrm>
            <a:off x="731520" y="377647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dal tuo computer, con il login SSO</a:t>
            </a:r>
            <a:endParaRPr lang="en-US" sz="1300" dirty="0"/>
          </a:p>
        </p:txBody>
      </p:sp>
      <p:sp>
        <p:nvSpPr>
          <p:cNvPr id="22" name="Text 16"/>
          <p:cNvSpPr txBox="1"/>
          <p:nvPr/>
        </p:nvSpPr>
        <p:spPr>
          <a:xfrm>
            <a:off x="731520" y="4114800"/>
            <a:ext cx="10728655" cy="91440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export PGPASSWORD=$(aws rds generate-db-auth-token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--hostname "$(terraform output -raw db_address)" --port 5432 --username mario)</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psql "host=… dbname=app user=mario sslmode=verify-full …"</a:t>
            </a:r>
            <a:endParaRPr lang="en-US" sz="1600" dirty="0"/>
          </a:p>
        </p:txBody>
      </p:sp>
      <p:sp>
        <p:nvSpPr>
          <p:cNvPr id="23" name="Shape 17"/>
          <p:cNvSpPr/>
          <p:nvPr/>
        </p:nvSpPr>
        <p:spPr>
          <a:xfrm>
            <a:off x="548640" y="5349240"/>
            <a:ext cx="11094415" cy="777240"/>
          </a:xfrm>
          <a:prstGeom prst="roundRect">
            <a:avLst>
              <a:gd name="adj" fmla="val 11765"/>
            </a:avLst>
          </a:prstGeom>
          <a:solidFill>
            <a:srgbClr val="E5F4EC"/>
          </a:solidFill>
          <a:ln w="12700">
            <a:solidFill>
              <a:srgbClr val="E5F4EC"/>
            </a:solidFill>
            <a:prstDash val="solid"/>
          </a:ln>
        </p:spPr>
      </p:sp>
      <p:sp>
        <p:nvSpPr>
          <p:cNvPr id="24" name="Text 18"/>
          <p:cNvSpPr txBox="1"/>
          <p:nvPr/>
        </p:nvSpPr>
        <p:spPr>
          <a:xfrm>
            <a:off x="822960" y="5349240"/>
            <a:ext cx="10545775" cy="77724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Ogni persona con il suo nome, nessuna password, un token che scade in 15 minuti.</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Chi si è collegato al database martedì alle 15?</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Appendice A · IAM avanzato e audit</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120640"/>
                <a:gridCol w="5971032"/>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Registro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Cosa dice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Log di PostgreSQL (lezione 10)</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connessione da 10.20.10.7, utente dbadmin</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10.20.10.7 = il router Tailscale (lezione 5)</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quindi: "qualcuno in VPN"</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CloudTrail</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chi ha letto il segreto con la password, e quando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Tailscale → Logs</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chi ha cambiato la policy · quale dispositivo (piani a pagamento)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58368">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Con l'autenticazione IAM</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il log di PostgreSQL dice già: mario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5486400"/>
            <a:ext cx="11094415" cy="54864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Orologi in UTC dappertutto, e log conservati abbastanza a lungo da rispondere settimane dopo.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Appendice A · IAM avanzato e audit</a:t>
            </a:r>
            <a:endParaRPr lang="en-US" sz="1000" dirty="0"/>
          </a:p>
        </p:txBody>
      </p:sp>
      <p:sp>
        <p:nvSpPr>
          <p:cNvPr id="5" name="Shape 2"/>
          <p:cNvSpPr/>
          <p:nvPr/>
        </p:nvSpPr>
        <p:spPr>
          <a:xfrm>
            <a:off x="548640" y="141732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4173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28016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terraform apply</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chiave e alias; topic e database modificati</a:t>
            </a:r>
            <a:endParaRPr lang="en-US" sz="1700" dirty="0"/>
          </a:p>
        </p:txBody>
      </p:sp>
      <p:sp>
        <p:nvSpPr>
          <p:cNvPr id="8" name="Shape 5"/>
          <p:cNvSpPr/>
          <p:nvPr/>
        </p:nvSpPr>
        <p:spPr>
          <a:xfrm>
            <a:off x="548640" y="2221992"/>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221992"/>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2084832"/>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Allarme forzato, chiave nostra</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la mail arriva; senza lo statement di CloudWatch, no</a:t>
            </a:r>
            <a:endParaRPr lang="en-US" sz="1700" dirty="0"/>
          </a:p>
        </p:txBody>
      </p:sp>
      <p:sp>
        <p:nvSpPr>
          <p:cNvPr id="11" name="Shape 8"/>
          <p:cNvSpPr/>
          <p:nvPr/>
        </p:nvSpPr>
        <p:spPr>
          <a:xfrm>
            <a:off x="548640" y="3026664"/>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3026664"/>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325880" y="2889504"/>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Il tuo utente nel database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CREATE USER mario · token · select current_user → mario</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Riepilogo</a:t>
            </a:r>
            <a:endParaRPr lang="en-US" sz="3600" dirty="0"/>
          </a:p>
        </p:txBody>
      </p:sp>
      <p:sp>
        <p:nvSpPr>
          <p:cNvPr id="3" name="Text 1"/>
          <p:cNvSpPr txBox="1"/>
          <p:nvPr/>
        </p:nvSpPr>
        <p:spPr>
          <a:xfrm>
            <a:off x="548640" y="1463040"/>
            <a:ext cx="694944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Condition key: "solo se…"; con le etichette, ABAC</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Boundary e SCP: tetti che tolgono, anche all'amministratore</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Log incrociati: PostgreSQL, Flow Logs, Tailscale, CloudTrail</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Chiave KMS tua: key policy da root, poi i servizi</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Database con IAM: ogni persona col suo nome, token di 15 minuti</a:t>
            </a:r>
            <a:endParaRPr lang="en-US" sz="1800" dirty="0"/>
          </a:p>
        </p:txBody>
      </p:sp>
      <p:sp>
        <p:nvSpPr>
          <p:cNvPr id="4" name="Shape 2"/>
          <p:cNvSpPr/>
          <p:nvPr/>
        </p:nvSpPr>
        <p:spPr>
          <a:xfrm>
            <a:off x="7955280" y="1463040"/>
            <a:ext cx="3685032" cy="2103120"/>
          </a:xfrm>
          <a:prstGeom prst="roundRect">
            <a:avLst>
              <a:gd name="adj" fmla="val 5217"/>
            </a:avLst>
          </a:prstGeom>
          <a:solidFill>
            <a:srgbClr val="2A2F55"/>
          </a:solidFill>
          <a:ln w="12700">
            <a:solidFill>
              <a:srgbClr val="2A2F55"/>
            </a:solidFill>
            <a:prstDash val="solid"/>
          </a:ln>
        </p:spPr>
      </p:sp>
      <p:sp>
        <p:nvSpPr>
          <p:cNvPr id="5" name="Text 3"/>
          <p:cNvSpPr txBox="1"/>
          <p:nvPr/>
        </p:nvSpPr>
        <p:spPr>
          <a:xfrm>
            <a:off x="8183880" y="1645920"/>
            <a:ext cx="3291840" cy="1737360"/>
          </a:xfrm>
          <a:prstGeom prst="rect">
            <a:avLst/>
          </a:prstGeom>
          <a:noFill/>
          <a:ln/>
        </p:spPr>
        <p:txBody>
          <a:bodyPr wrap="square" lIns="0" tIns="0" rIns="0" bIns="0" rtlCol="0" anchor="t"/>
          <a:lstStyle/>
          <a:p>
            <a:pPr indent="0" marL="0">
              <a:buNone/>
            </a:pPr>
            <a:r>
              <a:rPr lang="en-US" sz="1600" b="1" dirty="0">
                <a:solidFill>
                  <a:srgbClr val="F28C28"/>
                </a:solidFill>
                <a:latin typeface="Calibri" pitchFamily="34" charset="0"/>
                <a:ea typeface="Calibri" pitchFamily="34" charset="-122"/>
                <a:cs typeface="Calibri" pitchFamily="34" charset="-120"/>
              </a:rPr>
              <a:t>Materiale di studio</a:t>
            </a:r>
            <a:endParaRPr lang="en-US" sz="1600" dirty="0"/>
          </a:p>
          <a:p>
            <a:pPr indent="0" marL="0">
              <a:buNone/>
            </a:pPr>
            <a:r>
              <a:rPr lang="en-US" sz="1400" dirty="0">
                <a:solidFill>
                  <a:srgbClr val="FFFFFF"/>
                </a:solidFill>
                <a:latin typeface="Courier New" pitchFamily="34" charset="0"/>
                <a:ea typeface="Courier New" pitchFamily="34" charset="-122"/>
                <a:cs typeface="Courier New" pitchFamily="34" charset="-120"/>
              </a:rPr>
              <a:t>dispense/appendice-a-iam-audit.md</a:t>
            </a:r>
            <a:endParaRPr lang="en-US" sz="1600" dirty="0"/>
          </a:p>
        </p:txBody>
      </p:sp>
      <p:sp>
        <p:nvSpPr>
          <p:cNvPr id="6" name="Shape 4"/>
          <p:cNvSpPr/>
          <p:nvPr/>
        </p:nvSpPr>
        <p:spPr>
          <a:xfrm>
            <a:off x="7955280" y="3840480"/>
            <a:ext cx="3685032" cy="1463040"/>
          </a:xfrm>
          <a:prstGeom prst="roundRect">
            <a:avLst>
              <a:gd name="adj" fmla="val 7500"/>
            </a:avLst>
          </a:prstGeom>
          <a:solidFill>
            <a:srgbClr val="5B3FD0"/>
          </a:solidFill>
          <a:ln w="12700">
            <a:solidFill>
              <a:srgbClr val="5B3FD0"/>
            </a:solidFill>
            <a:prstDash val="solid"/>
          </a:ln>
        </p:spPr>
      </p:sp>
      <p:sp>
        <p:nvSpPr>
          <p:cNvPr id="7" name="Text 5"/>
          <p:cNvSpPr txBox="1"/>
          <p:nvPr/>
        </p:nvSpPr>
        <p:spPr>
          <a:xfrm>
            <a:off x="8183880" y="4023360"/>
            <a:ext cx="3291840" cy="1097280"/>
          </a:xfrm>
          <a:prstGeom prst="rect">
            <a:avLst/>
          </a:prstGeom>
          <a:noFill/>
          <a:ln/>
        </p:spPr>
        <p:txBody>
          <a:bodyPr wrap="square" lIns="0" tIns="0" rIns="0" bIns="0" rtlCol="0" anchor="t"/>
          <a:lstStyle/>
          <a:p>
            <a:pPr indent="0" marL="0">
              <a:buNone/>
            </a:pPr>
            <a:r>
              <a:rPr lang="en-US" sz="1400" b="1" dirty="0">
                <a:solidFill>
                  <a:srgbClr val="D9D2FF"/>
                </a:solidFill>
                <a:latin typeface="Calibri" pitchFamily="34" charset="0"/>
                <a:ea typeface="Calibri" pitchFamily="34" charset="-122"/>
                <a:cs typeface="Calibri" pitchFamily="34" charset="-120"/>
              </a:rPr>
              <a:t>Prossima lezione</a:t>
            </a:r>
            <a:endParaRPr lang="en-US" sz="1400" dirty="0"/>
          </a:p>
          <a:p>
            <a:pPr indent="0" marL="0">
              <a:buNone/>
            </a:pPr>
            <a:r>
              <a:rPr lang="en-US" sz="1800" b="1" dirty="0">
                <a:solidFill>
                  <a:srgbClr val="FFFFFF"/>
                </a:solidFill>
                <a:latin typeface="Calibri" pitchFamily="34" charset="0"/>
                <a:ea typeface="Calibri" pitchFamily="34" charset="-122"/>
                <a:cs typeface="Calibri" pitchFamily="34" charset="-120"/>
              </a:rPr>
              <a:t>Fine del corso: buon lavoro!</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cereZ23</dc:creator>
  <cp:lastModifiedBy>cereZ23</cp:lastModifiedBy>
  <cp:revision>1</cp:revision>
  <dcterms:created xsi:type="dcterms:W3CDTF">2026-10-09T10:15:53Z</dcterms:created>
  <dcterms:modified xsi:type="dcterms:W3CDTF">2026-10-09T10:15:53Z</dcterms:modified>
</cp:coreProperties>
</file>