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L'appendice raccoglie gli argomenti a cui le lezioni rimandano. Servono quando il progetto cresce, quando lavorano più persone o più account, o quando qualcosa viene negato e bisogna capire perché, o chi ha fatto cosa. Le sezioni sono indipendenti: si possono vedere una alla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condition key è una domanda che IAM si fa sulla richiesta. Quelle che iniziano con aws valgono per tutti i servizi; le altre hanno il prefisso del servizio. Le più utili: ha fatto login con MFA? in quale regione? da quale indirizzo? è cifrata? arriva da questo VPC endpoint? E le etichette: con aws PrincipalTag e aws ResourceTag si scrive una regola come puoi fermare i server che hanno la tua stessa etichetta team. Una policy sola vale per tutti i team: si chiama ABAC.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Esistono due livelli che non danno mai permessi: possono solo togliere. Sono tetti: sotto valgono le policy normali, sopra niente, nemmeno per un amministratore. Il permission boundary si attacca a un utente o a un role: è il limite di spesa della tua carta aziendale. Serve a delegare: uno sviluppatore può creare role, ma solo con quel boundary, così non può crearsi un role amministratore. La SCP si attacca a un intero account, con AWS Organizations: è il regolamento della sede, vale per tutti. Esempi classici: solo le regioni che usiamo, nessuno può spegnere CloudTrail.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l'ordine completo. C'è un Deny esplicito in una qualunque policy? Negata. La SCP dell'account la permette? Se no, negata. Il boundary la permette? Se no, negata. C'è un Allow, nella policy di chi chiede o in quella della risorsa? Se no, negata. Solo se supera tutto, passa. Tra account diversi serve un Allow da tutte e due le parti: come il capo che ti manda e l'altra azienda che ti aspetta.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passi. Uno: leggi tutto il messaggio, spesso dice già il motivo: nessun Allow, un Deny esplicito, una SCP, un boundary. Due: se è codificato, come fa EC2, si decodifica con sts decode-authorization-message. Tre: cercalo in CloudTrail, Event history: l'evento negato ha errorCode AccessDenied e dice chi, da dove e quando. Quattro: il Policy simulator di IAM, per provare la correzione prima di farla.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L'Event history c'è sempre, ma tiene 90 giorni e solo gli eventi di gestione. Un trail scrive tutto in un bucket S3, per quanto tempo vuoi, in tutte le regioni, con un file di firme ogni ora per dimostrare che nessuno ha toccato i log. E può registrare i data event, cioè le letture e scritture dei file: si pagano per numero, quindi solo dove contano. Noi sul bucket degli artefatti. Il bucket dei log ha una bucket policy che permette di scrivere solo al nostro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chiave tua serve per decidere chi la usa, per condividere uno snapshot con un altro account, per SNS cifrato con gli allarmi, e per vedere ogni suo uso in CloudTrail. La key policy parte sempre dallo stesso statement: l'account, root, può tutto. Non vuol dire che l'utente root la usi: vuol dire che da lì decidono le policy IAM dell'account. Senza, nemmeno l'amministratore potrebbe usarla. Poi si aggiungono i servizi: per gli allarmi CloudWatch e il service-linked role dell'Auto Scaling. La rotazione annuale la fa AWS da solo. Per RDS la chiave si sceglie solo alla creazione.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un solo utente dbadmin, nei log del database risulta sempre dbadmin, e quando qualcuno se ne va bisogna cambiare la password a tutti. Con l'autenticazione IAM ogni persona ha il suo utente nel database, e invece della password usa un token generato con il suo login AWS, valido 15 minuti. Servono tre cose: l'opzione sul database, un utente con il ruolo rds_iam, e il permesso rds-db connect. L'applicazione può restare con la password di Secrets Manager: l'autenticazione IAM dà il meglio con le persone.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pezzo tiene il suo registro, e nessuno da solo risponde. PostgreSQL dice: dbadmin, dall'indirizzo 10.20.10.7. Quell'indirizzo è il router Tailscale: quindi qualcuno in VPN. CloudTrail dice chi ha letto la password poco prima. I log di Tailscale, se il piano li include, dicono quale dispositivo. Con l'autenticazione IAM, la risposta sta già nel log di PostgreSQL: mario. È uno dei motivi migliori per usarla.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è nell'appendice. Uno: apply. Due: dal server, list-secrets viene negato; lo trovate in CloudTrail. Tre: stop-instances dal server dà un messaggio codificato; lo decodificate dal vostro computer. Quattro: il Policy simulator dice denied per ListBucket e allowed per GetObject. Cinque: il trail scrive nel bucket. Sei: gli allarmi arrivano anche con la chiave vostra. Sette: create il vostro utente nel database ed entrate con un token. Otto: pulizia; la chiave KMS resta in attesa di cancellazione per 30 giorni.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l'appendice A. Con questa si chiude il corso: avete costruito, con un unico progetto Terraform, un'infrastruttura AWS completa, dalla rete al deploy, agli allarmi. Il passo successivo è provarla davvero, lezione per lezione, in un account di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A</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Appendice A · IAM avanzato e audit</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IAM avanzato e audit</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Quando il progetto cresce: limiti, account diversi, AccessDenied, registri, chiavi tue, database senza password</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condition key: "solo 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754880"/>
                <a:gridCol w="3108960"/>
                <a:gridCol w="3227832"/>
              </a:tblGrid>
              <a:tr h="65836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Condition key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Domanda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Esempio d'uso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aws:MultiFactorAuthPresent</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login con MFA?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operazioni delicate solo con MFA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aws:RequestedRegion</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 quale regione?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vietare le regioni che non usi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aws:SecureTransport</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è cifrata?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bucket e file system solo in TLS (lezioni 7, 11)</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aws:SourceVpce</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da questo VPC endpoint?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 bucket raggiungibile solo dal VPC</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aws:PrincipalTag · aws:ResourceTag</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che etichette hanno chi chiede e la risorsa?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ABAC: "solo i server del tuo team"</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48640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aws:… = valgono per tutti i servizi · s3:…, ec2:…, rds:… = del singolo servizio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"tetti": permission boundary e SCP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sp>
        <p:nvSpPr>
          <p:cNvPr id="5" name="Shape 2"/>
          <p:cNvSpPr/>
          <p:nvPr/>
        </p:nvSpPr>
        <p:spPr>
          <a:xfrm>
            <a:off x="548640" y="1371600"/>
            <a:ext cx="5440680" cy="2743200"/>
          </a:xfrm>
          <a:prstGeom prst="roundRect">
            <a:avLst>
              <a:gd name="adj" fmla="val 4000"/>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Permission boundary</a:t>
            </a:r>
            <a:endParaRPr lang="en-US" sz="1800" dirty="0"/>
          </a:p>
        </p:txBody>
      </p:sp>
      <p:sp>
        <p:nvSpPr>
          <p:cNvPr id="9" name="Text 5"/>
          <p:cNvSpPr txBox="1"/>
          <p:nvPr/>
        </p:nvSpPr>
        <p:spPr>
          <a:xfrm>
            <a:off x="777240" y="228600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su un utente o un role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"il limite della tua carta aziendale"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per delegare: crei role, ma solo con questo tetto</a:t>
            </a:r>
            <a:endParaRPr lang="en-US" sz="1500" dirty="0"/>
          </a:p>
        </p:txBody>
      </p:sp>
      <p:sp>
        <p:nvSpPr>
          <p:cNvPr id="10" name="Shape 6"/>
          <p:cNvSpPr/>
          <p:nvPr/>
        </p:nvSpPr>
        <p:spPr>
          <a:xfrm>
            <a:off x="6172200" y="1371600"/>
            <a:ext cx="5468112" cy="2743200"/>
          </a:xfrm>
          <a:prstGeom prst="roundRect">
            <a:avLst>
              <a:gd name="adj" fmla="val 4000"/>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SCP (AWS Organizations)</a:t>
            </a:r>
            <a:endParaRPr lang="en-US" sz="1800" dirty="0"/>
          </a:p>
        </p:txBody>
      </p:sp>
      <p:sp>
        <p:nvSpPr>
          <p:cNvPr id="14" name="Text 9"/>
          <p:cNvSpPr txBox="1"/>
          <p:nvPr/>
        </p:nvSpPr>
        <p:spPr>
          <a:xfrm>
            <a:off x="6400800" y="2286000"/>
            <a:ext cx="5010912"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su un intero account</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"il regolamento della sede": vale per tutti</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solo Milano · nessuno spegne CloudTrail</a:t>
            </a:r>
            <a:endParaRPr lang="en-US" sz="1500" dirty="0"/>
          </a:p>
        </p:txBody>
      </p:sp>
      <p:sp>
        <p:nvSpPr>
          <p:cNvPr id="15" name="Shape 10"/>
          <p:cNvSpPr/>
          <p:nvPr/>
        </p:nvSpPr>
        <p:spPr>
          <a:xfrm>
            <a:off x="548640" y="4389120"/>
            <a:ext cx="11094415" cy="868680"/>
          </a:xfrm>
          <a:prstGeom prst="roundRect">
            <a:avLst>
              <a:gd name="adj" fmla="val 10526"/>
            </a:avLst>
          </a:prstGeom>
          <a:solidFill>
            <a:srgbClr val="FBE9E9"/>
          </a:solidFill>
          <a:ln w="12700">
            <a:solidFill>
              <a:srgbClr val="FBE9E9"/>
            </a:solidFill>
            <a:prstDash val="solid"/>
          </a:ln>
        </p:spPr>
      </p:sp>
      <p:sp>
        <p:nvSpPr>
          <p:cNvPr id="16" name="Text 11"/>
          <p:cNvSpPr txBox="1"/>
          <p:nvPr/>
        </p:nvSpPr>
        <p:spPr>
          <a:xfrm>
            <a:off x="822960" y="4389120"/>
            <a:ext cx="10545775" cy="86868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Non danno MAI permessi: possono solo togliere. Anche a un amministratore.</a:t>
            </a:r>
            <a:endParaRPr lang="en-US" sz="2000" dirty="0"/>
          </a:p>
        </p:txBody>
      </p:sp>
      <p:sp>
        <p:nvSpPr>
          <p:cNvPr id="17" name="Text 12"/>
          <p:cNvSpPr txBox="1"/>
          <p:nvPr/>
        </p:nvSpPr>
        <p:spPr>
          <a:xfrm>
            <a:off x="548640" y="544068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C'è anche la session policy: restringe una singola sessione quando si assume un role.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decide IAM, con i tetti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sp>
        <p:nvSpPr>
          <p:cNvPr id="5" name="Shape 2"/>
          <p:cNvSpPr/>
          <p:nvPr/>
        </p:nvSpPr>
        <p:spPr>
          <a:xfrm>
            <a:off x="548640" y="1463040"/>
            <a:ext cx="594360" cy="594360"/>
          </a:xfrm>
          <a:prstGeom prst="ellipse">
            <a:avLst/>
          </a:prstGeom>
          <a:solidFill>
            <a:srgbClr val="D64545"/>
          </a:solidFill>
          <a:ln w="12700">
            <a:solidFill>
              <a:srgbClr val="D64545"/>
            </a:solidFill>
            <a:prstDash val="solid"/>
          </a:ln>
        </p:spPr>
      </p:sp>
      <p:sp>
        <p:nvSpPr>
          <p:cNvPr id="6" name="Text 3"/>
          <p:cNvSpPr txBox="1"/>
          <p:nvPr/>
        </p:nvSpPr>
        <p:spPr>
          <a:xfrm>
            <a:off x="54864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258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C'è un Deny esplicito?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negata</a:t>
            </a:r>
            <a:endParaRPr lang="en-US" sz="1700" dirty="0"/>
          </a:p>
        </p:txBody>
      </p:sp>
      <p:sp>
        <p:nvSpPr>
          <p:cNvPr id="8" name="Shape 5"/>
          <p:cNvSpPr/>
          <p:nvPr/>
        </p:nvSpPr>
        <p:spPr>
          <a:xfrm>
            <a:off x="548640" y="237744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377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2402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La SCP la permette?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se no: negata (SCP)</a:t>
            </a:r>
            <a:endParaRPr lang="en-US" sz="1700" dirty="0"/>
          </a:p>
        </p:txBody>
      </p:sp>
      <p:sp>
        <p:nvSpPr>
          <p:cNvPr id="11" name="Shape 8"/>
          <p:cNvSpPr/>
          <p:nvPr/>
        </p:nvSpPr>
        <p:spPr>
          <a:xfrm>
            <a:off x="548640" y="329184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2918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1546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Il boundary la permette?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se no: negata (boundary)</a:t>
            </a:r>
            <a:endParaRPr lang="en-US" sz="1700" dirty="0"/>
          </a:p>
        </p:txBody>
      </p:sp>
      <p:sp>
        <p:nvSpPr>
          <p:cNvPr id="14" name="Shape 11"/>
          <p:cNvSpPr/>
          <p:nvPr/>
        </p:nvSpPr>
        <p:spPr>
          <a:xfrm>
            <a:off x="548640" y="420624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2062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0690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C'è un Allow (identità o risorsa)?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se no: negata (nessun Allow)</a:t>
            </a:r>
            <a:endParaRPr lang="en-US" sz="1700" dirty="0"/>
          </a:p>
        </p:txBody>
      </p:sp>
      <p:sp>
        <p:nvSpPr>
          <p:cNvPr id="17" name="Shape 14"/>
          <p:cNvSpPr/>
          <p:nvPr/>
        </p:nvSpPr>
        <p:spPr>
          <a:xfrm>
            <a:off x="548640" y="5074920"/>
            <a:ext cx="5029200" cy="822960"/>
          </a:xfrm>
          <a:prstGeom prst="roundRect">
            <a:avLst>
              <a:gd name="adj" fmla="val 11111"/>
            </a:avLst>
          </a:prstGeom>
          <a:solidFill>
            <a:srgbClr val="E5F4EC"/>
          </a:solidFill>
          <a:ln w="25400">
            <a:solidFill>
              <a:srgbClr val="2E9E6B"/>
            </a:solidFill>
            <a:prstDash val="solid"/>
          </a:ln>
        </p:spPr>
      </p:sp>
      <p:sp>
        <p:nvSpPr>
          <p:cNvPr id="18" name="Text 15"/>
          <p:cNvSpPr txBox="1"/>
          <p:nvPr/>
        </p:nvSpPr>
        <p:spPr>
          <a:xfrm>
            <a:off x="548640" y="5074920"/>
            <a:ext cx="5029200" cy="822960"/>
          </a:xfrm>
          <a:prstGeom prst="rect">
            <a:avLst/>
          </a:prstGeom>
          <a:noFill/>
          <a:ln/>
        </p:spPr>
        <p:txBody>
          <a:bodyPr wrap="square" lIns="76200" tIns="76200" rIns="76200" bIns="76200" rtlCol="0" anchor="ctr"/>
          <a:lstStyle/>
          <a:p>
            <a:pPr algn="ctr" indent="0" marL="0">
              <a:buNone/>
            </a:pPr>
            <a:r>
              <a:rPr lang="en-US" sz="1800" b="1" dirty="0">
                <a:solidFill>
                  <a:srgbClr val="2E9E6B"/>
                </a:solidFill>
                <a:latin typeface="Calibri" pitchFamily="34" charset="0"/>
                <a:ea typeface="Calibri" pitchFamily="34" charset="-122"/>
                <a:cs typeface="Calibri" pitchFamily="34" charset="-120"/>
              </a:rPr>
              <a:t>Supera tutto: PERMESSA</a:t>
            </a:r>
            <a:endParaRPr lang="en-US" sz="1800" dirty="0"/>
          </a:p>
        </p:txBody>
      </p:sp>
      <p:sp>
        <p:nvSpPr>
          <p:cNvPr id="19" name="Shape 16"/>
          <p:cNvSpPr/>
          <p:nvPr/>
        </p:nvSpPr>
        <p:spPr>
          <a:xfrm>
            <a:off x="5852160" y="4846320"/>
            <a:ext cx="5788152" cy="1463040"/>
          </a:xfrm>
          <a:prstGeom prst="roundRect">
            <a:avLst>
              <a:gd name="adj" fmla="val 7500"/>
            </a:avLst>
          </a:prstGeom>
          <a:solidFill>
            <a:srgbClr val="EEEAFB"/>
          </a:solidFill>
          <a:ln w="12700">
            <a:solidFill>
              <a:srgbClr val="EEEAFB"/>
            </a:solidFill>
            <a:prstDash val="solid"/>
          </a:ln>
        </p:spPr>
      </p:sp>
      <p:sp>
        <p:nvSpPr>
          <p:cNvPr id="20" name="Shape 17"/>
          <p:cNvSpPr/>
          <p:nvPr/>
        </p:nvSpPr>
        <p:spPr>
          <a:xfrm>
            <a:off x="6080760" y="5074920"/>
            <a:ext cx="548640" cy="548640"/>
          </a:xfrm>
          <a:prstGeom prst="ellipse">
            <a:avLst/>
          </a:prstGeom>
          <a:solidFill>
            <a:srgbClr val="5B3FD0"/>
          </a:solidFill>
          <a:ln w="12700">
            <a:solidFill>
              <a:srgbClr val="5B3FD0"/>
            </a:solidFill>
            <a:prstDash val="solid"/>
          </a:ln>
        </p:spPr>
      </p:sp>
      <p:pic>
        <p:nvPicPr>
          <p:cNvPr id="21" name="Image 0" descr="preencoded.png">    </p:cNvPr>
          <p:cNvPicPr>
            <a:picLocks noChangeAspect="1"/>
          </p:cNvPicPr>
          <p:nvPr/>
        </p:nvPicPr>
        <p:blipFill>
          <a:blip r:embed="rId1"/>
          <a:stretch>
            <a:fillRect/>
          </a:stretch>
        </p:blipFill>
        <p:spPr>
          <a:xfrm>
            <a:off x="6217920" y="5212080"/>
            <a:ext cx="274320" cy="274320"/>
          </a:xfrm>
          <a:prstGeom prst="rect">
            <a:avLst/>
          </a:prstGeom>
        </p:spPr>
      </p:pic>
      <p:sp>
        <p:nvSpPr>
          <p:cNvPr id="22" name="Text 18"/>
          <p:cNvSpPr txBox="1"/>
          <p:nvPr/>
        </p:nvSpPr>
        <p:spPr>
          <a:xfrm>
            <a:off x="6812280" y="5074920"/>
            <a:ext cx="4599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Tra account diversi</a:t>
            </a:r>
            <a:endParaRPr lang="en-US" sz="1800" dirty="0"/>
          </a:p>
        </p:txBody>
      </p:sp>
      <p:sp>
        <p:nvSpPr>
          <p:cNvPr id="23" name="Text 19"/>
          <p:cNvSpPr txBox="1"/>
          <p:nvPr/>
        </p:nvSpPr>
        <p:spPr>
          <a:xfrm>
            <a:off x="6080760" y="5760720"/>
            <a:ext cx="5330952" cy="365760"/>
          </a:xfrm>
          <a:prstGeom prst="rect">
            <a:avLst/>
          </a:prstGeom>
          <a:noFill/>
          <a:ln/>
        </p:spPr>
        <p:txBody>
          <a:bodyPr wrap="square" lIns="0" tIns="0" rIns="0" bIns="0" rtlCol="0" anchor="t"/>
          <a:lstStyle/>
          <a:p>
            <a:pPr indent="0" marL="0">
              <a:spcAft>
                <a:spcPts val="600"/>
              </a:spcAft>
              <a:buNone/>
            </a:pPr>
            <a:r>
              <a:rPr lang="en-US" sz="1400" dirty="0">
                <a:solidFill>
                  <a:srgbClr val="22253A"/>
                </a:solidFill>
                <a:latin typeface="Calibri" pitchFamily="34" charset="0"/>
                <a:ea typeface="Calibri" pitchFamily="34" charset="-122"/>
                <a:cs typeface="Calibri" pitchFamily="34" charset="-120"/>
              </a:rPr>
              <a:t>serve un Allow da TUTTE E DUE le parti: il capo che ti manda e l'azienda che ti aspetta</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Capire un AccessDenied in quattro passi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sp>
        <p:nvSpPr>
          <p:cNvPr id="5" name="Shape 2"/>
          <p:cNvSpPr/>
          <p:nvPr/>
        </p:nvSpPr>
        <p:spPr>
          <a:xfrm>
            <a:off x="548640" y="150876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508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7160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Leggi tutto il messaggio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"no identity-based policy allows" · "explicit deny" · "service control policy" · "permissions boundary"</a:t>
            </a:r>
            <a:endParaRPr lang="en-US" sz="1700" dirty="0"/>
          </a:p>
        </p:txBody>
      </p:sp>
      <p:sp>
        <p:nvSpPr>
          <p:cNvPr id="8" name="Shape 5"/>
          <p:cNvSpPr/>
          <p:nvPr/>
        </p:nvSpPr>
        <p:spPr>
          <a:xfrm>
            <a:off x="548640" y="256032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560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4231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Codificato? Decodificalo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 sts decode-authorization-message --encoded-message "…"</a:t>
            </a:r>
            <a:endParaRPr lang="en-US" sz="1700" dirty="0"/>
          </a:p>
        </p:txBody>
      </p:sp>
      <p:sp>
        <p:nvSpPr>
          <p:cNvPr id="11" name="Shape 8"/>
          <p:cNvSpPr/>
          <p:nvPr/>
        </p:nvSpPr>
        <p:spPr>
          <a:xfrm>
            <a:off x="548640" y="361188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6118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4747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Trovalo in CloudTrail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Event history · errorCode: AccessDenied · chi, da dove, quando</a:t>
            </a:r>
            <a:endParaRPr lang="en-US" sz="1700" dirty="0"/>
          </a:p>
        </p:txBody>
      </p:sp>
      <p:sp>
        <p:nvSpPr>
          <p:cNvPr id="14" name="Shape 11"/>
          <p:cNvSpPr/>
          <p:nvPr/>
        </p:nvSpPr>
        <p:spPr>
          <a:xfrm>
            <a:off x="548640" y="466344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663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5262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Prova la correzione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IAM → Policy simulator: allowed o denied, e quale policy decide</a:t>
            </a:r>
            <a:endParaRPr lang="en-US" sz="1700" dirty="0"/>
          </a:p>
        </p:txBody>
      </p:sp>
      <p:sp>
        <p:nvSpPr>
          <p:cNvPr id="17" name="Text 14"/>
          <p:cNvSpPr txBox="1"/>
          <p:nvPr/>
        </p:nvSpPr>
        <p:spPr>
          <a:xfrm>
            <a:off x="548640" y="5715000"/>
            <a:ext cx="11094415" cy="45720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Event history: solo eventi di gestione, 90 giorni. Le letture dei file in S3 (data event) solo con un trail.</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CloudTrail per davvero: un trail</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657600"/>
                <a:gridCol w="3474720"/>
                <a:gridCol w="3959352"/>
              </a:tblGrid>
              <a:tr h="457200">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Event history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Trail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45720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Quanto tempo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90 giorni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quanto vuoi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Eventi di gestione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45720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Data event (file in S3…)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sì, dove li scegli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45720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Tutte le regioni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alla volta, in console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sì, in un bucket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45720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Firme anti-manomissione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log file validation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206240"/>
            <a:ext cx="11094415" cy="2148840"/>
          </a:xfrm>
          <a:prstGeom prst="roundRect">
            <a:avLst>
              <a:gd name="adj" fmla="val 3404"/>
            </a:avLst>
          </a:prstGeom>
          <a:solidFill>
            <a:srgbClr val="1E1E2E"/>
          </a:solidFill>
          <a:ln w="12700">
            <a:solidFill>
              <a:srgbClr val="1E1E2E"/>
            </a:solidFill>
            <a:prstDash val="solid"/>
          </a:ln>
        </p:spPr>
      </p:sp>
      <p:sp>
        <p:nvSpPr>
          <p:cNvPr id="7" name="Text 3"/>
          <p:cNvSpPr txBox="1"/>
          <p:nvPr/>
        </p:nvSpPr>
        <p:spPr>
          <a:xfrm>
            <a:off x="731520" y="427939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audit.tf (in breve)</a:t>
            </a:r>
            <a:endParaRPr lang="en-US" sz="1300" dirty="0"/>
          </a:p>
        </p:txBody>
      </p:sp>
      <p:sp>
        <p:nvSpPr>
          <p:cNvPr id="8" name="Text 4"/>
          <p:cNvSpPr txBox="1"/>
          <p:nvPr/>
        </p:nvSpPr>
        <p:spPr>
          <a:xfrm>
            <a:off x="731520" y="4617720"/>
            <a:ext cx="10728655" cy="16002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event_selector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include_management_events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data_resource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"AWS::S3::Object"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values = ["${aws_s3_bucket.artifacts.arn}/"]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Una chiave KMS tua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sp>
        <p:nvSpPr>
          <p:cNvPr id="5" name="Shape 2"/>
          <p:cNvSpPr/>
          <p:nvPr/>
        </p:nvSpPr>
        <p:spPr>
          <a:xfrm>
            <a:off x="548640" y="1371600"/>
            <a:ext cx="5440680" cy="2377440"/>
          </a:xfrm>
          <a:prstGeom prst="roundRect">
            <a:avLst>
              <a:gd name="adj" fmla="val 4615"/>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Quando serve</a:t>
            </a:r>
            <a:endParaRPr lang="en-US" sz="1800" dirty="0"/>
          </a:p>
        </p:txBody>
      </p:sp>
      <p:sp>
        <p:nvSpPr>
          <p:cNvPr id="9" name="Text 5"/>
          <p:cNvSpPr txBox="1"/>
          <p:nvPr/>
        </p:nvSpPr>
        <p:spPr>
          <a:xfrm>
            <a:off x="777240" y="2286000"/>
            <a:ext cx="498348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decidere chi la usa (key policy)</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condividere snapshot con un altro account</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SNS cifrato con gli allarmi (lezione 10)</a:t>
            </a:r>
            <a:endParaRPr lang="en-US" sz="1500" dirty="0"/>
          </a:p>
        </p:txBody>
      </p:sp>
      <p:sp>
        <p:nvSpPr>
          <p:cNvPr id="10" name="Shape 6"/>
          <p:cNvSpPr/>
          <p:nvPr/>
        </p:nvSpPr>
        <p:spPr>
          <a:xfrm>
            <a:off x="6172200" y="1371600"/>
            <a:ext cx="5468112" cy="2377440"/>
          </a:xfrm>
          <a:prstGeom prst="roundRect">
            <a:avLst>
              <a:gd name="adj" fmla="val 4615"/>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 key policy, sempre così</a:t>
            </a:r>
            <a:endParaRPr lang="en-US" sz="1800" dirty="0"/>
          </a:p>
        </p:txBody>
      </p:sp>
      <p:sp>
        <p:nvSpPr>
          <p:cNvPr id="14" name="Text 9"/>
          <p:cNvSpPr txBox="1"/>
          <p:nvPr/>
        </p:nvSpPr>
        <p:spPr>
          <a:xfrm>
            <a:off x="6400800" y="2286000"/>
            <a:ext cx="5010912"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l'account (root) può tutto → decide IAM</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2. i servizi che la usano (CloudWatch, Auto Scaling)</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senza la 1, nemmeno l'admin la usa</a:t>
            </a:r>
            <a:endParaRPr lang="en-US" sz="1500" dirty="0"/>
          </a:p>
        </p:txBody>
      </p:sp>
      <p:sp>
        <p:nvSpPr>
          <p:cNvPr id="15" name="Shape 10"/>
          <p:cNvSpPr/>
          <p:nvPr/>
        </p:nvSpPr>
        <p:spPr>
          <a:xfrm>
            <a:off x="548640" y="3977640"/>
            <a:ext cx="11094415" cy="1463040"/>
          </a:xfrm>
          <a:prstGeom prst="roundRect">
            <a:avLst>
              <a:gd name="adj" fmla="val 5000"/>
            </a:avLst>
          </a:prstGeom>
          <a:solidFill>
            <a:srgbClr val="1E1E2E"/>
          </a:solidFill>
          <a:ln w="12700">
            <a:solidFill>
              <a:srgbClr val="1E1E2E"/>
            </a:solidFill>
            <a:prstDash val="solid"/>
          </a:ln>
        </p:spPr>
      </p:sp>
      <p:sp>
        <p:nvSpPr>
          <p:cNvPr id="16" name="Text 11"/>
          <p:cNvSpPr txBox="1"/>
          <p:nvPr/>
        </p:nvSpPr>
        <p:spPr>
          <a:xfrm>
            <a:off x="731520" y="405079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monitoring.tf</a:t>
            </a:r>
            <a:endParaRPr lang="en-US" sz="1300" dirty="0"/>
          </a:p>
        </p:txBody>
      </p:sp>
      <p:sp>
        <p:nvSpPr>
          <p:cNvPr id="17" name="Text 12"/>
          <p:cNvSpPr txBox="1"/>
          <p:nvPr/>
        </p:nvSpPr>
        <p:spPr>
          <a:xfrm>
            <a:off x="731520" y="4389120"/>
            <a:ext cx="10728655" cy="9144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"aws_sns_topic" "alerts"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"${var.project}-alerts"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kms_master_key_id = aws_kms_alias.alerts.name     </a:t>
            </a:r>
            <a:pPr indent="0" marL="0">
              <a:buNone/>
            </a:pPr>
            <a:r>
              <a:rPr lang="en-US" sz="1600" dirty="0">
                <a:solidFill>
                  <a:srgbClr val="8FD694"/>
                </a:solidFill>
                <a:latin typeface="Courier New" pitchFamily="34" charset="0"/>
                <a:ea typeface="Courier New" pitchFamily="34" charset="-122"/>
                <a:cs typeface="Courier New" pitchFamily="34" charset="-120"/>
              </a:rPr>
              <a:t># la chiave nostra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Text 13"/>
          <p:cNvSpPr txBox="1"/>
          <p:nvPr/>
        </p:nvSpPr>
        <p:spPr>
          <a:xfrm>
            <a:off x="548640" y="557784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RDS: la chiave si sceglie alla creazione. Per cambiarla: snapshot → copia cifrata → database nuovo.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Nel database con IAM, senza password</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sp>
        <p:nvSpPr>
          <p:cNvPr id="5" name="Shape 2"/>
          <p:cNvSpPr/>
          <p:nvPr/>
        </p:nvSpPr>
        <p:spPr>
          <a:xfrm>
            <a:off x="548640" y="1371600"/>
            <a:ext cx="356616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Sul database</a:t>
            </a:r>
            <a:endParaRPr lang="en-US" sz="1800" dirty="0"/>
          </a:p>
        </p:txBody>
      </p:sp>
      <p:sp>
        <p:nvSpPr>
          <p:cNvPr id="9" name="Text 5"/>
          <p:cNvSpPr txBox="1"/>
          <p:nvPr/>
        </p:nvSpPr>
        <p:spPr>
          <a:xfrm>
            <a:off x="777240" y="2286000"/>
            <a:ext cx="3108960" cy="1005840"/>
          </a:xfrm>
          <a:prstGeom prst="rect">
            <a:avLst/>
          </a:prstGeom>
          <a:noFill/>
          <a:ln/>
        </p:spPr>
        <p:txBody>
          <a:bodyPr wrap="square" lIns="0" tIns="0" rIns="0" bIns="0" rtlCol="0" anchor="t"/>
          <a:lstStyle/>
          <a:p>
            <a:pPr indent="0" marL="0">
              <a:spcAft>
                <a:spcPts val="600"/>
              </a:spcAft>
              <a:buNone/>
            </a:pPr>
            <a:r>
              <a:rPr lang="en-US" sz="1400" dirty="0">
                <a:solidFill>
                  <a:srgbClr val="22253A"/>
                </a:solidFill>
                <a:latin typeface="Calibri" pitchFamily="34" charset="0"/>
                <a:ea typeface="Calibri" pitchFamily="34" charset="-122"/>
                <a:cs typeface="Calibri" pitchFamily="34" charset="-120"/>
              </a:rPr>
              <a:t>iam_database_authentication_enabled = true</a:t>
            </a:r>
            <a:endParaRPr lang="en-US" sz="1400" dirty="0"/>
          </a:p>
        </p:txBody>
      </p:sp>
      <p:sp>
        <p:nvSpPr>
          <p:cNvPr id="10" name="Shape 6"/>
          <p:cNvSpPr/>
          <p:nvPr/>
        </p:nvSpPr>
        <p:spPr>
          <a:xfrm>
            <a:off x="4297680" y="1371600"/>
            <a:ext cx="356616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4526280" y="160020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Nel database</a:t>
            </a:r>
            <a:endParaRPr lang="en-US" sz="1800" dirty="0"/>
          </a:p>
        </p:txBody>
      </p:sp>
      <p:sp>
        <p:nvSpPr>
          <p:cNvPr id="14" name="Text 9"/>
          <p:cNvSpPr txBox="1"/>
          <p:nvPr/>
        </p:nvSpPr>
        <p:spPr>
          <a:xfrm>
            <a:off x="4526280" y="2286000"/>
            <a:ext cx="3108960" cy="1005840"/>
          </a:xfrm>
          <a:prstGeom prst="rect">
            <a:avLst/>
          </a:prstGeom>
          <a:noFill/>
          <a:ln/>
        </p:spPr>
        <p:txBody>
          <a:bodyPr wrap="square" lIns="0" tIns="0" rIns="0" bIns="0" rtlCol="0" anchor="t"/>
          <a:lstStyle/>
          <a:p>
            <a:pPr indent="0" marL="0">
              <a:spcAft>
                <a:spcPts val="600"/>
              </a:spcAft>
              <a:buNone/>
            </a:pPr>
            <a:r>
              <a:rPr lang="en-US" sz="1400" dirty="0">
                <a:solidFill>
                  <a:srgbClr val="22253A"/>
                </a:solidFill>
                <a:latin typeface="Calibri" pitchFamily="34" charset="0"/>
                <a:ea typeface="Calibri" pitchFamily="34" charset="-122"/>
                <a:cs typeface="Calibri" pitchFamily="34" charset="-120"/>
              </a:rPr>
              <a:t>CREATE USER mario; GRANT rds_iam TO mario;</a:t>
            </a:r>
            <a:endParaRPr lang="en-US" sz="1400" dirty="0"/>
          </a:p>
        </p:txBody>
      </p:sp>
      <p:sp>
        <p:nvSpPr>
          <p:cNvPr id="15" name="Shape 10"/>
          <p:cNvSpPr/>
          <p:nvPr/>
        </p:nvSpPr>
        <p:spPr>
          <a:xfrm>
            <a:off x="8046720" y="1371600"/>
            <a:ext cx="356616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8275320" y="16002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3. In IAM</a:t>
            </a:r>
            <a:endParaRPr lang="en-US" sz="1800" dirty="0"/>
          </a:p>
        </p:txBody>
      </p:sp>
      <p:sp>
        <p:nvSpPr>
          <p:cNvPr id="19" name="Text 13"/>
          <p:cNvSpPr txBox="1"/>
          <p:nvPr/>
        </p:nvSpPr>
        <p:spPr>
          <a:xfrm>
            <a:off x="8275320" y="2286000"/>
            <a:ext cx="3108960" cy="1005840"/>
          </a:xfrm>
          <a:prstGeom prst="rect">
            <a:avLst/>
          </a:prstGeom>
          <a:noFill/>
          <a:ln/>
        </p:spPr>
        <p:txBody>
          <a:bodyPr wrap="square" lIns="0" tIns="0" rIns="0" bIns="0" rtlCol="0" anchor="t"/>
          <a:lstStyle/>
          <a:p>
            <a:pPr indent="0" marL="0">
              <a:spcAft>
                <a:spcPts val="600"/>
              </a:spcAft>
              <a:buNone/>
            </a:pPr>
            <a:r>
              <a:rPr lang="en-US" sz="1400" dirty="0">
                <a:solidFill>
                  <a:srgbClr val="22253A"/>
                </a:solidFill>
                <a:latin typeface="Calibri" pitchFamily="34" charset="0"/>
                <a:ea typeface="Calibri" pitchFamily="34" charset="-122"/>
                <a:cs typeface="Calibri" pitchFamily="34" charset="-120"/>
              </a:rPr>
              <a:t>rds-db:connect su quell'utente</a:t>
            </a:r>
            <a:endParaRPr lang="en-US" sz="1400" dirty="0"/>
          </a:p>
        </p:txBody>
      </p:sp>
      <p:sp>
        <p:nvSpPr>
          <p:cNvPr id="20" name="Shape 14"/>
          <p:cNvSpPr/>
          <p:nvPr/>
        </p:nvSpPr>
        <p:spPr>
          <a:xfrm>
            <a:off x="548640" y="3703320"/>
            <a:ext cx="11094415" cy="1463040"/>
          </a:xfrm>
          <a:prstGeom prst="roundRect">
            <a:avLst>
              <a:gd name="adj" fmla="val 5000"/>
            </a:avLst>
          </a:prstGeom>
          <a:solidFill>
            <a:srgbClr val="1E1E2E"/>
          </a:solidFill>
          <a:ln w="12700">
            <a:solidFill>
              <a:srgbClr val="1E1E2E"/>
            </a:solidFill>
            <a:prstDash val="solid"/>
          </a:ln>
        </p:spPr>
      </p:sp>
      <p:sp>
        <p:nvSpPr>
          <p:cNvPr id="21" name="Text 15"/>
          <p:cNvSpPr txBox="1"/>
          <p:nvPr/>
        </p:nvSpPr>
        <p:spPr>
          <a:xfrm>
            <a:off x="731520" y="37764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dal tuo computer, con il login SSO</a:t>
            </a:r>
            <a:endParaRPr lang="en-US" sz="1300" dirty="0"/>
          </a:p>
        </p:txBody>
      </p:sp>
      <p:sp>
        <p:nvSpPr>
          <p:cNvPr id="22" name="Text 16"/>
          <p:cNvSpPr txBox="1"/>
          <p:nvPr/>
        </p:nvSpPr>
        <p:spPr>
          <a:xfrm>
            <a:off x="731520" y="4114800"/>
            <a:ext cx="10728655" cy="9144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export PGPASSWORD=$(aws rds generate-db-auth-token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--hostname "$(terraform output -raw db_address)" --port 5432 --username mario)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psql "host=… dbname=app user=mario sslmode=verify-full …"</a:t>
            </a:r>
            <a:endParaRPr lang="en-US" sz="1600" dirty="0"/>
          </a:p>
        </p:txBody>
      </p:sp>
      <p:sp>
        <p:nvSpPr>
          <p:cNvPr id="23" name="Shape 17"/>
          <p:cNvSpPr/>
          <p:nvPr/>
        </p:nvSpPr>
        <p:spPr>
          <a:xfrm>
            <a:off x="548640" y="5349240"/>
            <a:ext cx="11094415" cy="777240"/>
          </a:xfrm>
          <a:prstGeom prst="roundRect">
            <a:avLst>
              <a:gd name="adj" fmla="val 11765"/>
            </a:avLst>
          </a:prstGeom>
          <a:solidFill>
            <a:srgbClr val="E5F4EC"/>
          </a:solidFill>
          <a:ln w="12700">
            <a:solidFill>
              <a:srgbClr val="E5F4EC"/>
            </a:solidFill>
            <a:prstDash val="solid"/>
          </a:ln>
        </p:spPr>
      </p:sp>
      <p:sp>
        <p:nvSpPr>
          <p:cNvPr id="24" name="Text 18"/>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Ogni persona con il suo nome, nessuna password, un token che scade in 15 minuti.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si è collegato al database martedì alle 15?</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120640"/>
                <a:gridCol w="5971032"/>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 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Log di PostgreSQL (lezione 10)</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connessione da 10.20.10.7, utente dbadmin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10.20.10.7 = il router Tailscale (lezione 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quindi: "qualcuno in 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CloudTrail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ha letto il segreto con la password, e quando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Tailscale → Logs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ha cambiato la policy · quale dispositivo (piani a pagamento)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Con l'autenticazione IAM</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il log di PostgreSQL dice già: mario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48640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Orologi in UTC dappertutto, e log conservati abbastanza a lungo da rispondere settimane dopo.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Appendice A · IAM avanzato e audit</a:t>
            </a:r>
            <a:endParaRPr lang="en-US" sz="1000" dirty="0"/>
          </a:p>
        </p:txBody>
      </p:sp>
      <p:sp>
        <p:nvSpPr>
          <p:cNvPr id="5" name="Shape 2"/>
          <p:cNvSpPr/>
          <p:nvPr/>
        </p:nvSpPr>
        <p:spPr>
          <a:xfrm>
            <a:off x="548640" y="141732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17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2801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 apply</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bucket e trail, chiave, topic e database modificati</a:t>
            </a:r>
            <a:endParaRPr lang="en-US" sz="1700" dirty="0"/>
          </a:p>
        </p:txBody>
      </p:sp>
      <p:sp>
        <p:nvSpPr>
          <p:cNvPr id="8" name="Shape 5"/>
          <p:cNvSpPr/>
          <p:nvPr/>
        </p:nvSpPr>
        <p:spPr>
          <a:xfrm>
            <a:off x="548640" y="2221992"/>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22199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084832"/>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list-secrets dal server → CloudTrail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AccessDenied: chi, da dove, quando</a:t>
            </a:r>
            <a:endParaRPr lang="en-US" sz="1700" dirty="0"/>
          </a:p>
        </p:txBody>
      </p:sp>
      <p:sp>
        <p:nvSpPr>
          <p:cNvPr id="11" name="Shape 8"/>
          <p:cNvSpPr/>
          <p:nvPr/>
        </p:nvSpPr>
        <p:spPr>
          <a:xfrm>
            <a:off x="548640" y="3026664"/>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026664"/>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2889504"/>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stop-instances → decode-authorization-message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il messaggio codificato, decodificato dal tuo computer</a:t>
            </a:r>
            <a:endParaRPr lang="en-US" sz="1700" dirty="0"/>
          </a:p>
        </p:txBody>
      </p:sp>
      <p:sp>
        <p:nvSpPr>
          <p:cNvPr id="14" name="Shape 11"/>
          <p:cNvSpPr/>
          <p:nvPr/>
        </p:nvSpPr>
        <p:spPr>
          <a:xfrm>
            <a:off x="548640" y="3831336"/>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3831336"/>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3694176"/>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Policy simulator</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ListBucket: denied · GetObject su deploy/: allowed</a:t>
            </a:r>
            <a:endParaRPr lang="en-US" sz="1700" dirty="0"/>
          </a:p>
        </p:txBody>
      </p:sp>
      <p:sp>
        <p:nvSpPr>
          <p:cNvPr id="17" name="Shape 14"/>
          <p:cNvSpPr/>
          <p:nvPr/>
        </p:nvSpPr>
        <p:spPr>
          <a:xfrm>
            <a:off x="548640" y="4636008"/>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46360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498848"/>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Allarme forzato, chiave nostra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mail arriva; senza lo statement di CloudWatch, no</a:t>
            </a:r>
            <a:endParaRPr lang="en-US" sz="1700" dirty="0"/>
          </a:p>
        </p:txBody>
      </p:sp>
      <p:sp>
        <p:nvSpPr>
          <p:cNvPr id="20" name="Shape 17"/>
          <p:cNvSpPr/>
          <p:nvPr/>
        </p:nvSpPr>
        <p:spPr>
          <a:xfrm>
            <a:off x="548640" y="5440680"/>
            <a:ext cx="594360" cy="594360"/>
          </a:xfrm>
          <a:prstGeom prst="ellipse">
            <a:avLst/>
          </a:prstGeom>
          <a:solidFill>
            <a:srgbClr val="5B3FD0"/>
          </a:solidFill>
          <a:ln w="12700">
            <a:solidFill>
              <a:srgbClr val="5B3FD0"/>
            </a:solidFill>
            <a:prstDash val="solid"/>
          </a:ln>
        </p:spPr>
      </p:sp>
      <p:sp>
        <p:nvSpPr>
          <p:cNvPr id="21" name="Text 18"/>
          <p:cNvSpPr txBox="1"/>
          <p:nvPr/>
        </p:nvSpPr>
        <p:spPr>
          <a:xfrm>
            <a:off x="548640" y="54406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Text 19"/>
          <p:cNvSpPr txBox="1"/>
          <p:nvPr/>
        </p:nvSpPr>
        <p:spPr>
          <a:xfrm>
            <a:off x="1325880" y="53035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Il tuo utente nel database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CREATE USER mario · token · select current_user → mario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Condition key: "solo se…"; con le etichette, ABAC</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Boundary e SCP: tetti che tolgono, anche all'amministratore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AccessDenied: messaggio, decodifica, CloudTrail, simulatore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Un trail: tutto, tutte le regioni, firme, data event mirati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Chiave KMS tua: key policy da root, poi i servizi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Database con IAM: ogni persona col suo nome, token di 15 minuti</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dispense/appendice-a-iam-audit.md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Fine del corso: buon lavoro!</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2026-10-08T12:14:45Z</dcterms:created>
  <dcterms:modified xsi:type="dcterms:W3CDTF">2026-10-08T12:14:45Z</dcterms:modified>
</cp:coreProperties>
</file>