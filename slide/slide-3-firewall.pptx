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lezione 2 abbiamo costruito la rete e deciso dove il traffico può andare, con le route table. Oggi decidiamo cosa può passare: i firewall. L'esempio guida è il database: deve accettare connessioni solo dal server dell'applicazione e dagli amministratori in VPN.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Nelle prossime lezioni avremo un server dell'applicazione nelle subnet private, un database nelle subnet database e delle persone collegate da casa con la VPN. Le route table permettono già a tutte le subnet di parlarsi. Ma non vogliamo che chiunque nella rete possa raggiungere il database. Le regole che vogliamo sono queste: il server parla con il database, l'amministratore in VPN anche, nessun altro. Il server può anche chiamare internet sulla 443, solo in uscita: per scaricare gli aggiornamenti di sicurezza e per parlare con i servizi AWS, come SSM, S3 e Secrets Manager, che vedremo nelle prossime lezioni. Nessuno da internet può chiamare lui. Un firewall è proprio questo: un insieme di regole su cosa può passare.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Ricordiamo la differenza. La route table, lezione 2, risponde alla domanda: dove posso andare? È la segnaletica. Il firewall risponde a un'altra domanda: posso passare? È il controllo all'ingresso. Servono tutti e due: una strada aperta non basta se il controllo ti ferma, e un controllo che ti lascia passare non serve se non c'è la strada.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L'indirizzo IP identifica un computer. Ma su un computer possono girare tanti servizi. La porta è il numero che indica a quale servizio è diretta una connessione, come lo sportello di un ufficio. 443 per i siti web cifrati e quasi tutti i servizi AWS; 5432 per il database PostgreSQL; 22 per SSH, l'accesso remoto, che noi non useremo; 8080 per la nostra applicazione. Il protocollo è il tipo di traffico: quasi tutto quello che ci interessa usa TCP.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il server si collega al database succede questo. Il server sceglie per sé una porta a caso, per esempio 51234: si chiama porta effimera, usa e getta, e sta tra 1024 e 65535. Invia la richiesta al database verso la porta 5432. Il database risponde verso la porta 51234 del server. Tenete a mente questo dettaglio: la risposta va verso una porta casuale, non verso la 5432. È la chiave per capire uno dei due firewall.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ha due firewall, che lavorano insieme. Riprendiamo l'edificio della lezione 2. La NACL è il tornello all'ingresso di ogni piano, cioè di ogni subnet: controlla chiunque entri o esca dal piano, con una lista uguale per tutti. Il Security Group è la guardia davanti alla porta di ogni ufficio, cioè di ogni risorsa: conosce le persone e si ricorda chi ha fatto entrare. Un pacchetto, per arrivare a una risorsa, deve superare entrambi.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differenze. Il Security Group sta sulla singola risorsa, la NACL sulla subnet. Il Security Group si ricorda le connessioni, la NACL no: lo vediamo nella prossima slide. Il Security Group ammette solo regole consenti; la NACL anche vieta. Il Security Group considera tutte le regole insieme; la NACL le legge in ordine di numero e applica la prima che corrisponde. Il Security Group può indicare come sorgente un altro Security Group; la NACL solo blocchi di indirizzi. Uso: il Security Group è la protezione principale, la NACL una seconda barriera e i blocchi d'emergenza.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Riprendiamo la connessione: richiesta verso la 5432, risposta verso la porta effimera 51234. Con il Security Group basta una regola: in ingresso, la 5432 dal server. La richiesta entra, il Security Group se la annota, e la risposta passa da sola. Con la NACL no: la NACL non si ricorda niente, la risposta per lei è un pacchetto nuovo che esce verso la porta 51234. Se nessuna regola in uscita consente le porte da 1024 a 65535, la risposta viene scartata e la connessione non funziona, anche se la richiesta era passata. È l'errore più comune con le NACL.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Security Group è un elenco di regole in due gruppi. In ingresso: cosa può arrivare alla risorsa. In uscita: cosa la risorsa può chiamare. Ogni regola dice tre cose: il protocollo, le porte, e da chi, o verso chi. Esistono solo regole consenti: tutto ciò che non è consentito è vietato. Esempio, il database: in ingresso, TCP 5432, da chi ha il Security Group dell'applicazione.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caratteristica più utile dei Security Group. Invece di scrivere: il database accetta la 5432 dall'indirizzo 10.20.10.5, si scrive: il database accetta la 5432 da qualunque risorsa che abbia il Security Group app. Tre vantaggi. Gli indirizzi dei server cambiano, il Security Group no. Se domani i server diventano tre, non tocchi il database: basta che abbiano il Security Group app. E la regola si legge come si pensa: il database accetta l'applicazione.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nostro piano usa tre Security Group. app lo indosserà il server, nella lezione 4: accetta la 8080 dalla VPN; chiama internet sulla 443 e il database sulla 5432. db lo indosserà il database, nella lezione 6: accetta la 5432 solo da app e da vpn; in uscita niente. vpn lo indosserà il router della VPN Tailscale, nella lezione 5: può raggiungere tutta la nostra rete. Distinguere gli amministratori dagli sviluppatori lo farà la VPN, con le sue regole per gruppo.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NACL è un elenco di regole numerate. Per ogni pacchetto AWS le legge in ordine di numero, dal più basso, e applica la prima che corrisponde, ignorando le altre. In fondo c'è sempre una regola invisibile, asterisco, che vieta tutto. Esempio: la regola 50 vieta l'indirizzo 10.20.10.5, la 100 consente tutta la sua subnet. Il server 10.20.10.5 viene bloccato, perché la 50 è letta prima. Per questo si lasciano buchi tra i numeri: per poter inserire una regola in mezzo, più tardi.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subnet pubbliche e private restano con la NACL di default; le subnet database, le più delicate, hanno la loro. In ingresso: la 5432 da ciascuna subnet privata, e tutto il traffico tra le due subnet database, che servirà al database su due data center. In uscita: le risposte verso le porte effimere delle subnet private, e di nuovo il traffico tra le subnet database. Gli amministratori in VPN? Nella lezione 5 il router della VPN starà in una subnet privata, quindi queste regole valgono anche per loro.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abbiamo creato la rete, AWS ha creato da solo un Security Group di default e una NACL di default. Il Security Group di default consente tutto tra chi lo usa, e viene assegnato in automatico a qualunque risorsa creata senza indicarne uno: basta una dimenticanza per ritrovarsi una risorsa aperta. I controlli di sicurezza, come il benchmark CIS, chiedono che non abbia nessuna regola: lo svuotiamo. La NACL di default invece consente tutto; la lasciamo alle subnet pubbliche e private, dove la protezione la fanno i Security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al codice, nel file security.tf. aws_security_group crea la guardia, ancora senza regole: name è il nome visibile in console, vpc_id la rete a cui appartiene. Ogni regola è una risorsa a parte: aws_vpc_security_group_ingress_rule per quelle in ingresso, egress_rule per quelle in uscita. Esiste anche un modo più vecchio, con blocchi ingress ed egress dentro il Security Group: lo troverete online, ma non va mescolato con questo. Un dettaglio: AWS mette da solo una regola in uscita consenti tutto, e Terraform la toglie, così vale solo quello che scrivete voi.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Leggiamo la regola db_from_app riga per riga. security_group_id: la regola appartiene al Security Group db. Siccome è una ingress_rule, è in ingresso. ip_protocol tcp. from_port e to_port 5432: l'intervallo di porte, qui una porta sola. referenced_security_group_id: da chi, cioè da chiunque abbia il Security Group app. Tutto insieme: nel SG db, in ingresso, consenti TCP sulla 5432 da chi ha il SG app. È esattamente la riga del nostro piano.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blocchi particolari. aws_default_security_group non crea niente: prende in gestione il Security Group di default che AWS ha creato con la rete. Siccome nel blocco non c'è nessuna regola, Terraform toglie tutte quelle che c'erano. Se domani qualcuno ne aggiunge una a mano, il plan se ne accorge, è il drift della lezione 0. La regola vpn_to_vpc usa ip_protocol meno uno, cioè tutti i protocolli e tutte le porte, verso var.vpc_cidr: chi è in VPN raggiunge la nostra rete, ma non esce su internet da lì.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NACL. aws_network_acl la crea e, con subnet_ids, la collega alle subnet database: da quel momento lasciano la NACL di default. Ogni regola è una risorsa aws_network_acl_rule. Il for_each usa un'espressione for, come nella lezione 2, che costruisce una mappa: per ogni subnet privata, il suo CIDR come chiave e un numero di regola come valore, 100, 101 e così via. each.key è il CIDR, each.value il numero. egress false vuol dire in ingresso, rule_action allow vuol dire consenti.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la lezione sulle porte effimere tradotta in codice. Servono due regole, una per direzione. La prima, in ingresso, fa entrare le richieste sulla 5432 dalle subnet private. La seconda, in uscita, fa uscire le risposte verso le porte da 1024 a 65535 delle stesse subnet. Se togliete la seconda, la richiesta arriva ma la risposta non torna: è proprio quello che proveremo nel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provare le regole non abbiamo ancora né server né database: arriveranno nelle lezioni 4 e 6. Usiamo due cose. Le interfacce di rete, ENI: sono le prese di rete a cui di solito si attaccano server e database. Le creiamo da sole, ognuna con il suo Security Group, e per le regole di rete si comportano come i veri. Non costano niente. Poi il Reachability Analyzer di AWS: data una sorgente e una destinazione, legge route table, NACL e Security Group e risponde raggiungibile o non raggiungibile, e per colpa di quale regola. Senza mandare traffico vero. Ogni analisi ha un piccolo costo: ne facciamo poche.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parte. Uno: plan e apply. Due: analizzate test-app verso test-db sulla 5432: raggiungibile. Tre: test-other verso test-db: non raggiungibile, lo blocca il SG db, perché test-other non ha il SG app. Quattro: aggiungete alla NACL una regola deny con numero 50 per l'indirizzo esatto di test-app, barra 32, e rilanciate l'analisi: non raggiungibile, la 50 viene letta prima della 100. Poi togliete il blocco.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Cinque: commentate in security.tf la regola delle porte effimere e lanciate solo plan. Rispondete senza applicare: la richiesta arriverebbe? Sì. La risposta tornerebbe? No. Quindi la connessione non funziona. Rimettete la regola: lo vedremo succedere davvero con un server e un database veri nelle lezioni 4 e 6. Sei: aprite in console il Security Group default, verificate che sia vuoto, aggiungete una regola a mano e lanciate plan: Terraform se ne accorge. Sette: cancellate il file del laboratorio, apply, e a fine giornata destroy.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 dispensa 3: contiene tutto il codice di security.tf spiegato blocco per blocco e il laboratorio completo con il Reachability Analyzer. La prossima volta creiamo il server dell'applicazione, che indosserà il Security Group app creato oggi; nella lezione 5 la VPN userà il Security Group vpn.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3</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3 · Firewall: Security Group e NACL</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Firewall: Security Group e NACL</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Dove il traffico può andare l'abbiamo deciso. Ora decidiamo cosa può passare</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problema di oggi: chi può parlare con il database?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4023360"/>
                <a:gridCol w="4937760"/>
                <a:gridCol w="213055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Chi</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Verso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Ammesso?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4864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server dell'applicazione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database, porta 5432</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2E9E6B"/>
                          </a:solidFill>
                          <a:latin typeface="Calibri" pitchFamily="34" charset="0"/>
                          <a:ea typeface="Calibri" pitchFamily="34" charset="-122"/>
                          <a:cs typeface="Calibri" pitchFamily="34" charset="-120"/>
                        </a:rPr>
                        <a:t>SÌ</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un amministratore in VPN</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database, porta 5432</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2E9E6B"/>
                          </a:solidFill>
                          <a:latin typeface="Calibri" pitchFamily="34" charset="0"/>
                          <a:ea typeface="Calibri" pitchFamily="34" charset="-122"/>
                          <a:cs typeface="Calibri" pitchFamily="34" charset="-120"/>
                        </a:rPr>
                        <a:t>SÌ</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un utente in VPN</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l'applicazione, porta 8080</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2E9E6B"/>
                          </a:solidFill>
                          <a:latin typeface="Calibri" pitchFamily="34" charset="0"/>
                          <a:ea typeface="Calibri" pitchFamily="34" charset="-122"/>
                          <a:cs typeface="Calibri" pitchFamily="34" charset="-120"/>
                        </a:rPr>
                        <a:t>SÌ</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server dell'applicazione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internet, 443: SOLO in uscita (aggiornamenti, servizi AWS)</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2E9E6B"/>
                          </a:solidFill>
                          <a:latin typeface="Calibri" pitchFamily="34" charset="0"/>
                          <a:ea typeface="Calibri" pitchFamily="34" charset="-122"/>
                          <a:cs typeface="Calibri" pitchFamily="34" charset="-120"/>
                        </a:rPr>
                        <a:t>SÌ</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qualunque altra cosa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database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D64545"/>
                          </a:solidFill>
                          <a:latin typeface="Calibri" pitchFamily="34" charset="0"/>
                          <a:ea typeface="Calibri" pitchFamily="34" charset="-122"/>
                          <a:cs typeface="Calibri" pitchFamily="34" charset="-120"/>
                        </a:rPr>
                        <a:t>NO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internet</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qualunque cosa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D64545"/>
                          </a:solidFill>
                          <a:latin typeface="Calibri" pitchFamily="34" charset="0"/>
                          <a:ea typeface="Calibri" pitchFamily="34" charset="-122"/>
                          <a:cs typeface="Calibri" pitchFamily="34" charset="-120"/>
                        </a:rPr>
                        <a:t>NO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5349240"/>
            <a:ext cx="11094415" cy="777240"/>
          </a:xfrm>
          <a:prstGeom prst="roundRect">
            <a:avLst>
              <a:gd name="adj" fmla="val 11765"/>
            </a:avLst>
          </a:prstGeom>
          <a:solidFill>
            <a:srgbClr val="5B3FD0"/>
          </a:solidFill>
          <a:ln w="12700">
            <a:solidFill>
              <a:srgbClr val="5B3FD0"/>
            </a:solidFill>
            <a:prstDash val="solid"/>
          </a:ln>
        </p:spPr>
      </p:sp>
      <p:sp>
        <p:nvSpPr>
          <p:cNvPr id="7" name="Text 3"/>
          <p:cNvSpPr txBox="1"/>
          <p:nvPr/>
        </p:nvSpPr>
        <p:spPr>
          <a:xfrm>
            <a:off x="822960" y="5349240"/>
            <a:ext cx="10545775" cy="77724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Firewall = un insieme di regole che dicono quale traffico può passare e quale no.</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Route table e firewall: due domande diverse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417320"/>
            <a:ext cx="5440680" cy="3017520"/>
          </a:xfrm>
          <a:prstGeom prst="roundRect">
            <a:avLst>
              <a:gd name="adj" fmla="val 3636"/>
            </a:avLst>
          </a:prstGeom>
          <a:solidFill>
            <a:srgbClr val="EEEAFB"/>
          </a:solidFill>
          <a:ln w="12700">
            <a:solidFill>
              <a:srgbClr val="EEEAFB"/>
            </a:solidFill>
            <a:prstDash val="solid"/>
          </a:ln>
        </p:spPr>
      </p:sp>
      <p:sp>
        <p:nvSpPr>
          <p:cNvPr id="6" name="Shape 3"/>
          <p:cNvSpPr/>
          <p:nvPr/>
        </p:nvSpPr>
        <p:spPr>
          <a:xfrm>
            <a:off x="777240" y="164592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83080"/>
            <a:ext cx="274320" cy="274320"/>
          </a:xfrm>
          <a:prstGeom prst="rect">
            <a:avLst/>
          </a:prstGeom>
        </p:spPr>
      </p:pic>
      <p:sp>
        <p:nvSpPr>
          <p:cNvPr id="8" name="Text 4"/>
          <p:cNvSpPr txBox="1"/>
          <p:nvPr/>
        </p:nvSpPr>
        <p:spPr>
          <a:xfrm>
            <a:off x="1508760" y="16459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Route table (lezione 2)</a:t>
            </a:r>
            <a:endParaRPr lang="en-US" sz="1800" dirty="0"/>
          </a:p>
        </p:txBody>
      </p:sp>
      <p:sp>
        <p:nvSpPr>
          <p:cNvPr id="9" name="Text 5"/>
          <p:cNvSpPr txBox="1"/>
          <p:nvPr/>
        </p:nvSpPr>
        <p:spPr>
          <a:xfrm>
            <a:off x="777240" y="2331720"/>
            <a:ext cx="4983480" cy="19202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22253A"/>
                </a:solidFill>
                <a:latin typeface="Calibri" pitchFamily="34" charset="0"/>
                <a:ea typeface="Calibri" pitchFamily="34" charset="-122"/>
                <a:cs typeface="Calibri" pitchFamily="34" charset="-120"/>
              </a:rPr>
              <a:t>Risponde: DOVE posso andare?</a:t>
            </a:r>
            <a:endParaRPr lang="en-US" sz="1800" dirty="0"/>
          </a:p>
          <a:p>
            <a:pPr marL="342900" indent="-342900">
              <a:spcAft>
                <a:spcPts val="600"/>
              </a:spcAft>
              <a:buSzPct val="100000"/>
              <a:buChar char="•"/>
            </a:pPr>
            <a:r>
              <a:rPr lang="en-US" sz="1800" dirty="0">
                <a:solidFill>
                  <a:srgbClr val="22253A"/>
                </a:solidFill>
                <a:latin typeface="Calibri" pitchFamily="34" charset="0"/>
                <a:ea typeface="Calibri" pitchFamily="34" charset="-122"/>
                <a:cs typeface="Calibri" pitchFamily="34" charset="-120"/>
              </a:rPr>
              <a:t>È la segnaletica dei piani</a:t>
            </a:r>
            <a:endParaRPr lang="en-US" sz="1800" dirty="0"/>
          </a:p>
          <a:p>
            <a:pPr marL="342900" indent="-342900">
              <a:spcAft>
                <a:spcPts val="600"/>
              </a:spcAft>
              <a:buSzPct val="100000"/>
              <a:buChar char="•"/>
            </a:pPr>
            <a:r>
              <a:rPr lang="en-US" sz="1800" dirty="0">
                <a:solidFill>
                  <a:srgbClr val="22253A"/>
                </a:solidFill>
                <a:latin typeface="Calibri" pitchFamily="34" charset="0"/>
                <a:ea typeface="Calibri" pitchFamily="34" charset="-122"/>
                <a:cs typeface="Calibri" pitchFamily="34" charset="-120"/>
              </a:rPr>
              <a:t>Es. "per internet, passa dal NAT"</a:t>
            </a:r>
            <a:endParaRPr lang="en-US" sz="1800" dirty="0"/>
          </a:p>
        </p:txBody>
      </p:sp>
      <p:sp>
        <p:nvSpPr>
          <p:cNvPr id="10" name="Shape 6"/>
          <p:cNvSpPr/>
          <p:nvPr/>
        </p:nvSpPr>
        <p:spPr>
          <a:xfrm>
            <a:off x="6172200" y="1417320"/>
            <a:ext cx="5468112" cy="3017520"/>
          </a:xfrm>
          <a:prstGeom prst="roundRect">
            <a:avLst>
              <a:gd name="adj" fmla="val 3636"/>
            </a:avLst>
          </a:prstGeom>
          <a:solidFill>
            <a:srgbClr val="FDF0E3"/>
          </a:solidFill>
          <a:ln w="12700">
            <a:solidFill>
              <a:srgbClr val="FDF0E3"/>
            </a:solidFill>
            <a:prstDash val="solid"/>
          </a:ln>
        </p:spPr>
      </p:sp>
      <p:sp>
        <p:nvSpPr>
          <p:cNvPr id="11" name="Shape 7"/>
          <p:cNvSpPr/>
          <p:nvPr/>
        </p:nvSpPr>
        <p:spPr>
          <a:xfrm>
            <a:off x="6400800" y="164592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6537960" y="1783080"/>
            <a:ext cx="274320" cy="274320"/>
          </a:xfrm>
          <a:prstGeom prst="rect">
            <a:avLst/>
          </a:prstGeom>
        </p:spPr>
      </p:pic>
      <p:sp>
        <p:nvSpPr>
          <p:cNvPr id="13" name="Text 8"/>
          <p:cNvSpPr txBox="1"/>
          <p:nvPr/>
        </p:nvSpPr>
        <p:spPr>
          <a:xfrm>
            <a:off x="7132320" y="164592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Firewall (oggi)</a:t>
            </a:r>
            <a:endParaRPr lang="en-US" sz="1800" dirty="0"/>
          </a:p>
        </p:txBody>
      </p:sp>
      <p:sp>
        <p:nvSpPr>
          <p:cNvPr id="14" name="Text 9"/>
          <p:cNvSpPr txBox="1"/>
          <p:nvPr/>
        </p:nvSpPr>
        <p:spPr>
          <a:xfrm>
            <a:off x="6400800" y="2331720"/>
            <a:ext cx="5010912" cy="19202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22253A"/>
                </a:solidFill>
                <a:latin typeface="Calibri" pitchFamily="34" charset="0"/>
                <a:ea typeface="Calibri" pitchFamily="34" charset="-122"/>
                <a:cs typeface="Calibri" pitchFamily="34" charset="-120"/>
              </a:rPr>
              <a:t>Risponde: POSSO passare?</a:t>
            </a:r>
            <a:endParaRPr lang="en-US" sz="1800" dirty="0"/>
          </a:p>
          <a:p>
            <a:pPr marL="342900" indent="-342900">
              <a:spcAft>
                <a:spcPts val="600"/>
              </a:spcAft>
              <a:buSzPct val="100000"/>
              <a:buChar char="•"/>
            </a:pPr>
            <a:r>
              <a:rPr lang="en-US" sz="1800" dirty="0">
                <a:solidFill>
                  <a:srgbClr val="22253A"/>
                </a:solidFill>
                <a:latin typeface="Calibri" pitchFamily="34" charset="0"/>
                <a:ea typeface="Calibri" pitchFamily="34" charset="-122"/>
                <a:cs typeface="Calibri" pitchFamily="34" charset="-120"/>
              </a:rPr>
              <a:t>È il controllo all'ingresso</a:t>
            </a:r>
            <a:endParaRPr lang="en-US" sz="1800" dirty="0"/>
          </a:p>
          <a:p>
            <a:pPr marL="342900" indent="-342900">
              <a:spcAft>
                <a:spcPts val="600"/>
              </a:spcAft>
              <a:buSzPct val="100000"/>
              <a:buChar char="•"/>
            </a:pPr>
            <a:r>
              <a:rPr lang="en-US" sz="1800" dirty="0">
                <a:solidFill>
                  <a:srgbClr val="22253A"/>
                </a:solidFill>
                <a:latin typeface="Calibri" pitchFamily="34" charset="0"/>
                <a:ea typeface="Calibri" pitchFamily="34" charset="-122"/>
                <a:cs typeface="Calibri" pitchFamily="34" charset="-120"/>
              </a:rPr>
              <a:t>Es. "il database accetta solo l'app"</a:t>
            </a:r>
            <a:endParaRPr lang="en-US" sz="1800" dirty="0"/>
          </a:p>
        </p:txBody>
      </p:sp>
      <p:sp>
        <p:nvSpPr>
          <p:cNvPr id="15" name="Shape 10"/>
          <p:cNvSpPr/>
          <p:nvPr/>
        </p:nvSpPr>
        <p:spPr>
          <a:xfrm>
            <a:off x="548640" y="4754880"/>
            <a:ext cx="11094415" cy="1005840"/>
          </a:xfrm>
          <a:prstGeom prst="roundRect">
            <a:avLst>
              <a:gd name="adj" fmla="val 9091"/>
            </a:avLst>
          </a:prstGeom>
          <a:solidFill>
            <a:srgbClr val="FDF0E3"/>
          </a:solidFill>
          <a:ln w="12700">
            <a:solidFill>
              <a:srgbClr val="FDF0E3"/>
            </a:solidFill>
            <a:prstDash val="solid"/>
          </a:ln>
        </p:spPr>
      </p:sp>
      <p:sp>
        <p:nvSpPr>
          <p:cNvPr id="16" name="Text 11"/>
          <p:cNvSpPr txBox="1"/>
          <p:nvPr/>
        </p:nvSpPr>
        <p:spPr>
          <a:xfrm>
            <a:off x="822960" y="4754880"/>
            <a:ext cx="10545775" cy="100584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Servono tutti e due: la strada deve esistere E il controllo deve lasciarti passare.</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 porta: lo sportello del servizio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IP = l'edificio.  Porta = lo sportello: dice a QUALE servizio è diretta la connessione.</a:t>
            </a:r>
            <a:endParaRPr lang="en-US" sz="1900" dirty="0"/>
          </a:p>
        </p:txBody>
      </p:sp>
      <p:sp>
        <p:nvSpPr>
          <p:cNvPr id="7" name="Shape 4"/>
          <p:cNvSpPr/>
          <p:nvPr/>
        </p:nvSpPr>
        <p:spPr>
          <a:xfrm>
            <a:off x="548640" y="2286000"/>
            <a:ext cx="5440680" cy="1325880"/>
          </a:xfrm>
          <a:prstGeom prst="roundRect">
            <a:avLst>
              <a:gd name="adj" fmla="val 6897"/>
            </a:avLst>
          </a:prstGeom>
          <a:solidFill>
            <a:srgbClr val="F7F6FD"/>
          </a:solidFill>
          <a:ln w="12700">
            <a:solidFill>
              <a:srgbClr val="D9D6EC"/>
            </a:solidFill>
            <a:prstDash val="solid"/>
          </a:ln>
        </p:spPr>
      </p:sp>
      <p:sp>
        <p:nvSpPr>
          <p:cNvPr id="8" name="Text 5"/>
          <p:cNvSpPr txBox="1"/>
          <p:nvPr/>
        </p:nvSpPr>
        <p:spPr>
          <a:xfrm>
            <a:off x="731520" y="2286000"/>
            <a:ext cx="1463040" cy="1325880"/>
          </a:xfrm>
          <a:prstGeom prst="rect">
            <a:avLst/>
          </a:prstGeom>
          <a:noFill/>
          <a:ln/>
        </p:spPr>
        <p:txBody>
          <a:bodyPr wrap="square" lIns="0" tIns="0" rIns="0" bIns="0" rtlCol="0" anchor="ctr"/>
          <a:lstStyle/>
          <a:p>
            <a:pPr algn="ctr" indent="0" marL="0">
              <a:buNone/>
            </a:pPr>
            <a:r>
              <a:rPr lang="en-US" sz="3400" b="1" dirty="0">
                <a:solidFill>
                  <a:srgbClr val="5B3FD0"/>
                </a:solidFill>
                <a:latin typeface="Courier New" pitchFamily="34" charset="0"/>
                <a:ea typeface="Courier New" pitchFamily="34" charset="-122"/>
                <a:cs typeface="Courier New" pitchFamily="34" charset="-120"/>
              </a:rPr>
              <a:t>443</a:t>
            </a:r>
            <a:endParaRPr lang="en-US" sz="3400" dirty="0"/>
          </a:p>
        </p:txBody>
      </p:sp>
      <p:sp>
        <p:nvSpPr>
          <p:cNvPr id="9" name="Text 6"/>
          <p:cNvSpPr txBox="1"/>
          <p:nvPr/>
        </p:nvSpPr>
        <p:spPr>
          <a:xfrm>
            <a:off x="2331720" y="2286000"/>
            <a:ext cx="3520440" cy="1325880"/>
          </a:xfrm>
          <a:prstGeom prst="rect">
            <a:avLst/>
          </a:prstGeom>
          <a:noFill/>
          <a:ln/>
        </p:spPr>
        <p:txBody>
          <a:bodyPr wrap="square" lIns="0" tIns="0" rIns="0" bIns="0" rtlCol="0" anchor="ctr"/>
          <a:lstStyle/>
          <a:p>
            <a:pPr algn="l" indent="0" marL="0">
              <a:buNone/>
            </a:pPr>
            <a:r>
              <a:rPr lang="en-US" sz="1700" dirty="0">
                <a:solidFill>
                  <a:srgbClr val="22253A"/>
                </a:solidFill>
                <a:latin typeface="Calibri" pitchFamily="34" charset="0"/>
                <a:ea typeface="Calibri" pitchFamily="34" charset="-122"/>
                <a:cs typeface="Calibri" pitchFamily="34" charset="-120"/>
              </a:rPr>
              <a:t>siti web cifrati (HTTPS) e quasi tutti i servizi AWS</a:t>
            </a:r>
            <a:endParaRPr lang="en-US" sz="1700" dirty="0"/>
          </a:p>
        </p:txBody>
      </p:sp>
      <p:sp>
        <p:nvSpPr>
          <p:cNvPr id="10" name="Shape 7"/>
          <p:cNvSpPr/>
          <p:nvPr/>
        </p:nvSpPr>
        <p:spPr>
          <a:xfrm>
            <a:off x="6172200" y="2286000"/>
            <a:ext cx="5440680" cy="1325880"/>
          </a:xfrm>
          <a:prstGeom prst="roundRect">
            <a:avLst>
              <a:gd name="adj" fmla="val 6897"/>
            </a:avLst>
          </a:prstGeom>
          <a:solidFill>
            <a:srgbClr val="F7F6FD"/>
          </a:solidFill>
          <a:ln w="12700">
            <a:solidFill>
              <a:srgbClr val="D9D6EC"/>
            </a:solidFill>
            <a:prstDash val="solid"/>
          </a:ln>
        </p:spPr>
      </p:sp>
      <p:sp>
        <p:nvSpPr>
          <p:cNvPr id="11" name="Text 8"/>
          <p:cNvSpPr txBox="1"/>
          <p:nvPr/>
        </p:nvSpPr>
        <p:spPr>
          <a:xfrm>
            <a:off x="6355080" y="2286000"/>
            <a:ext cx="1463040" cy="1325880"/>
          </a:xfrm>
          <a:prstGeom prst="rect">
            <a:avLst/>
          </a:prstGeom>
          <a:noFill/>
          <a:ln/>
        </p:spPr>
        <p:txBody>
          <a:bodyPr wrap="square" lIns="0" tIns="0" rIns="0" bIns="0" rtlCol="0" anchor="ctr"/>
          <a:lstStyle/>
          <a:p>
            <a:pPr algn="ctr" indent="0" marL="0">
              <a:buNone/>
            </a:pPr>
            <a:r>
              <a:rPr lang="en-US" sz="3400" b="1" dirty="0">
                <a:solidFill>
                  <a:srgbClr val="2E9E6B"/>
                </a:solidFill>
                <a:latin typeface="Courier New" pitchFamily="34" charset="0"/>
                <a:ea typeface="Courier New" pitchFamily="34" charset="-122"/>
                <a:cs typeface="Courier New" pitchFamily="34" charset="-120"/>
              </a:rPr>
              <a:t>5432</a:t>
            </a:r>
            <a:endParaRPr lang="en-US" sz="3400" dirty="0"/>
          </a:p>
        </p:txBody>
      </p:sp>
      <p:sp>
        <p:nvSpPr>
          <p:cNvPr id="12" name="Text 9"/>
          <p:cNvSpPr txBox="1"/>
          <p:nvPr/>
        </p:nvSpPr>
        <p:spPr>
          <a:xfrm>
            <a:off x="7955280" y="2286000"/>
            <a:ext cx="3520440" cy="1325880"/>
          </a:xfrm>
          <a:prstGeom prst="rect">
            <a:avLst/>
          </a:prstGeom>
          <a:noFill/>
          <a:ln/>
        </p:spPr>
        <p:txBody>
          <a:bodyPr wrap="square" lIns="0" tIns="0" rIns="0" bIns="0" rtlCol="0" anchor="ctr"/>
          <a:lstStyle/>
          <a:p>
            <a:pPr algn="l" indent="0" marL="0">
              <a:buNone/>
            </a:pPr>
            <a:r>
              <a:rPr lang="en-US" sz="1700" dirty="0">
                <a:solidFill>
                  <a:srgbClr val="22253A"/>
                </a:solidFill>
                <a:latin typeface="Calibri" pitchFamily="34" charset="0"/>
                <a:ea typeface="Calibri" pitchFamily="34" charset="-122"/>
                <a:cs typeface="Calibri" pitchFamily="34" charset="-120"/>
              </a:rPr>
              <a:t>il database PostgreSQL</a:t>
            </a:r>
            <a:endParaRPr lang="en-US" sz="1700" dirty="0"/>
          </a:p>
        </p:txBody>
      </p:sp>
      <p:sp>
        <p:nvSpPr>
          <p:cNvPr id="13" name="Shape 10"/>
          <p:cNvSpPr/>
          <p:nvPr/>
        </p:nvSpPr>
        <p:spPr>
          <a:xfrm>
            <a:off x="548640" y="3794760"/>
            <a:ext cx="5440680" cy="1325880"/>
          </a:xfrm>
          <a:prstGeom prst="roundRect">
            <a:avLst>
              <a:gd name="adj" fmla="val 6897"/>
            </a:avLst>
          </a:prstGeom>
          <a:solidFill>
            <a:srgbClr val="F7F6FD"/>
          </a:solidFill>
          <a:ln w="12700">
            <a:solidFill>
              <a:srgbClr val="D9D6EC"/>
            </a:solidFill>
            <a:prstDash val="solid"/>
          </a:ln>
        </p:spPr>
      </p:sp>
      <p:sp>
        <p:nvSpPr>
          <p:cNvPr id="14" name="Text 11"/>
          <p:cNvSpPr txBox="1"/>
          <p:nvPr/>
        </p:nvSpPr>
        <p:spPr>
          <a:xfrm>
            <a:off x="731520" y="3794760"/>
            <a:ext cx="1463040" cy="1325880"/>
          </a:xfrm>
          <a:prstGeom prst="rect">
            <a:avLst/>
          </a:prstGeom>
          <a:noFill/>
          <a:ln/>
        </p:spPr>
        <p:txBody>
          <a:bodyPr wrap="square" lIns="0" tIns="0" rIns="0" bIns="0" rtlCol="0" anchor="ctr"/>
          <a:lstStyle/>
          <a:p>
            <a:pPr algn="ctr" indent="0" marL="0">
              <a:buNone/>
            </a:pPr>
            <a:r>
              <a:rPr lang="en-US" sz="3400" b="1" dirty="0">
                <a:solidFill>
                  <a:srgbClr val="D64545"/>
                </a:solidFill>
                <a:latin typeface="Courier New" pitchFamily="34" charset="0"/>
                <a:ea typeface="Courier New" pitchFamily="34" charset="-122"/>
                <a:cs typeface="Courier New" pitchFamily="34" charset="-120"/>
              </a:rPr>
              <a:t>22</a:t>
            </a:r>
            <a:endParaRPr lang="en-US" sz="3400" dirty="0"/>
          </a:p>
        </p:txBody>
      </p:sp>
      <p:sp>
        <p:nvSpPr>
          <p:cNvPr id="15" name="Text 12"/>
          <p:cNvSpPr txBox="1"/>
          <p:nvPr/>
        </p:nvSpPr>
        <p:spPr>
          <a:xfrm>
            <a:off x="2331720" y="3794760"/>
            <a:ext cx="3520440" cy="1325880"/>
          </a:xfrm>
          <a:prstGeom prst="rect">
            <a:avLst/>
          </a:prstGeom>
          <a:noFill/>
          <a:ln/>
        </p:spPr>
        <p:txBody>
          <a:bodyPr wrap="square" lIns="0" tIns="0" rIns="0" bIns="0" rtlCol="0" anchor="ctr"/>
          <a:lstStyle/>
          <a:p>
            <a:pPr algn="l" indent="0" marL="0">
              <a:buNone/>
            </a:pPr>
            <a:r>
              <a:rPr lang="en-US" sz="1700" dirty="0">
                <a:solidFill>
                  <a:srgbClr val="22253A"/>
                </a:solidFill>
                <a:latin typeface="Calibri" pitchFamily="34" charset="0"/>
                <a:ea typeface="Calibri" pitchFamily="34" charset="-122"/>
                <a:cs typeface="Calibri" pitchFamily="34" charset="-120"/>
              </a:rPr>
              <a:t>SSH, accesso remoto a un server (noi NON lo useremo)</a:t>
            </a:r>
            <a:endParaRPr lang="en-US" sz="1700" dirty="0"/>
          </a:p>
        </p:txBody>
      </p:sp>
      <p:sp>
        <p:nvSpPr>
          <p:cNvPr id="16" name="Shape 13"/>
          <p:cNvSpPr/>
          <p:nvPr/>
        </p:nvSpPr>
        <p:spPr>
          <a:xfrm>
            <a:off x="6172200" y="3794760"/>
            <a:ext cx="5440680" cy="1325880"/>
          </a:xfrm>
          <a:prstGeom prst="roundRect">
            <a:avLst>
              <a:gd name="adj" fmla="val 6897"/>
            </a:avLst>
          </a:prstGeom>
          <a:solidFill>
            <a:srgbClr val="F7F6FD"/>
          </a:solidFill>
          <a:ln w="12700">
            <a:solidFill>
              <a:srgbClr val="D9D6EC"/>
            </a:solidFill>
            <a:prstDash val="solid"/>
          </a:ln>
        </p:spPr>
      </p:sp>
      <p:sp>
        <p:nvSpPr>
          <p:cNvPr id="17" name="Text 14"/>
          <p:cNvSpPr txBox="1"/>
          <p:nvPr/>
        </p:nvSpPr>
        <p:spPr>
          <a:xfrm>
            <a:off x="6355080" y="3794760"/>
            <a:ext cx="1463040" cy="1325880"/>
          </a:xfrm>
          <a:prstGeom prst="rect">
            <a:avLst/>
          </a:prstGeom>
          <a:noFill/>
          <a:ln/>
        </p:spPr>
        <p:txBody>
          <a:bodyPr wrap="square" lIns="0" tIns="0" rIns="0" bIns="0" rtlCol="0" anchor="ctr"/>
          <a:lstStyle/>
          <a:p>
            <a:pPr algn="ctr" indent="0" marL="0">
              <a:buNone/>
            </a:pPr>
            <a:r>
              <a:rPr lang="en-US" sz="3400" b="1" dirty="0">
                <a:solidFill>
                  <a:srgbClr val="F28C28"/>
                </a:solidFill>
                <a:latin typeface="Courier New" pitchFamily="34" charset="0"/>
                <a:ea typeface="Courier New" pitchFamily="34" charset="-122"/>
                <a:cs typeface="Courier New" pitchFamily="34" charset="-120"/>
              </a:rPr>
              <a:t>8080</a:t>
            </a:r>
            <a:endParaRPr lang="en-US" sz="3400" dirty="0"/>
          </a:p>
        </p:txBody>
      </p:sp>
      <p:sp>
        <p:nvSpPr>
          <p:cNvPr id="18" name="Text 15"/>
          <p:cNvSpPr txBox="1"/>
          <p:nvPr/>
        </p:nvSpPr>
        <p:spPr>
          <a:xfrm>
            <a:off x="7955280" y="3794760"/>
            <a:ext cx="3520440" cy="1325880"/>
          </a:xfrm>
          <a:prstGeom prst="rect">
            <a:avLst/>
          </a:prstGeom>
          <a:noFill/>
          <a:ln/>
        </p:spPr>
        <p:txBody>
          <a:bodyPr wrap="square" lIns="0" tIns="0" rIns="0" bIns="0" rtlCol="0" anchor="ctr"/>
          <a:lstStyle/>
          <a:p>
            <a:pPr algn="l" indent="0" marL="0">
              <a:buNone/>
            </a:pPr>
            <a:r>
              <a:rPr lang="en-US" sz="1700" dirty="0">
                <a:solidFill>
                  <a:srgbClr val="22253A"/>
                </a:solidFill>
                <a:latin typeface="Calibri" pitchFamily="34" charset="0"/>
                <a:ea typeface="Calibri" pitchFamily="34" charset="-122"/>
                <a:cs typeface="Calibri" pitchFamily="34" charset="-120"/>
              </a:rPr>
              <a:t>la nostra applicazione (scelta del corso)</a:t>
            </a:r>
            <a:endParaRPr lang="en-US" sz="1700" dirty="0"/>
          </a:p>
        </p:txBody>
      </p:sp>
      <p:sp>
        <p:nvSpPr>
          <p:cNvPr id="19" name="Text 16"/>
          <p:cNvSpPr txBox="1"/>
          <p:nvPr/>
        </p:nvSpPr>
        <p:spPr>
          <a:xfrm>
            <a:off x="548640" y="5440680"/>
            <a:ext cx="11094415" cy="457200"/>
          </a:xfrm>
          <a:prstGeom prst="rect">
            <a:avLst/>
          </a:prstGeom>
          <a:noFill/>
          <a:ln/>
        </p:spPr>
        <p:txBody>
          <a:bodyPr wrap="square" lIns="0" tIns="0" rIns="0" bIns="0" rtlCol="0" anchor="ctr"/>
          <a:lstStyle/>
          <a:p>
            <a:pPr algn="l" indent="0" marL="0">
              <a:buNone/>
            </a:pPr>
            <a:r>
              <a:rPr lang="en-US" sz="1600" i="1" dirty="0">
                <a:solidFill>
                  <a:srgbClr val="5F6478"/>
                </a:solidFill>
                <a:latin typeface="Calibri" pitchFamily="34" charset="0"/>
                <a:ea typeface="Calibri" pitchFamily="34" charset="-122"/>
                <a:cs typeface="Calibri" pitchFamily="34" charset="-120"/>
              </a:rPr>
              <a:t>Protocollo = il tipo di traffico. Quasi tutto quello che ci interessa usa TCP.</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Come si svolge una connessione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463040"/>
            <a:ext cx="3291840" cy="1188720"/>
          </a:xfrm>
          <a:prstGeom prst="roundRect">
            <a:avLst>
              <a:gd name="adj" fmla="val 7692"/>
            </a:avLst>
          </a:prstGeom>
          <a:solidFill>
            <a:srgbClr val="EEEAFB"/>
          </a:solidFill>
          <a:ln w="12700">
            <a:solidFill>
              <a:srgbClr val="EEEAFB"/>
            </a:solidFill>
            <a:prstDash val="solid"/>
          </a:ln>
        </p:spPr>
      </p:sp>
      <p:sp>
        <p:nvSpPr>
          <p:cNvPr id="6" name="Text 3"/>
          <p:cNvSpPr txBox="1"/>
          <p:nvPr/>
        </p:nvSpPr>
        <p:spPr>
          <a:xfrm>
            <a:off x="548640" y="1463040"/>
            <a:ext cx="3291840" cy="118872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Server applicazione</a:t>
            </a:r>
            <a:endParaRPr lang="en-US" sz="1700" dirty="0"/>
          </a:p>
          <a:p>
            <a:pPr algn="ctr" indent="0" marL="0">
              <a:buNone/>
            </a:pPr>
            <a:r>
              <a:rPr lang="en-US" sz="1700" dirty="0">
                <a:solidFill>
                  <a:srgbClr val="5F6478"/>
                </a:solidFill>
                <a:latin typeface="Courier New" pitchFamily="34" charset="0"/>
                <a:ea typeface="Courier New" pitchFamily="34" charset="-122"/>
                <a:cs typeface="Courier New" pitchFamily="34" charset="-120"/>
              </a:rPr>
              <a:t>10.20.10.5</a:t>
            </a:r>
            <a:endParaRPr lang="en-US" sz="1700" dirty="0"/>
          </a:p>
        </p:txBody>
      </p:sp>
      <p:sp>
        <p:nvSpPr>
          <p:cNvPr id="7" name="Shape 4"/>
          <p:cNvSpPr/>
          <p:nvPr/>
        </p:nvSpPr>
        <p:spPr>
          <a:xfrm>
            <a:off x="8348472" y="1463040"/>
            <a:ext cx="3291840" cy="1188720"/>
          </a:xfrm>
          <a:prstGeom prst="roundRect">
            <a:avLst>
              <a:gd name="adj" fmla="val 7692"/>
            </a:avLst>
          </a:prstGeom>
          <a:solidFill>
            <a:srgbClr val="E5F4EC"/>
          </a:solidFill>
          <a:ln w="12700">
            <a:solidFill>
              <a:srgbClr val="E5F4EC"/>
            </a:solidFill>
            <a:prstDash val="solid"/>
          </a:ln>
        </p:spPr>
      </p:sp>
      <p:sp>
        <p:nvSpPr>
          <p:cNvPr id="8" name="Text 5"/>
          <p:cNvSpPr txBox="1"/>
          <p:nvPr/>
        </p:nvSpPr>
        <p:spPr>
          <a:xfrm>
            <a:off x="8348472" y="1463040"/>
            <a:ext cx="3291840" cy="118872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Database</a:t>
            </a:r>
            <a:endParaRPr lang="en-US" sz="1700" dirty="0"/>
          </a:p>
          <a:p>
            <a:pPr algn="ctr" indent="0" marL="0">
              <a:buNone/>
            </a:pPr>
            <a:r>
              <a:rPr lang="en-US" sz="1700" dirty="0">
                <a:solidFill>
                  <a:srgbClr val="5F6478"/>
                </a:solidFill>
                <a:latin typeface="Courier New" pitchFamily="34" charset="0"/>
                <a:ea typeface="Courier New" pitchFamily="34" charset="-122"/>
                <a:cs typeface="Courier New" pitchFamily="34" charset="-120"/>
              </a:rPr>
              <a:t>10.20.20.8</a:t>
            </a:r>
            <a:endParaRPr lang="en-US" sz="1700" dirty="0"/>
          </a:p>
        </p:txBody>
      </p:sp>
      <p:sp>
        <p:nvSpPr>
          <p:cNvPr id="9" name="Shape 6"/>
          <p:cNvSpPr/>
          <p:nvPr/>
        </p:nvSpPr>
        <p:spPr>
          <a:xfrm>
            <a:off x="3931920" y="1828800"/>
            <a:ext cx="4343400" cy="0"/>
          </a:xfrm>
          <a:prstGeom prst="line">
            <a:avLst/>
          </a:prstGeom>
          <a:noFill/>
          <a:ln w="25400">
            <a:solidFill>
              <a:srgbClr val="5B3FD0"/>
            </a:solidFill>
            <a:prstDash val="solid"/>
            <a:tailEnd type="triangle"/>
          </a:ln>
        </p:spPr>
      </p:sp>
      <p:sp>
        <p:nvSpPr>
          <p:cNvPr id="10" name="Text 7"/>
          <p:cNvSpPr txBox="1"/>
          <p:nvPr/>
        </p:nvSpPr>
        <p:spPr>
          <a:xfrm>
            <a:off x="3931920" y="1417320"/>
            <a:ext cx="4343400" cy="365760"/>
          </a:xfrm>
          <a:prstGeom prst="rect">
            <a:avLst/>
          </a:prstGeom>
          <a:noFill/>
          <a:ln/>
        </p:spPr>
        <p:txBody>
          <a:bodyPr wrap="square" lIns="0" tIns="0" rIns="0" bIns="0" rtlCol="0" anchor="ctr"/>
          <a:lstStyle/>
          <a:p>
            <a:pPr algn="ctr" indent="0" marL="0">
              <a:buNone/>
            </a:pPr>
            <a:r>
              <a:rPr lang="en-US" sz="1500" b="1" dirty="0">
                <a:solidFill>
                  <a:srgbClr val="5B3FD0"/>
                </a:solidFill>
                <a:latin typeface="Calibri" pitchFamily="34" charset="0"/>
                <a:ea typeface="Calibri" pitchFamily="34" charset="-122"/>
                <a:cs typeface="Calibri" pitchFamily="34" charset="-120"/>
              </a:rPr>
              <a:t>1. richiesta: da porta 51234 → verso porta 5432</a:t>
            </a:r>
            <a:endParaRPr lang="en-US" sz="1500" dirty="0"/>
          </a:p>
        </p:txBody>
      </p:sp>
      <p:sp>
        <p:nvSpPr>
          <p:cNvPr id="11" name="Shape 8"/>
          <p:cNvSpPr/>
          <p:nvPr/>
        </p:nvSpPr>
        <p:spPr>
          <a:xfrm>
            <a:off x="3931920" y="2331720"/>
            <a:ext cx="4343400" cy="0"/>
          </a:xfrm>
          <a:prstGeom prst="line">
            <a:avLst/>
          </a:prstGeom>
          <a:noFill/>
          <a:ln w="25400">
            <a:solidFill>
              <a:srgbClr val="F28C28"/>
            </a:solidFill>
            <a:prstDash val="solid"/>
            <a:headEnd type="triangle"/>
          </a:ln>
        </p:spPr>
      </p:sp>
      <p:sp>
        <p:nvSpPr>
          <p:cNvPr id="12" name="Text 9"/>
          <p:cNvSpPr txBox="1"/>
          <p:nvPr/>
        </p:nvSpPr>
        <p:spPr>
          <a:xfrm>
            <a:off x="3931920" y="2377440"/>
            <a:ext cx="4343400" cy="365760"/>
          </a:xfrm>
          <a:prstGeom prst="rect">
            <a:avLst/>
          </a:prstGeom>
          <a:noFill/>
          <a:ln/>
        </p:spPr>
        <p:txBody>
          <a:bodyPr wrap="square" lIns="0" tIns="0" rIns="0" bIns="0" rtlCol="0" anchor="ctr"/>
          <a:lstStyle/>
          <a:p>
            <a:pPr algn="ctr" indent="0" marL="0">
              <a:buNone/>
            </a:pPr>
            <a:r>
              <a:rPr lang="en-US" sz="1500" b="1" dirty="0">
                <a:solidFill>
                  <a:srgbClr val="F28C28"/>
                </a:solidFill>
                <a:latin typeface="Calibri" pitchFamily="34" charset="0"/>
                <a:ea typeface="Calibri" pitchFamily="34" charset="-122"/>
                <a:cs typeface="Calibri" pitchFamily="34" charset="-120"/>
              </a:rPr>
              <a:t>2. risposta: da porta 5432 → verso porta 51234</a:t>
            </a:r>
            <a:endParaRPr lang="en-US" sz="1500" dirty="0"/>
          </a:p>
        </p:txBody>
      </p:sp>
      <p:sp>
        <p:nvSpPr>
          <p:cNvPr id="13" name="Shape 10"/>
          <p:cNvSpPr/>
          <p:nvPr/>
        </p:nvSpPr>
        <p:spPr>
          <a:xfrm>
            <a:off x="548640" y="3108960"/>
            <a:ext cx="11094415" cy="1463040"/>
          </a:xfrm>
          <a:prstGeom prst="roundRect">
            <a:avLst>
              <a:gd name="adj" fmla="val 7500"/>
            </a:avLst>
          </a:prstGeom>
          <a:solidFill>
            <a:srgbClr val="FDF0E3"/>
          </a:solidFill>
          <a:ln w="12700">
            <a:solidFill>
              <a:srgbClr val="FDF0E3"/>
            </a:solidFill>
            <a:prstDash val="solid"/>
          </a:ln>
        </p:spPr>
      </p:sp>
      <p:sp>
        <p:nvSpPr>
          <p:cNvPr id="14" name="Shape 11"/>
          <p:cNvSpPr/>
          <p:nvPr/>
        </p:nvSpPr>
        <p:spPr>
          <a:xfrm>
            <a:off x="777240" y="3337560"/>
            <a:ext cx="548640" cy="548640"/>
          </a:xfrm>
          <a:prstGeom prst="ellipse">
            <a:avLst/>
          </a:prstGeom>
          <a:solidFill>
            <a:srgbClr val="F28C28"/>
          </a:solidFill>
          <a:ln w="12700">
            <a:solidFill>
              <a:srgbClr val="F28C28"/>
            </a:solidFill>
            <a:prstDash val="solid"/>
          </a:ln>
        </p:spPr>
      </p:sp>
      <p:pic>
        <p:nvPicPr>
          <p:cNvPr id="15" name="Image 0" descr="preencoded.png">    </p:cNvPr>
          <p:cNvPicPr>
            <a:picLocks noChangeAspect="1"/>
          </p:cNvPicPr>
          <p:nvPr/>
        </p:nvPicPr>
        <p:blipFill>
          <a:blip r:embed="rId1"/>
          <a:stretch>
            <a:fillRect/>
          </a:stretch>
        </p:blipFill>
        <p:spPr>
          <a:xfrm>
            <a:off x="914400" y="3474720"/>
            <a:ext cx="274320" cy="274320"/>
          </a:xfrm>
          <a:prstGeom prst="rect">
            <a:avLst/>
          </a:prstGeom>
        </p:spPr>
      </p:pic>
      <p:sp>
        <p:nvSpPr>
          <p:cNvPr id="16" name="Text 12"/>
          <p:cNvSpPr txBox="1"/>
          <p:nvPr/>
        </p:nvSpPr>
        <p:spPr>
          <a:xfrm>
            <a:off x="1508760" y="333756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Porta effimera</a:t>
            </a:r>
            <a:endParaRPr lang="en-US" sz="1800" dirty="0"/>
          </a:p>
        </p:txBody>
      </p:sp>
      <p:sp>
        <p:nvSpPr>
          <p:cNvPr id="17" name="Text 13"/>
          <p:cNvSpPr txBox="1"/>
          <p:nvPr/>
        </p:nvSpPr>
        <p:spPr>
          <a:xfrm>
            <a:off x="777240" y="4023360"/>
            <a:ext cx="10637215" cy="36576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La porta "usa e getta" scelta a caso da chi inizia la connessione: tra 1024 e 65535. Qui: 51234.</a:t>
            </a:r>
            <a:endParaRPr lang="en-US" sz="1700" dirty="0"/>
          </a:p>
        </p:txBody>
      </p:sp>
      <p:sp>
        <p:nvSpPr>
          <p:cNvPr id="18" name="Shape 14"/>
          <p:cNvSpPr/>
          <p:nvPr/>
        </p:nvSpPr>
        <p:spPr>
          <a:xfrm>
            <a:off x="548640" y="4892040"/>
            <a:ext cx="11094415" cy="914400"/>
          </a:xfrm>
          <a:prstGeom prst="roundRect">
            <a:avLst>
              <a:gd name="adj" fmla="val 10000"/>
            </a:avLst>
          </a:prstGeom>
          <a:solidFill>
            <a:srgbClr val="FDF0E3"/>
          </a:solidFill>
          <a:ln w="12700">
            <a:solidFill>
              <a:srgbClr val="FDF0E3"/>
            </a:solidFill>
            <a:prstDash val="solid"/>
          </a:ln>
        </p:spPr>
      </p:sp>
      <p:sp>
        <p:nvSpPr>
          <p:cNvPr id="19" name="Text 15"/>
          <p:cNvSpPr txBox="1"/>
          <p:nvPr/>
        </p:nvSpPr>
        <p:spPr>
          <a:xfrm>
            <a:off x="822960" y="4892040"/>
            <a:ext cx="10545775" cy="91440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La risposta va verso una porta CASUALE, non verso la 5432. Ricordatelo: tra poco serve.</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AWS ha due firewall</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71600"/>
            <a:ext cx="5440680" cy="2103120"/>
          </a:xfrm>
          <a:prstGeom prst="roundRect">
            <a:avLst>
              <a:gd name="adj" fmla="val 5217"/>
            </a:avLst>
          </a:prstGeom>
          <a:solidFill>
            <a:srgbClr val="FDF0E3"/>
          </a:solidFill>
          <a:ln w="12700">
            <a:solidFill>
              <a:srgbClr val="FDF0E3"/>
            </a:solidFill>
            <a:prstDash val="solid"/>
          </a:ln>
        </p:spPr>
      </p:sp>
      <p:sp>
        <p:nvSpPr>
          <p:cNvPr id="6" name="Shape 3"/>
          <p:cNvSpPr/>
          <p:nvPr/>
        </p:nvSpPr>
        <p:spPr>
          <a:xfrm>
            <a:off x="777240" y="1600200"/>
            <a:ext cx="548640" cy="548640"/>
          </a:xfrm>
          <a:prstGeom prst="ellipse">
            <a:avLst/>
          </a:prstGeom>
          <a:solidFill>
            <a:srgbClr val="F28C28"/>
          </a:solidFill>
          <a:ln w="12700">
            <a:solidFill>
              <a:srgbClr val="F28C28"/>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NACL = il tornello del piano</a:t>
            </a:r>
            <a:endParaRPr lang="en-US" sz="1800" dirty="0"/>
          </a:p>
        </p:txBody>
      </p:sp>
      <p:sp>
        <p:nvSpPr>
          <p:cNvPr id="9" name="Text 5"/>
          <p:cNvSpPr txBox="1"/>
          <p:nvPr/>
        </p:nvSpPr>
        <p:spPr>
          <a:xfrm>
            <a:off x="777240" y="2286000"/>
            <a:ext cx="4983480" cy="100584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Sta sulla SUBNET: controlla tutto ciò che entra o esce dal piano.</a:t>
            </a:r>
            <a:endParaRPr lang="en-US" sz="1700" dirty="0"/>
          </a:p>
        </p:txBody>
      </p:sp>
      <p:sp>
        <p:nvSpPr>
          <p:cNvPr id="10" name="Shape 6"/>
          <p:cNvSpPr/>
          <p:nvPr/>
        </p:nvSpPr>
        <p:spPr>
          <a:xfrm>
            <a:off x="6172200" y="1371600"/>
            <a:ext cx="5468112" cy="2103120"/>
          </a:xfrm>
          <a:prstGeom prst="roundRect">
            <a:avLst>
              <a:gd name="adj" fmla="val 5217"/>
            </a:avLst>
          </a:prstGeom>
          <a:solidFill>
            <a:srgbClr val="EEEAFB"/>
          </a:solidFill>
          <a:ln w="12700">
            <a:solidFill>
              <a:srgbClr val="EEEAFB"/>
            </a:solidFill>
            <a:prstDash val="solid"/>
          </a:ln>
        </p:spPr>
      </p:sp>
      <p:sp>
        <p:nvSpPr>
          <p:cNvPr id="11" name="Shape 7"/>
          <p:cNvSpPr/>
          <p:nvPr/>
        </p:nvSpPr>
        <p:spPr>
          <a:xfrm>
            <a:off x="6400800" y="1600200"/>
            <a:ext cx="548640" cy="548640"/>
          </a:xfrm>
          <a:prstGeom prst="ellipse">
            <a:avLst/>
          </a:prstGeom>
          <a:solidFill>
            <a:srgbClr val="5B3FD0"/>
          </a:solidFill>
          <a:ln w="12700">
            <a:solidFill>
              <a:srgbClr val="5B3FD0"/>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Security Group = la guardia dell'ufficio</a:t>
            </a:r>
            <a:endParaRPr lang="en-US" sz="1800" dirty="0"/>
          </a:p>
        </p:txBody>
      </p:sp>
      <p:sp>
        <p:nvSpPr>
          <p:cNvPr id="14" name="Text 9"/>
          <p:cNvSpPr txBox="1"/>
          <p:nvPr/>
        </p:nvSpPr>
        <p:spPr>
          <a:xfrm>
            <a:off x="6400800" y="2286000"/>
            <a:ext cx="5010912" cy="100584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Sta sulla RISORSA (server, database): conosce le persone e si ricorda chi ha fatto entrare.</a:t>
            </a:r>
            <a:endParaRPr lang="en-US" sz="1700" dirty="0"/>
          </a:p>
        </p:txBody>
      </p:sp>
      <p:sp>
        <p:nvSpPr>
          <p:cNvPr id="15" name="Shape 10"/>
          <p:cNvSpPr/>
          <p:nvPr/>
        </p:nvSpPr>
        <p:spPr>
          <a:xfrm>
            <a:off x="548640" y="3840480"/>
            <a:ext cx="2468880" cy="1097280"/>
          </a:xfrm>
          <a:prstGeom prst="roundRect">
            <a:avLst>
              <a:gd name="adj" fmla="val 8333"/>
            </a:avLst>
          </a:prstGeom>
          <a:solidFill>
            <a:srgbClr val="F7F6FD"/>
          </a:solidFill>
          <a:ln w="12700">
            <a:solidFill>
              <a:srgbClr val="F7F6FD"/>
            </a:solidFill>
            <a:prstDash val="solid"/>
          </a:ln>
        </p:spPr>
      </p:sp>
      <p:sp>
        <p:nvSpPr>
          <p:cNvPr id="16" name="Text 11"/>
          <p:cNvSpPr txBox="1"/>
          <p:nvPr/>
        </p:nvSpPr>
        <p:spPr>
          <a:xfrm>
            <a:off x="548640" y="3840480"/>
            <a:ext cx="2468880" cy="109728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Pacchetto in arrivo</a:t>
            </a:r>
            <a:endParaRPr lang="en-US" sz="1600" dirty="0"/>
          </a:p>
        </p:txBody>
      </p:sp>
      <p:sp>
        <p:nvSpPr>
          <p:cNvPr id="17" name="Shape 12"/>
          <p:cNvSpPr/>
          <p:nvPr/>
        </p:nvSpPr>
        <p:spPr>
          <a:xfrm>
            <a:off x="3035808" y="4389120"/>
            <a:ext cx="347472" cy="0"/>
          </a:xfrm>
          <a:prstGeom prst="line">
            <a:avLst/>
          </a:prstGeom>
          <a:noFill/>
          <a:ln w="25400">
            <a:solidFill>
              <a:srgbClr val="5B3FD0"/>
            </a:solidFill>
            <a:prstDash val="solid"/>
            <a:tailEnd type="triangle"/>
          </a:ln>
        </p:spPr>
      </p:sp>
      <p:sp>
        <p:nvSpPr>
          <p:cNvPr id="18" name="Shape 13"/>
          <p:cNvSpPr/>
          <p:nvPr/>
        </p:nvSpPr>
        <p:spPr>
          <a:xfrm>
            <a:off x="3401568" y="3840480"/>
            <a:ext cx="2468880" cy="1097280"/>
          </a:xfrm>
          <a:prstGeom prst="roundRect">
            <a:avLst>
              <a:gd name="adj" fmla="val 8333"/>
            </a:avLst>
          </a:prstGeom>
          <a:solidFill>
            <a:srgbClr val="FDF0E3"/>
          </a:solidFill>
          <a:ln w="12700">
            <a:solidFill>
              <a:srgbClr val="FDF0E3"/>
            </a:solidFill>
            <a:prstDash val="solid"/>
          </a:ln>
        </p:spPr>
      </p:sp>
      <p:sp>
        <p:nvSpPr>
          <p:cNvPr id="19" name="Text 14"/>
          <p:cNvSpPr txBox="1"/>
          <p:nvPr/>
        </p:nvSpPr>
        <p:spPr>
          <a:xfrm>
            <a:off x="3401568" y="3840480"/>
            <a:ext cx="2468880" cy="109728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NACL</a:t>
            </a:r>
            <a:endParaRPr lang="en-US" sz="1600" dirty="0"/>
          </a:p>
          <a:p>
            <a:pPr algn="ctr" indent="0" marL="0">
              <a:buNone/>
            </a:pPr>
            <a:r>
              <a:rPr lang="en-US" sz="1600" b="1" dirty="0">
                <a:solidFill>
                  <a:srgbClr val="22253A"/>
                </a:solidFill>
                <a:latin typeface="Calibri" pitchFamily="34" charset="0"/>
                <a:ea typeface="Calibri" pitchFamily="34" charset="-122"/>
                <a:cs typeface="Calibri" pitchFamily="34" charset="-120"/>
              </a:rPr>
              <a:t>(la subnet)</a:t>
            </a:r>
            <a:endParaRPr lang="en-US" sz="1600" dirty="0"/>
          </a:p>
        </p:txBody>
      </p:sp>
      <p:sp>
        <p:nvSpPr>
          <p:cNvPr id="20" name="Shape 15"/>
          <p:cNvSpPr/>
          <p:nvPr/>
        </p:nvSpPr>
        <p:spPr>
          <a:xfrm>
            <a:off x="5888736" y="4389120"/>
            <a:ext cx="347472" cy="0"/>
          </a:xfrm>
          <a:prstGeom prst="line">
            <a:avLst/>
          </a:prstGeom>
          <a:noFill/>
          <a:ln w="25400">
            <a:solidFill>
              <a:srgbClr val="5B3FD0"/>
            </a:solidFill>
            <a:prstDash val="solid"/>
            <a:tailEnd type="triangle"/>
          </a:ln>
        </p:spPr>
      </p:sp>
      <p:sp>
        <p:nvSpPr>
          <p:cNvPr id="21" name="Shape 16"/>
          <p:cNvSpPr/>
          <p:nvPr/>
        </p:nvSpPr>
        <p:spPr>
          <a:xfrm>
            <a:off x="6254496" y="3840480"/>
            <a:ext cx="2468880" cy="1097280"/>
          </a:xfrm>
          <a:prstGeom prst="roundRect">
            <a:avLst>
              <a:gd name="adj" fmla="val 8333"/>
            </a:avLst>
          </a:prstGeom>
          <a:solidFill>
            <a:srgbClr val="EEEAFB"/>
          </a:solidFill>
          <a:ln w="12700">
            <a:solidFill>
              <a:srgbClr val="EEEAFB"/>
            </a:solidFill>
            <a:prstDash val="solid"/>
          </a:ln>
        </p:spPr>
      </p:sp>
      <p:sp>
        <p:nvSpPr>
          <p:cNvPr id="22" name="Text 17"/>
          <p:cNvSpPr txBox="1"/>
          <p:nvPr/>
        </p:nvSpPr>
        <p:spPr>
          <a:xfrm>
            <a:off x="6254496" y="3840480"/>
            <a:ext cx="2468880" cy="109728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Security Group</a:t>
            </a:r>
            <a:endParaRPr lang="en-US" sz="1600" dirty="0"/>
          </a:p>
          <a:p>
            <a:pPr algn="ctr" indent="0" marL="0">
              <a:buNone/>
            </a:pPr>
            <a:r>
              <a:rPr lang="en-US" sz="1600" b="1" dirty="0">
                <a:solidFill>
                  <a:srgbClr val="22253A"/>
                </a:solidFill>
                <a:latin typeface="Calibri" pitchFamily="34" charset="0"/>
                <a:ea typeface="Calibri" pitchFamily="34" charset="-122"/>
                <a:cs typeface="Calibri" pitchFamily="34" charset="-120"/>
              </a:rPr>
              <a:t>(la risorsa)</a:t>
            </a:r>
            <a:endParaRPr lang="en-US" sz="1600" dirty="0"/>
          </a:p>
        </p:txBody>
      </p:sp>
      <p:sp>
        <p:nvSpPr>
          <p:cNvPr id="23" name="Shape 18"/>
          <p:cNvSpPr/>
          <p:nvPr/>
        </p:nvSpPr>
        <p:spPr>
          <a:xfrm>
            <a:off x="8741664" y="4389120"/>
            <a:ext cx="347472" cy="0"/>
          </a:xfrm>
          <a:prstGeom prst="line">
            <a:avLst/>
          </a:prstGeom>
          <a:noFill/>
          <a:ln w="25400">
            <a:solidFill>
              <a:srgbClr val="5B3FD0"/>
            </a:solidFill>
            <a:prstDash val="solid"/>
            <a:tailEnd type="triangle"/>
          </a:ln>
        </p:spPr>
      </p:sp>
      <p:sp>
        <p:nvSpPr>
          <p:cNvPr id="24" name="Shape 19"/>
          <p:cNvSpPr/>
          <p:nvPr/>
        </p:nvSpPr>
        <p:spPr>
          <a:xfrm>
            <a:off x="9107424" y="3840480"/>
            <a:ext cx="2468880" cy="1097280"/>
          </a:xfrm>
          <a:prstGeom prst="roundRect">
            <a:avLst>
              <a:gd name="adj" fmla="val 8333"/>
            </a:avLst>
          </a:prstGeom>
          <a:solidFill>
            <a:srgbClr val="E5F4EC"/>
          </a:solidFill>
          <a:ln w="12700">
            <a:solidFill>
              <a:srgbClr val="E5F4EC"/>
            </a:solidFill>
            <a:prstDash val="solid"/>
          </a:ln>
        </p:spPr>
      </p:sp>
      <p:sp>
        <p:nvSpPr>
          <p:cNvPr id="25" name="Text 20"/>
          <p:cNvSpPr txBox="1"/>
          <p:nvPr/>
        </p:nvSpPr>
        <p:spPr>
          <a:xfrm>
            <a:off x="9107424" y="3840480"/>
            <a:ext cx="2468880" cy="109728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La risorsa</a:t>
            </a:r>
            <a:endParaRPr lang="en-US" sz="1600" dirty="0"/>
          </a:p>
        </p:txBody>
      </p:sp>
      <p:sp>
        <p:nvSpPr>
          <p:cNvPr id="26" name="Shape 21"/>
          <p:cNvSpPr/>
          <p:nvPr/>
        </p:nvSpPr>
        <p:spPr>
          <a:xfrm>
            <a:off x="548640" y="5257800"/>
            <a:ext cx="11094415" cy="777240"/>
          </a:xfrm>
          <a:prstGeom prst="roundRect">
            <a:avLst>
              <a:gd name="adj" fmla="val 11765"/>
            </a:avLst>
          </a:prstGeom>
          <a:solidFill>
            <a:srgbClr val="FDF0E3"/>
          </a:solidFill>
          <a:ln w="12700">
            <a:solidFill>
              <a:srgbClr val="FDF0E3"/>
            </a:solidFill>
            <a:prstDash val="solid"/>
          </a:ln>
        </p:spPr>
      </p:sp>
      <p:sp>
        <p:nvSpPr>
          <p:cNvPr id="27" name="Text 22"/>
          <p:cNvSpPr txBox="1"/>
          <p:nvPr/>
        </p:nvSpPr>
        <p:spPr>
          <a:xfrm>
            <a:off x="822960" y="5257800"/>
            <a:ext cx="10545775" cy="77724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Per arrivare a una risorsa, un pacchetto deve superare ENTRAMBI.</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Security Group e NACL: le differenze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743200"/>
                <a:gridCol w="4206240"/>
                <a:gridCol w="4142232"/>
              </a:tblGrid>
              <a:tr h="658368">
                <a:tc>
                  <a:txBody>
                    <a:bodyPr/>
                    <a:lstStyle/>
                    <a:p>
                      <a:pPr indent="0" marL="0">
                        <a:buNone/>
                      </a:pP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Security Group</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NACL</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Dove sta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sulla singola risorsa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sulla subnet (tutto ciò che contiene)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Si ricorda le connessioni?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E9E6B"/>
                          </a:solidFill>
                          <a:latin typeface="Calibri" pitchFamily="34" charset="0"/>
                          <a:ea typeface="Calibri" pitchFamily="34" charset="-122"/>
                          <a:cs typeface="Calibri" pitchFamily="34" charset="-120"/>
                        </a:rPr>
                        <a:t>SÌ (stateful): le risposte passano da sole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D64545"/>
                          </a:solidFill>
                          <a:latin typeface="Calibri" pitchFamily="34" charset="0"/>
                          <a:ea typeface="Calibri" pitchFamily="34" charset="-122"/>
                          <a:cs typeface="Calibri" pitchFamily="34" charset="-120"/>
                        </a:rPr>
                        <a:t>NO (stateless): controlla anche le risposte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Regole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solo CONSENTI (allow)</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CONSENTI e VIETA (allow e deny)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Ordine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tutte insieme: basta che una consenta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in ordine di numero: vince la prima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Sorgente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 blocco di indirizzi O un altro Security Group</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solo un blocco di indirizzi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Uso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la protezione principale, precisa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seconda barriera e blocchi d'emergenza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Si ricorda le connessioni? Stateful e stateless</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71600"/>
            <a:ext cx="5440680" cy="3017520"/>
          </a:xfrm>
          <a:prstGeom prst="roundRect">
            <a:avLst>
              <a:gd name="adj" fmla="val 3636"/>
            </a:avLst>
          </a:prstGeom>
          <a:solidFill>
            <a:srgbClr val="E5F4EC"/>
          </a:solidFill>
          <a:ln w="12700">
            <a:solidFill>
              <a:srgbClr val="E5F4EC"/>
            </a:solidFill>
            <a:prstDash val="solid"/>
          </a:ln>
        </p:spPr>
      </p:sp>
      <p:sp>
        <p:nvSpPr>
          <p:cNvPr id="6" name="Shape 3"/>
          <p:cNvSpPr/>
          <p:nvPr/>
        </p:nvSpPr>
        <p:spPr>
          <a:xfrm>
            <a:off x="777240" y="1600200"/>
            <a:ext cx="548640" cy="548640"/>
          </a:xfrm>
          <a:prstGeom prst="ellipse">
            <a:avLst/>
          </a:prstGeom>
          <a:solidFill>
            <a:srgbClr val="2E9E6B"/>
          </a:solidFill>
          <a:ln w="12700">
            <a:solidFill>
              <a:srgbClr val="2E9E6B"/>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Security Group: si ricorda</a:t>
            </a:r>
            <a:endParaRPr lang="en-US" sz="1800" dirty="0"/>
          </a:p>
        </p:txBody>
      </p:sp>
      <p:sp>
        <p:nvSpPr>
          <p:cNvPr id="9" name="Text 5"/>
          <p:cNvSpPr txBox="1"/>
          <p:nvPr/>
        </p:nvSpPr>
        <p:spPr>
          <a:xfrm>
            <a:off x="777240" y="2286000"/>
            <a:ext cx="4983480" cy="19202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Regola: IN porta 5432 dal server</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La richiesta entra: se la annota</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La risposta esce da sola ✓</a:t>
            </a:r>
            <a:endParaRPr lang="en-US" sz="1700" dirty="0"/>
          </a:p>
        </p:txBody>
      </p:sp>
      <p:sp>
        <p:nvSpPr>
          <p:cNvPr id="10" name="Shape 6"/>
          <p:cNvSpPr/>
          <p:nvPr/>
        </p:nvSpPr>
        <p:spPr>
          <a:xfrm>
            <a:off x="6172200" y="1371600"/>
            <a:ext cx="5468112" cy="3017520"/>
          </a:xfrm>
          <a:prstGeom prst="roundRect">
            <a:avLst>
              <a:gd name="adj" fmla="val 3636"/>
            </a:avLst>
          </a:prstGeom>
          <a:solidFill>
            <a:srgbClr val="FBE9E9"/>
          </a:solidFill>
          <a:ln w="12700">
            <a:solidFill>
              <a:srgbClr val="FBE9E9"/>
            </a:solidFill>
            <a:prstDash val="solid"/>
          </a:ln>
        </p:spPr>
      </p:sp>
      <p:sp>
        <p:nvSpPr>
          <p:cNvPr id="11" name="Shape 7"/>
          <p:cNvSpPr/>
          <p:nvPr/>
        </p:nvSpPr>
        <p:spPr>
          <a:xfrm>
            <a:off x="6400800" y="1600200"/>
            <a:ext cx="548640" cy="548640"/>
          </a:xfrm>
          <a:prstGeom prst="ellipse">
            <a:avLst/>
          </a:prstGeom>
          <a:solidFill>
            <a:srgbClr val="D64545"/>
          </a:solidFill>
          <a:ln w="12700">
            <a:solidFill>
              <a:srgbClr val="D64545"/>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NACL: non si ricorda</a:t>
            </a:r>
            <a:endParaRPr lang="en-US" sz="1800" dirty="0"/>
          </a:p>
        </p:txBody>
      </p:sp>
      <p:sp>
        <p:nvSpPr>
          <p:cNvPr id="14" name="Text 9"/>
          <p:cNvSpPr txBox="1"/>
          <p:nvPr/>
        </p:nvSpPr>
        <p:spPr>
          <a:xfrm>
            <a:off x="6400800" y="2286000"/>
            <a:ext cx="5010912" cy="19202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Regola IN porta 5432: la richiesta entra ✓</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La risposta è un pacchetto NUOVO, verso la porta 51234</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Serve anche: OUT porte 1024-65535, altrimenti ✗</a:t>
            </a:r>
            <a:endParaRPr lang="en-US" sz="1700" dirty="0"/>
          </a:p>
        </p:txBody>
      </p:sp>
      <p:sp>
        <p:nvSpPr>
          <p:cNvPr id="15" name="Shape 10"/>
          <p:cNvSpPr/>
          <p:nvPr/>
        </p:nvSpPr>
        <p:spPr>
          <a:xfrm>
            <a:off x="548640" y="4709160"/>
            <a:ext cx="11094415" cy="1097280"/>
          </a:xfrm>
          <a:prstGeom prst="roundRect">
            <a:avLst>
              <a:gd name="adj" fmla="val 8333"/>
            </a:avLst>
          </a:prstGeom>
          <a:solidFill>
            <a:srgbClr val="FDF0E3"/>
          </a:solidFill>
          <a:ln w="12700">
            <a:solidFill>
              <a:srgbClr val="FDF0E3"/>
            </a:solidFill>
            <a:prstDash val="solid"/>
          </a:ln>
        </p:spPr>
      </p:sp>
      <p:sp>
        <p:nvSpPr>
          <p:cNvPr id="16" name="Text 11"/>
          <p:cNvSpPr txBox="1"/>
          <p:nvPr/>
        </p:nvSpPr>
        <p:spPr>
          <a:xfrm>
            <a:off x="822960" y="4709160"/>
            <a:ext cx="10545775" cy="109728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Errore classico: con la NACL apri la porta del servizio e dimentichi le porte effimere per le risposte.</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Security Group: come sono fatte le regole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Ogni regola dice: PROTOCOLLO + PORTE + DA CHI (in ingresso) o VERSO CHI (in uscita).</a:t>
            </a:r>
            <a:endParaRPr lang="en-US" sz="1800" dirty="0"/>
          </a:p>
        </p:txBody>
      </p:sp>
      <p:sp>
        <p:nvSpPr>
          <p:cNvPr id="7" name="Shape 4"/>
          <p:cNvSpPr/>
          <p:nvPr/>
        </p:nvSpPr>
        <p:spPr>
          <a:xfrm>
            <a:off x="548640" y="2240280"/>
            <a:ext cx="5440680" cy="2194560"/>
          </a:xfrm>
          <a:prstGeom prst="roundRect">
            <a:avLst>
              <a:gd name="adj" fmla="val 5000"/>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In ingresso (ingress)</a:t>
            </a:r>
            <a:endParaRPr lang="en-US" sz="1800" dirty="0"/>
          </a:p>
        </p:txBody>
      </p:sp>
      <p:sp>
        <p:nvSpPr>
          <p:cNvPr id="11" name="Text 7"/>
          <p:cNvSpPr txBox="1"/>
          <p:nvPr/>
        </p:nvSpPr>
        <p:spPr>
          <a:xfrm>
            <a:off x="777240" y="3154680"/>
            <a:ext cx="4983480" cy="109728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Cosa può ARRIVARE alla risorsa. Es. il database accetta TCP 5432 dall'applicazione.</a:t>
            </a:r>
            <a:endParaRPr lang="en-US" sz="1700" dirty="0"/>
          </a:p>
        </p:txBody>
      </p:sp>
      <p:sp>
        <p:nvSpPr>
          <p:cNvPr id="12" name="Shape 8"/>
          <p:cNvSpPr/>
          <p:nvPr/>
        </p:nvSpPr>
        <p:spPr>
          <a:xfrm>
            <a:off x="6172200" y="2240280"/>
            <a:ext cx="5468112" cy="2194560"/>
          </a:xfrm>
          <a:prstGeom prst="roundRect">
            <a:avLst>
              <a:gd name="adj" fmla="val 5000"/>
            </a:avLst>
          </a:prstGeom>
          <a:solidFill>
            <a:srgbClr val="FDF0E3"/>
          </a:solidFill>
          <a:ln w="12700">
            <a:solidFill>
              <a:srgbClr val="FDF0E3"/>
            </a:solidFill>
            <a:prstDash val="solid"/>
          </a:ln>
        </p:spPr>
      </p:sp>
      <p:sp>
        <p:nvSpPr>
          <p:cNvPr id="13" name="Shape 9"/>
          <p:cNvSpPr/>
          <p:nvPr/>
        </p:nvSpPr>
        <p:spPr>
          <a:xfrm>
            <a:off x="6400800" y="2468880"/>
            <a:ext cx="548640" cy="548640"/>
          </a:xfrm>
          <a:prstGeom prst="ellipse">
            <a:avLst/>
          </a:prstGeom>
          <a:solidFill>
            <a:srgbClr val="F28C28"/>
          </a:solidFill>
          <a:ln w="12700">
            <a:solidFill>
              <a:srgbClr val="F28C28"/>
            </a:solidFill>
            <a:prstDash val="solid"/>
          </a:ln>
        </p:spPr>
      </p:sp>
      <p:pic>
        <p:nvPicPr>
          <p:cNvPr id="14" name="Image 1" descr="preencoded.png">    </p:cNvPr>
          <p:cNvPicPr>
            <a:picLocks noChangeAspect="1"/>
          </p:cNvPicPr>
          <p:nvPr/>
        </p:nvPicPr>
        <p:blipFill>
          <a:blip r:embed="rId2"/>
          <a:stretch>
            <a:fillRect/>
          </a:stretch>
        </p:blipFill>
        <p:spPr>
          <a:xfrm>
            <a:off x="6537960" y="2606040"/>
            <a:ext cx="274320" cy="274320"/>
          </a:xfrm>
          <a:prstGeom prst="rect">
            <a:avLst/>
          </a:prstGeom>
        </p:spPr>
      </p:pic>
      <p:sp>
        <p:nvSpPr>
          <p:cNvPr id="15" name="Text 10"/>
          <p:cNvSpPr txBox="1"/>
          <p:nvPr/>
        </p:nvSpPr>
        <p:spPr>
          <a:xfrm>
            <a:off x="7132320" y="246888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In uscita (egress)</a:t>
            </a:r>
            <a:endParaRPr lang="en-US" sz="1800" dirty="0"/>
          </a:p>
        </p:txBody>
      </p:sp>
      <p:sp>
        <p:nvSpPr>
          <p:cNvPr id="16" name="Text 11"/>
          <p:cNvSpPr txBox="1"/>
          <p:nvPr/>
        </p:nvSpPr>
        <p:spPr>
          <a:xfrm>
            <a:off x="6400800" y="3154680"/>
            <a:ext cx="5010912" cy="109728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Cosa la risorsa può CHIAMARE. Es. l'applicazione chiama internet sulla 443.</a:t>
            </a:r>
            <a:endParaRPr lang="en-US" sz="1700" dirty="0"/>
          </a:p>
        </p:txBody>
      </p:sp>
      <p:sp>
        <p:nvSpPr>
          <p:cNvPr id="17" name="Shape 12"/>
          <p:cNvSpPr/>
          <p:nvPr/>
        </p:nvSpPr>
        <p:spPr>
          <a:xfrm>
            <a:off x="548640" y="4754880"/>
            <a:ext cx="11094415" cy="914400"/>
          </a:xfrm>
          <a:prstGeom prst="roundRect">
            <a:avLst>
              <a:gd name="adj" fmla="val 10000"/>
            </a:avLst>
          </a:prstGeom>
          <a:solidFill>
            <a:srgbClr val="FDF0E3"/>
          </a:solidFill>
          <a:ln w="12700">
            <a:solidFill>
              <a:srgbClr val="FDF0E3"/>
            </a:solidFill>
            <a:prstDash val="solid"/>
          </a:ln>
        </p:spPr>
      </p:sp>
      <p:sp>
        <p:nvSpPr>
          <p:cNvPr id="18" name="Text 13"/>
          <p:cNvSpPr txBox="1"/>
          <p:nvPr/>
        </p:nvSpPr>
        <p:spPr>
          <a:xfrm>
            <a:off x="822960" y="4754880"/>
            <a:ext cx="10545775" cy="91440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Solo regole "consenti": tutto ciò che non è consentito è vietato.</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 sorgente può essere un altro Security Group</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71600"/>
            <a:ext cx="5440680" cy="2194560"/>
          </a:xfrm>
          <a:prstGeom prst="roundRect">
            <a:avLst>
              <a:gd name="adj" fmla="val 5000"/>
            </a:avLst>
          </a:prstGeom>
          <a:solidFill>
            <a:srgbClr val="FBE9E9"/>
          </a:solidFill>
          <a:ln w="12700">
            <a:solidFill>
              <a:srgbClr val="FBE9E9"/>
            </a:solidFill>
            <a:prstDash val="solid"/>
          </a:ln>
        </p:spPr>
      </p:sp>
      <p:sp>
        <p:nvSpPr>
          <p:cNvPr id="6" name="Shape 3"/>
          <p:cNvSpPr/>
          <p:nvPr/>
        </p:nvSpPr>
        <p:spPr>
          <a:xfrm>
            <a:off x="777240" y="160020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Con un indirizzo</a:t>
            </a:r>
            <a:endParaRPr lang="en-US" sz="1800" dirty="0"/>
          </a:p>
        </p:txBody>
      </p:sp>
      <p:sp>
        <p:nvSpPr>
          <p:cNvPr id="9" name="Text 5"/>
          <p:cNvSpPr txBox="1"/>
          <p:nvPr/>
        </p:nvSpPr>
        <p:spPr>
          <a:xfrm>
            <a:off x="777240" y="2286000"/>
            <a:ext cx="4983480" cy="109728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"il database accetta la 5432 da 10.20.10.5"</a:t>
            </a:r>
            <a:endParaRPr lang="en-US" sz="1600" dirty="0"/>
          </a:p>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Se il server viene ricreato, cambia indirizzo: la regola non vale più.</a:t>
            </a:r>
            <a:endParaRPr lang="en-US" sz="1600" dirty="0"/>
          </a:p>
        </p:txBody>
      </p:sp>
      <p:sp>
        <p:nvSpPr>
          <p:cNvPr id="10" name="Shape 6"/>
          <p:cNvSpPr/>
          <p:nvPr/>
        </p:nvSpPr>
        <p:spPr>
          <a:xfrm>
            <a:off x="6172200" y="1371600"/>
            <a:ext cx="5468112" cy="2194560"/>
          </a:xfrm>
          <a:prstGeom prst="roundRect">
            <a:avLst>
              <a:gd name="adj" fmla="val 5000"/>
            </a:avLst>
          </a:prstGeom>
          <a:solidFill>
            <a:srgbClr val="E5F4EC"/>
          </a:solidFill>
          <a:ln w="12700">
            <a:solidFill>
              <a:srgbClr val="E5F4EC"/>
            </a:solidFill>
            <a:prstDash val="solid"/>
          </a:ln>
        </p:spPr>
      </p:sp>
      <p:sp>
        <p:nvSpPr>
          <p:cNvPr id="11" name="Shape 7"/>
          <p:cNvSpPr/>
          <p:nvPr/>
        </p:nvSpPr>
        <p:spPr>
          <a:xfrm>
            <a:off x="6400800" y="1600200"/>
            <a:ext cx="548640" cy="548640"/>
          </a:xfrm>
          <a:prstGeom prst="ellipse">
            <a:avLst/>
          </a:prstGeom>
          <a:solidFill>
            <a:srgbClr val="2E9E6B"/>
          </a:solidFill>
          <a:ln w="12700">
            <a:solidFill>
              <a:srgbClr val="2E9E6B"/>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Con un Security Group</a:t>
            </a:r>
            <a:endParaRPr lang="en-US" sz="1800" dirty="0"/>
          </a:p>
        </p:txBody>
      </p:sp>
      <p:sp>
        <p:nvSpPr>
          <p:cNvPr id="14" name="Text 9"/>
          <p:cNvSpPr txBox="1"/>
          <p:nvPr/>
        </p:nvSpPr>
        <p:spPr>
          <a:xfrm>
            <a:off x="6400800" y="2286000"/>
            <a:ext cx="5010912" cy="109728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"il database accetta la 5432 da chi ha il SG app"</a:t>
            </a:r>
            <a:endParaRPr lang="en-US" sz="1600" dirty="0"/>
          </a:p>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Vale per qualunque server dell'applicazione, oggi e domani.</a:t>
            </a:r>
            <a:endParaRPr lang="en-US" sz="1600" dirty="0"/>
          </a:p>
        </p:txBody>
      </p:sp>
      <p:sp>
        <p:nvSpPr>
          <p:cNvPr id="15" name="Shape 10"/>
          <p:cNvSpPr/>
          <p:nvPr/>
        </p:nvSpPr>
        <p:spPr>
          <a:xfrm>
            <a:off x="548640" y="3840480"/>
            <a:ext cx="3566160" cy="2103120"/>
          </a:xfrm>
          <a:prstGeom prst="roundRect">
            <a:avLst>
              <a:gd name="adj" fmla="val 5217"/>
            </a:avLst>
          </a:prstGeom>
          <a:solidFill>
            <a:srgbClr val="EEEAFB"/>
          </a:solidFill>
          <a:ln w="12700">
            <a:solidFill>
              <a:srgbClr val="EEEAFB"/>
            </a:solidFill>
            <a:prstDash val="solid"/>
          </a:ln>
        </p:spPr>
      </p:sp>
      <p:sp>
        <p:nvSpPr>
          <p:cNvPr id="16" name="Shape 11"/>
          <p:cNvSpPr/>
          <p:nvPr/>
        </p:nvSpPr>
        <p:spPr>
          <a:xfrm>
            <a:off x="777240" y="4069080"/>
            <a:ext cx="548640" cy="548640"/>
          </a:xfrm>
          <a:prstGeom prst="ellipse">
            <a:avLst/>
          </a:prstGeom>
          <a:solidFill>
            <a:srgbClr val="5B3FD0"/>
          </a:solidFill>
          <a:ln w="12700">
            <a:solidFill>
              <a:srgbClr val="5B3FD0"/>
            </a:solidFill>
            <a:prstDash val="solid"/>
          </a:ln>
        </p:spPr>
      </p:sp>
      <p:pic>
        <p:nvPicPr>
          <p:cNvPr id="17" name="Image 2" descr="preencoded.png">    </p:cNvPr>
          <p:cNvPicPr>
            <a:picLocks noChangeAspect="1"/>
          </p:cNvPicPr>
          <p:nvPr/>
        </p:nvPicPr>
        <p:blipFill>
          <a:blip r:embed="rId3"/>
          <a:stretch>
            <a:fillRect/>
          </a:stretch>
        </p:blipFill>
        <p:spPr>
          <a:xfrm>
            <a:off x="914400" y="4206240"/>
            <a:ext cx="274320" cy="274320"/>
          </a:xfrm>
          <a:prstGeom prst="rect">
            <a:avLst/>
          </a:prstGeom>
        </p:spPr>
      </p:pic>
      <p:sp>
        <p:nvSpPr>
          <p:cNvPr id="18" name="Text 12"/>
          <p:cNvSpPr txBox="1"/>
          <p:nvPr/>
        </p:nvSpPr>
        <p:spPr>
          <a:xfrm>
            <a:off x="1508760" y="40690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Gli indirizzi cambiano</a:t>
            </a:r>
            <a:endParaRPr lang="en-US" sz="1800" dirty="0"/>
          </a:p>
        </p:txBody>
      </p:sp>
      <p:sp>
        <p:nvSpPr>
          <p:cNvPr id="19" name="Text 13"/>
          <p:cNvSpPr txBox="1"/>
          <p:nvPr/>
        </p:nvSpPr>
        <p:spPr>
          <a:xfrm>
            <a:off x="777240" y="4754880"/>
            <a:ext cx="3108960" cy="10058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il Security Group no</a:t>
            </a:r>
            <a:endParaRPr lang="en-US" sz="1600" dirty="0"/>
          </a:p>
        </p:txBody>
      </p:sp>
      <p:sp>
        <p:nvSpPr>
          <p:cNvPr id="20" name="Shape 14"/>
          <p:cNvSpPr/>
          <p:nvPr/>
        </p:nvSpPr>
        <p:spPr>
          <a:xfrm>
            <a:off x="4297680" y="3840480"/>
            <a:ext cx="3566160" cy="2103120"/>
          </a:xfrm>
          <a:prstGeom prst="roundRect">
            <a:avLst>
              <a:gd name="adj" fmla="val 5217"/>
            </a:avLst>
          </a:prstGeom>
          <a:solidFill>
            <a:srgbClr val="EEEAFB"/>
          </a:solidFill>
          <a:ln w="12700">
            <a:solidFill>
              <a:srgbClr val="EEEAFB"/>
            </a:solidFill>
            <a:prstDash val="solid"/>
          </a:ln>
        </p:spPr>
      </p:sp>
      <p:sp>
        <p:nvSpPr>
          <p:cNvPr id="21" name="Shape 15"/>
          <p:cNvSpPr/>
          <p:nvPr/>
        </p:nvSpPr>
        <p:spPr>
          <a:xfrm>
            <a:off x="4526280" y="4069080"/>
            <a:ext cx="548640" cy="548640"/>
          </a:xfrm>
          <a:prstGeom prst="ellipse">
            <a:avLst/>
          </a:prstGeom>
          <a:solidFill>
            <a:srgbClr val="5B3FD0"/>
          </a:solidFill>
          <a:ln w="12700">
            <a:solidFill>
              <a:srgbClr val="5B3FD0"/>
            </a:solidFill>
            <a:prstDash val="solid"/>
          </a:ln>
        </p:spPr>
      </p:sp>
      <p:pic>
        <p:nvPicPr>
          <p:cNvPr id="22" name="Image 3" descr="preencoded.png">    </p:cNvPr>
          <p:cNvPicPr>
            <a:picLocks noChangeAspect="1"/>
          </p:cNvPicPr>
          <p:nvPr/>
        </p:nvPicPr>
        <p:blipFill>
          <a:blip r:embed="rId4"/>
          <a:stretch>
            <a:fillRect/>
          </a:stretch>
        </p:blipFill>
        <p:spPr>
          <a:xfrm>
            <a:off x="4663440" y="4206240"/>
            <a:ext cx="274320" cy="274320"/>
          </a:xfrm>
          <a:prstGeom prst="rect">
            <a:avLst/>
          </a:prstGeom>
        </p:spPr>
      </p:pic>
      <p:sp>
        <p:nvSpPr>
          <p:cNvPr id="23" name="Text 16"/>
          <p:cNvSpPr txBox="1"/>
          <p:nvPr/>
        </p:nvSpPr>
        <p:spPr>
          <a:xfrm>
            <a:off x="5257800" y="40690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Tre server invece di uno?</a:t>
            </a:r>
            <a:endParaRPr lang="en-US" sz="1800" dirty="0"/>
          </a:p>
        </p:txBody>
      </p:sp>
      <p:sp>
        <p:nvSpPr>
          <p:cNvPr id="24" name="Text 17"/>
          <p:cNvSpPr txBox="1"/>
          <p:nvPr/>
        </p:nvSpPr>
        <p:spPr>
          <a:xfrm>
            <a:off x="4526280" y="4754880"/>
            <a:ext cx="3108960" cy="10058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basta che abbiano il SG app</a:t>
            </a:r>
            <a:endParaRPr lang="en-US" sz="1600" dirty="0"/>
          </a:p>
        </p:txBody>
      </p:sp>
      <p:sp>
        <p:nvSpPr>
          <p:cNvPr id="25" name="Shape 18"/>
          <p:cNvSpPr/>
          <p:nvPr/>
        </p:nvSpPr>
        <p:spPr>
          <a:xfrm>
            <a:off x="8046720" y="3840480"/>
            <a:ext cx="3566160" cy="2103120"/>
          </a:xfrm>
          <a:prstGeom prst="roundRect">
            <a:avLst>
              <a:gd name="adj" fmla="val 5217"/>
            </a:avLst>
          </a:prstGeom>
          <a:solidFill>
            <a:srgbClr val="EEEAFB"/>
          </a:solidFill>
          <a:ln w="12700">
            <a:solidFill>
              <a:srgbClr val="EEEAFB"/>
            </a:solidFill>
            <a:prstDash val="solid"/>
          </a:ln>
        </p:spPr>
      </p:sp>
      <p:sp>
        <p:nvSpPr>
          <p:cNvPr id="26" name="Shape 19"/>
          <p:cNvSpPr/>
          <p:nvPr/>
        </p:nvSpPr>
        <p:spPr>
          <a:xfrm>
            <a:off x="8275320" y="4069080"/>
            <a:ext cx="548640" cy="548640"/>
          </a:xfrm>
          <a:prstGeom prst="ellipse">
            <a:avLst/>
          </a:prstGeom>
          <a:solidFill>
            <a:srgbClr val="5B3FD0"/>
          </a:solidFill>
          <a:ln w="12700">
            <a:solidFill>
              <a:srgbClr val="5B3FD0"/>
            </a:solidFill>
            <a:prstDash val="solid"/>
          </a:ln>
        </p:spPr>
      </p:sp>
      <p:pic>
        <p:nvPicPr>
          <p:cNvPr id="27" name="Image 4" descr="preencoded.png">    </p:cNvPr>
          <p:cNvPicPr>
            <a:picLocks noChangeAspect="1"/>
          </p:cNvPicPr>
          <p:nvPr/>
        </p:nvPicPr>
        <p:blipFill>
          <a:blip r:embed="rId5"/>
          <a:stretch>
            <a:fillRect/>
          </a:stretch>
        </p:blipFill>
        <p:spPr>
          <a:xfrm>
            <a:off x="8412480" y="4206240"/>
            <a:ext cx="274320" cy="274320"/>
          </a:xfrm>
          <a:prstGeom prst="rect">
            <a:avLst/>
          </a:prstGeom>
        </p:spPr>
      </p:pic>
      <p:sp>
        <p:nvSpPr>
          <p:cNvPr id="28" name="Text 20"/>
          <p:cNvSpPr txBox="1"/>
          <p:nvPr/>
        </p:nvSpPr>
        <p:spPr>
          <a:xfrm>
            <a:off x="9006840" y="40690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Si legge come si pensa</a:t>
            </a:r>
            <a:endParaRPr lang="en-US" sz="1800" dirty="0"/>
          </a:p>
        </p:txBody>
      </p:sp>
      <p:sp>
        <p:nvSpPr>
          <p:cNvPr id="29" name="Text 21"/>
          <p:cNvSpPr txBox="1"/>
          <p:nvPr/>
        </p:nvSpPr>
        <p:spPr>
          <a:xfrm>
            <a:off x="8275320" y="4754880"/>
            <a:ext cx="3108960" cy="10058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"il database accetta l'applicazione"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nostro piano: tre Security Group</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463040"/>
            <a:ext cx="2926080" cy="1188720"/>
          </a:xfrm>
          <a:prstGeom prst="roundRect">
            <a:avLst>
              <a:gd name="adj" fmla="val 7692"/>
            </a:avLst>
          </a:prstGeom>
          <a:solidFill>
            <a:srgbClr val="FDF0E3"/>
          </a:solidFill>
          <a:ln w="12700">
            <a:solidFill>
              <a:srgbClr val="FDF0E3"/>
            </a:solidFill>
            <a:prstDash val="solid"/>
          </a:ln>
        </p:spPr>
      </p:sp>
      <p:sp>
        <p:nvSpPr>
          <p:cNvPr id="6" name="Text 3"/>
          <p:cNvSpPr txBox="1"/>
          <p:nvPr/>
        </p:nvSpPr>
        <p:spPr>
          <a:xfrm>
            <a:off x="548640" y="1463040"/>
            <a:ext cx="2926080" cy="118872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ourier New" pitchFamily="34" charset="0"/>
                <a:ea typeface="Courier New" pitchFamily="34" charset="-122"/>
                <a:cs typeface="Courier New" pitchFamily="34" charset="-120"/>
              </a:rPr>
              <a:t>SG vpn</a:t>
            </a:r>
            <a:endParaRPr lang="en-US" sz="1700" dirty="0"/>
          </a:p>
          <a:p>
            <a:pPr algn="ctr" indent="0" marL="0">
              <a:buNone/>
            </a:pPr>
            <a:r>
              <a:rPr lang="en-US" sz="1700" dirty="0">
                <a:solidFill>
                  <a:srgbClr val="5F6478"/>
                </a:solidFill>
                <a:latin typeface="Calibri" pitchFamily="34" charset="0"/>
                <a:ea typeface="Calibri" pitchFamily="34" charset="-122"/>
                <a:cs typeface="Calibri" pitchFamily="34" charset="-120"/>
              </a:rPr>
              <a:t>router VPN (lezione 5)</a:t>
            </a:r>
            <a:endParaRPr lang="en-US" sz="1700" dirty="0"/>
          </a:p>
        </p:txBody>
      </p:sp>
      <p:sp>
        <p:nvSpPr>
          <p:cNvPr id="7" name="Shape 4"/>
          <p:cNvSpPr/>
          <p:nvPr/>
        </p:nvSpPr>
        <p:spPr>
          <a:xfrm>
            <a:off x="4617720" y="1463040"/>
            <a:ext cx="2926080" cy="1188720"/>
          </a:xfrm>
          <a:prstGeom prst="roundRect">
            <a:avLst>
              <a:gd name="adj" fmla="val 7692"/>
            </a:avLst>
          </a:prstGeom>
          <a:solidFill>
            <a:srgbClr val="EEEAFB"/>
          </a:solidFill>
          <a:ln w="12700">
            <a:solidFill>
              <a:srgbClr val="EEEAFB"/>
            </a:solidFill>
            <a:prstDash val="solid"/>
          </a:ln>
        </p:spPr>
      </p:sp>
      <p:sp>
        <p:nvSpPr>
          <p:cNvPr id="8" name="Text 5"/>
          <p:cNvSpPr txBox="1"/>
          <p:nvPr/>
        </p:nvSpPr>
        <p:spPr>
          <a:xfrm>
            <a:off x="4617720" y="1463040"/>
            <a:ext cx="2926080" cy="118872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ourier New" pitchFamily="34" charset="0"/>
                <a:ea typeface="Courier New" pitchFamily="34" charset="-122"/>
                <a:cs typeface="Courier New" pitchFamily="34" charset="-120"/>
              </a:rPr>
              <a:t>SG app</a:t>
            </a:r>
            <a:endParaRPr lang="en-US" sz="1700" dirty="0"/>
          </a:p>
          <a:p>
            <a:pPr algn="ctr" indent="0" marL="0">
              <a:buNone/>
            </a:pPr>
            <a:r>
              <a:rPr lang="en-US" sz="1700" dirty="0">
                <a:solidFill>
                  <a:srgbClr val="5F6478"/>
                </a:solidFill>
                <a:latin typeface="Calibri" pitchFamily="34" charset="0"/>
                <a:ea typeface="Calibri" pitchFamily="34" charset="-122"/>
                <a:cs typeface="Calibri" pitchFamily="34" charset="-120"/>
              </a:rPr>
              <a:t>il server (lezione 4)</a:t>
            </a:r>
            <a:endParaRPr lang="en-US" sz="1700" dirty="0"/>
          </a:p>
        </p:txBody>
      </p:sp>
      <p:sp>
        <p:nvSpPr>
          <p:cNvPr id="9" name="Shape 6"/>
          <p:cNvSpPr/>
          <p:nvPr/>
        </p:nvSpPr>
        <p:spPr>
          <a:xfrm>
            <a:off x="8714232" y="1463040"/>
            <a:ext cx="2926080" cy="1188720"/>
          </a:xfrm>
          <a:prstGeom prst="roundRect">
            <a:avLst>
              <a:gd name="adj" fmla="val 7692"/>
            </a:avLst>
          </a:prstGeom>
          <a:solidFill>
            <a:srgbClr val="E5F4EC"/>
          </a:solidFill>
          <a:ln w="12700">
            <a:solidFill>
              <a:srgbClr val="E5F4EC"/>
            </a:solidFill>
            <a:prstDash val="solid"/>
          </a:ln>
        </p:spPr>
      </p:sp>
      <p:sp>
        <p:nvSpPr>
          <p:cNvPr id="10" name="Text 7"/>
          <p:cNvSpPr txBox="1"/>
          <p:nvPr/>
        </p:nvSpPr>
        <p:spPr>
          <a:xfrm>
            <a:off x="8714232" y="1463040"/>
            <a:ext cx="2926080" cy="118872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ourier New" pitchFamily="34" charset="0"/>
                <a:ea typeface="Courier New" pitchFamily="34" charset="-122"/>
                <a:cs typeface="Courier New" pitchFamily="34" charset="-120"/>
              </a:rPr>
              <a:t>SG db</a:t>
            </a:r>
            <a:endParaRPr lang="en-US" sz="1700" dirty="0"/>
          </a:p>
          <a:p>
            <a:pPr algn="ctr" indent="0" marL="0">
              <a:buNone/>
            </a:pPr>
            <a:r>
              <a:rPr lang="en-US" sz="1700" dirty="0">
                <a:solidFill>
                  <a:srgbClr val="5F6478"/>
                </a:solidFill>
                <a:latin typeface="Calibri" pitchFamily="34" charset="0"/>
                <a:ea typeface="Calibri" pitchFamily="34" charset="-122"/>
                <a:cs typeface="Calibri" pitchFamily="34" charset="-120"/>
              </a:rPr>
              <a:t>il database (lezione 6)</a:t>
            </a:r>
            <a:endParaRPr lang="en-US" sz="1700" dirty="0"/>
          </a:p>
        </p:txBody>
      </p:sp>
      <p:sp>
        <p:nvSpPr>
          <p:cNvPr id="11" name="Shape 8"/>
          <p:cNvSpPr/>
          <p:nvPr/>
        </p:nvSpPr>
        <p:spPr>
          <a:xfrm>
            <a:off x="4617720" y="3429000"/>
            <a:ext cx="2926080" cy="822960"/>
          </a:xfrm>
          <a:prstGeom prst="roundRect">
            <a:avLst>
              <a:gd name="adj" fmla="val 11111"/>
            </a:avLst>
          </a:prstGeom>
          <a:solidFill>
            <a:srgbClr val="F7F6FD"/>
          </a:solidFill>
          <a:ln w="12700">
            <a:solidFill>
              <a:srgbClr val="F7F6FD"/>
            </a:solidFill>
            <a:prstDash val="solid"/>
          </a:ln>
        </p:spPr>
      </p:sp>
      <p:sp>
        <p:nvSpPr>
          <p:cNvPr id="12" name="Text 9"/>
          <p:cNvSpPr txBox="1"/>
          <p:nvPr/>
        </p:nvSpPr>
        <p:spPr>
          <a:xfrm>
            <a:off x="4617720" y="3429000"/>
            <a:ext cx="2926080" cy="82296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internet</a:t>
            </a:r>
            <a:endParaRPr lang="en-US" sz="1700" dirty="0"/>
          </a:p>
        </p:txBody>
      </p:sp>
      <p:sp>
        <p:nvSpPr>
          <p:cNvPr id="13" name="Shape 10"/>
          <p:cNvSpPr/>
          <p:nvPr/>
        </p:nvSpPr>
        <p:spPr>
          <a:xfrm>
            <a:off x="3520440" y="2057400"/>
            <a:ext cx="1051560" cy="0"/>
          </a:xfrm>
          <a:prstGeom prst="line">
            <a:avLst/>
          </a:prstGeom>
          <a:noFill/>
          <a:ln w="25400">
            <a:solidFill>
              <a:srgbClr val="5B3FD0"/>
            </a:solidFill>
            <a:prstDash val="solid"/>
            <a:tailEnd type="triangle"/>
          </a:ln>
        </p:spPr>
      </p:sp>
      <p:sp>
        <p:nvSpPr>
          <p:cNvPr id="14" name="Text 11"/>
          <p:cNvSpPr txBox="1"/>
          <p:nvPr/>
        </p:nvSpPr>
        <p:spPr>
          <a:xfrm>
            <a:off x="3520440" y="1691640"/>
            <a:ext cx="1051560" cy="365760"/>
          </a:xfrm>
          <a:prstGeom prst="rect">
            <a:avLst/>
          </a:prstGeom>
          <a:noFill/>
          <a:ln/>
        </p:spPr>
        <p:txBody>
          <a:bodyPr wrap="square" lIns="0" tIns="0" rIns="0" bIns="0" rtlCol="0" anchor="ctr"/>
          <a:lstStyle/>
          <a:p>
            <a:pPr algn="ctr" indent="0" marL="0">
              <a:buNone/>
            </a:pPr>
            <a:r>
              <a:rPr lang="en-US" sz="1500" b="1" dirty="0">
                <a:solidFill>
                  <a:srgbClr val="5B3FD0"/>
                </a:solidFill>
                <a:latin typeface="Courier New" pitchFamily="34" charset="0"/>
                <a:ea typeface="Courier New" pitchFamily="34" charset="-122"/>
                <a:cs typeface="Courier New" pitchFamily="34" charset="-120"/>
              </a:rPr>
              <a:t>8080</a:t>
            </a:r>
            <a:endParaRPr lang="en-US" sz="1500" dirty="0"/>
          </a:p>
        </p:txBody>
      </p:sp>
      <p:sp>
        <p:nvSpPr>
          <p:cNvPr id="15" name="Shape 12"/>
          <p:cNvSpPr/>
          <p:nvPr/>
        </p:nvSpPr>
        <p:spPr>
          <a:xfrm>
            <a:off x="7589520" y="2057400"/>
            <a:ext cx="1078992" cy="0"/>
          </a:xfrm>
          <a:prstGeom prst="line">
            <a:avLst/>
          </a:prstGeom>
          <a:noFill/>
          <a:ln w="25400">
            <a:solidFill>
              <a:srgbClr val="2E9E6B"/>
            </a:solidFill>
            <a:prstDash val="solid"/>
            <a:tailEnd type="triangle"/>
          </a:ln>
        </p:spPr>
      </p:sp>
      <p:sp>
        <p:nvSpPr>
          <p:cNvPr id="16" name="Text 13"/>
          <p:cNvSpPr txBox="1"/>
          <p:nvPr/>
        </p:nvSpPr>
        <p:spPr>
          <a:xfrm>
            <a:off x="7589520" y="1691640"/>
            <a:ext cx="1078992" cy="365760"/>
          </a:xfrm>
          <a:prstGeom prst="rect">
            <a:avLst/>
          </a:prstGeom>
          <a:noFill/>
          <a:ln/>
        </p:spPr>
        <p:txBody>
          <a:bodyPr wrap="square" lIns="0" tIns="0" rIns="0" bIns="0" rtlCol="0" anchor="ctr"/>
          <a:lstStyle/>
          <a:p>
            <a:pPr algn="ctr" indent="0" marL="0">
              <a:buNone/>
            </a:pPr>
            <a:r>
              <a:rPr lang="en-US" sz="1500" b="1" dirty="0">
                <a:solidFill>
                  <a:srgbClr val="2E9E6B"/>
                </a:solidFill>
                <a:latin typeface="Courier New" pitchFamily="34" charset="0"/>
                <a:ea typeface="Courier New" pitchFamily="34" charset="-122"/>
                <a:cs typeface="Courier New" pitchFamily="34" charset="-120"/>
              </a:rPr>
              <a:t>5432</a:t>
            </a:r>
            <a:endParaRPr lang="en-US" sz="1500" dirty="0"/>
          </a:p>
        </p:txBody>
      </p:sp>
      <p:sp>
        <p:nvSpPr>
          <p:cNvPr id="17" name="Shape 14"/>
          <p:cNvSpPr/>
          <p:nvPr/>
        </p:nvSpPr>
        <p:spPr>
          <a:xfrm>
            <a:off x="6080760" y="2670048"/>
            <a:ext cx="0" cy="731520"/>
          </a:xfrm>
          <a:prstGeom prst="line">
            <a:avLst/>
          </a:prstGeom>
          <a:noFill/>
          <a:ln w="25400">
            <a:solidFill>
              <a:srgbClr val="5B3FD0"/>
            </a:solidFill>
            <a:prstDash val="solid"/>
            <a:tailEnd type="triangle"/>
          </a:ln>
        </p:spPr>
      </p:sp>
      <p:sp>
        <p:nvSpPr>
          <p:cNvPr id="18" name="Text 15"/>
          <p:cNvSpPr txBox="1"/>
          <p:nvPr/>
        </p:nvSpPr>
        <p:spPr>
          <a:xfrm>
            <a:off x="6172200" y="2788920"/>
            <a:ext cx="731520" cy="365760"/>
          </a:xfrm>
          <a:prstGeom prst="rect">
            <a:avLst/>
          </a:prstGeom>
          <a:noFill/>
          <a:ln/>
        </p:spPr>
        <p:txBody>
          <a:bodyPr wrap="square" lIns="0" tIns="0" rIns="0" bIns="0" rtlCol="0" anchor="ctr"/>
          <a:lstStyle/>
          <a:p>
            <a:pPr algn="l" indent="0" marL="0">
              <a:buNone/>
            </a:pPr>
            <a:r>
              <a:rPr lang="en-US" sz="1500" b="1" dirty="0">
                <a:solidFill>
                  <a:srgbClr val="5B3FD0"/>
                </a:solidFill>
                <a:latin typeface="Courier New" pitchFamily="34" charset="0"/>
                <a:ea typeface="Courier New" pitchFamily="34" charset="-122"/>
                <a:cs typeface="Courier New" pitchFamily="34" charset="-120"/>
              </a:rPr>
              <a:t>443</a:t>
            </a:r>
            <a:endParaRPr lang="en-US" sz="1500" dirty="0"/>
          </a:p>
        </p:txBody>
      </p:sp>
      <p:sp>
        <p:nvSpPr>
          <p:cNvPr id="19" name="Shape 16"/>
          <p:cNvSpPr/>
          <p:nvPr/>
        </p:nvSpPr>
        <p:spPr>
          <a:xfrm>
            <a:off x="2011680" y="2670048"/>
            <a:ext cx="0" cy="411480"/>
          </a:xfrm>
          <a:prstGeom prst="line">
            <a:avLst/>
          </a:prstGeom>
          <a:noFill/>
          <a:ln w="25400">
            <a:solidFill>
              <a:srgbClr val="2E9E6B"/>
            </a:solidFill>
            <a:prstDash val="solid"/>
          </a:ln>
        </p:spPr>
      </p:sp>
      <p:sp>
        <p:nvSpPr>
          <p:cNvPr id="20" name="Shape 17"/>
          <p:cNvSpPr/>
          <p:nvPr/>
        </p:nvSpPr>
        <p:spPr>
          <a:xfrm>
            <a:off x="2011680" y="3081528"/>
            <a:ext cx="8165592" cy="0"/>
          </a:xfrm>
          <a:prstGeom prst="line">
            <a:avLst/>
          </a:prstGeom>
          <a:noFill/>
          <a:ln w="25400">
            <a:solidFill>
              <a:srgbClr val="2E9E6B"/>
            </a:solidFill>
            <a:prstDash val="solid"/>
          </a:ln>
        </p:spPr>
      </p:sp>
      <p:sp>
        <p:nvSpPr>
          <p:cNvPr id="21" name="Shape 18"/>
          <p:cNvSpPr/>
          <p:nvPr/>
        </p:nvSpPr>
        <p:spPr>
          <a:xfrm>
            <a:off x="10177272" y="3081528"/>
            <a:ext cx="0" cy="-411480"/>
          </a:xfrm>
          <a:prstGeom prst="line">
            <a:avLst/>
          </a:prstGeom>
          <a:noFill/>
          <a:ln w="25400">
            <a:solidFill>
              <a:srgbClr val="2E9E6B"/>
            </a:solidFill>
            <a:prstDash val="solid"/>
            <a:tailEnd type="triangle"/>
          </a:ln>
        </p:spPr>
      </p:sp>
      <p:sp>
        <p:nvSpPr>
          <p:cNvPr id="22" name="Text 19"/>
          <p:cNvSpPr txBox="1"/>
          <p:nvPr/>
        </p:nvSpPr>
        <p:spPr>
          <a:xfrm>
            <a:off x="8229600" y="3108960"/>
            <a:ext cx="1828800" cy="320040"/>
          </a:xfrm>
          <a:prstGeom prst="rect">
            <a:avLst/>
          </a:prstGeom>
          <a:noFill/>
          <a:ln/>
        </p:spPr>
        <p:txBody>
          <a:bodyPr wrap="square" lIns="0" tIns="0" rIns="0" bIns="0" rtlCol="0" anchor="ctr"/>
          <a:lstStyle/>
          <a:p>
            <a:pPr algn="ctr" indent="0" marL="0">
              <a:buNone/>
            </a:pPr>
            <a:r>
              <a:rPr lang="en-US" sz="1300" b="1" dirty="0">
                <a:solidFill>
                  <a:srgbClr val="2E9E6B"/>
                </a:solidFill>
                <a:latin typeface="Courier New" pitchFamily="34" charset="0"/>
                <a:ea typeface="Courier New" pitchFamily="34" charset="-122"/>
                <a:cs typeface="Courier New" pitchFamily="34" charset="-120"/>
              </a:rPr>
              <a:t>5432 (admin)</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11094415" cy="914400"/>
        </p:xfrm>
        <a:graphic>
          <a:graphicData uri="http://schemas.openxmlformats.org/drawingml/2006/table">
            <a:tbl>
              <a:tblPr/>
              <a:tblGrid>
                <a:gridCol w="1463040"/>
                <a:gridCol w="4206240"/>
                <a:gridCol w="5422392"/>
              </a:tblGrid>
              <a:tr h="4114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SG</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 ingresso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 uscita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411480">
                <a:tc>
                  <a:txBody>
                    <a:bodyPr/>
                    <a:lstStyle/>
                    <a:p>
                      <a:pPr indent="0" marL="0">
                        <a:buNone/>
                      </a:pPr>
                      <a:r>
                        <a:rPr lang="en-US" sz="1500" b="1" dirty="0">
                          <a:solidFill>
                            <a:srgbClr val="22253A"/>
                          </a:solidFill>
                          <a:latin typeface="Courier New" pitchFamily="34" charset="0"/>
                          <a:ea typeface="Courier New" pitchFamily="34" charset="-122"/>
                          <a:cs typeface="Courier New" pitchFamily="34" charset="-120"/>
                        </a:rPr>
                        <a:t>app</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8080 dal SG vpn</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443 verso internet · 5432 verso il SG db</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411480">
                <a:tc>
                  <a:txBody>
                    <a:bodyPr/>
                    <a:lstStyle/>
                    <a:p>
                      <a:pPr indent="0" marL="0">
                        <a:buNone/>
                      </a:pPr>
                      <a:r>
                        <a:rPr lang="en-US" sz="1500" b="1" dirty="0">
                          <a:solidFill>
                            <a:srgbClr val="22253A"/>
                          </a:solidFill>
                          <a:latin typeface="Courier New" pitchFamily="34" charset="0"/>
                          <a:ea typeface="Courier New" pitchFamily="34" charset="-122"/>
                          <a:cs typeface="Courier New" pitchFamily="34" charset="-120"/>
                        </a:rPr>
                        <a:t>db</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5432 dal SG app e dal SG vpn</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niente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411480">
                <a:tc>
                  <a:txBody>
                    <a:bodyPr/>
                    <a:lstStyle/>
                    <a:p>
                      <a:pPr indent="0" marL="0">
                        <a:buNone/>
                      </a:pPr>
                      <a:r>
                        <a:rPr lang="en-US" sz="1500" b="1" dirty="0">
                          <a:solidFill>
                            <a:srgbClr val="22253A"/>
                          </a:solidFill>
                          <a:latin typeface="Courier New" pitchFamily="34" charset="0"/>
                          <a:ea typeface="Courier New" pitchFamily="34" charset="-122"/>
                          <a:cs typeface="Courier New" pitchFamily="34" charset="-120"/>
                        </a:rPr>
                        <a:t>vpn</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niente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tutto, ma solo verso la nostra rete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NACL: regole numerate, vince la prima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Le regole si leggono in ordine di numero: vince la PRIMA che corrisponde.</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6949440" cy="914400"/>
        </p:xfrm>
        <a:graphic>
          <a:graphicData uri="http://schemas.openxmlformats.org/drawingml/2006/table">
            <a:tbl>
              <a:tblPr/>
              <a:tblGrid>
                <a:gridCol w="822960"/>
                <a:gridCol w="1463040"/>
                <a:gridCol w="1097280"/>
                <a:gridCol w="2286000"/>
                <a:gridCol w="1280160"/>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N°</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Protocollo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Porta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Da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Azione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48640">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50</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TCP</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5432</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10.20.10.5/32</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D64545"/>
                          </a:solidFill>
                          <a:latin typeface="Calibri" pitchFamily="34" charset="0"/>
                          <a:ea typeface="Calibri" pitchFamily="34" charset="-122"/>
                          <a:cs typeface="Calibri" pitchFamily="34" charset="-120"/>
                        </a:rPr>
                        <a:t>DENY</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100</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TCP</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5432</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ourier New" pitchFamily="34" charset="0"/>
                          <a:ea typeface="Courier New" pitchFamily="34" charset="-122"/>
                          <a:cs typeface="Courier New" pitchFamily="34" charset="-120"/>
                        </a:rPr>
                        <a:t>10.20.10.0/24</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2E9E6B"/>
                          </a:solidFill>
                          <a:latin typeface="Calibri" pitchFamily="34" charset="0"/>
                          <a:ea typeface="Calibri" pitchFamily="34" charset="-122"/>
                          <a:cs typeface="Calibri" pitchFamily="34" charset="-120"/>
                        </a:rPr>
                        <a:t>ALLOW</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tutto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tutte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tutto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D64545"/>
                          </a:solidFill>
                          <a:latin typeface="Calibri" pitchFamily="34" charset="0"/>
                          <a:ea typeface="Calibri" pitchFamily="34" charset="-122"/>
                          <a:cs typeface="Calibri" pitchFamily="34" charset="-120"/>
                        </a:rPr>
                        <a:t>DENY</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617720"/>
            <a:ext cx="6949440" cy="1005840"/>
          </a:xfrm>
          <a:prstGeom prst="roundRect">
            <a:avLst>
              <a:gd name="adj" fmla="val 9091"/>
            </a:avLst>
          </a:prstGeom>
          <a:solidFill>
            <a:srgbClr val="FDF0E3"/>
          </a:solidFill>
          <a:ln w="12700">
            <a:solidFill>
              <a:srgbClr val="FDF0E3"/>
            </a:solidFill>
            <a:prstDash val="solid"/>
          </a:ln>
        </p:spPr>
      </p:sp>
      <p:sp>
        <p:nvSpPr>
          <p:cNvPr id="9" name="Text 5"/>
          <p:cNvSpPr txBox="1"/>
          <p:nvPr/>
        </p:nvSpPr>
        <p:spPr>
          <a:xfrm>
            <a:off x="822960" y="4617720"/>
            <a:ext cx="6400800" cy="100584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Il server 10.20.10.5 viene bloccato: la regola 50 è letta prima della 100.</a:t>
            </a:r>
            <a:endParaRPr lang="en-US" sz="1800" dirty="0"/>
          </a:p>
        </p:txBody>
      </p:sp>
      <p:sp>
        <p:nvSpPr>
          <p:cNvPr id="10" name="Shape 6"/>
          <p:cNvSpPr/>
          <p:nvPr/>
        </p:nvSpPr>
        <p:spPr>
          <a:xfrm>
            <a:off x="7726680" y="2240280"/>
            <a:ext cx="3913632" cy="3383280"/>
          </a:xfrm>
          <a:prstGeom prst="roundRect">
            <a:avLst>
              <a:gd name="adj" fmla="val 3243"/>
            </a:avLst>
          </a:prstGeom>
          <a:solidFill>
            <a:srgbClr val="FDF0E3"/>
          </a:solidFill>
          <a:ln w="12700">
            <a:solidFill>
              <a:srgbClr val="FDF0E3"/>
            </a:solidFill>
            <a:prstDash val="solid"/>
          </a:ln>
        </p:spPr>
      </p:sp>
      <p:sp>
        <p:nvSpPr>
          <p:cNvPr id="11" name="Shape 7"/>
          <p:cNvSpPr/>
          <p:nvPr/>
        </p:nvSpPr>
        <p:spPr>
          <a:xfrm>
            <a:off x="7955280" y="2468880"/>
            <a:ext cx="548640" cy="548640"/>
          </a:xfrm>
          <a:prstGeom prst="ellipse">
            <a:avLst/>
          </a:prstGeom>
          <a:solidFill>
            <a:srgbClr val="F28C28"/>
          </a:solidFill>
          <a:ln w="12700">
            <a:solidFill>
              <a:srgbClr val="F28C28"/>
            </a:solidFill>
            <a:prstDash val="solid"/>
          </a:ln>
        </p:spPr>
      </p:sp>
      <p:pic>
        <p:nvPicPr>
          <p:cNvPr id="12" name="Image 0" descr="preencoded.png">    </p:cNvPr>
          <p:cNvPicPr>
            <a:picLocks noChangeAspect="1"/>
          </p:cNvPicPr>
          <p:nvPr/>
        </p:nvPicPr>
        <p:blipFill>
          <a:blip r:embed="rId1"/>
          <a:stretch>
            <a:fillRect/>
          </a:stretch>
        </p:blipFill>
        <p:spPr>
          <a:xfrm>
            <a:off x="8092440" y="2606040"/>
            <a:ext cx="274320" cy="274320"/>
          </a:xfrm>
          <a:prstGeom prst="rect">
            <a:avLst/>
          </a:prstGeom>
        </p:spPr>
      </p:pic>
      <p:sp>
        <p:nvSpPr>
          <p:cNvPr id="13" name="Text 8"/>
          <p:cNvSpPr txBox="1"/>
          <p:nvPr/>
        </p:nvSpPr>
        <p:spPr>
          <a:xfrm>
            <a:off x="8686800" y="2468880"/>
            <a:ext cx="272491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 cosa servono</a:t>
            </a:r>
            <a:endParaRPr lang="en-US" sz="1800" dirty="0"/>
          </a:p>
        </p:txBody>
      </p:sp>
      <p:sp>
        <p:nvSpPr>
          <p:cNvPr id="14" name="Text 9"/>
          <p:cNvSpPr txBox="1"/>
          <p:nvPr/>
        </p:nvSpPr>
        <p:spPr>
          <a:xfrm>
            <a:off x="7955280" y="3154680"/>
            <a:ext cx="3456432"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Seconda barriera attorno alle subnet delicate</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Blocchi d'emergenza: un DENY ferma un indirizzo per tutta la subnet</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Numeri con buchi (50, 100, 200…) per inserire regole dopo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nostro piano: una NACL per le subnet database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280160"/>
                <a:gridCol w="1463040"/>
                <a:gridCol w="4206240"/>
                <a:gridCol w="4142232"/>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Direzione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Cosa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Perché</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100, 101</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ingresso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TCP 5432 da ciascuna subnet privata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le richieste al database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200, 201</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ingresso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tutto da ciascuna subnet database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database su due data center (lezione 6)</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100, 101</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DF0E3"/>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uscita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DF0E3"/>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TCP 1024-65535 verso ciascuna subnet privata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DF0E3"/>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LE RISPOSTE, verso le porte effimere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DF0E3"/>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200, 201</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uscita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tutto verso ciascuna subnet database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come sopra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4937760"/>
            <a:ext cx="11094415" cy="914400"/>
          </a:xfrm>
          <a:prstGeom prst="roundRect">
            <a:avLst>
              <a:gd name="adj" fmla="val 10000"/>
            </a:avLst>
          </a:prstGeom>
          <a:solidFill>
            <a:srgbClr val="FDF0E3"/>
          </a:solidFill>
          <a:ln w="12700">
            <a:solidFill>
              <a:srgbClr val="FDF0E3"/>
            </a:solidFill>
            <a:prstDash val="solid"/>
          </a:ln>
        </p:spPr>
      </p:sp>
      <p:sp>
        <p:nvSpPr>
          <p:cNvPr id="7" name="Text 3"/>
          <p:cNvSpPr txBox="1"/>
          <p:nvPr/>
        </p:nvSpPr>
        <p:spPr>
          <a:xfrm>
            <a:off x="822960" y="4937760"/>
            <a:ext cx="10545775" cy="91440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Il router della VPN (lezione 5) starà in una subnet privata: queste regole valgono anche per gli amministratori.</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 firewall "di default" creati da AWS</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71600"/>
            <a:ext cx="5440680" cy="3657600"/>
          </a:xfrm>
          <a:prstGeom prst="roundRect">
            <a:avLst>
              <a:gd name="adj" fmla="val 3000"/>
            </a:avLst>
          </a:prstGeom>
          <a:solidFill>
            <a:srgbClr val="FBE9E9"/>
          </a:solidFill>
          <a:ln w="12700">
            <a:solidFill>
              <a:srgbClr val="FBE9E9"/>
            </a:solidFill>
            <a:prstDash val="solid"/>
          </a:ln>
        </p:spPr>
      </p:sp>
      <p:sp>
        <p:nvSpPr>
          <p:cNvPr id="6" name="Shape 3"/>
          <p:cNvSpPr/>
          <p:nvPr/>
        </p:nvSpPr>
        <p:spPr>
          <a:xfrm>
            <a:off x="777240" y="160020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Security Group di default: va SVUOTATO</a:t>
            </a:r>
            <a:endParaRPr lang="en-US" sz="1800" dirty="0"/>
          </a:p>
        </p:txBody>
      </p:sp>
      <p:sp>
        <p:nvSpPr>
          <p:cNvPr id="9" name="Text 5"/>
          <p:cNvSpPr txBox="1"/>
          <p:nvPr/>
        </p:nvSpPr>
        <p:spPr>
          <a:xfrm>
            <a:off x="777240" y="2286000"/>
            <a:ext cx="498348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Consente tutto tra chi lo usa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Viene assegnato da solo a chi non ne indica uno</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Controlli di sicurezza (es. CIS): nessuna regola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In Terraform: aws_default_security_group senza regole</a:t>
            </a:r>
            <a:endParaRPr lang="en-US" sz="1600" dirty="0"/>
          </a:p>
        </p:txBody>
      </p:sp>
      <p:sp>
        <p:nvSpPr>
          <p:cNvPr id="10" name="Shape 6"/>
          <p:cNvSpPr/>
          <p:nvPr/>
        </p:nvSpPr>
        <p:spPr>
          <a:xfrm>
            <a:off x="6172200" y="1371600"/>
            <a:ext cx="5468112" cy="3657600"/>
          </a:xfrm>
          <a:prstGeom prst="roundRect">
            <a:avLst>
              <a:gd name="adj" fmla="val 3000"/>
            </a:avLst>
          </a:prstGeom>
          <a:solidFill>
            <a:srgbClr val="FDF0E3"/>
          </a:solidFill>
          <a:ln w="12700">
            <a:solidFill>
              <a:srgbClr val="FDF0E3"/>
            </a:solidFill>
            <a:prstDash val="solid"/>
          </a:ln>
        </p:spPr>
      </p:sp>
      <p:sp>
        <p:nvSpPr>
          <p:cNvPr id="11" name="Shape 7"/>
          <p:cNvSpPr/>
          <p:nvPr/>
        </p:nvSpPr>
        <p:spPr>
          <a:xfrm>
            <a:off x="6400800" y="160020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NACL di default: la lasciamo</a:t>
            </a:r>
            <a:endParaRPr lang="en-US" sz="1800" dirty="0"/>
          </a:p>
        </p:txBody>
      </p:sp>
      <p:sp>
        <p:nvSpPr>
          <p:cNvPr id="14" name="Text 9"/>
          <p:cNvSpPr txBox="1"/>
          <p:nvPr/>
        </p:nvSpPr>
        <p:spPr>
          <a:xfrm>
            <a:off x="6400800" y="2286000"/>
            <a:ext cx="5010912"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Consente tutto, in ingresso e in uscita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La usano le subnet pubbliche e private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La protezione lì la fanno i Security Group</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Le subnet database passano alla loro NACL</a:t>
            </a:r>
            <a:endParaRPr lang="en-US" sz="1600" dirty="0"/>
          </a:p>
        </p:txBody>
      </p:sp>
      <p:sp>
        <p:nvSpPr>
          <p:cNvPr id="15" name="Text 10"/>
          <p:cNvSpPr txBox="1"/>
          <p:nvPr/>
        </p:nvSpPr>
        <p:spPr>
          <a:xfrm>
            <a:off x="548640" y="5303520"/>
            <a:ext cx="11094415" cy="54864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CIS = un elenco di controlli di sicurezza usato nelle verifiche.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il Security Group e una regola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25880"/>
            <a:ext cx="7589520" cy="4023360"/>
          </a:xfrm>
          <a:prstGeom prst="roundRect">
            <a:avLst>
              <a:gd name="adj" fmla="val 1818"/>
            </a:avLst>
          </a:prstGeom>
          <a:solidFill>
            <a:srgbClr val="1E1E2E"/>
          </a:solidFill>
          <a:ln w="12700">
            <a:solidFill>
              <a:srgbClr val="1E1E2E"/>
            </a:solidFill>
            <a:prstDash val="solid"/>
          </a:ln>
        </p:spPr>
      </p:sp>
      <p:sp>
        <p:nvSpPr>
          <p:cNvPr id="6" name="Text 3"/>
          <p:cNvSpPr txBox="1"/>
          <p:nvPr/>
        </p:nvSpPr>
        <p:spPr>
          <a:xfrm>
            <a:off x="731520" y="1399032"/>
            <a:ext cx="7223760"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security.tf</a:t>
            </a:r>
            <a:endParaRPr lang="en-US" sz="1300" dirty="0"/>
          </a:p>
        </p:txBody>
      </p:sp>
      <p:sp>
        <p:nvSpPr>
          <p:cNvPr id="7" name="Text 4"/>
          <p:cNvSpPr txBox="1"/>
          <p:nvPr/>
        </p:nvSpPr>
        <p:spPr>
          <a:xfrm>
            <a:off x="731520" y="1737360"/>
            <a:ext cx="7223760" cy="347472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resource "aws_security_group" "db"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name   = "${var.project}-db"</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vpc_id = aws_vpc.main.id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resource "aws_vpc_security_group_ingress_rule" "db_from_app"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security_group_id            = aws_security_group.db.id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ip_protocol                  = "tcp"</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from_port                    = 5432</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to_port                      = 5432</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referenced_security_group_id = aws_security_group.app.id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8" name="Shape 5"/>
          <p:cNvSpPr/>
          <p:nvPr/>
        </p:nvSpPr>
        <p:spPr>
          <a:xfrm>
            <a:off x="8321040" y="1325880"/>
            <a:ext cx="3319272" cy="1874520"/>
          </a:xfrm>
          <a:prstGeom prst="roundRect">
            <a:avLst>
              <a:gd name="adj" fmla="val 5854"/>
            </a:avLst>
          </a:prstGeom>
          <a:solidFill>
            <a:srgbClr val="EEEAFB"/>
          </a:solidFill>
          <a:ln w="12700">
            <a:solidFill>
              <a:srgbClr val="EEEAFB"/>
            </a:solidFill>
            <a:prstDash val="solid"/>
          </a:ln>
        </p:spPr>
      </p:sp>
      <p:sp>
        <p:nvSpPr>
          <p:cNvPr id="9" name="Shape 6"/>
          <p:cNvSpPr/>
          <p:nvPr/>
        </p:nvSpPr>
        <p:spPr>
          <a:xfrm>
            <a:off x="8549640" y="1554480"/>
            <a:ext cx="548640" cy="548640"/>
          </a:xfrm>
          <a:prstGeom prst="ellipse">
            <a:avLst/>
          </a:prstGeom>
          <a:solidFill>
            <a:srgbClr val="5B3FD0"/>
          </a:solidFill>
          <a:ln w="12700">
            <a:solidFill>
              <a:srgbClr val="5B3FD0"/>
            </a:solidFill>
            <a:prstDash val="solid"/>
          </a:ln>
        </p:spPr>
      </p:sp>
      <p:pic>
        <p:nvPicPr>
          <p:cNvPr id="10" name="Image 0" descr="preencoded.png">    </p:cNvPr>
          <p:cNvPicPr>
            <a:picLocks noChangeAspect="1"/>
          </p:cNvPicPr>
          <p:nvPr/>
        </p:nvPicPr>
        <p:blipFill>
          <a:blip r:embed="rId1"/>
          <a:stretch>
            <a:fillRect/>
          </a:stretch>
        </p:blipFill>
        <p:spPr>
          <a:xfrm>
            <a:off x="8686800" y="1691640"/>
            <a:ext cx="274320" cy="274320"/>
          </a:xfrm>
          <a:prstGeom prst="rect">
            <a:avLst/>
          </a:prstGeom>
        </p:spPr>
      </p:pic>
      <p:sp>
        <p:nvSpPr>
          <p:cNvPr id="11" name="Text 7"/>
          <p:cNvSpPr txBox="1"/>
          <p:nvPr/>
        </p:nvSpPr>
        <p:spPr>
          <a:xfrm>
            <a:off x="9281160" y="1554480"/>
            <a:ext cx="2130552" cy="548640"/>
          </a:xfrm>
          <a:prstGeom prst="rect">
            <a:avLst/>
          </a:prstGeom>
          <a:noFill/>
          <a:ln/>
        </p:spPr>
        <p:txBody>
          <a:bodyPr wrap="square" lIns="0" tIns="0" rIns="0" bIns="0" rtlCol="0" anchor="ctr"/>
          <a:lstStyle/>
          <a:p>
            <a:pPr indent="0" marL="0">
              <a:buNone/>
            </a:pPr>
            <a:r>
              <a:rPr lang="en-US" sz="1500" b="1" dirty="0">
                <a:solidFill>
                  <a:srgbClr val="22253A"/>
                </a:solidFill>
                <a:latin typeface="Calibri" pitchFamily="34" charset="0"/>
                <a:ea typeface="Calibri" pitchFamily="34" charset="-122"/>
                <a:cs typeface="Calibri" pitchFamily="34" charset="-120"/>
              </a:rPr>
              <a:t>aws_security_group</a:t>
            </a:r>
            <a:endParaRPr lang="en-US" sz="1500" dirty="0"/>
          </a:p>
        </p:txBody>
      </p:sp>
      <p:sp>
        <p:nvSpPr>
          <p:cNvPr id="12" name="Text 8"/>
          <p:cNvSpPr txBox="1"/>
          <p:nvPr/>
        </p:nvSpPr>
        <p:spPr>
          <a:xfrm>
            <a:off x="8549640" y="2240280"/>
            <a:ext cx="2862072" cy="7772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la guardia, senza regole</a:t>
            </a:r>
            <a:endParaRPr lang="en-US" sz="1500" dirty="0"/>
          </a:p>
        </p:txBody>
      </p:sp>
      <p:sp>
        <p:nvSpPr>
          <p:cNvPr id="13" name="Shape 9"/>
          <p:cNvSpPr/>
          <p:nvPr/>
        </p:nvSpPr>
        <p:spPr>
          <a:xfrm>
            <a:off x="8321040" y="3383280"/>
            <a:ext cx="3319272" cy="1965960"/>
          </a:xfrm>
          <a:prstGeom prst="roundRect">
            <a:avLst>
              <a:gd name="adj" fmla="val 5581"/>
            </a:avLst>
          </a:prstGeom>
          <a:solidFill>
            <a:srgbClr val="FDF0E3"/>
          </a:solidFill>
          <a:ln w="12700">
            <a:solidFill>
              <a:srgbClr val="FDF0E3"/>
            </a:solidFill>
            <a:prstDash val="solid"/>
          </a:ln>
        </p:spPr>
      </p:sp>
      <p:sp>
        <p:nvSpPr>
          <p:cNvPr id="14" name="Shape 10"/>
          <p:cNvSpPr/>
          <p:nvPr/>
        </p:nvSpPr>
        <p:spPr>
          <a:xfrm>
            <a:off x="8549640" y="3611880"/>
            <a:ext cx="548640" cy="548640"/>
          </a:xfrm>
          <a:prstGeom prst="ellipse">
            <a:avLst/>
          </a:prstGeom>
          <a:solidFill>
            <a:srgbClr val="F28C28"/>
          </a:solidFill>
          <a:ln w="12700">
            <a:solidFill>
              <a:srgbClr val="F28C28"/>
            </a:solidFill>
            <a:prstDash val="solid"/>
          </a:ln>
        </p:spPr>
      </p:sp>
      <p:pic>
        <p:nvPicPr>
          <p:cNvPr id="15" name="Image 1" descr="preencoded.png">    </p:cNvPr>
          <p:cNvPicPr>
            <a:picLocks noChangeAspect="1"/>
          </p:cNvPicPr>
          <p:nvPr/>
        </p:nvPicPr>
        <p:blipFill>
          <a:blip r:embed="rId2"/>
          <a:stretch>
            <a:fillRect/>
          </a:stretch>
        </p:blipFill>
        <p:spPr>
          <a:xfrm>
            <a:off x="8686800" y="3749040"/>
            <a:ext cx="274320" cy="274320"/>
          </a:xfrm>
          <a:prstGeom prst="rect">
            <a:avLst/>
          </a:prstGeom>
        </p:spPr>
      </p:pic>
      <p:sp>
        <p:nvSpPr>
          <p:cNvPr id="16" name="Text 11"/>
          <p:cNvSpPr txBox="1"/>
          <p:nvPr/>
        </p:nvSpPr>
        <p:spPr>
          <a:xfrm>
            <a:off x="9281160" y="3611880"/>
            <a:ext cx="2130552" cy="548640"/>
          </a:xfrm>
          <a:prstGeom prst="rect">
            <a:avLst/>
          </a:prstGeom>
          <a:noFill/>
          <a:ln/>
        </p:spPr>
        <p:txBody>
          <a:bodyPr wrap="square" lIns="0" tIns="0" rIns="0" bIns="0" rtlCol="0" anchor="ctr"/>
          <a:lstStyle/>
          <a:p>
            <a:pPr indent="0" marL="0">
              <a:buNone/>
            </a:pPr>
            <a:r>
              <a:rPr lang="en-US" sz="1500" b="1" dirty="0">
                <a:solidFill>
                  <a:srgbClr val="22253A"/>
                </a:solidFill>
                <a:latin typeface="Calibri" pitchFamily="34" charset="0"/>
                <a:ea typeface="Calibri" pitchFamily="34" charset="-122"/>
                <a:cs typeface="Calibri" pitchFamily="34" charset="-120"/>
              </a:rPr>
              <a:t>…_ingress_rule</a:t>
            </a:r>
            <a:endParaRPr lang="en-US" sz="1500" dirty="0"/>
          </a:p>
        </p:txBody>
      </p:sp>
      <p:sp>
        <p:nvSpPr>
          <p:cNvPr id="17" name="Text 12"/>
          <p:cNvSpPr txBox="1"/>
          <p:nvPr/>
        </p:nvSpPr>
        <p:spPr>
          <a:xfrm>
            <a:off x="8549640" y="4297680"/>
            <a:ext cx="2862072" cy="86868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una regola in ingresso (egress_rule: in uscita)</a:t>
            </a:r>
            <a:endParaRPr lang="en-US" sz="1500" dirty="0"/>
          </a:p>
        </p:txBody>
      </p:sp>
      <p:sp>
        <p:nvSpPr>
          <p:cNvPr id="18" name="Shape 13"/>
          <p:cNvSpPr/>
          <p:nvPr/>
        </p:nvSpPr>
        <p:spPr>
          <a:xfrm>
            <a:off x="548640" y="5532120"/>
            <a:ext cx="11094415" cy="685800"/>
          </a:xfrm>
          <a:prstGeom prst="roundRect">
            <a:avLst>
              <a:gd name="adj" fmla="val 13333"/>
            </a:avLst>
          </a:prstGeom>
          <a:solidFill>
            <a:srgbClr val="FDF0E3"/>
          </a:solidFill>
          <a:ln w="12700">
            <a:solidFill>
              <a:srgbClr val="FDF0E3"/>
            </a:solidFill>
            <a:prstDash val="solid"/>
          </a:ln>
        </p:spPr>
      </p:sp>
      <p:sp>
        <p:nvSpPr>
          <p:cNvPr id="19" name="Text 14"/>
          <p:cNvSpPr txBox="1"/>
          <p:nvPr/>
        </p:nvSpPr>
        <p:spPr>
          <a:xfrm>
            <a:off x="822960" y="5532120"/>
            <a:ext cx="10545775" cy="685800"/>
          </a:xfrm>
          <a:prstGeom prst="rect">
            <a:avLst/>
          </a:prstGeom>
          <a:noFill/>
          <a:ln/>
        </p:spPr>
        <p:txBody>
          <a:bodyPr wrap="square" lIns="0" tIns="0" rIns="0" bIns="0" rtlCol="0" anchor="ctr"/>
          <a:lstStyle/>
          <a:p>
            <a:pPr algn="l" indent="0" marL="0">
              <a:buNone/>
            </a:pPr>
            <a:r>
              <a:rPr lang="en-US" sz="1600" b="1" dirty="0">
                <a:solidFill>
                  <a:srgbClr val="22253A"/>
                </a:solidFill>
                <a:latin typeface="Calibri" pitchFamily="34" charset="0"/>
                <a:ea typeface="Calibri" pitchFamily="34" charset="-122"/>
                <a:cs typeface="Calibri" pitchFamily="34" charset="-120"/>
              </a:rPr>
              <a:t>Terraform toglie la regola "in uscita consenti tutto" che AWS mette da sola: vale solo quello che scrivi.</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Leggere una regola, riga per riga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25880"/>
            <a:ext cx="6309360" cy="640080"/>
          </a:xfrm>
          <a:prstGeom prst="roundRect">
            <a:avLst>
              <a:gd name="adj" fmla="val 11429"/>
            </a:avLst>
          </a:prstGeom>
          <a:solidFill>
            <a:srgbClr val="1E1E2E"/>
          </a:solidFill>
          <a:ln w="12700">
            <a:solidFill>
              <a:srgbClr val="1E1E2E"/>
            </a:solidFill>
            <a:prstDash val="solid"/>
          </a:ln>
        </p:spPr>
      </p:sp>
      <p:sp>
        <p:nvSpPr>
          <p:cNvPr id="6" name="Text 3"/>
          <p:cNvSpPr txBox="1"/>
          <p:nvPr/>
        </p:nvSpPr>
        <p:spPr>
          <a:xfrm>
            <a:off x="731520" y="1463040"/>
            <a:ext cx="5943600" cy="3657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security_group_id = …db.id</a:t>
            </a:r>
            <a:endParaRPr lang="en-US" sz="1600" dirty="0"/>
          </a:p>
        </p:txBody>
      </p:sp>
      <p:sp>
        <p:nvSpPr>
          <p:cNvPr id="7" name="Shape 4"/>
          <p:cNvSpPr/>
          <p:nvPr/>
        </p:nvSpPr>
        <p:spPr>
          <a:xfrm>
            <a:off x="6903720" y="1645920"/>
            <a:ext cx="320040" cy="0"/>
          </a:xfrm>
          <a:prstGeom prst="line">
            <a:avLst/>
          </a:prstGeom>
          <a:noFill/>
          <a:ln w="25400">
            <a:solidFill>
              <a:srgbClr val="5B3FD0"/>
            </a:solidFill>
            <a:prstDash val="solid"/>
            <a:tailEnd type="triangle"/>
          </a:ln>
        </p:spPr>
      </p:sp>
      <p:sp>
        <p:nvSpPr>
          <p:cNvPr id="8" name="Text 5"/>
          <p:cNvSpPr txBox="1"/>
          <p:nvPr/>
        </p:nvSpPr>
        <p:spPr>
          <a:xfrm>
            <a:off x="7315200" y="1325880"/>
            <a:ext cx="4325112" cy="64008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la regola sta nel SG db</a:t>
            </a:r>
            <a:endParaRPr lang="en-US" sz="1700" dirty="0"/>
          </a:p>
        </p:txBody>
      </p:sp>
      <p:sp>
        <p:nvSpPr>
          <p:cNvPr id="9" name="Shape 6"/>
          <p:cNvSpPr/>
          <p:nvPr/>
        </p:nvSpPr>
        <p:spPr>
          <a:xfrm>
            <a:off x="548640" y="2075688"/>
            <a:ext cx="6309360" cy="640080"/>
          </a:xfrm>
          <a:prstGeom prst="roundRect">
            <a:avLst>
              <a:gd name="adj" fmla="val 11429"/>
            </a:avLst>
          </a:prstGeom>
          <a:solidFill>
            <a:srgbClr val="1E1E2E"/>
          </a:solidFill>
          <a:ln w="12700">
            <a:solidFill>
              <a:srgbClr val="1E1E2E"/>
            </a:solidFill>
            <a:prstDash val="solid"/>
          </a:ln>
        </p:spPr>
      </p:sp>
      <p:sp>
        <p:nvSpPr>
          <p:cNvPr id="10" name="Text 7"/>
          <p:cNvSpPr txBox="1"/>
          <p:nvPr/>
        </p:nvSpPr>
        <p:spPr>
          <a:xfrm>
            <a:off x="731520" y="2212848"/>
            <a:ext cx="5943600" cy="3657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…_ingress_rule</a:t>
            </a:r>
            <a:endParaRPr lang="en-US" sz="1600" dirty="0"/>
          </a:p>
        </p:txBody>
      </p:sp>
      <p:sp>
        <p:nvSpPr>
          <p:cNvPr id="11" name="Shape 8"/>
          <p:cNvSpPr/>
          <p:nvPr/>
        </p:nvSpPr>
        <p:spPr>
          <a:xfrm>
            <a:off x="6903720" y="2395728"/>
            <a:ext cx="320040" cy="0"/>
          </a:xfrm>
          <a:prstGeom prst="line">
            <a:avLst/>
          </a:prstGeom>
          <a:noFill/>
          <a:ln w="25400">
            <a:solidFill>
              <a:srgbClr val="5B3FD0"/>
            </a:solidFill>
            <a:prstDash val="solid"/>
            <a:tailEnd type="triangle"/>
          </a:ln>
        </p:spPr>
      </p:sp>
      <p:sp>
        <p:nvSpPr>
          <p:cNvPr id="12" name="Text 9"/>
          <p:cNvSpPr txBox="1"/>
          <p:nvPr/>
        </p:nvSpPr>
        <p:spPr>
          <a:xfrm>
            <a:off x="7315200" y="2075688"/>
            <a:ext cx="4325112" cy="64008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è in INGRESSO</a:t>
            </a:r>
            <a:endParaRPr lang="en-US" sz="1700" dirty="0"/>
          </a:p>
        </p:txBody>
      </p:sp>
      <p:sp>
        <p:nvSpPr>
          <p:cNvPr id="13" name="Shape 10"/>
          <p:cNvSpPr/>
          <p:nvPr/>
        </p:nvSpPr>
        <p:spPr>
          <a:xfrm>
            <a:off x="548640" y="2825496"/>
            <a:ext cx="6309360" cy="640080"/>
          </a:xfrm>
          <a:prstGeom prst="roundRect">
            <a:avLst>
              <a:gd name="adj" fmla="val 11429"/>
            </a:avLst>
          </a:prstGeom>
          <a:solidFill>
            <a:srgbClr val="1E1E2E"/>
          </a:solidFill>
          <a:ln w="12700">
            <a:solidFill>
              <a:srgbClr val="1E1E2E"/>
            </a:solidFill>
            <a:prstDash val="solid"/>
          </a:ln>
        </p:spPr>
      </p:sp>
      <p:sp>
        <p:nvSpPr>
          <p:cNvPr id="14" name="Text 11"/>
          <p:cNvSpPr txBox="1"/>
          <p:nvPr/>
        </p:nvSpPr>
        <p:spPr>
          <a:xfrm>
            <a:off x="731520" y="2962656"/>
            <a:ext cx="5943600" cy="3657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ip_protocol = "tcp"</a:t>
            </a:r>
            <a:endParaRPr lang="en-US" sz="1600" dirty="0"/>
          </a:p>
        </p:txBody>
      </p:sp>
      <p:sp>
        <p:nvSpPr>
          <p:cNvPr id="15" name="Shape 12"/>
          <p:cNvSpPr/>
          <p:nvPr/>
        </p:nvSpPr>
        <p:spPr>
          <a:xfrm>
            <a:off x="6903720" y="3145536"/>
            <a:ext cx="320040" cy="0"/>
          </a:xfrm>
          <a:prstGeom prst="line">
            <a:avLst/>
          </a:prstGeom>
          <a:noFill/>
          <a:ln w="25400">
            <a:solidFill>
              <a:srgbClr val="5B3FD0"/>
            </a:solidFill>
            <a:prstDash val="solid"/>
            <a:tailEnd type="triangle"/>
          </a:ln>
        </p:spPr>
      </p:sp>
      <p:sp>
        <p:nvSpPr>
          <p:cNvPr id="16" name="Text 13"/>
          <p:cNvSpPr txBox="1"/>
          <p:nvPr/>
        </p:nvSpPr>
        <p:spPr>
          <a:xfrm>
            <a:off x="7315200" y="2825496"/>
            <a:ext cx="4325112" cy="64008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protocollo TCP</a:t>
            </a:r>
            <a:endParaRPr lang="en-US" sz="1700" dirty="0"/>
          </a:p>
        </p:txBody>
      </p:sp>
      <p:sp>
        <p:nvSpPr>
          <p:cNvPr id="17" name="Shape 14"/>
          <p:cNvSpPr/>
          <p:nvPr/>
        </p:nvSpPr>
        <p:spPr>
          <a:xfrm>
            <a:off x="548640" y="3575304"/>
            <a:ext cx="6309360" cy="640080"/>
          </a:xfrm>
          <a:prstGeom prst="roundRect">
            <a:avLst>
              <a:gd name="adj" fmla="val 11429"/>
            </a:avLst>
          </a:prstGeom>
          <a:solidFill>
            <a:srgbClr val="1E1E2E"/>
          </a:solidFill>
          <a:ln w="12700">
            <a:solidFill>
              <a:srgbClr val="1E1E2E"/>
            </a:solidFill>
            <a:prstDash val="solid"/>
          </a:ln>
        </p:spPr>
      </p:sp>
      <p:sp>
        <p:nvSpPr>
          <p:cNvPr id="18" name="Text 15"/>
          <p:cNvSpPr txBox="1"/>
          <p:nvPr/>
        </p:nvSpPr>
        <p:spPr>
          <a:xfrm>
            <a:off x="731520" y="3712464"/>
            <a:ext cx="5943600" cy="3657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from_port = 5432, to_port = 5432</a:t>
            </a:r>
            <a:endParaRPr lang="en-US" sz="1600" dirty="0"/>
          </a:p>
        </p:txBody>
      </p:sp>
      <p:sp>
        <p:nvSpPr>
          <p:cNvPr id="19" name="Shape 16"/>
          <p:cNvSpPr/>
          <p:nvPr/>
        </p:nvSpPr>
        <p:spPr>
          <a:xfrm>
            <a:off x="6903720" y="3895344"/>
            <a:ext cx="320040" cy="0"/>
          </a:xfrm>
          <a:prstGeom prst="line">
            <a:avLst/>
          </a:prstGeom>
          <a:noFill/>
          <a:ln w="25400">
            <a:solidFill>
              <a:srgbClr val="5B3FD0"/>
            </a:solidFill>
            <a:prstDash val="solid"/>
            <a:tailEnd type="triangle"/>
          </a:ln>
        </p:spPr>
      </p:sp>
      <p:sp>
        <p:nvSpPr>
          <p:cNvPr id="20" name="Text 17"/>
          <p:cNvSpPr txBox="1"/>
          <p:nvPr/>
        </p:nvSpPr>
        <p:spPr>
          <a:xfrm>
            <a:off x="7315200" y="3575304"/>
            <a:ext cx="4325112" cy="64008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porte da 5432 a 5432: una sola</a:t>
            </a:r>
            <a:endParaRPr lang="en-US" sz="1700" dirty="0"/>
          </a:p>
        </p:txBody>
      </p:sp>
      <p:sp>
        <p:nvSpPr>
          <p:cNvPr id="21" name="Shape 18"/>
          <p:cNvSpPr/>
          <p:nvPr/>
        </p:nvSpPr>
        <p:spPr>
          <a:xfrm>
            <a:off x="548640" y="4325112"/>
            <a:ext cx="6309360" cy="640080"/>
          </a:xfrm>
          <a:prstGeom prst="roundRect">
            <a:avLst>
              <a:gd name="adj" fmla="val 11429"/>
            </a:avLst>
          </a:prstGeom>
          <a:solidFill>
            <a:srgbClr val="1E1E2E"/>
          </a:solidFill>
          <a:ln w="12700">
            <a:solidFill>
              <a:srgbClr val="1E1E2E"/>
            </a:solidFill>
            <a:prstDash val="solid"/>
          </a:ln>
        </p:spPr>
      </p:sp>
      <p:sp>
        <p:nvSpPr>
          <p:cNvPr id="22" name="Text 19"/>
          <p:cNvSpPr txBox="1"/>
          <p:nvPr/>
        </p:nvSpPr>
        <p:spPr>
          <a:xfrm>
            <a:off x="731520" y="4462272"/>
            <a:ext cx="5943600" cy="3657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referenced_security_group_id = …app.id</a:t>
            </a:r>
            <a:endParaRPr lang="en-US" sz="1600" dirty="0"/>
          </a:p>
        </p:txBody>
      </p:sp>
      <p:sp>
        <p:nvSpPr>
          <p:cNvPr id="23" name="Shape 20"/>
          <p:cNvSpPr/>
          <p:nvPr/>
        </p:nvSpPr>
        <p:spPr>
          <a:xfrm>
            <a:off x="6903720" y="4645152"/>
            <a:ext cx="320040" cy="0"/>
          </a:xfrm>
          <a:prstGeom prst="line">
            <a:avLst/>
          </a:prstGeom>
          <a:noFill/>
          <a:ln w="25400">
            <a:solidFill>
              <a:srgbClr val="5B3FD0"/>
            </a:solidFill>
            <a:prstDash val="solid"/>
            <a:tailEnd type="triangle"/>
          </a:ln>
        </p:spPr>
      </p:sp>
      <p:sp>
        <p:nvSpPr>
          <p:cNvPr id="24" name="Text 21"/>
          <p:cNvSpPr txBox="1"/>
          <p:nvPr/>
        </p:nvSpPr>
        <p:spPr>
          <a:xfrm>
            <a:off x="7315200" y="4325112"/>
            <a:ext cx="4325112" cy="64008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DA CHI: chi ha il SG app</a:t>
            </a:r>
            <a:endParaRPr lang="en-US" sz="1700" dirty="0"/>
          </a:p>
        </p:txBody>
      </p:sp>
      <p:sp>
        <p:nvSpPr>
          <p:cNvPr id="25" name="Shape 22"/>
          <p:cNvSpPr/>
          <p:nvPr/>
        </p:nvSpPr>
        <p:spPr>
          <a:xfrm>
            <a:off x="548640" y="5212080"/>
            <a:ext cx="11094415" cy="868680"/>
          </a:xfrm>
          <a:prstGeom prst="roundRect">
            <a:avLst>
              <a:gd name="adj" fmla="val 10526"/>
            </a:avLst>
          </a:prstGeom>
          <a:solidFill>
            <a:srgbClr val="5B3FD0"/>
          </a:solidFill>
          <a:ln w="12700">
            <a:solidFill>
              <a:srgbClr val="5B3FD0"/>
            </a:solidFill>
            <a:prstDash val="solid"/>
          </a:ln>
        </p:spPr>
      </p:sp>
      <p:sp>
        <p:nvSpPr>
          <p:cNvPr id="26" name="Text 23"/>
          <p:cNvSpPr txBox="1"/>
          <p:nvPr/>
        </p:nvSpPr>
        <p:spPr>
          <a:xfrm>
            <a:off x="822960" y="5212080"/>
            <a:ext cx="10545775" cy="8686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Tutto insieme: "nel SG db, in ingresso, consenti TCP 5432 da chi ha il SG app".</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il SG di default e il SG vpn</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25880"/>
            <a:ext cx="11094415" cy="1188720"/>
          </a:xfrm>
          <a:prstGeom prst="roundRect">
            <a:avLst>
              <a:gd name="adj" fmla="val 6154"/>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security.tf</a:t>
            </a:r>
            <a:endParaRPr lang="en-US" sz="1300" dirty="0"/>
          </a:p>
        </p:txBody>
      </p:sp>
      <p:sp>
        <p:nvSpPr>
          <p:cNvPr id="7" name="Text 4"/>
          <p:cNvSpPr txBox="1"/>
          <p:nvPr/>
        </p:nvSpPr>
        <p:spPr>
          <a:xfrm>
            <a:off x="731520" y="1737360"/>
            <a:ext cx="10728655" cy="6400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"aws_default_security_group" "default"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vpc_id = aws_vpc.main.id      </a:t>
            </a:r>
            <a:pPr indent="0" marL="0">
              <a:buNone/>
            </a:pPr>
            <a:r>
              <a:rPr lang="en-US" sz="1600" dirty="0">
                <a:solidFill>
                  <a:srgbClr val="8FD694"/>
                </a:solidFill>
                <a:latin typeface="Courier New" pitchFamily="34" charset="0"/>
                <a:ea typeface="Courier New" pitchFamily="34" charset="-122"/>
                <a:cs typeface="Courier New" pitchFamily="34" charset="-120"/>
              </a:rPr>
              <a:t># nessuna regola: le toglie tutte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Shape 5"/>
          <p:cNvSpPr/>
          <p:nvPr/>
        </p:nvSpPr>
        <p:spPr>
          <a:xfrm>
            <a:off x="548640" y="2697480"/>
            <a:ext cx="11094415" cy="1691640"/>
          </a:xfrm>
          <a:prstGeom prst="roundRect">
            <a:avLst>
              <a:gd name="adj" fmla="val 4324"/>
            </a:avLst>
          </a:prstGeom>
          <a:solidFill>
            <a:srgbClr val="1E1E2E"/>
          </a:solidFill>
          <a:ln w="12700">
            <a:solidFill>
              <a:srgbClr val="1E1E2E"/>
            </a:solidFill>
            <a:prstDash val="solid"/>
          </a:ln>
        </p:spPr>
      </p:sp>
      <p:sp>
        <p:nvSpPr>
          <p:cNvPr id="9" name="Text 6"/>
          <p:cNvSpPr txBox="1"/>
          <p:nvPr/>
        </p:nvSpPr>
        <p:spPr>
          <a:xfrm>
            <a:off x="731520" y="27706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security.tf</a:t>
            </a:r>
            <a:endParaRPr lang="en-US" sz="1300" dirty="0"/>
          </a:p>
        </p:txBody>
      </p:sp>
      <p:sp>
        <p:nvSpPr>
          <p:cNvPr id="10" name="Text 7"/>
          <p:cNvSpPr txBox="1"/>
          <p:nvPr/>
        </p:nvSpPr>
        <p:spPr>
          <a:xfrm>
            <a:off x="731520" y="3108960"/>
            <a:ext cx="10728655" cy="114300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"aws_vpc_security_group_egress_rule" "vpn_to_vpc"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security_group_id = aws_security_group.vpn.id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ip_protocol       = "-1"           </a:t>
            </a:r>
            <a:pPr indent="0" marL="0">
              <a:buNone/>
            </a:pPr>
            <a:r>
              <a:rPr lang="en-US" sz="1600" dirty="0">
                <a:solidFill>
                  <a:srgbClr val="8FD694"/>
                </a:solidFill>
                <a:latin typeface="Courier New" pitchFamily="34" charset="0"/>
                <a:ea typeface="Courier New" pitchFamily="34" charset="-122"/>
                <a:cs typeface="Courier New" pitchFamily="34" charset="-120"/>
              </a:rPr>
              <a:t># tutti i protocolli e le porte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cidr_ipv4         = var.vpc_cidr   </a:t>
            </a:r>
            <a:pPr indent="0" marL="0">
              <a:buNone/>
            </a:pPr>
            <a:r>
              <a:rPr lang="en-US" sz="1600" dirty="0">
                <a:solidFill>
                  <a:srgbClr val="8FD694"/>
                </a:solidFill>
                <a:latin typeface="Courier New" pitchFamily="34" charset="0"/>
                <a:ea typeface="Courier New" pitchFamily="34" charset="-122"/>
                <a:cs typeface="Courier New" pitchFamily="34" charset="-120"/>
              </a:rPr>
              <a:t># ma solo verso "10.20.0.0/16"</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11" name="Shape 8"/>
          <p:cNvSpPr/>
          <p:nvPr/>
        </p:nvSpPr>
        <p:spPr>
          <a:xfrm>
            <a:off x="548640" y="4617720"/>
            <a:ext cx="5440680" cy="1508760"/>
          </a:xfrm>
          <a:prstGeom prst="roundRect">
            <a:avLst>
              <a:gd name="adj" fmla="val 7273"/>
            </a:avLst>
          </a:prstGeom>
          <a:solidFill>
            <a:srgbClr val="FBE9E9"/>
          </a:solidFill>
          <a:ln w="12700">
            <a:solidFill>
              <a:srgbClr val="FBE9E9"/>
            </a:solidFill>
            <a:prstDash val="solid"/>
          </a:ln>
        </p:spPr>
      </p:sp>
      <p:sp>
        <p:nvSpPr>
          <p:cNvPr id="12" name="Shape 9"/>
          <p:cNvSpPr/>
          <p:nvPr/>
        </p:nvSpPr>
        <p:spPr>
          <a:xfrm>
            <a:off x="777240" y="4846320"/>
            <a:ext cx="548640" cy="548640"/>
          </a:xfrm>
          <a:prstGeom prst="ellipse">
            <a:avLst/>
          </a:prstGeom>
          <a:solidFill>
            <a:srgbClr val="D64545"/>
          </a:solidFill>
          <a:ln w="12700">
            <a:solidFill>
              <a:srgbClr val="D64545"/>
            </a:solidFill>
            <a:prstDash val="solid"/>
          </a:ln>
        </p:spPr>
      </p:sp>
      <p:pic>
        <p:nvPicPr>
          <p:cNvPr id="13" name="Image 0" descr="preencoded.png">    </p:cNvPr>
          <p:cNvPicPr>
            <a:picLocks noChangeAspect="1"/>
          </p:cNvPicPr>
          <p:nvPr/>
        </p:nvPicPr>
        <p:blipFill>
          <a:blip r:embed="rId1"/>
          <a:stretch>
            <a:fillRect/>
          </a:stretch>
        </p:blipFill>
        <p:spPr>
          <a:xfrm>
            <a:off x="914400" y="4983480"/>
            <a:ext cx="274320" cy="274320"/>
          </a:xfrm>
          <a:prstGeom prst="rect">
            <a:avLst/>
          </a:prstGeom>
        </p:spPr>
      </p:pic>
      <p:sp>
        <p:nvSpPr>
          <p:cNvPr id="14" name="Text 10"/>
          <p:cNvSpPr txBox="1"/>
          <p:nvPr/>
        </p:nvSpPr>
        <p:spPr>
          <a:xfrm>
            <a:off x="1508760" y="48463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Prende in gestione il SG di default</a:t>
            </a:r>
            <a:endParaRPr lang="en-US" sz="1800" dirty="0"/>
          </a:p>
        </p:txBody>
      </p:sp>
      <p:sp>
        <p:nvSpPr>
          <p:cNvPr id="15" name="Text 11"/>
          <p:cNvSpPr txBox="1"/>
          <p:nvPr/>
        </p:nvSpPr>
        <p:spPr>
          <a:xfrm>
            <a:off x="777240" y="5532120"/>
            <a:ext cx="4983480" cy="41148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e toglie tutte le regole. Se qualcuno ne aggiunge una, il plan lo segnala.</a:t>
            </a:r>
            <a:endParaRPr lang="en-US" sz="1500" dirty="0"/>
          </a:p>
        </p:txBody>
      </p:sp>
      <p:sp>
        <p:nvSpPr>
          <p:cNvPr id="16" name="Shape 12"/>
          <p:cNvSpPr/>
          <p:nvPr/>
        </p:nvSpPr>
        <p:spPr>
          <a:xfrm>
            <a:off x="6172200" y="4617720"/>
            <a:ext cx="5468112" cy="1508760"/>
          </a:xfrm>
          <a:prstGeom prst="roundRect">
            <a:avLst>
              <a:gd name="adj" fmla="val 7273"/>
            </a:avLst>
          </a:prstGeom>
          <a:solidFill>
            <a:srgbClr val="FDF0E3"/>
          </a:solidFill>
          <a:ln w="12700">
            <a:solidFill>
              <a:srgbClr val="FDF0E3"/>
            </a:solidFill>
            <a:prstDash val="solid"/>
          </a:ln>
        </p:spPr>
      </p:sp>
      <p:sp>
        <p:nvSpPr>
          <p:cNvPr id="17" name="Shape 13"/>
          <p:cNvSpPr/>
          <p:nvPr/>
        </p:nvSpPr>
        <p:spPr>
          <a:xfrm>
            <a:off x="6400800" y="4846320"/>
            <a:ext cx="548640" cy="548640"/>
          </a:xfrm>
          <a:prstGeom prst="ellipse">
            <a:avLst/>
          </a:prstGeom>
          <a:solidFill>
            <a:srgbClr val="F28C28"/>
          </a:solidFill>
          <a:ln w="12700">
            <a:solidFill>
              <a:srgbClr val="F28C28"/>
            </a:solidFill>
            <a:prstDash val="solid"/>
          </a:ln>
        </p:spPr>
      </p:sp>
      <p:pic>
        <p:nvPicPr>
          <p:cNvPr id="18" name="Image 1" descr="preencoded.png">    </p:cNvPr>
          <p:cNvPicPr>
            <a:picLocks noChangeAspect="1"/>
          </p:cNvPicPr>
          <p:nvPr/>
        </p:nvPicPr>
        <p:blipFill>
          <a:blip r:embed="rId2"/>
          <a:stretch>
            <a:fillRect/>
          </a:stretch>
        </p:blipFill>
        <p:spPr>
          <a:xfrm>
            <a:off x="6537960" y="4983480"/>
            <a:ext cx="274320" cy="274320"/>
          </a:xfrm>
          <a:prstGeom prst="rect">
            <a:avLst/>
          </a:prstGeom>
        </p:spPr>
      </p:pic>
      <p:sp>
        <p:nvSpPr>
          <p:cNvPr id="19" name="Text 14"/>
          <p:cNvSpPr txBox="1"/>
          <p:nvPr/>
        </p:nvSpPr>
        <p:spPr>
          <a:xfrm>
            <a:off x="7132320" y="484632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"-1" = tutto</a:t>
            </a:r>
            <a:endParaRPr lang="en-US" sz="1800" dirty="0"/>
          </a:p>
        </p:txBody>
      </p:sp>
      <p:sp>
        <p:nvSpPr>
          <p:cNvPr id="20" name="Text 15"/>
          <p:cNvSpPr txBox="1"/>
          <p:nvPr/>
        </p:nvSpPr>
        <p:spPr>
          <a:xfrm>
            <a:off x="6400800" y="5532120"/>
            <a:ext cx="5010912" cy="41148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ma solo verso la nostra rete: dalla VPN non si esce su internet.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la NACL e le sue regole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25880"/>
            <a:ext cx="11094415" cy="3520440"/>
          </a:xfrm>
          <a:prstGeom prst="roundRect">
            <a:avLst>
              <a:gd name="adj" fmla="val 2078"/>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security.tf</a:t>
            </a:r>
            <a:endParaRPr lang="en-US" sz="1300" dirty="0"/>
          </a:p>
        </p:txBody>
      </p:sp>
      <p:sp>
        <p:nvSpPr>
          <p:cNvPr id="7" name="Text 4"/>
          <p:cNvSpPr txBox="1"/>
          <p:nvPr/>
        </p:nvSpPr>
        <p:spPr>
          <a:xfrm>
            <a:off x="731520" y="1737360"/>
            <a:ext cx="10728655" cy="297180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resource "aws_network_acl_rule" "db_in_postgres"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for_each = { for i, cidr in local.private_cidrs : cidr =&gt; 100 + i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network_acl_id = aws_network_acl.db.id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rule_number    = each.value      </a:t>
            </a:r>
            <a:pPr indent="0" marL="0">
              <a:buNone/>
            </a:pPr>
            <a:r>
              <a:rPr lang="en-US" sz="1500" dirty="0">
                <a:solidFill>
                  <a:srgbClr val="8FD694"/>
                </a:solidFill>
                <a:latin typeface="Courier New" pitchFamily="34" charset="0"/>
                <a:ea typeface="Courier New" pitchFamily="34" charset="-122"/>
                <a:cs typeface="Courier New" pitchFamily="34" charset="-120"/>
              </a:rPr>
              <a:t># 100, 101,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egress         = false           </a:t>
            </a:r>
            <a:pPr indent="0" marL="0">
              <a:buNone/>
            </a:pPr>
            <a:r>
              <a:rPr lang="en-US" sz="1500" dirty="0">
                <a:solidFill>
                  <a:srgbClr val="8FD694"/>
                </a:solidFill>
                <a:latin typeface="Courier New" pitchFamily="34" charset="0"/>
                <a:ea typeface="Courier New" pitchFamily="34" charset="-122"/>
                <a:cs typeface="Courier New" pitchFamily="34" charset="-120"/>
              </a:rPr>
              <a:t># false = in INGRESSO</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protocol       = "tcp"</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rule_action    = "allow"</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cidr_block     = each.key        </a:t>
            </a:r>
            <a:pPr indent="0" marL="0">
              <a:buNone/>
            </a:pPr>
            <a:r>
              <a:rPr lang="en-US" sz="1500" dirty="0">
                <a:solidFill>
                  <a:srgbClr val="8FD694"/>
                </a:solidFill>
                <a:latin typeface="Courier New" pitchFamily="34" charset="0"/>
                <a:ea typeface="Courier New" pitchFamily="34" charset="-122"/>
                <a:cs typeface="Courier New" pitchFamily="34" charset="-120"/>
              </a:rPr>
              <a:t># il CIDR della subnet privata</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from_port      = 5432</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to_port        = 5432</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8" name="Text 5"/>
          <p:cNvSpPr txBox="1"/>
          <p:nvPr/>
        </p:nvSpPr>
        <p:spPr>
          <a:xfrm>
            <a:off x="548640" y="4983480"/>
            <a:ext cx="11094415" cy="365760"/>
          </a:xfrm>
          <a:prstGeom prst="rect">
            <a:avLst/>
          </a:prstGeom>
          <a:noFill/>
          <a:ln/>
        </p:spPr>
        <p:txBody>
          <a:bodyPr wrap="square" lIns="0" tIns="0" rIns="0" bIns="0" rtlCol="0" anchor="ctr"/>
          <a:lstStyle/>
          <a:p>
            <a:pPr algn="l" indent="0" marL="0">
              <a:buNone/>
            </a:pPr>
            <a:r>
              <a:rPr lang="en-US" sz="1600" b="1" dirty="0">
                <a:solidFill>
                  <a:srgbClr val="22253A"/>
                </a:solidFill>
                <a:latin typeface="Calibri" pitchFamily="34" charset="0"/>
                <a:ea typeface="Calibri" pitchFamily="34" charset="-122"/>
                <a:cs typeface="Calibri" pitchFamily="34" charset="-120"/>
              </a:rPr>
              <a:t>La mappa costruita dal for_each:</a:t>
            </a:r>
            <a:endParaRPr lang="en-US" sz="1600" dirty="0"/>
          </a:p>
        </p:txBody>
      </p:sp>
      <p:sp>
        <p:nvSpPr>
          <p:cNvPr id="9" name="Shape 6"/>
          <p:cNvSpPr/>
          <p:nvPr/>
        </p:nvSpPr>
        <p:spPr>
          <a:xfrm>
            <a:off x="548640" y="5394960"/>
            <a:ext cx="11094415" cy="731520"/>
          </a:xfrm>
          <a:prstGeom prst="roundRect">
            <a:avLst>
              <a:gd name="adj" fmla="val 12500"/>
            </a:avLst>
          </a:prstGeom>
          <a:solidFill>
            <a:srgbClr val="E5F4EC"/>
          </a:solidFill>
          <a:ln w="12700">
            <a:solidFill>
              <a:srgbClr val="E5F4EC"/>
            </a:solidFill>
            <a:prstDash val="solid"/>
          </a:ln>
        </p:spPr>
      </p:sp>
      <p:sp>
        <p:nvSpPr>
          <p:cNvPr id="10" name="Text 7"/>
          <p:cNvSpPr txBox="1"/>
          <p:nvPr/>
        </p:nvSpPr>
        <p:spPr>
          <a:xfrm>
            <a:off x="548640" y="5394960"/>
            <a:ext cx="11094415" cy="731520"/>
          </a:xfrm>
          <a:prstGeom prst="rect">
            <a:avLst/>
          </a:prstGeom>
          <a:noFill/>
          <a:ln/>
        </p:spPr>
        <p:txBody>
          <a:bodyPr wrap="square" lIns="177800" tIns="177800" rIns="177800" bIns="177800" rtlCol="0" anchor="ctr"/>
          <a:lstStyle/>
          <a:p>
            <a:pPr algn="l" indent="0" marL="0">
              <a:buNone/>
            </a:pPr>
            <a:r>
              <a:rPr lang="en-US" sz="1500" dirty="0">
                <a:solidFill>
                  <a:srgbClr val="22253A"/>
                </a:solidFill>
                <a:latin typeface="Courier New" pitchFamily="34" charset="0"/>
                <a:ea typeface="Courier New" pitchFamily="34" charset="-122"/>
                <a:cs typeface="Courier New" pitchFamily="34" charset="-120"/>
              </a:rPr>
              <a:t>{ "10.20.10.0/24" = 100, "10.20.11.0/24" = 101 }   →  key = CIDR · value = numero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la richiesta E la risposta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25880"/>
            <a:ext cx="5440680" cy="2011680"/>
          </a:xfrm>
          <a:prstGeom prst="roundRect">
            <a:avLst>
              <a:gd name="adj" fmla="val 3636"/>
            </a:avLst>
          </a:prstGeom>
          <a:solidFill>
            <a:srgbClr val="1E1E2E"/>
          </a:solidFill>
          <a:ln w="12700">
            <a:solidFill>
              <a:srgbClr val="1E1E2E"/>
            </a:solidFill>
            <a:prstDash val="solid"/>
          </a:ln>
        </p:spPr>
      </p:sp>
      <p:sp>
        <p:nvSpPr>
          <p:cNvPr id="6" name="Text 3"/>
          <p:cNvSpPr txBox="1"/>
          <p:nvPr/>
        </p:nvSpPr>
        <p:spPr>
          <a:xfrm>
            <a:off x="731520" y="1399032"/>
            <a:ext cx="5074920"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security.tf · db_in_postgres</a:t>
            </a:r>
            <a:endParaRPr lang="en-US" sz="1300" dirty="0"/>
          </a:p>
        </p:txBody>
      </p:sp>
      <p:sp>
        <p:nvSpPr>
          <p:cNvPr id="7" name="Text 4"/>
          <p:cNvSpPr txBox="1"/>
          <p:nvPr/>
        </p:nvSpPr>
        <p:spPr>
          <a:xfrm>
            <a:off x="731520" y="1737360"/>
            <a:ext cx="5074920" cy="1463040"/>
          </a:xfrm>
          <a:prstGeom prst="rect">
            <a:avLst/>
          </a:prstGeom>
          <a:noFill/>
          <a:ln/>
        </p:spPr>
        <p:txBody>
          <a:bodyPr wrap="square" lIns="0" tIns="0" rIns="0" bIns="0" rtlCol="0" anchor="t"/>
          <a:lstStyle/>
          <a:p>
            <a:pPr indent="0" marL="0">
              <a:buNone/>
            </a:pPr>
            <a:r>
              <a:rPr lang="en-US" sz="1700" dirty="0">
                <a:solidFill>
                  <a:srgbClr val="8FD694"/>
                </a:solidFill>
                <a:latin typeface="Courier New" pitchFamily="34" charset="0"/>
                <a:ea typeface="Courier New" pitchFamily="34" charset="-122"/>
                <a:cs typeface="Courier New" pitchFamily="34" charset="-120"/>
              </a:rPr>
              <a:t># 1. la RICHIESTA entra</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egress    = false</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from_port = 5432</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to_port   = 5432</a:t>
            </a:r>
            <a:endParaRPr lang="en-US" sz="1700" dirty="0"/>
          </a:p>
        </p:txBody>
      </p:sp>
      <p:sp>
        <p:nvSpPr>
          <p:cNvPr id="8" name="Shape 5"/>
          <p:cNvSpPr/>
          <p:nvPr/>
        </p:nvSpPr>
        <p:spPr>
          <a:xfrm>
            <a:off x="6172200" y="1325880"/>
            <a:ext cx="5468112" cy="2011680"/>
          </a:xfrm>
          <a:prstGeom prst="roundRect">
            <a:avLst>
              <a:gd name="adj" fmla="val 3636"/>
            </a:avLst>
          </a:prstGeom>
          <a:solidFill>
            <a:srgbClr val="1E1E2E"/>
          </a:solidFill>
          <a:ln w="12700">
            <a:solidFill>
              <a:srgbClr val="1E1E2E"/>
            </a:solidFill>
            <a:prstDash val="solid"/>
          </a:ln>
        </p:spPr>
      </p:sp>
      <p:sp>
        <p:nvSpPr>
          <p:cNvPr id="9" name="Text 6"/>
          <p:cNvSpPr txBox="1"/>
          <p:nvPr/>
        </p:nvSpPr>
        <p:spPr>
          <a:xfrm>
            <a:off x="6355080" y="1399032"/>
            <a:ext cx="5102352"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security.tf · db_out_ephemeral</a:t>
            </a:r>
            <a:endParaRPr lang="en-US" sz="1300" dirty="0"/>
          </a:p>
        </p:txBody>
      </p:sp>
      <p:sp>
        <p:nvSpPr>
          <p:cNvPr id="10" name="Text 7"/>
          <p:cNvSpPr txBox="1"/>
          <p:nvPr/>
        </p:nvSpPr>
        <p:spPr>
          <a:xfrm>
            <a:off x="6355080" y="1737360"/>
            <a:ext cx="5102352" cy="1463040"/>
          </a:xfrm>
          <a:prstGeom prst="rect">
            <a:avLst/>
          </a:prstGeom>
          <a:noFill/>
          <a:ln/>
        </p:spPr>
        <p:txBody>
          <a:bodyPr wrap="square" lIns="0" tIns="0" rIns="0" bIns="0" rtlCol="0" anchor="t"/>
          <a:lstStyle/>
          <a:p>
            <a:pPr indent="0" marL="0">
              <a:buNone/>
            </a:pPr>
            <a:r>
              <a:rPr lang="en-US" sz="1700" dirty="0">
                <a:solidFill>
                  <a:srgbClr val="8FD694"/>
                </a:solidFill>
                <a:latin typeface="Courier New" pitchFamily="34" charset="0"/>
                <a:ea typeface="Courier New" pitchFamily="34" charset="-122"/>
                <a:cs typeface="Courier New" pitchFamily="34" charset="-120"/>
              </a:rPr>
              <a:t># 2. la RISPOSTA esce</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egress    = true</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from_port = 1024</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to_port   = 65535</a:t>
            </a:r>
            <a:endParaRPr lang="en-US" sz="1700" dirty="0"/>
          </a:p>
        </p:txBody>
      </p:sp>
      <p:sp>
        <p:nvSpPr>
          <p:cNvPr id="11" name="Shape 8"/>
          <p:cNvSpPr/>
          <p:nvPr/>
        </p:nvSpPr>
        <p:spPr>
          <a:xfrm>
            <a:off x="548640" y="3611880"/>
            <a:ext cx="3291840" cy="1097280"/>
          </a:xfrm>
          <a:prstGeom prst="roundRect">
            <a:avLst>
              <a:gd name="adj" fmla="val 8333"/>
            </a:avLst>
          </a:prstGeom>
          <a:solidFill>
            <a:srgbClr val="EEEAFB"/>
          </a:solidFill>
          <a:ln w="12700">
            <a:solidFill>
              <a:srgbClr val="EEEAFB"/>
            </a:solidFill>
            <a:prstDash val="solid"/>
          </a:ln>
        </p:spPr>
      </p:sp>
      <p:sp>
        <p:nvSpPr>
          <p:cNvPr id="12" name="Text 9"/>
          <p:cNvSpPr txBox="1"/>
          <p:nvPr/>
        </p:nvSpPr>
        <p:spPr>
          <a:xfrm>
            <a:off x="548640" y="3611880"/>
            <a:ext cx="3291840" cy="109728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Server</a:t>
            </a:r>
            <a:endParaRPr lang="en-US" sz="1700" dirty="0"/>
          </a:p>
          <a:p>
            <a:pPr algn="ctr" indent="0" marL="0">
              <a:buNone/>
            </a:pPr>
            <a:r>
              <a:rPr lang="en-US" sz="1700" dirty="0">
                <a:solidFill>
                  <a:srgbClr val="5F6478"/>
                </a:solidFill>
                <a:latin typeface="Calibri" pitchFamily="34" charset="0"/>
                <a:ea typeface="Calibri" pitchFamily="34" charset="-122"/>
                <a:cs typeface="Calibri" pitchFamily="34" charset="-120"/>
              </a:rPr>
              <a:t>subnet privata</a:t>
            </a:r>
            <a:endParaRPr lang="en-US" sz="1700" dirty="0"/>
          </a:p>
        </p:txBody>
      </p:sp>
      <p:sp>
        <p:nvSpPr>
          <p:cNvPr id="13" name="Shape 10"/>
          <p:cNvSpPr/>
          <p:nvPr/>
        </p:nvSpPr>
        <p:spPr>
          <a:xfrm>
            <a:off x="8348472" y="3611880"/>
            <a:ext cx="3291840" cy="1097280"/>
          </a:xfrm>
          <a:prstGeom prst="roundRect">
            <a:avLst>
              <a:gd name="adj" fmla="val 8333"/>
            </a:avLst>
          </a:prstGeom>
          <a:solidFill>
            <a:srgbClr val="E5F4EC"/>
          </a:solidFill>
          <a:ln w="12700">
            <a:solidFill>
              <a:srgbClr val="E5F4EC"/>
            </a:solidFill>
            <a:prstDash val="solid"/>
          </a:ln>
        </p:spPr>
      </p:sp>
      <p:sp>
        <p:nvSpPr>
          <p:cNvPr id="14" name="Text 11"/>
          <p:cNvSpPr txBox="1"/>
          <p:nvPr/>
        </p:nvSpPr>
        <p:spPr>
          <a:xfrm>
            <a:off x="8348472" y="3611880"/>
            <a:ext cx="3291840" cy="109728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Database</a:t>
            </a:r>
            <a:endParaRPr lang="en-US" sz="1700" dirty="0"/>
          </a:p>
          <a:p>
            <a:pPr algn="ctr" indent="0" marL="0">
              <a:buNone/>
            </a:pPr>
            <a:r>
              <a:rPr lang="en-US" sz="1700" dirty="0">
                <a:solidFill>
                  <a:srgbClr val="5F6478"/>
                </a:solidFill>
                <a:latin typeface="Calibri" pitchFamily="34" charset="0"/>
                <a:ea typeface="Calibri" pitchFamily="34" charset="-122"/>
                <a:cs typeface="Calibri" pitchFamily="34" charset="-120"/>
              </a:rPr>
              <a:t>subnet database</a:t>
            </a:r>
            <a:endParaRPr lang="en-US" sz="1700" dirty="0"/>
          </a:p>
        </p:txBody>
      </p:sp>
      <p:sp>
        <p:nvSpPr>
          <p:cNvPr id="15" name="Shape 12"/>
          <p:cNvSpPr/>
          <p:nvPr/>
        </p:nvSpPr>
        <p:spPr>
          <a:xfrm>
            <a:off x="3931920" y="3931920"/>
            <a:ext cx="4343400" cy="0"/>
          </a:xfrm>
          <a:prstGeom prst="line">
            <a:avLst/>
          </a:prstGeom>
          <a:noFill/>
          <a:ln w="25400">
            <a:solidFill>
              <a:srgbClr val="5B3FD0"/>
            </a:solidFill>
            <a:prstDash val="solid"/>
            <a:tailEnd type="triangle"/>
          </a:ln>
        </p:spPr>
      </p:sp>
      <p:sp>
        <p:nvSpPr>
          <p:cNvPr id="16" name="Text 13"/>
          <p:cNvSpPr txBox="1"/>
          <p:nvPr/>
        </p:nvSpPr>
        <p:spPr>
          <a:xfrm>
            <a:off x="3931920" y="3566160"/>
            <a:ext cx="4343400" cy="365760"/>
          </a:xfrm>
          <a:prstGeom prst="rect">
            <a:avLst/>
          </a:prstGeom>
          <a:noFill/>
          <a:ln/>
        </p:spPr>
        <p:txBody>
          <a:bodyPr wrap="square" lIns="0" tIns="0" rIns="0" bIns="0" rtlCol="0" anchor="ctr"/>
          <a:lstStyle/>
          <a:p>
            <a:pPr algn="ctr" indent="0" marL="0">
              <a:buNone/>
            </a:pPr>
            <a:r>
              <a:rPr lang="en-US" sz="1500" b="1" dirty="0">
                <a:solidFill>
                  <a:srgbClr val="5B3FD0"/>
                </a:solidFill>
                <a:latin typeface="Calibri" pitchFamily="34" charset="0"/>
                <a:ea typeface="Calibri" pitchFamily="34" charset="-122"/>
                <a:cs typeface="Calibri" pitchFamily="34" charset="-120"/>
              </a:rPr>
              <a:t>1. richiesta → porta 5432</a:t>
            </a:r>
            <a:endParaRPr lang="en-US" sz="1500" dirty="0"/>
          </a:p>
        </p:txBody>
      </p:sp>
      <p:sp>
        <p:nvSpPr>
          <p:cNvPr id="17" name="Shape 14"/>
          <p:cNvSpPr/>
          <p:nvPr/>
        </p:nvSpPr>
        <p:spPr>
          <a:xfrm>
            <a:off x="3931920" y="4389120"/>
            <a:ext cx="4343400" cy="0"/>
          </a:xfrm>
          <a:prstGeom prst="line">
            <a:avLst/>
          </a:prstGeom>
          <a:noFill/>
          <a:ln w="25400">
            <a:solidFill>
              <a:srgbClr val="F28C28"/>
            </a:solidFill>
            <a:prstDash val="solid"/>
            <a:headEnd type="triangle"/>
          </a:ln>
        </p:spPr>
      </p:sp>
      <p:sp>
        <p:nvSpPr>
          <p:cNvPr id="18" name="Text 15"/>
          <p:cNvSpPr txBox="1"/>
          <p:nvPr/>
        </p:nvSpPr>
        <p:spPr>
          <a:xfrm>
            <a:off x="3931920" y="4434840"/>
            <a:ext cx="4343400" cy="365760"/>
          </a:xfrm>
          <a:prstGeom prst="rect">
            <a:avLst/>
          </a:prstGeom>
          <a:noFill/>
          <a:ln/>
        </p:spPr>
        <p:txBody>
          <a:bodyPr wrap="square" lIns="0" tIns="0" rIns="0" bIns="0" rtlCol="0" anchor="ctr"/>
          <a:lstStyle/>
          <a:p>
            <a:pPr algn="ctr" indent="0" marL="0">
              <a:buNone/>
            </a:pPr>
            <a:r>
              <a:rPr lang="en-US" sz="1500" b="1" dirty="0">
                <a:solidFill>
                  <a:srgbClr val="F28C28"/>
                </a:solidFill>
                <a:latin typeface="Calibri" pitchFamily="34" charset="0"/>
                <a:ea typeface="Calibri" pitchFamily="34" charset="-122"/>
                <a:cs typeface="Calibri" pitchFamily="34" charset="-120"/>
              </a:rPr>
              <a:t>2. risposta → porte 1024-65535</a:t>
            </a:r>
            <a:endParaRPr lang="en-US" sz="1500" dirty="0"/>
          </a:p>
        </p:txBody>
      </p:sp>
      <p:sp>
        <p:nvSpPr>
          <p:cNvPr id="19" name="Shape 16"/>
          <p:cNvSpPr/>
          <p:nvPr/>
        </p:nvSpPr>
        <p:spPr>
          <a:xfrm>
            <a:off x="548640" y="5120640"/>
            <a:ext cx="11094415" cy="868680"/>
          </a:xfrm>
          <a:prstGeom prst="roundRect">
            <a:avLst>
              <a:gd name="adj" fmla="val 10526"/>
            </a:avLst>
          </a:prstGeom>
          <a:solidFill>
            <a:srgbClr val="FBE9E9"/>
          </a:solidFill>
          <a:ln w="12700">
            <a:solidFill>
              <a:srgbClr val="FBE9E9"/>
            </a:solidFill>
            <a:prstDash val="solid"/>
          </a:ln>
        </p:spPr>
      </p:sp>
      <p:sp>
        <p:nvSpPr>
          <p:cNvPr id="20" name="Text 17"/>
          <p:cNvSpPr txBox="1"/>
          <p:nvPr/>
        </p:nvSpPr>
        <p:spPr>
          <a:xfrm>
            <a:off x="822960" y="5120640"/>
            <a:ext cx="10545775" cy="86868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Togli la regola 2: la richiesta arriva, la risposta no. La connessione non funziona.</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laboratorio: come si prova senza server</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371600"/>
            <a:ext cx="5440680" cy="3108960"/>
          </a:xfrm>
          <a:prstGeom prst="roundRect">
            <a:avLst>
              <a:gd name="adj" fmla="val 3529"/>
            </a:avLst>
          </a:prstGeom>
          <a:solidFill>
            <a:srgbClr val="EEEAFB"/>
          </a:solidFill>
          <a:ln w="12700">
            <a:solidFill>
              <a:srgbClr val="EEEAFB"/>
            </a:solidFill>
            <a:prstDash val="solid"/>
          </a:ln>
        </p:spPr>
      </p:sp>
      <p:sp>
        <p:nvSpPr>
          <p:cNvPr id="6" name="Shape 3"/>
          <p:cNvSpPr/>
          <p:nvPr/>
        </p:nvSpPr>
        <p:spPr>
          <a:xfrm>
            <a:off x="777240" y="160020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Interfacce di rete finte (ENI)</a:t>
            </a:r>
            <a:endParaRPr lang="en-US" sz="1800" dirty="0"/>
          </a:p>
        </p:txBody>
      </p:sp>
      <p:sp>
        <p:nvSpPr>
          <p:cNvPr id="9" name="Text 5"/>
          <p:cNvSpPr txBox="1"/>
          <p:nvPr/>
        </p:nvSpPr>
        <p:spPr>
          <a:xfrm>
            <a:off x="777240" y="2286000"/>
            <a:ext cx="498348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Le "prese di rete" di server e database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test-app (SG app), test-other (SG qualunque), test-db (SG db)</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Non costano niente</a:t>
            </a:r>
            <a:endParaRPr lang="en-US" sz="1600" dirty="0"/>
          </a:p>
        </p:txBody>
      </p:sp>
      <p:sp>
        <p:nvSpPr>
          <p:cNvPr id="10" name="Shape 6"/>
          <p:cNvSpPr/>
          <p:nvPr/>
        </p:nvSpPr>
        <p:spPr>
          <a:xfrm>
            <a:off x="6172200" y="1371600"/>
            <a:ext cx="5468112" cy="3108960"/>
          </a:xfrm>
          <a:prstGeom prst="roundRect">
            <a:avLst>
              <a:gd name="adj" fmla="val 3529"/>
            </a:avLst>
          </a:prstGeom>
          <a:solidFill>
            <a:srgbClr val="FDF0E3"/>
          </a:solidFill>
          <a:ln w="12700">
            <a:solidFill>
              <a:srgbClr val="FDF0E3"/>
            </a:solidFill>
            <a:prstDash val="solid"/>
          </a:ln>
        </p:spPr>
      </p:sp>
      <p:sp>
        <p:nvSpPr>
          <p:cNvPr id="11" name="Shape 7"/>
          <p:cNvSpPr/>
          <p:nvPr/>
        </p:nvSpPr>
        <p:spPr>
          <a:xfrm>
            <a:off x="6400800" y="160020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Reachability Analyzer</a:t>
            </a:r>
            <a:endParaRPr lang="en-US" sz="1800" dirty="0"/>
          </a:p>
        </p:txBody>
      </p:sp>
      <p:sp>
        <p:nvSpPr>
          <p:cNvPr id="14" name="Text 9"/>
          <p:cNvSpPr txBox="1"/>
          <p:nvPr/>
        </p:nvSpPr>
        <p:spPr>
          <a:xfrm>
            <a:off x="6400800" y="2286000"/>
            <a:ext cx="5010912"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Sorgente + destinazione + porta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Risponde: raggiungibile o no, e PER COLPA DI CHI</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Non manda traffico vero · piccolo costo per analisi</a:t>
            </a:r>
            <a:endParaRPr lang="en-US" sz="1600" dirty="0"/>
          </a:p>
        </p:txBody>
      </p:sp>
      <p:sp>
        <p:nvSpPr>
          <p:cNvPr id="15" name="Shape 10"/>
          <p:cNvSpPr/>
          <p:nvPr/>
        </p:nvSpPr>
        <p:spPr>
          <a:xfrm>
            <a:off x="548640" y="4754880"/>
            <a:ext cx="11094415" cy="1097280"/>
          </a:xfrm>
          <a:prstGeom prst="roundRect">
            <a:avLst>
              <a:gd name="adj" fmla="val 8333"/>
            </a:avLst>
          </a:prstGeom>
          <a:solidFill>
            <a:srgbClr val="FDF0E3"/>
          </a:solidFill>
          <a:ln w="12700">
            <a:solidFill>
              <a:srgbClr val="FDF0E3"/>
            </a:solidFill>
            <a:prstDash val="solid"/>
          </a:ln>
        </p:spPr>
      </p:sp>
      <p:sp>
        <p:nvSpPr>
          <p:cNvPr id="16" name="Text 11"/>
          <p:cNvSpPr txBox="1"/>
          <p:nvPr/>
        </p:nvSpPr>
        <p:spPr>
          <a:xfrm>
            <a:off x="822960" y="4754880"/>
            <a:ext cx="10545775" cy="109728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In console: VPC → Reachability Analyzer → Create and analyze path. File del laboratorio: lab-firewall.tf (da cancellare alla fine).</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(1/2): verifica e blocca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508760"/>
            <a:ext cx="640080" cy="640080"/>
          </a:xfrm>
          <a:prstGeom prst="ellipse">
            <a:avLst/>
          </a:prstGeom>
          <a:solidFill>
            <a:srgbClr val="5B3FD0"/>
          </a:solidFill>
          <a:ln w="12700">
            <a:solidFill>
              <a:srgbClr val="5B3FD0"/>
            </a:solidFill>
            <a:prstDash val="solid"/>
          </a:ln>
        </p:spPr>
      </p:sp>
      <p:sp>
        <p:nvSpPr>
          <p:cNvPr id="6" name="Text 3"/>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4"/>
          <p:cNvSpPr txBox="1"/>
          <p:nvPr/>
        </p:nvSpPr>
        <p:spPr>
          <a:xfrm>
            <a:off x="1371600" y="1325880"/>
            <a:ext cx="4663440"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 plan, poi apply</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Security Group, regole, NACL e le interfacce del laboratorio</a:t>
            </a:r>
            <a:endParaRPr lang="en-US" sz="1800" dirty="0"/>
          </a:p>
        </p:txBody>
      </p:sp>
      <p:sp>
        <p:nvSpPr>
          <p:cNvPr id="8" name="Shape 5"/>
          <p:cNvSpPr/>
          <p:nvPr/>
        </p:nvSpPr>
        <p:spPr>
          <a:xfrm>
            <a:off x="548640" y="2651760"/>
            <a:ext cx="640080" cy="640080"/>
          </a:xfrm>
          <a:prstGeom prst="ellipse">
            <a:avLst/>
          </a:prstGeom>
          <a:solidFill>
            <a:srgbClr val="5B3FD0"/>
          </a:solidFill>
          <a:ln w="12700">
            <a:solidFill>
              <a:srgbClr val="5B3FD0"/>
            </a:solidFill>
            <a:prstDash val="solid"/>
          </a:ln>
        </p:spPr>
      </p:sp>
      <p:sp>
        <p:nvSpPr>
          <p:cNvPr id="9" name="Text 6"/>
          <p:cNvSpPr txBox="1"/>
          <p:nvPr/>
        </p:nvSpPr>
        <p:spPr>
          <a:xfrm>
            <a:off x="548640" y="2651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0" name="Text 7"/>
          <p:cNvSpPr txBox="1"/>
          <p:nvPr/>
        </p:nvSpPr>
        <p:spPr>
          <a:xfrm>
            <a:off x="1371600" y="2468880"/>
            <a:ext cx="4663440"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Analizza test-app → test-db, TCP 5432</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Atteso: RAGGIUNGIBILE</a:t>
            </a:r>
            <a:endParaRPr lang="en-US" sz="1800" dirty="0"/>
          </a:p>
        </p:txBody>
      </p:sp>
      <p:sp>
        <p:nvSpPr>
          <p:cNvPr id="11" name="Shape 8"/>
          <p:cNvSpPr/>
          <p:nvPr/>
        </p:nvSpPr>
        <p:spPr>
          <a:xfrm>
            <a:off x="548640" y="3794760"/>
            <a:ext cx="640080" cy="640080"/>
          </a:xfrm>
          <a:prstGeom prst="ellipse">
            <a:avLst/>
          </a:prstGeom>
          <a:solidFill>
            <a:srgbClr val="5B3FD0"/>
          </a:solidFill>
          <a:ln w="12700">
            <a:solidFill>
              <a:srgbClr val="5B3FD0"/>
            </a:solidFill>
            <a:prstDash val="solid"/>
          </a:ln>
        </p:spPr>
      </p:sp>
      <p:sp>
        <p:nvSpPr>
          <p:cNvPr id="12" name="Text 9"/>
          <p:cNvSpPr txBox="1"/>
          <p:nvPr/>
        </p:nvSpPr>
        <p:spPr>
          <a:xfrm>
            <a:off x="548640" y="3794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3" name="Text 10"/>
          <p:cNvSpPr txBox="1"/>
          <p:nvPr/>
        </p:nvSpPr>
        <p:spPr>
          <a:xfrm>
            <a:off x="1371600" y="3611880"/>
            <a:ext cx="4663440"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Analizza test-other → test-db, TCP 5432</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Atteso: NON raggiungibile, colpa del SG db</a:t>
            </a:r>
            <a:endParaRPr lang="en-US" sz="1800" dirty="0"/>
          </a:p>
        </p:txBody>
      </p:sp>
      <p:sp>
        <p:nvSpPr>
          <p:cNvPr id="14" name="Shape 11"/>
          <p:cNvSpPr/>
          <p:nvPr/>
        </p:nvSpPr>
        <p:spPr>
          <a:xfrm>
            <a:off x="548640" y="4937760"/>
            <a:ext cx="640080" cy="640080"/>
          </a:xfrm>
          <a:prstGeom prst="ellipse">
            <a:avLst/>
          </a:prstGeom>
          <a:solidFill>
            <a:srgbClr val="5B3FD0"/>
          </a:solidFill>
          <a:ln w="12700">
            <a:solidFill>
              <a:srgbClr val="5B3FD0"/>
            </a:solidFill>
            <a:prstDash val="solid"/>
          </a:ln>
        </p:spPr>
      </p:sp>
      <p:sp>
        <p:nvSpPr>
          <p:cNvPr id="15" name="Text 12"/>
          <p:cNvSpPr txBox="1"/>
          <p:nvPr/>
        </p:nvSpPr>
        <p:spPr>
          <a:xfrm>
            <a:off x="548640" y="4937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16" name="Text 13"/>
          <p:cNvSpPr txBox="1"/>
          <p:nvPr/>
        </p:nvSpPr>
        <p:spPr>
          <a:xfrm>
            <a:off x="1371600" y="4754880"/>
            <a:ext cx="4663440"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DENY n° 50 per l'IP di test-app (/32), poi rianalizza</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Atteso: NON raggiungibile, colpa della NACL. Poi togli il blocco</a:t>
            </a:r>
            <a:endParaRPr lang="en-US" sz="1800" dirty="0"/>
          </a:p>
        </p:txBody>
      </p:sp>
      <p:sp>
        <p:nvSpPr>
          <p:cNvPr id="17" name="Shape 14"/>
          <p:cNvSpPr/>
          <p:nvPr/>
        </p:nvSpPr>
        <p:spPr>
          <a:xfrm>
            <a:off x="6400800" y="3886200"/>
            <a:ext cx="5239512" cy="1600200"/>
          </a:xfrm>
          <a:prstGeom prst="roundRect">
            <a:avLst>
              <a:gd name="adj" fmla="val 4571"/>
            </a:avLst>
          </a:prstGeom>
          <a:solidFill>
            <a:srgbClr val="1E1E2E"/>
          </a:solidFill>
          <a:ln w="12700">
            <a:solidFill>
              <a:srgbClr val="1E1E2E"/>
            </a:solidFill>
            <a:prstDash val="solid"/>
          </a:ln>
        </p:spPr>
      </p:sp>
      <p:sp>
        <p:nvSpPr>
          <p:cNvPr id="18" name="Text 15"/>
          <p:cNvSpPr txBox="1"/>
          <p:nvPr/>
        </p:nvSpPr>
        <p:spPr>
          <a:xfrm>
            <a:off x="6583680" y="3959352"/>
            <a:ext cx="4873752"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lab-firewall.tf · passo 4</a:t>
            </a:r>
            <a:endParaRPr lang="en-US" sz="1300" dirty="0"/>
          </a:p>
        </p:txBody>
      </p:sp>
      <p:sp>
        <p:nvSpPr>
          <p:cNvPr id="19" name="Text 16"/>
          <p:cNvSpPr txBox="1"/>
          <p:nvPr/>
        </p:nvSpPr>
        <p:spPr>
          <a:xfrm>
            <a:off x="6583680" y="4297680"/>
            <a:ext cx="4873752" cy="10515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rule_number = 50</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rule_action = "deny"</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cidr_block  = "&lt;IP di test-app&gt;/32"</a:t>
            </a:r>
            <a:endParaRPr lang="en-US" sz="1600" dirty="0"/>
          </a:p>
        </p:txBody>
      </p:sp>
      <p:sp>
        <p:nvSpPr>
          <p:cNvPr id="20" name="Text 17"/>
          <p:cNvSpPr txBox="1"/>
          <p:nvPr/>
        </p:nvSpPr>
        <p:spPr>
          <a:xfrm>
            <a:off x="6400800" y="5532120"/>
            <a:ext cx="5239512" cy="411480"/>
          </a:xfrm>
          <a:prstGeom prst="rect">
            <a:avLst/>
          </a:prstGeom>
          <a:noFill/>
          <a:ln/>
        </p:spPr>
        <p:txBody>
          <a:bodyPr wrap="square" lIns="0" tIns="0" rIns="0" bIns="0" rtlCol="0" anchor="ctr"/>
          <a:lstStyle/>
          <a:p>
            <a:pPr algn="l" indent="0" marL="0">
              <a:buNone/>
            </a:pPr>
            <a:r>
              <a:rPr lang="en-US" sz="1300" i="1" dirty="0">
                <a:solidFill>
                  <a:srgbClr val="5F6478"/>
                </a:solidFill>
                <a:latin typeface="Calibri" pitchFamily="34" charset="0"/>
                <a:ea typeface="Calibri" pitchFamily="34" charset="-122"/>
                <a:cs typeface="Calibri" pitchFamily="34" charset="-120"/>
              </a:rPr>
              <a:t>/32 = esattamente quell'indirizzo · codice completo nella dispensa</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(2/2): rompi e ripara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sp>
        <p:nvSpPr>
          <p:cNvPr id="5" name="Shape 2"/>
          <p:cNvSpPr/>
          <p:nvPr/>
        </p:nvSpPr>
        <p:spPr>
          <a:xfrm>
            <a:off x="548640" y="1508760"/>
            <a:ext cx="640080" cy="640080"/>
          </a:xfrm>
          <a:prstGeom prst="ellipse">
            <a:avLst/>
          </a:prstGeom>
          <a:solidFill>
            <a:srgbClr val="5B3FD0"/>
          </a:solidFill>
          <a:ln w="12700">
            <a:solidFill>
              <a:srgbClr val="5B3FD0"/>
            </a:solidFill>
            <a:prstDash val="solid"/>
          </a:ln>
        </p:spPr>
      </p:sp>
      <p:sp>
        <p:nvSpPr>
          <p:cNvPr id="6" name="Text 3"/>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5</a:t>
            </a:r>
            <a:endParaRPr lang="en-US" sz="1900" dirty="0"/>
          </a:p>
        </p:txBody>
      </p:sp>
      <p:sp>
        <p:nvSpPr>
          <p:cNvPr id="7" name="Text 4"/>
          <p:cNvSpPr txBox="1"/>
          <p:nvPr/>
        </p:nvSpPr>
        <p:spPr>
          <a:xfrm>
            <a:off x="1371600" y="1325880"/>
            <a:ext cx="4663440"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Commenta db_out_ephemeral, poi SOLO plan</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La richiesta arriva? La risposta torna? (sì · no) Poi rimetti la regola</a:t>
            </a:r>
            <a:endParaRPr lang="en-US" sz="1800" dirty="0"/>
          </a:p>
        </p:txBody>
      </p:sp>
      <p:sp>
        <p:nvSpPr>
          <p:cNvPr id="8" name="Shape 5"/>
          <p:cNvSpPr/>
          <p:nvPr/>
        </p:nvSpPr>
        <p:spPr>
          <a:xfrm>
            <a:off x="548640" y="2788920"/>
            <a:ext cx="640080" cy="640080"/>
          </a:xfrm>
          <a:prstGeom prst="ellipse">
            <a:avLst/>
          </a:prstGeom>
          <a:solidFill>
            <a:srgbClr val="5B3FD0"/>
          </a:solidFill>
          <a:ln w="12700">
            <a:solidFill>
              <a:srgbClr val="5B3FD0"/>
            </a:solidFill>
            <a:prstDash val="solid"/>
          </a:ln>
        </p:spPr>
      </p:sp>
      <p:sp>
        <p:nvSpPr>
          <p:cNvPr id="9" name="Text 6"/>
          <p:cNvSpPr txBox="1"/>
          <p:nvPr/>
        </p:nvSpPr>
        <p:spPr>
          <a:xfrm>
            <a:off x="548640" y="278892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6</a:t>
            </a:r>
            <a:endParaRPr lang="en-US" sz="1900" dirty="0"/>
          </a:p>
        </p:txBody>
      </p:sp>
      <p:sp>
        <p:nvSpPr>
          <p:cNvPr id="10" name="Text 7"/>
          <p:cNvSpPr txBox="1"/>
          <p:nvPr/>
        </p:nvSpPr>
        <p:spPr>
          <a:xfrm>
            <a:off x="1371600" y="2606040"/>
            <a:ext cx="4663440"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SG "default" in console: è vuoto?</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Aggiungi una regola a mano, poi plan: Terraform se ne accorge (drift)</a:t>
            </a:r>
            <a:endParaRPr lang="en-US" sz="1800" dirty="0"/>
          </a:p>
        </p:txBody>
      </p:sp>
      <p:sp>
        <p:nvSpPr>
          <p:cNvPr id="11" name="Shape 8"/>
          <p:cNvSpPr/>
          <p:nvPr/>
        </p:nvSpPr>
        <p:spPr>
          <a:xfrm>
            <a:off x="548640" y="4069080"/>
            <a:ext cx="640080" cy="640080"/>
          </a:xfrm>
          <a:prstGeom prst="ellipse">
            <a:avLst/>
          </a:prstGeom>
          <a:solidFill>
            <a:srgbClr val="D64545"/>
          </a:solidFill>
          <a:ln w="12700">
            <a:solidFill>
              <a:srgbClr val="D64545"/>
            </a:solidFill>
            <a:prstDash val="solid"/>
          </a:ln>
        </p:spPr>
      </p:sp>
      <p:sp>
        <p:nvSpPr>
          <p:cNvPr id="12" name="Text 9"/>
          <p:cNvSpPr txBox="1"/>
          <p:nvPr/>
        </p:nvSpPr>
        <p:spPr>
          <a:xfrm>
            <a:off x="548640" y="406908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7</a:t>
            </a:r>
            <a:endParaRPr lang="en-US" sz="1900" dirty="0"/>
          </a:p>
        </p:txBody>
      </p:sp>
      <p:sp>
        <p:nvSpPr>
          <p:cNvPr id="13" name="Text 10"/>
          <p:cNvSpPr txBox="1"/>
          <p:nvPr/>
        </p:nvSpPr>
        <p:spPr>
          <a:xfrm>
            <a:off x="1371600" y="3886200"/>
            <a:ext cx="4663440" cy="10058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Cancella lab-firewall.tf, poi apply</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 fine giornata: terraform destroy (il NAT si paga a ore)</a:t>
            </a:r>
            <a:endParaRPr lang="en-US" sz="1800" dirty="0"/>
          </a:p>
        </p:txBody>
      </p:sp>
      <p:sp>
        <p:nvSpPr>
          <p:cNvPr id="14" name="Shape 11"/>
          <p:cNvSpPr/>
          <p:nvPr/>
        </p:nvSpPr>
        <p:spPr>
          <a:xfrm>
            <a:off x="548640" y="5166360"/>
            <a:ext cx="11094415" cy="822960"/>
          </a:xfrm>
          <a:prstGeom prst="roundRect">
            <a:avLst>
              <a:gd name="adj" fmla="val 11111"/>
            </a:avLst>
          </a:prstGeom>
          <a:solidFill>
            <a:srgbClr val="FDF0E3"/>
          </a:solidFill>
          <a:ln w="12700">
            <a:solidFill>
              <a:srgbClr val="FDF0E3"/>
            </a:solidFill>
            <a:prstDash val="solid"/>
          </a:ln>
        </p:spPr>
      </p:sp>
      <p:sp>
        <p:nvSpPr>
          <p:cNvPr id="15" name="Text 12"/>
          <p:cNvSpPr txBox="1"/>
          <p:nvPr/>
        </p:nvSpPr>
        <p:spPr>
          <a:xfrm>
            <a:off x="822960" y="5166360"/>
            <a:ext cx="10545775" cy="82296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Il passo 5 lo vedremo succedere davvero con un server e un database veri (lezioni 4 e 6).</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3 · Firewall: Security Group e NACL</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03120"/>
                <a:gridCol w="3566160"/>
                <a:gridCol w="2286000"/>
                <a:gridCol w="3136392"/>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firewall</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regole su cosa può passare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stateful</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si ricorda le connessioni (SG)</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porta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lo sportello del servizio (5432, 443…)</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stateless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non si ricorda niente (NACL)</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porta effimera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porta casuale 1024-65535 per le risposte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ingress / egress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in ingresso / in uscita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Security Group</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guardia della risorsa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allow / deny</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consenti / vieta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NACL</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tornello della subnet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ENI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interfaccia di rete: la "presa"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TCP</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tipo di traffico più comune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Reachability Analyzer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dice se A raggiunge B, e perché no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Route table = DOVE si va; firewall = COSA può passare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La risposta torna verso una porta effimera (1024-65535)</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Security Group: sulla risorsa, si ricorda, solo allow, sorgente anche un SG</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NACL: sulla subnet, non si ricorda, allow e deny in ordine di numero</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Il database accetta la 5432 solo da app e vpn</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Il Security Group di default va svuotato</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dispense/dispensa-3-firewall.md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EC2: il server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2026-10-08T07:39:06Z</dcterms:created>
  <dcterms:modified xsi:type="dcterms:W3CDTF">2026-10-08T07:39:06Z</dcterms:modified>
</cp:coreProperties>
</file>